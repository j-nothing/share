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2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8"/>
  </p:notesMasterIdLst>
  <p:sldIdLst>
    <p:sldId id="257" r:id="rId3"/>
    <p:sldId id="264" r:id="rId4"/>
    <p:sldId id="259" r:id="rId5"/>
    <p:sldId id="353" r:id="rId6"/>
    <p:sldId id="486" r:id="rId7"/>
    <p:sldId id="487" r:id="rId8"/>
    <p:sldId id="483" r:id="rId9"/>
    <p:sldId id="398" r:id="rId10"/>
    <p:sldId id="488" r:id="rId11"/>
    <p:sldId id="484" r:id="rId12"/>
    <p:sldId id="465" r:id="rId13"/>
    <p:sldId id="473" r:id="rId14"/>
    <p:sldId id="475" r:id="rId15"/>
    <p:sldId id="474" r:id="rId16"/>
    <p:sldId id="476" r:id="rId17"/>
    <p:sldId id="477" r:id="rId18"/>
    <p:sldId id="478" r:id="rId19"/>
    <p:sldId id="479" r:id="rId20"/>
    <p:sldId id="481" r:id="rId21"/>
    <p:sldId id="480" r:id="rId22"/>
    <p:sldId id="482" r:id="rId23"/>
    <p:sldId id="485" r:id="rId24"/>
    <p:sldId id="457" r:id="rId25"/>
    <p:sldId id="471" r:id="rId26"/>
    <p:sldId id="317" r:id="rId27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CEDA"/>
    <a:srgbClr val="7E0C6E"/>
    <a:srgbClr val="A40079"/>
    <a:srgbClr val="983D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1" autoAdjust="0"/>
    <p:restoredTop sz="89239" autoAdjust="0"/>
  </p:normalViewPr>
  <p:slideViewPr>
    <p:cSldViewPr snapToGrid="0">
      <p:cViewPr varScale="1">
        <p:scale>
          <a:sx n="59" d="100"/>
          <a:sy n="59" d="100"/>
        </p:scale>
        <p:origin x="21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commentAuthors" Target="commentAuthors.xml"/><Relationship Id="rId8" Type="http://schemas.openxmlformats.org/officeDocument/2006/relationships/slide" Target="slides/slide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EB5681-8F76-4D16-80E6-CD43E177CF72}" type="doc">
      <dgm:prSet loTypeId="urn:microsoft.com/office/officeart/2005/8/layout/hierarchy2#1" loCatId="hierarchy" qsTypeId="urn:microsoft.com/office/officeart/2005/8/quickstyle/simple1#3" qsCatId="simple" csTypeId="urn:microsoft.com/office/officeart/2005/8/colors/accent0_1#1" csCatId="mainScheme" phldr="1"/>
      <dgm:spPr/>
      <dgm:t>
        <a:bodyPr/>
        <a:lstStyle/>
        <a:p>
          <a:endParaRPr lang="zh-CN" altLang="en-US"/>
        </a:p>
      </dgm:t>
    </dgm:pt>
    <dgm:pt modelId="{0991026E-8BCA-4EAB-B21A-9657D8FD7BBF}" type="pres">
      <dgm:prSet presAssocID="{E6EB5681-8F76-4D16-80E6-CD43E177CF7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</dgm:ptLst>
  <dgm:cxnLst>
    <dgm:cxn modelId="{2EB43B17-51E6-4BC7-A2AB-4148F8FED691}" type="presOf" srcId="{E6EB5681-8F76-4D16-80E6-CD43E177CF72}" destId="{0991026E-8BCA-4EAB-B21A-9657D8FD7BBF}" srcOrd="0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6EB5681-8F76-4D16-80E6-CD43E177CF72}" type="doc">
      <dgm:prSet loTypeId="urn:microsoft.com/office/officeart/2005/8/layout/hierarchy2#1" loCatId="hierarchy" qsTypeId="urn:microsoft.com/office/officeart/2005/8/quickstyle/simple1#3" qsCatId="simple" csTypeId="urn:microsoft.com/office/officeart/2005/8/colors/accent0_1#1" csCatId="mainScheme" phldr="1"/>
      <dgm:spPr/>
      <dgm:t>
        <a:bodyPr/>
        <a:lstStyle/>
        <a:p>
          <a:endParaRPr lang="zh-CN" altLang="en-US"/>
        </a:p>
      </dgm:t>
    </dgm:pt>
    <dgm:pt modelId="{0991026E-8BCA-4EAB-B21A-9657D8FD7BBF}" type="pres">
      <dgm:prSet presAssocID="{E6EB5681-8F76-4D16-80E6-CD43E177CF7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</dgm:ptLst>
  <dgm:cxnLst>
    <dgm:cxn modelId="{2EB43B17-51E6-4BC7-A2AB-4148F8FED691}" type="presOf" srcId="{E6EB5681-8F76-4D16-80E6-CD43E177CF72}" destId="{0991026E-8BCA-4EAB-B21A-9657D8FD7BBF}" srcOrd="0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6EB5681-8F76-4D16-80E6-CD43E177CF72}" type="doc">
      <dgm:prSet loTypeId="urn:microsoft.com/office/officeart/2005/8/layout/hierarchy2#1" loCatId="hierarchy" qsTypeId="urn:microsoft.com/office/officeart/2005/8/quickstyle/simple1#3" qsCatId="simple" csTypeId="urn:microsoft.com/office/officeart/2005/8/colors/accent0_1#1" csCatId="mainScheme" phldr="1"/>
      <dgm:spPr/>
      <dgm:t>
        <a:bodyPr/>
        <a:lstStyle/>
        <a:p>
          <a:endParaRPr lang="zh-CN" altLang="en-US"/>
        </a:p>
      </dgm:t>
    </dgm:pt>
    <dgm:pt modelId="{0991026E-8BCA-4EAB-B21A-9657D8FD7BBF}" type="pres">
      <dgm:prSet presAssocID="{E6EB5681-8F76-4D16-80E6-CD43E177CF7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</dgm:ptLst>
  <dgm:cxnLst>
    <dgm:cxn modelId="{2EB43B17-51E6-4BC7-A2AB-4148F8FED691}" type="presOf" srcId="{E6EB5681-8F76-4D16-80E6-CD43E177CF72}" destId="{0991026E-8BCA-4EAB-B21A-9657D8FD7BBF}" srcOrd="0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6EB5681-8F76-4D16-80E6-CD43E177CF72}" type="doc">
      <dgm:prSet loTypeId="urn:microsoft.com/office/officeart/2005/8/layout/hierarchy2#1" loCatId="hierarchy" qsTypeId="urn:microsoft.com/office/officeart/2005/8/quickstyle/simple1#3" qsCatId="simple" csTypeId="urn:microsoft.com/office/officeart/2005/8/colors/accent0_1#1" csCatId="mainScheme" phldr="1"/>
      <dgm:spPr/>
      <dgm:t>
        <a:bodyPr/>
        <a:lstStyle/>
        <a:p>
          <a:endParaRPr lang="zh-CN" altLang="en-US"/>
        </a:p>
      </dgm:t>
    </dgm:pt>
    <dgm:pt modelId="{0991026E-8BCA-4EAB-B21A-9657D8FD7BBF}" type="pres">
      <dgm:prSet presAssocID="{E6EB5681-8F76-4D16-80E6-CD43E177CF7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</dgm:ptLst>
  <dgm:cxnLst>
    <dgm:cxn modelId="{2EB43B17-51E6-4BC7-A2AB-4148F8FED691}" type="presOf" srcId="{E6EB5681-8F76-4D16-80E6-CD43E177CF72}" destId="{0991026E-8BCA-4EAB-B21A-9657D8FD7BBF}" srcOrd="0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6EB5681-8F76-4D16-80E6-CD43E177CF72}" type="doc">
      <dgm:prSet loTypeId="urn:microsoft.com/office/officeart/2005/8/layout/hierarchy2#1" loCatId="hierarchy" qsTypeId="urn:microsoft.com/office/officeart/2005/8/quickstyle/simple1#3" qsCatId="simple" csTypeId="urn:microsoft.com/office/officeart/2005/8/colors/accent0_1#1" csCatId="mainScheme" phldr="1"/>
      <dgm:spPr/>
      <dgm:t>
        <a:bodyPr/>
        <a:lstStyle/>
        <a:p>
          <a:endParaRPr lang="zh-CN" altLang="en-US"/>
        </a:p>
      </dgm:t>
    </dgm:pt>
    <dgm:pt modelId="{0991026E-8BCA-4EAB-B21A-9657D8FD7BBF}" type="pres">
      <dgm:prSet presAssocID="{E6EB5681-8F76-4D16-80E6-CD43E177CF7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</dgm:ptLst>
  <dgm:cxnLst>
    <dgm:cxn modelId="{2EB43B17-51E6-4BC7-A2AB-4148F8FED691}" type="presOf" srcId="{E6EB5681-8F76-4D16-80E6-CD43E177CF72}" destId="{0991026E-8BCA-4EAB-B21A-9657D8FD7BBF}" srcOrd="0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6EB5681-8F76-4D16-80E6-CD43E177CF72}" type="doc">
      <dgm:prSet loTypeId="urn:microsoft.com/office/officeart/2005/8/layout/hierarchy2#1" loCatId="hierarchy" qsTypeId="urn:microsoft.com/office/officeart/2005/8/quickstyle/simple1#3" qsCatId="simple" csTypeId="urn:microsoft.com/office/officeart/2005/8/colors/accent0_1#1" csCatId="mainScheme" phldr="1"/>
      <dgm:spPr/>
      <dgm:t>
        <a:bodyPr/>
        <a:lstStyle/>
        <a:p>
          <a:endParaRPr lang="zh-CN" altLang="en-US"/>
        </a:p>
      </dgm:t>
    </dgm:pt>
    <dgm:pt modelId="{0991026E-8BCA-4EAB-B21A-9657D8FD7BBF}" type="pres">
      <dgm:prSet presAssocID="{E6EB5681-8F76-4D16-80E6-CD43E177CF7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</dgm:ptLst>
  <dgm:cxnLst>
    <dgm:cxn modelId="{2EB43B17-51E6-4BC7-A2AB-4148F8FED691}" type="presOf" srcId="{E6EB5681-8F76-4D16-80E6-CD43E177CF72}" destId="{0991026E-8BCA-4EAB-B21A-9657D8FD7BBF}" srcOrd="0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6EB5681-8F76-4D16-80E6-CD43E177CF72}" type="doc">
      <dgm:prSet loTypeId="urn:microsoft.com/office/officeart/2005/8/layout/hierarchy2#1" loCatId="hierarchy" qsTypeId="urn:microsoft.com/office/officeart/2005/8/quickstyle/simple1#3" qsCatId="simple" csTypeId="urn:microsoft.com/office/officeart/2005/8/colors/accent0_1#1" csCatId="mainScheme" phldr="1"/>
      <dgm:spPr/>
      <dgm:t>
        <a:bodyPr/>
        <a:lstStyle/>
        <a:p>
          <a:endParaRPr lang="zh-CN" altLang="en-US"/>
        </a:p>
      </dgm:t>
    </dgm:pt>
    <dgm:pt modelId="{0991026E-8BCA-4EAB-B21A-9657D8FD7BBF}" type="pres">
      <dgm:prSet presAssocID="{E6EB5681-8F76-4D16-80E6-CD43E177CF7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</dgm:ptLst>
  <dgm:cxnLst>
    <dgm:cxn modelId="{2EB43B17-51E6-4BC7-A2AB-4148F8FED691}" type="presOf" srcId="{E6EB5681-8F76-4D16-80E6-CD43E177CF72}" destId="{0991026E-8BCA-4EAB-B21A-9657D8FD7BBF}" srcOrd="0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6EB5681-8F76-4D16-80E6-CD43E177CF72}" type="doc">
      <dgm:prSet loTypeId="urn:microsoft.com/office/officeart/2005/8/layout/hierarchy2#1" loCatId="hierarchy" qsTypeId="urn:microsoft.com/office/officeart/2005/8/quickstyle/simple1#3" qsCatId="simple" csTypeId="urn:microsoft.com/office/officeart/2005/8/colors/accent0_1#1" csCatId="mainScheme" phldr="1"/>
      <dgm:spPr/>
      <dgm:t>
        <a:bodyPr/>
        <a:lstStyle/>
        <a:p>
          <a:endParaRPr lang="zh-CN" altLang="en-US"/>
        </a:p>
      </dgm:t>
    </dgm:pt>
    <dgm:pt modelId="{0991026E-8BCA-4EAB-B21A-9657D8FD7BBF}" type="pres">
      <dgm:prSet presAssocID="{E6EB5681-8F76-4D16-80E6-CD43E177CF7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</dgm:ptLst>
  <dgm:cxnLst>
    <dgm:cxn modelId="{2EB43B17-51E6-4BC7-A2AB-4148F8FED691}" type="presOf" srcId="{E6EB5681-8F76-4D16-80E6-CD43E177CF72}" destId="{0991026E-8BCA-4EAB-B21A-9657D8FD7BBF}" srcOrd="0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6EB5681-8F76-4D16-80E6-CD43E177CF72}" type="doc">
      <dgm:prSet loTypeId="urn:microsoft.com/office/officeart/2005/8/layout/hierarchy2#1" loCatId="hierarchy" qsTypeId="urn:microsoft.com/office/officeart/2005/8/quickstyle/simple1#3" qsCatId="simple" csTypeId="urn:microsoft.com/office/officeart/2005/8/colors/accent0_1#1" csCatId="mainScheme" phldr="1"/>
      <dgm:spPr/>
      <dgm:t>
        <a:bodyPr/>
        <a:lstStyle/>
        <a:p>
          <a:endParaRPr lang="zh-CN" altLang="en-US"/>
        </a:p>
      </dgm:t>
    </dgm:pt>
    <dgm:pt modelId="{0991026E-8BCA-4EAB-B21A-9657D8FD7BBF}" type="pres">
      <dgm:prSet presAssocID="{E6EB5681-8F76-4D16-80E6-CD43E177CF7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</dgm:ptLst>
  <dgm:cxnLst>
    <dgm:cxn modelId="{2EB43B17-51E6-4BC7-A2AB-4148F8FED691}" type="presOf" srcId="{E6EB5681-8F76-4D16-80E6-CD43E177CF72}" destId="{0991026E-8BCA-4EAB-B21A-9657D8FD7BBF}" srcOrd="0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6EB5681-8F76-4D16-80E6-CD43E177CF72}" type="doc">
      <dgm:prSet loTypeId="urn:microsoft.com/office/officeart/2005/8/layout/hierarchy2#1" loCatId="hierarchy" qsTypeId="urn:microsoft.com/office/officeart/2005/8/quickstyle/simple1#3" qsCatId="simple" csTypeId="urn:microsoft.com/office/officeart/2005/8/colors/accent0_1#1" csCatId="mainScheme" phldr="1"/>
      <dgm:spPr/>
      <dgm:t>
        <a:bodyPr/>
        <a:lstStyle/>
        <a:p>
          <a:endParaRPr lang="zh-CN" altLang="en-US"/>
        </a:p>
      </dgm:t>
    </dgm:pt>
    <dgm:pt modelId="{0991026E-8BCA-4EAB-B21A-9657D8FD7BBF}" type="pres">
      <dgm:prSet presAssocID="{E6EB5681-8F76-4D16-80E6-CD43E177CF7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</dgm:ptLst>
  <dgm:cxnLst>
    <dgm:cxn modelId="{2EB43B17-51E6-4BC7-A2AB-4148F8FED691}" type="presOf" srcId="{E6EB5681-8F76-4D16-80E6-CD43E177CF72}" destId="{0991026E-8BCA-4EAB-B21A-9657D8FD7BBF}" srcOrd="0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E6EB5681-8F76-4D16-80E6-CD43E177CF72}" type="doc">
      <dgm:prSet loTypeId="urn:microsoft.com/office/officeart/2005/8/layout/hierarchy2#1" loCatId="hierarchy" qsTypeId="urn:microsoft.com/office/officeart/2005/8/quickstyle/simple1#3" qsCatId="simple" csTypeId="urn:microsoft.com/office/officeart/2005/8/colors/accent0_1#1" csCatId="mainScheme" phldr="1"/>
      <dgm:spPr/>
      <dgm:t>
        <a:bodyPr/>
        <a:lstStyle/>
        <a:p>
          <a:endParaRPr lang="zh-CN" altLang="en-US"/>
        </a:p>
      </dgm:t>
    </dgm:pt>
    <dgm:pt modelId="{0991026E-8BCA-4EAB-B21A-9657D8FD7BBF}" type="pres">
      <dgm:prSet presAssocID="{E6EB5681-8F76-4D16-80E6-CD43E177CF7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</dgm:ptLst>
  <dgm:cxnLst>
    <dgm:cxn modelId="{2EB43B17-51E6-4BC7-A2AB-4148F8FED691}" type="presOf" srcId="{E6EB5681-8F76-4D16-80E6-CD43E177CF72}" destId="{0991026E-8BCA-4EAB-B21A-9657D8FD7BBF}" srcOrd="0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28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E6EB5681-8F76-4D16-80E6-CD43E177CF72}" type="doc">
      <dgm:prSet loTypeId="urn:microsoft.com/office/officeart/2005/8/layout/hierarchy2#1" loCatId="hierarchy" qsTypeId="urn:microsoft.com/office/officeart/2005/8/quickstyle/simple1#3" qsCatId="simple" csTypeId="urn:microsoft.com/office/officeart/2005/8/colors/accent0_1#1" csCatId="mainScheme" phldr="1"/>
      <dgm:spPr/>
      <dgm:t>
        <a:bodyPr/>
        <a:lstStyle/>
        <a:p>
          <a:endParaRPr lang="zh-CN" altLang="en-US"/>
        </a:p>
      </dgm:t>
    </dgm:pt>
    <dgm:pt modelId="{0991026E-8BCA-4EAB-B21A-9657D8FD7BBF}" type="pres">
      <dgm:prSet presAssocID="{E6EB5681-8F76-4D16-80E6-CD43E177CF7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</dgm:ptLst>
  <dgm:cxnLst>
    <dgm:cxn modelId="{2EB43B17-51E6-4BC7-A2AB-4148F8FED691}" type="presOf" srcId="{E6EB5681-8F76-4D16-80E6-CD43E177CF72}" destId="{0991026E-8BCA-4EAB-B21A-9657D8FD7BBF}" srcOrd="0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E6EB5681-8F76-4D16-80E6-CD43E177CF72}" type="doc">
      <dgm:prSet loTypeId="urn:microsoft.com/office/officeart/2005/8/layout/hierarchy2#1" loCatId="hierarchy" qsTypeId="urn:microsoft.com/office/officeart/2005/8/quickstyle/simple1#3" qsCatId="simple" csTypeId="urn:microsoft.com/office/officeart/2005/8/colors/accent0_1#1" csCatId="mainScheme" phldr="1"/>
      <dgm:spPr/>
      <dgm:t>
        <a:bodyPr/>
        <a:lstStyle/>
        <a:p>
          <a:endParaRPr lang="zh-CN" altLang="en-US"/>
        </a:p>
      </dgm:t>
    </dgm:pt>
    <dgm:pt modelId="{0991026E-8BCA-4EAB-B21A-9657D8FD7BBF}" type="pres">
      <dgm:prSet presAssocID="{E6EB5681-8F76-4D16-80E6-CD43E177CF7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</dgm:ptLst>
  <dgm:cxnLst>
    <dgm:cxn modelId="{2EB43B17-51E6-4BC7-A2AB-4148F8FED691}" type="presOf" srcId="{E6EB5681-8F76-4D16-80E6-CD43E177CF72}" destId="{0991026E-8BCA-4EAB-B21A-9657D8FD7BBF}" srcOrd="0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E6EB5681-8F76-4D16-80E6-CD43E177CF72}" type="doc">
      <dgm:prSet loTypeId="urn:microsoft.com/office/officeart/2005/8/layout/hierarchy2#1" loCatId="hierarchy" qsTypeId="urn:microsoft.com/office/officeart/2005/8/quickstyle/simple1#3" qsCatId="simple" csTypeId="urn:microsoft.com/office/officeart/2005/8/colors/accent0_1#1" csCatId="mainScheme" phldr="1"/>
      <dgm:spPr/>
      <dgm:t>
        <a:bodyPr/>
        <a:lstStyle/>
        <a:p>
          <a:endParaRPr lang="zh-CN" altLang="en-US"/>
        </a:p>
      </dgm:t>
    </dgm:pt>
    <dgm:pt modelId="{0991026E-8BCA-4EAB-B21A-9657D8FD7BBF}" type="pres">
      <dgm:prSet presAssocID="{E6EB5681-8F76-4D16-80E6-CD43E177CF7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</dgm:ptLst>
  <dgm:cxnLst>
    <dgm:cxn modelId="{2EB43B17-51E6-4BC7-A2AB-4148F8FED691}" type="presOf" srcId="{E6EB5681-8F76-4D16-80E6-CD43E177CF72}" destId="{0991026E-8BCA-4EAB-B21A-9657D8FD7BBF}" srcOrd="0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E6EB5681-8F76-4D16-80E6-CD43E177CF72}" type="doc">
      <dgm:prSet loTypeId="urn:microsoft.com/office/officeart/2005/8/layout/hierarchy2#1" loCatId="hierarchy" qsTypeId="urn:microsoft.com/office/officeart/2005/8/quickstyle/simple1#3" qsCatId="simple" csTypeId="urn:microsoft.com/office/officeart/2005/8/colors/accent0_1#1" csCatId="mainScheme" phldr="1"/>
      <dgm:spPr/>
      <dgm:t>
        <a:bodyPr/>
        <a:lstStyle/>
        <a:p>
          <a:endParaRPr lang="zh-CN" altLang="en-US"/>
        </a:p>
      </dgm:t>
    </dgm:pt>
    <dgm:pt modelId="{0991026E-8BCA-4EAB-B21A-9657D8FD7BBF}" type="pres">
      <dgm:prSet presAssocID="{E6EB5681-8F76-4D16-80E6-CD43E177CF7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</dgm:ptLst>
  <dgm:cxnLst>
    <dgm:cxn modelId="{2EB43B17-51E6-4BC7-A2AB-4148F8FED691}" type="presOf" srcId="{E6EB5681-8F76-4D16-80E6-CD43E177CF72}" destId="{0991026E-8BCA-4EAB-B21A-9657D8FD7BBF}" srcOrd="0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E6EB5681-8F76-4D16-80E6-CD43E177CF72}" type="doc">
      <dgm:prSet loTypeId="urn:microsoft.com/office/officeart/2005/8/layout/hierarchy2#1" loCatId="hierarchy" qsTypeId="urn:microsoft.com/office/officeart/2005/8/quickstyle/simple1#3" qsCatId="simple" csTypeId="urn:microsoft.com/office/officeart/2005/8/colors/accent0_1#1" csCatId="mainScheme" phldr="1"/>
      <dgm:spPr/>
      <dgm:t>
        <a:bodyPr/>
        <a:lstStyle/>
        <a:p>
          <a:endParaRPr lang="zh-CN" altLang="en-US"/>
        </a:p>
      </dgm:t>
    </dgm:pt>
    <dgm:pt modelId="{0991026E-8BCA-4EAB-B21A-9657D8FD7BBF}" type="pres">
      <dgm:prSet presAssocID="{E6EB5681-8F76-4D16-80E6-CD43E177CF7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</dgm:ptLst>
  <dgm:cxnLst>
    <dgm:cxn modelId="{2EB43B17-51E6-4BC7-A2AB-4148F8FED691}" type="presOf" srcId="{E6EB5681-8F76-4D16-80E6-CD43E177CF72}" destId="{0991026E-8BCA-4EAB-B21A-9657D8FD7BBF}" srcOrd="0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08950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大家可以看到，传统刚性减速关节虽然定位精度高，但缺少缓冲部件，在人机磕碰时冲击载荷直接传导至精密部件，存在安全隐患。SEA</a:t>
            </a:r>
            <a:r>
              <a:rPr lang="en-US" altLang="zh-CN" dirty="0"/>
              <a:t> 的核心创新是在减速器与负载之间串联弹性元件，实现驱动端与负载端的机械解耦。这一设计带来两大优势：一是弹性形变可吸收冲击动能，显著提升关节抗冲击能力；二是基于胡克定律，通过编码器采集弹性元件两端扭转角度差即可精准换算输出力矩，无需外置力矩传感器。工程应用方面，德州大学在 Valkyrie </a:t>
            </a:r>
            <a:r>
              <a:rPr lang="en-US" altLang="zh-CN" dirty="0" err="1"/>
              <a:t>机器人下肢关节采用</a:t>
            </a:r>
            <a:r>
              <a:rPr lang="en-US" altLang="zh-CN" dirty="0"/>
              <a:t> SEA </a:t>
            </a:r>
            <a:r>
              <a:rPr lang="en-US" altLang="zh-CN" dirty="0" err="1"/>
              <a:t>后，落地冲击峰值载荷下降</a:t>
            </a:r>
            <a:r>
              <a:rPr lang="en-US" altLang="zh-CN" dirty="0"/>
              <a:t> 42%，</a:t>
            </a:r>
            <a:r>
              <a:rPr lang="en-US" altLang="zh-CN" dirty="0" err="1"/>
              <a:t>人机交互安全性大幅提升。虽然弹性形变会小幅降低控制带宽，但可通过阻抗控制算法补偿，整体动态作业性能提升显著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0432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图片占位符 20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231317"/>
          </a:xfrm>
          <a:custGeom>
            <a:avLst/>
            <a:gdLst>
              <a:gd name="connsiteX0" fmla="*/ 0 w 12192000"/>
              <a:gd name="connsiteY0" fmla="*/ 0 h 3231317"/>
              <a:gd name="connsiteX1" fmla="*/ 12192000 w 12192000"/>
              <a:gd name="connsiteY1" fmla="*/ 0 h 3231317"/>
              <a:gd name="connsiteX2" fmla="*/ 12192000 w 12192000"/>
              <a:gd name="connsiteY2" fmla="*/ 2308286 h 3231317"/>
              <a:gd name="connsiteX3" fmla="*/ 12093033 w 12192000"/>
              <a:gd name="connsiteY3" fmla="*/ 2303337 h 3231317"/>
              <a:gd name="connsiteX4" fmla="*/ 4642234 w 12192000"/>
              <a:gd name="connsiteY4" fmla="*/ 3231317 h 3231317"/>
              <a:gd name="connsiteX5" fmla="*/ 5679 w 12192000"/>
              <a:gd name="connsiteY5" fmla="*/ 2268360 h 3231317"/>
              <a:gd name="connsiteX6" fmla="*/ 0 w 12192000"/>
              <a:gd name="connsiteY6" fmla="*/ 2268711 h 3231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3231317">
                <a:moveTo>
                  <a:pt x="0" y="0"/>
                </a:moveTo>
                <a:lnTo>
                  <a:pt x="12192000" y="0"/>
                </a:lnTo>
                <a:lnTo>
                  <a:pt x="12192000" y="2308286"/>
                </a:lnTo>
                <a:lnTo>
                  <a:pt x="12093033" y="2303337"/>
                </a:lnTo>
                <a:cubicBezTo>
                  <a:pt x="10288644" y="2254112"/>
                  <a:pt x="6566549" y="3231317"/>
                  <a:pt x="4642234" y="3231317"/>
                </a:cubicBezTo>
                <a:cubicBezTo>
                  <a:pt x="3283401" y="3168810"/>
                  <a:pt x="1073245" y="2241350"/>
                  <a:pt x="5679" y="2268360"/>
                </a:cubicBezTo>
                <a:lnTo>
                  <a:pt x="0" y="226871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zh-CN" altLang="en-US"/>
              <a:t>单击图标添加图片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blipFill>
          <a:blip r:embed="rId2" cstate="email"/>
          <a:stretch>
            <a:fillRect t="3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 userDrawn="1"/>
        </p:nvGrpSpPr>
        <p:grpSpPr>
          <a:xfrm>
            <a:off x="4100159" y="822519"/>
            <a:ext cx="3991682" cy="5543161"/>
            <a:chOff x="4100159" y="822519"/>
            <a:chExt cx="3991682" cy="5543161"/>
          </a:xfrm>
        </p:grpSpPr>
        <p:sp>
          <p:nvSpPr>
            <p:cNvPr id="14" name="矩形: 圆角 13"/>
            <p:cNvSpPr/>
            <p:nvPr userDrawn="1"/>
          </p:nvSpPr>
          <p:spPr>
            <a:xfrm>
              <a:off x="4100160" y="822519"/>
              <a:ext cx="3991681" cy="5543161"/>
            </a:xfrm>
            <a:prstGeom prst="roundRect">
              <a:avLst>
                <a:gd name="adj" fmla="val 1319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17500" dist="50800" dir="5400000" algn="ctr" rotWithShape="0">
                <a:srgbClr val="000000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 rot="16200000">
              <a:off x="5625711" y="1806380"/>
              <a:ext cx="940578" cy="3991681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  <a:effectLst>
              <a:outerShdw blurRad="254000" dist="50800" dir="5400000" algn="ctr" rotWithShape="0">
                <a:srgbClr val="000000">
                  <a:alpha val="2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5395732" y="1456971"/>
              <a:ext cx="1400537" cy="140053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 userDrawn="1"/>
        </p:nvGrpSpPr>
        <p:grpSpPr>
          <a:xfrm>
            <a:off x="550954" y="754638"/>
            <a:ext cx="11077392" cy="5755123"/>
            <a:chOff x="557304" y="551438"/>
            <a:chExt cx="11077392" cy="5755123"/>
          </a:xfrm>
        </p:grpSpPr>
        <p:pic>
          <p:nvPicPr>
            <p:cNvPr id="7" name="图片 6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557304" y="551438"/>
              <a:ext cx="11077392" cy="5755123"/>
            </a:xfrm>
            <a:prstGeom prst="rect">
              <a:avLst/>
            </a:prstGeom>
          </p:spPr>
        </p:pic>
        <p:grpSp>
          <p:nvGrpSpPr>
            <p:cNvPr id="8" name="组合 7"/>
            <p:cNvGrpSpPr/>
            <p:nvPr userDrawn="1"/>
          </p:nvGrpSpPr>
          <p:grpSpPr>
            <a:xfrm>
              <a:off x="1505312" y="591588"/>
              <a:ext cx="2901588" cy="5593313"/>
              <a:chOff x="1505312" y="591588"/>
              <a:chExt cx="2901588" cy="5593313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1505312" y="591588"/>
                <a:ext cx="2901588" cy="5593313"/>
                <a:chOff x="1505312" y="591588"/>
                <a:chExt cx="2901588" cy="5593313"/>
              </a:xfrm>
            </p:grpSpPr>
            <p:pic>
              <p:nvPicPr>
                <p:cNvPr id="14" name="图片 13"/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6360" t="7890" r="52105" b="1089"/>
                <a:stretch>
                  <a:fillRect/>
                </a:stretch>
              </p:blipFill>
              <p:spPr>
                <a:xfrm>
                  <a:off x="1505312" y="601546"/>
                  <a:ext cx="2901588" cy="5583355"/>
                </a:xfrm>
                <a:custGeom>
                  <a:avLst/>
                  <a:gdLst>
                    <a:gd name="connsiteX0" fmla="*/ 0 w 2901588"/>
                    <a:gd name="connsiteY0" fmla="*/ 0 h 5583355"/>
                    <a:gd name="connsiteX1" fmla="*/ 2901588 w 2901588"/>
                    <a:gd name="connsiteY1" fmla="*/ 0 h 5583355"/>
                    <a:gd name="connsiteX2" fmla="*/ 2901588 w 2901588"/>
                    <a:gd name="connsiteY2" fmla="*/ 5583355 h 5583355"/>
                    <a:gd name="connsiteX3" fmla="*/ 0 w 2901588"/>
                    <a:gd name="connsiteY3" fmla="*/ 5583355 h 55833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01588" h="5583355">
                      <a:moveTo>
                        <a:pt x="0" y="0"/>
                      </a:moveTo>
                      <a:lnTo>
                        <a:pt x="2901588" y="0"/>
                      </a:lnTo>
                      <a:lnTo>
                        <a:pt x="2901588" y="5583355"/>
                      </a:lnTo>
                      <a:lnTo>
                        <a:pt x="0" y="5583355"/>
                      </a:lnTo>
                      <a:close/>
                    </a:path>
                  </a:pathLst>
                </a:custGeom>
              </p:spPr>
            </p:pic>
            <p:sp>
              <p:nvSpPr>
                <p:cNvPr id="15" name="矩形 14"/>
                <p:cNvSpPr/>
                <p:nvPr/>
              </p:nvSpPr>
              <p:spPr>
                <a:xfrm>
                  <a:off x="1505312" y="591588"/>
                  <a:ext cx="2901588" cy="5583355"/>
                </a:xfrm>
                <a:prstGeom prst="rect">
                  <a:avLst/>
                </a:prstGeom>
                <a:solidFill>
                  <a:schemeClr val="accent1">
                    <a:alpha val="77000"/>
                  </a:schemeClr>
                </a:solidFill>
                <a:ln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10" name="组合 9"/>
              <p:cNvGrpSpPr/>
              <p:nvPr/>
            </p:nvGrpSpPr>
            <p:grpSpPr>
              <a:xfrm>
                <a:off x="2168706" y="1244600"/>
                <a:ext cx="1409700" cy="1409700"/>
                <a:chOff x="1892300" y="958850"/>
                <a:chExt cx="2032000" cy="2032000"/>
              </a:xfrm>
            </p:grpSpPr>
            <p:sp>
              <p:nvSpPr>
                <p:cNvPr id="12" name="椭圆 11"/>
                <p:cNvSpPr/>
                <p:nvPr/>
              </p:nvSpPr>
              <p:spPr>
                <a:xfrm>
                  <a:off x="1962150" y="1028700"/>
                  <a:ext cx="1892300" cy="18923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pic>
              <p:nvPicPr>
                <p:cNvPr id="13" name="图片 12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892300" y="958850"/>
                  <a:ext cx="2032000" cy="2032000"/>
                </a:xfrm>
                <a:prstGeom prst="rect">
                  <a:avLst/>
                </a:prstGeom>
              </p:spPr>
            </p:pic>
          </p:grpSp>
          <p:sp>
            <p:nvSpPr>
              <p:cNvPr id="11" name="文本框 10"/>
              <p:cNvSpPr txBox="1"/>
              <p:nvPr/>
            </p:nvSpPr>
            <p:spPr>
              <a:xfrm>
                <a:off x="2168706" y="2702758"/>
                <a:ext cx="1173736" cy="28007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8800" b="1" dirty="0">
                    <a:solidFill>
                      <a:schemeClr val="bg1"/>
                    </a:soli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latin typeface="方正姚体" panose="02010601030101010101" pitchFamily="2" charset="-122"/>
                    <a:ea typeface="方正姚体" panose="02010601030101010101" pitchFamily="2" charset="-122"/>
                  </a:rPr>
                  <a:t>目</a:t>
                </a:r>
                <a:endParaRPr lang="en-US" altLang="zh-CN" sz="8800" b="1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方正姚体" panose="02010601030101010101" pitchFamily="2" charset="-122"/>
                  <a:ea typeface="方正姚体" panose="02010601030101010101" pitchFamily="2" charset="-122"/>
                </a:endParaRPr>
              </a:p>
              <a:p>
                <a:r>
                  <a:rPr lang="zh-CN" altLang="en-US" sz="8800" b="1" dirty="0">
                    <a:solidFill>
                      <a:schemeClr val="bg1"/>
                    </a:soli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latin typeface="方正姚体" panose="02010601030101010101" pitchFamily="2" charset="-122"/>
                    <a:ea typeface="方正姚体" panose="02010601030101010101" pitchFamily="2" charset="-122"/>
                  </a:rPr>
                  <a:t>录</a:t>
                </a: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pattFill prst="openDmnd">
          <a:fgClr>
            <a:schemeClr val="accent3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91"/>
          <a:stretch>
            <a:fillRect/>
          </a:stretch>
        </p:blipFill>
        <p:spPr>
          <a:xfrm>
            <a:off x="-13017" y="653221"/>
            <a:ext cx="3973608" cy="6397807"/>
          </a:xfrm>
          <a:custGeom>
            <a:avLst/>
            <a:gdLst>
              <a:gd name="connsiteX0" fmla="*/ 0 w 3119123"/>
              <a:gd name="connsiteY0" fmla="*/ 0 h 5022022"/>
              <a:gd name="connsiteX1" fmla="*/ 3119123 w 3119123"/>
              <a:gd name="connsiteY1" fmla="*/ 0 h 5022022"/>
              <a:gd name="connsiteX2" fmla="*/ 3119123 w 3119123"/>
              <a:gd name="connsiteY2" fmla="*/ 5022022 h 5022022"/>
              <a:gd name="connsiteX3" fmla="*/ 0 w 3119123"/>
              <a:gd name="connsiteY3" fmla="*/ 5022022 h 5022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19123" h="5022022">
                <a:moveTo>
                  <a:pt x="0" y="0"/>
                </a:moveTo>
                <a:lnTo>
                  <a:pt x="3119123" y="0"/>
                </a:lnTo>
                <a:lnTo>
                  <a:pt x="3119123" y="5022022"/>
                </a:lnTo>
                <a:lnTo>
                  <a:pt x="0" y="5022022"/>
                </a:lnTo>
                <a:close/>
              </a:path>
            </a:pathLst>
          </a:cu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2510" y="0"/>
            <a:ext cx="5814093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 userDrawn="1"/>
        </p:nvSpPr>
        <p:spPr>
          <a:xfrm>
            <a:off x="6273803" y="0"/>
            <a:ext cx="5930900" cy="6858000"/>
          </a:xfrm>
          <a:custGeom>
            <a:avLst/>
            <a:gdLst>
              <a:gd name="connsiteX0" fmla="*/ 0 w 4934423"/>
              <a:gd name="connsiteY0" fmla="*/ 0 h 6858000"/>
              <a:gd name="connsiteX1" fmla="*/ 4934423 w 4934423"/>
              <a:gd name="connsiteY1" fmla="*/ 0 h 6858000"/>
              <a:gd name="connsiteX2" fmla="*/ 4934423 w 4934423"/>
              <a:gd name="connsiteY2" fmla="*/ 6858000 h 6858000"/>
              <a:gd name="connsiteX3" fmla="*/ 0 w 4934423"/>
              <a:gd name="connsiteY3" fmla="*/ 6858000 h 6858000"/>
              <a:gd name="connsiteX4" fmla="*/ 159373 w 4934423"/>
              <a:gd name="connsiteY4" fmla="*/ 6706052 h 6858000"/>
              <a:gd name="connsiteX5" fmla="*/ 1516772 w 4934423"/>
              <a:gd name="connsiteY5" fmla="*/ 3429000 h 6858000"/>
              <a:gd name="connsiteX6" fmla="*/ 159373 w 4934423"/>
              <a:gd name="connsiteY6" fmla="*/ 151948 h 6858000"/>
              <a:gd name="connsiteX7" fmla="*/ 0 w 4934423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934423" h="6858000">
                <a:moveTo>
                  <a:pt x="0" y="0"/>
                </a:moveTo>
                <a:lnTo>
                  <a:pt x="4934423" y="0"/>
                </a:lnTo>
                <a:lnTo>
                  <a:pt x="4934423" y="6858000"/>
                </a:lnTo>
                <a:lnTo>
                  <a:pt x="0" y="6858000"/>
                </a:lnTo>
                <a:lnTo>
                  <a:pt x="159373" y="6706052"/>
                </a:lnTo>
                <a:cubicBezTo>
                  <a:pt x="998044" y="5867381"/>
                  <a:pt x="1516772" y="4708769"/>
                  <a:pt x="1516772" y="3429000"/>
                </a:cubicBezTo>
                <a:cubicBezTo>
                  <a:pt x="1516772" y="2149232"/>
                  <a:pt x="998044" y="990619"/>
                  <a:pt x="159373" y="151948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55000"/>
                </a:schemeClr>
              </a:gs>
              <a:gs pos="75000">
                <a:schemeClr val="accent1">
                  <a:alpha val="9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2" name="椭圆 11"/>
          <p:cNvSpPr/>
          <p:nvPr userDrawn="1"/>
        </p:nvSpPr>
        <p:spPr>
          <a:xfrm>
            <a:off x="-363418" y="-651026"/>
            <a:ext cx="8160051" cy="8160051"/>
          </a:xfrm>
          <a:prstGeom prst="ellipse">
            <a:avLst/>
          </a:prstGeom>
          <a:noFill/>
          <a:ln>
            <a:gradFill flip="none" rotWithShape="1">
              <a:gsLst>
                <a:gs pos="77000">
                  <a:schemeClr val="accent1"/>
                </a:gs>
                <a:gs pos="73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11517"/>
            <a:ext cx="2146573" cy="618783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561"/>
          <a:stretch>
            <a:fillRect/>
          </a:stretch>
        </p:blipFill>
        <p:spPr>
          <a:xfrm>
            <a:off x="6301409" y="4199181"/>
            <a:ext cx="5890591" cy="2658818"/>
          </a:xfrm>
          <a:custGeom>
            <a:avLst/>
            <a:gdLst>
              <a:gd name="connsiteX0" fmla="*/ 1724914 w 5890591"/>
              <a:gd name="connsiteY0" fmla="*/ 0 h 2658818"/>
              <a:gd name="connsiteX1" fmla="*/ 5890591 w 5890591"/>
              <a:gd name="connsiteY1" fmla="*/ 0 h 2658818"/>
              <a:gd name="connsiteX2" fmla="*/ 5890591 w 5890591"/>
              <a:gd name="connsiteY2" fmla="*/ 2658818 h 2658818"/>
              <a:gd name="connsiteX3" fmla="*/ 0 w 5890591"/>
              <a:gd name="connsiteY3" fmla="*/ 2658818 h 2658818"/>
              <a:gd name="connsiteX4" fmla="*/ 0 w 5890591"/>
              <a:gd name="connsiteY4" fmla="*/ 2642831 h 2658818"/>
              <a:gd name="connsiteX5" fmla="*/ 171403 w 5890591"/>
              <a:gd name="connsiteY5" fmla="*/ 2506870 h 2658818"/>
              <a:gd name="connsiteX6" fmla="*/ 1689751 w 5890591"/>
              <a:gd name="connsiteY6" fmla="*/ 163822 h 2658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90591" h="2658818">
                <a:moveTo>
                  <a:pt x="1724914" y="0"/>
                </a:moveTo>
                <a:lnTo>
                  <a:pt x="5890591" y="0"/>
                </a:lnTo>
                <a:lnTo>
                  <a:pt x="5890591" y="2658818"/>
                </a:lnTo>
                <a:lnTo>
                  <a:pt x="0" y="2658818"/>
                </a:lnTo>
                <a:lnTo>
                  <a:pt x="0" y="2642831"/>
                </a:lnTo>
                <a:lnTo>
                  <a:pt x="171403" y="2506870"/>
                </a:lnTo>
                <a:cubicBezTo>
                  <a:pt x="927429" y="1877867"/>
                  <a:pt x="1467145" y="1068897"/>
                  <a:pt x="1689751" y="163822"/>
                </a:cubicBezTo>
                <a:close/>
              </a:path>
            </a:pathLst>
          </a:cu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/>
          <p:cNvSpPr>
            <a:spLocks noGrp="1"/>
          </p:cNvSpPr>
          <p:nvPr>
            <p:ph type="pic" sz="quarter" idx="10"/>
          </p:nvPr>
        </p:nvSpPr>
        <p:spPr>
          <a:xfrm>
            <a:off x="1435100" y="1676400"/>
            <a:ext cx="3035300" cy="3771900"/>
          </a:xfrm>
          <a:prstGeom prst="rect">
            <a:avLst/>
          </a:prstGeom>
          <a:ln w="57150">
            <a:solidFill>
              <a:schemeClr val="accent1"/>
            </a:solidFill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7"/>
          <p:cNvSpPr>
            <a:spLocks noGrp="1"/>
          </p:cNvSpPr>
          <p:nvPr>
            <p:ph type="pic" sz="quarter" idx="10"/>
          </p:nvPr>
        </p:nvSpPr>
        <p:spPr>
          <a:xfrm>
            <a:off x="1365250" y="1676400"/>
            <a:ext cx="5842000" cy="1651000"/>
          </a:xfrm>
          <a:prstGeom prst="rect">
            <a:avLst/>
          </a:prstGeom>
          <a:ln w="57150">
            <a:solidFill>
              <a:schemeClr val="accent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图片占位符 7"/>
          <p:cNvSpPr>
            <a:spLocks noGrp="1"/>
          </p:cNvSpPr>
          <p:nvPr>
            <p:ph type="pic" sz="quarter" idx="11"/>
          </p:nvPr>
        </p:nvSpPr>
        <p:spPr>
          <a:xfrm>
            <a:off x="4946650" y="3797300"/>
            <a:ext cx="5842000" cy="1651000"/>
          </a:xfrm>
          <a:prstGeom prst="rect">
            <a:avLst/>
          </a:prstGeom>
          <a:ln w="57150">
            <a:solidFill>
              <a:schemeClr val="accent1"/>
            </a:solidFill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/>
          <p:cNvSpPr>
            <a:spLocks noGrp="1"/>
          </p:cNvSpPr>
          <p:nvPr>
            <p:ph type="pic" sz="quarter" idx="10"/>
          </p:nvPr>
        </p:nvSpPr>
        <p:spPr>
          <a:xfrm>
            <a:off x="1056372" y="1676400"/>
            <a:ext cx="2635250" cy="3111500"/>
          </a:xfrm>
          <a:prstGeom prst="rect">
            <a:avLst/>
          </a:prstGeom>
          <a:ln w="57150">
            <a:solidFill>
              <a:schemeClr val="accent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图片占位符 7"/>
          <p:cNvSpPr>
            <a:spLocks noGrp="1"/>
          </p:cNvSpPr>
          <p:nvPr>
            <p:ph type="pic" sz="quarter" idx="11"/>
          </p:nvPr>
        </p:nvSpPr>
        <p:spPr>
          <a:xfrm>
            <a:off x="4759325" y="1676400"/>
            <a:ext cx="2635250" cy="3111500"/>
          </a:xfrm>
          <a:prstGeom prst="rect">
            <a:avLst/>
          </a:prstGeom>
          <a:ln w="57150">
            <a:solidFill>
              <a:schemeClr val="accent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图片占位符 7"/>
          <p:cNvSpPr>
            <a:spLocks noGrp="1"/>
          </p:cNvSpPr>
          <p:nvPr>
            <p:ph type="pic" sz="quarter" idx="12"/>
          </p:nvPr>
        </p:nvSpPr>
        <p:spPr>
          <a:xfrm>
            <a:off x="8462277" y="1676400"/>
            <a:ext cx="2635250" cy="3111500"/>
          </a:xfrm>
          <a:prstGeom prst="rect">
            <a:avLst/>
          </a:prstGeom>
          <a:ln w="57150">
            <a:solidFill>
              <a:schemeClr val="accent1"/>
            </a:solidFill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图片占位符 24"/>
          <p:cNvSpPr>
            <a:spLocks noGrp="1"/>
          </p:cNvSpPr>
          <p:nvPr>
            <p:ph type="pic" sz="quarter" idx="12"/>
          </p:nvPr>
        </p:nvSpPr>
        <p:spPr>
          <a:xfrm>
            <a:off x="8370890" y="3902079"/>
            <a:ext cx="1317622" cy="1317622"/>
          </a:xfrm>
          <a:custGeom>
            <a:avLst/>
            <a:gdLst>
              <a:gd name="connsiteX0" fmla="*/ 658811 w 1317622"/>
              <a:gd name="connsiteY0" fmla="*/ 0 h 1317622"/>
              <a:gd name="connsiteX1" fmla="*/ 1317622 w 1317622"/>
              <a:gd name="connsiteY1" fmla="*/ 658811 h 1317622"/>
              <a:gd name="connsiteX2" fmla="*/ 658811 w 1317622"/>
              <a:gd name="connsiteY2" fmla="*/ 1317622 h 1317622"/>
              <a:gd name="connsiteX3" fmla="*/ 0 w 1317622"/>
              <a:gd name="connsiteY3" fmla="*/ 658811 h 1317622"/>
              <a:gd name="connsiteX4" fmla="*/ 658811 w 1317622"/>
              <a:gd name="connsiteY4" fmla="*/ 0 h 1317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7622" h="1317622">
                <a:moveTo>
                  <a:pt x="658811" y="0"/>
                </a:moveTo>
                <a:cubicBezTo>
                  <a:pt x="1022662" y="0"/>
                  <a:pt x="1317622" y="294960"/>
                  <a:pt x="1317622" y="658811"/>
                </a:cubicBezTo>
                <a:cubicBezTo>
                  <a:pt x="1317622" y="1022662"/>
                  <a:pt x="1022662" y="1317622"/>
                  <a:pt x="658811" y="1317622"/>
                </a:cubicBezTo>
                <a:cubicBezTo>
                  <a:pt x="294960" y="1317622"/>
                  <a:pt x="0" y="1022662"/>
                  <a:pt x="0" y="658811"/>
                </a:cubicBezTo>
                <a:cubicBezTo>
                  <a:pt x="0" y="294960"/>
                  <a:pt x="294960" y="0"/>
                  <a:pt x="658811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4" name="图片占位符 23"/>
          <p:cNvSpPr>
            <a:spLocks noGrp="1"/>
          </p:cNvSpPr>
          <p:nvPr>
            <p:ph type="pic" sz="quarter" idx="11"/>
          </p:nvPr>
        </p:nvSpPr>
        <p:spPr>
          <a:xfrm>
            <a:off x="7390611" y="2205970"/>
            <a:ext cx="1317622" cy="1317622"/>
          </a:xfrm>
          <a:custGeom>
            <a:avLst/>
            <a:gdLst>
              <a:gd name="connsiteX0" fmla="*/ 658811 w 1317622"/>
              <a:gd name="connsiteY0" fmla="*/ 0 h 1317622"/>
              <a:gd name="connsiteX1" fmla="*/ 1317622 w 1317622"/>
              <a:gd name="connsiteY1" fmla="*/ 658811 h 1317622"/>
              <a:gd name="connsiteX2" fmla="*/ 658811 w 1317622"/>
              <a:gd name="connsiteY2" fmla="*/ 1317622 h 1317622"/>
              <a:gd name="connsiteX3" fmla="*/ 0 w 1317622"/>
              <a:gd name="connsiteY3" fmla="*/ 658811 h 1317622"/>
              <a:gd name="connsiteX4" fmla="*/ 658811 w 1317622"/>
              <a:gd name="connsiteY4" fmla="*/ 0 h 1317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7622" h="1317622">
                <a:moveTo>
                  <a:pt x="658811" y="0"/>
                </a:moveTo>
                <a:cubicBezTo>
                  <a:pt x="1022662" y="0"/>
                  <a:pt x="1317622" y="294960"/>
                  <a:pt x="1317622" y="658811"/>
                </a:cubicBezTo>
                <a:cubicBezTo>
                  <a:pt x="1317622" y="1022662"/>
                  <a:pt x="1022662" y="1317622"/>
                  <a:pt x="658811" y="1317622"/>
                </a:cubicBezTo>
                <a:cubicBezTo>
                  <a:pt x="294960" y="1317622"/>
                  <a:pt x="0" y="1022662"/>
                  <a:pt x="0" y="658811"/>
                </a:cubicBezTo>
                <a:cubicBezTo>
                  <a:pt x="0" y="294960"/>
                  <a:pt x="294960" y="0"/>
                  <a:pt x="658811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3" name="图片占位符 22"/>
          <p:cNvSpPr>
            <a:spLocks noGrp="1"/>
          </p:cNvSpPr>
          <p:nvPr>
            <p:ph type="pic" sz="quarter" idx="13"/>
          </p:nvPr>
        </p:nvSpPr>
        <p:spPr>
          <a:xfrm>
            <a:off x="5418139" y="1514479"/>
            <a:ext cx="1317622" cy="1317622"/>
          </a:xfrm>
          <a:custGeom>
            <a:avLst/>
            <a:gdLst>
              <a:gd name="connsiteX0" fmla="*/ 658811 w 1317622"/>
              <a:gd name="connsiteY0" fmla="*/ 0 h 1317622"/>
              <a:gd name="connsiteX1" fmla="*/ 1317622 w 1317622"/>
              <a:gd name="connsiteY1" fmla="*/ 658811 h 1317622"/>
              <a:gd name="connsiteX2" fmla="*/ 658811 w 1317622"/>
              <a:gd name="connsiteY2" fmla="*/ 1317622 h 1317622"/>
              <a:gd name="connsiteX3" fmla="*/ 0 w 1317622"/>
              <a:gd name="connsiteY3" fmla="*/ 658811 h 1317622"/>
              <a:gd name="connsiteX4" fmla="*/ 658811 w 1317622"/>
              <a:gd name="connsiteY4" fmla="*/ 0 h 1317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7622" h="1317622">
                <a:moveTo>
                  <a:pt x="658811" y="0"/>
                </a:moveTo>
                <a:cubicBezTo>
                  <a:pt x="1022662" y="0"/>
                  <a:pt x="1317622" y="294960"/>
                  <a:pt x="1317622" y="658811"/>
                </a:cubicBezTo>
                <a:cubicBezTo>
                  <a:pt x="1317622" y="1022662"/>
                  <a:pt x="1022662" y="1317622"/>
                  <a:pt x="658811" y="1317622"/>
                </a:cubicBezTo>
                <a:cubicBezTo>
                  <a:pt x="294960" y="1317622"/>
                  <a:pt x="0" y="1022662"/>
                  <a:pt x="0" y="658811"/>
                </a:cubicBezTo>
                <a:cubicBezTo>
                  <a:pt x="0" y="294960"/>
                  <a:pt x="294960" y="0"/>
                  <a:pt x="658811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2" name="图片占位符 21"/>
          <p:cNvSpPr>
            <a:spLocks noGrp="1"/>
          </p:cNvSpPr>
          <p:nvPr>
            <p:ph type="pic" sz="quarter" idx="14"/>
          </p:nvPr>
        </p:nvSpPr>
        <p:spPr>
          <a:xfrm>
            <a:off x="3445668" y="2205970"/>
            <a:ext cx="1317622" cy="1317622"/>
          </a:xfrm>
          <a:custGeom>
            <a:avLst/>
            <a:gdLst>
              <a:gd name="connsiteX0" fmla="*/ 658811 w 1317622"/>
              <a:gd name="connsiteY0" fmla="*/ 0 h 1317622"/>
              <a:gd name="connsiteX1" fmla="*/ 1317622 w 1317622"/>
              <a:gd name="connsiteY1" fmla="*/ 658811 h 1317622"/>
              <a:gd name="connsiteX2" fmla="*/ 658811 w 1317622"/>
              <a:gd name="connsiteY2" fmla="*/ 1317622 h 1317622"/>
              <a:gd name="connsiteX3" fmla="*/ 0 w 1317622"/>
              <a:gd name="connsiteY3" fmla="*/ 658811 h 1317622"/>
              <a:gd name="connsiteX4" fmla="*/ 658811 w 1317622"/>
              <a:gd name="connsiteY4" fmla="*/ 0 h 1317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7622" h="1317622">
                <a:moveTo>
                  <a:pt x="658811" y="0"/>
                </a:moveTo>
                <a:cubicBezTo>
                  <a:pt x="1022662" y="0"/>
                  <a:pt x="1317622" y="294960"/>
                  <a:pt x="1317622" y="658811"/>
                </a:cubicBezTo>
                <a:cubicBezTo>
                  <a:pt x="1317622" y="1022662"/>
                  <a:pt x="1022662" y="1317622"/>
                  <a:pt x="658811" y="1317622"/>
                </a:cubicBezTo>
                <a:cubicBezTo>
                  <a:pt x="294960" y="1317622"/>
                  <a:pt x="0" y="1022662"/>
                  <a:pt x="0" y="658811"/>
                </a:cubicBezTo>
                <a:cubicBezTo>
                  <a:pt x="0" y="294960"/>
                  <a:pt x="294960" y="0"/>
                  <a:pt x="658811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1" name="图片占位符 20"/>
          <p:cNvSpPr>
            <a:spLocks noGrp="1"/>
          </p:cNvSpPr>
          <p:nvPr>
            <p:ph type="pic" sz="quarter" idx="10"/>
          </p:nvPr>
        </p:nvSpPr>
        <p:spPr>
          <a:xfrm>
            <a:off x="2465389" y="3902079"/>
            <a:ext cx="1317622" cy="1317622"/>
          </a:xfrm>
          <a:custGeom>
            <a:avLst/>
            <a:gdLst>
              <a:gd name="connsiteX0" fmla="*/ 658811 w 1317622"/>
              <a:gd name="connsiteY0" fmla="*/ 0 h 1317622"/>
              <a:gd name="connsiteX1" fmla="*/ 1317622 w 1317622"/>
              <a:gd name="connsiteY1" fmla="*/ 658811 h 1317622"/>
              <a:gd name="connsiteX2" fmla="*/ 658811 w 1317622"/>
              <a:gd name="connsiteY2" fmla="*/ 1317622 h 1317622"/>
              <a:gd name="connsiteX3" fmla="*/ 0 w 1317622"/>
              <a:gd name="connsiteY3" fmla="*/ 658811 h 1317622"/>
              <a:gd name="connsiteX4" fmla="*/ 658811 w 1317622"/>
              <a:gd name="connsiteY4" fmla="*/ 0 h 1317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7622" h="1317622">
                <a:moveTo>
                  <a:pt x="658811" y="0"/>
                </a:moveTo>
                <a:cubicBezTo>
                  <a:pt x="1022662" y="0"/>
                  <a:pt x="1317622" y="294960"/>
                  <a:pt x="1317622" y="658811"/>
                </a:cubicBezTo>
                <a:cubicBezTo>
                  <a:pt x="1317622" y="1022662"/>
                  <a:pt x="1022662" y="1317622"/>
                  <a:pt x="658811" y="1317622"/>
                </a:cubicBezTo>
                <a:cubicBezTo>
                  <a:pt x="294960" y="1317622"/>
                  <a:pt x="0" y="1022662"/>
                  <a:pt x="0" y="658811"/>
                </a:cubicBezTo>
                <a:cubicBezTo>
                  <a:pt x="0" y="294960"/>
                  <a:pt x="294960" y="0"/>
                  <a:pt x="658811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图片占位符 16"/>
          <p:cNvSpPr>
            <a:spLocks noGrp="1"/>
          </p:cNvSpPr>
          <p:nvPr>
            <p:ph type="pic" sz="quarter" idx="10"/>
          </p:nvPr>
        </p:nvSpPr>
        <p:spPr>
          <a:xfrm>
            <a:off x="3024573" y="1394838"/>
            <a:ext cx="966334" cy="966334"/>
          </a:xfrm>
          <a:custGeom>
            <a:avLst/>
            <a:gdLst>
              <a:gd name="connsiteX0" fmla="*/ 483167 w 966334"/>
              <a:gd name="connsiteY0" fmla="*/ 0 h 966334"/>
              <a:gd name="connsiteX1" fmla="*/ 966334 w 966334"/>
              <a:gd name="connsiteY1" fmla="*/ 483167 h 966334"/>
              <a:gd name="connsiteX2" fmla="*/ 483167 w 966334"/>
              <a:gd name="connsiteY2" fmla="*/ 966334 h 966334"/>
              <a:gd name="connsiteX3" fmla="*/ 0 w 966334"/>
              <a:gd name="connsiteY3" fmla="*/ 483167 h 966334"/>
              <a:gd name="connsiteX4" fmla="*/ 483167 w 966334"/>
              <a:gd name="connsiteY4" fmla="*/ 0 h 966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6334" h="966334">
                <a:moveTo>
                  <a:pt x="483167" y="0"/>
                </a:moveTo>
                <a:cubicBezTo>
                  <a:pt x="750013" y="0"/>
                  <a:pt x="966334" y="216321"/>
                  <a:pt x="966334" y="483167"/>
                </a:cubicBezTo>
                <a:cubicBezTo>
                  <a:pt x="966334" y="750013"/>
                  <a:pt x="750013" y="966334"/>
                  <a:pt x="483167" y="966334"/>
                </a:cubicBezTo>
                <a:cubicBezTo>
                  <a:pt x="216321" y="966334"/>
                  <a:pt x="0" y="750013"/>
                  <a:pt x="0" y="483167"/>
                </a:cubicBezTo>
                <a:cubicBezTo>
                  <a:pt x="0" y="216321"/>
                  <a:pt x="216321" y="0"/>
                  <a:pt x="48316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8" name="图片占位符 17"/>
          <p:cNvSpPr>
            <a:spLocks noGrp="1"/>
          </p:cNvSpPr>
          <p:nvPr>
            <p:ph type="pic" sz="quarter" idx="11"/>
          </p:nvPr>
        </p:nvSpPr>
        <p:spPr>
          <a:xfrm>
            <a:off x="3024573" y="3149033"/>
            <a:ext cx="966334" cy="966334"/>
          </a:xfrm>
          <a:custGeom>
            <a:avLst/>
            <a:gdLst>
              <a:gd name="connsiteX0" fmla="*/ 483167 w 966334"/>
              <a:gd name="connsiteY0" fmla="*/ 0 h 966334"/>
              <a:gd name="connsiteX1" fmla="*/ 966334 w 966334"/>
              <a:gd name="connsiteY1" fmla="*/ 483167 h 966334"/>
              <a:gd name="connsiteX2" fmla="*/ 483167 w 966334"/>
              <a:gd name="connsiteY2" fmla="*/ 966334 h 966334"/>
              <a:gd name="connsiteX3" fmla="*/ 0 w 966334"/>
              <a:gd name="connsiteY3" fmla="*/ 483167 h 966334"/>
              <a:gd name="connsiteX4" fmla="*/ 483167 w 966334"/>
              <a:gd name="connsiteY4" fmla="*/ 0 h 966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6334" h="966334">
                <a:moveTo>
                  <a:pt x="483167" y="0"/>
                </a:moveTo>
                <a:cubicBezTo>
                  <a:pt x="750013" y="0"/>
                  <a:pt x="966334" y="216321"/>
                  <a:pt x="966334" y="483167"/>
                </a:cubicBezTo>
                <a:cubicBezTo>
                  <a:pt x="966334" y="750013"/>
                  <a:pt x="750013" y="966334"/>
                  <a:pt x="483167" y="966334"/>
                </a:cubicBezTo>
                <a:cubicBezTo>
                  <a:pt x="216321" y="966334"/>
                  <a:pt x="0" y="750013"/>
                  <a:pt x="0" y="483167"/>
                </a:cubicBezTo>
                <a:cubicBezTo>
                  <a:pt x="0" y="216321"/>
                  <a:pt x="216321" y="0"/>
                  <a:pt x="48316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9" name="图片占位符 18"/>
          <p:cNvSpPr>
            <a:spLocks noGrp="1"/>
          </p:cNvSpPr>
          <p:nvPr>
            <p:ph type="pic" sz="quarter" idx="12"/>
          </p:nvPr>
        </p:nvSpPr>
        <p:spPr>
          <a:xfrm>
            <a:off x="3024573" y="4903227"/>
            <a:ext cx="966334" cy="966334"/>
          </a:xfrm>
          <a:custGeom>
            <a:avLst/>
            <a:gdLst>
              <a:gd name="connsiteX0" fmla="*/ 483167 w 966334"/>
              <a:gd name="connsiteY0" fmla="*/ 0 h 966334"/>
              <a:gd name="connsiteX1" fmla="*/ 966334 w 966334"/>
              <a:gd name="connsiteY1" fmla="*/ 483167 h 966334"/>
              <a:gd name="connsiteX2" fmla="*/ 483167 w 966334"/>
              <a:gd name="connsiteY2" fmla="*/ 966334 h 966334"/>
              <a:gd name="connsiteX3" fmla="*/ 0 w 966334"/>
              <a:gd name="connsiteY3" fmla="*/ 483167 h 966334"/>
              <a:gd name="connsiteX4" fmla="*/ 483167 w 966334"/>
              <a:gd name="connsiteY4" fmla="*/ 0 h 966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6334" h="966334">
                <a:moveTo>
                  <a:pt x="483167" y="0"/>
                </a:moveTo>
                <a:cubicBezTo>
                  <a:pt x="750013" y="0"/>
                  <a:pt x="966334" y="216321"/>
                  <a:pt x="966334" y="483167"/>
                </a:cubicBezTo>
                <a:cubicBezTo>
                  <a:pt x="966334" y="750013"/>
                  <a:pt x="750013" y="966334"/>
                  <a:pt x="483167" y="966334"/>
                </a:cubicBezTo>
                <a:cubicBezTo>
                  <a:pt x="216321" y="966334"/>
                  <a:pt x="0" y="750013"/>
                  <a:pt x="0" y="483167"/>
                </a:cubicBezTo>
                <a:cubicBezTo>
                  <a:pt x="0" y="216321"/>
                  <a:pt x="216321" y="0"/>
                  <a:pt x="48316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4CD0CA6-CE23-4018-9B49-CEB199C64A14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CBB53F-E9F2-4444-96CA-E16B3F9388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4CD0CA6-CE23-4018-9B49-CEB199C64A14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CBB53F-E9F2-4444-96CA-E16B3F9388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4CD0CA6-CE23-4018-9B49-CEB199C64A14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CBB53F-E9F2-4444-96CA-E16B3F9388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4CD0CA6-CE23-4018-9B49-CEB199C64A14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CBB53F-E9F2-4444-96CA-E16B3F9388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4CD0CA6-CE23-4018-9B49-CEB199C64A14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CBB53F-E9F2-4444-96CA-E16B3F9388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流程图: 离页连接符 6"/>
          <p:cNvSpPr/>
          <p:nvPr userDrawn="1"/>
        </p:nvSpPr>
        <p:spPr>
          <a:xfrm rot="16200000">
            <a:off x="82032" y="171968"/>
            <a:ext cx="509036" cy="673100"/>
          </a:xfrm>
          <a:prstGeom prst="flowChartOffpageConnector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8174" y="225254"/>
            <a:ext cx="1865584" cy="537783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0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15.jpe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16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17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7" Type="http://schemas.openxmlformats.org/officeDocument/2006/relationships/image" Target="../media/image18.pn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diagramQuickStyle" Target="../diagrams/quickStyle11.xml"/><Relationship Id="rId3" Type="http://schemas.openxmlformats.org/officeDocument/2006/relationships/tags" Target="../tags/tag4.xml"/><Relationship Id="rId21" Type="http://schemas.openxmlformats.org/officeDocument/2006/relationships/tags" Target="../tags/tag22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diagramLayout" Target="../diagrams/layout11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diagramData" Target="../diagrams/data11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notesSlide" Target="../notesSlides/notesSlide2.xml"/><Relationship Id="rId28" Type="http://schemas.microsoft.com/office/2007/relationships/diagramDrawing" Target="../diagrams/drawing11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slideLayout" Target="../slideLayouts/slideLayout12.xml"/><Relationship Id="rId27" Type="http://schemas.openxmlformats.org/officeDocument/2006/relationships/diagramColors" Target="../diagrams/colors1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diagramLayout" Target="../diagrams/layout12.xml"/><Relationship Id="rId7" Type="http://schemas.openxmlformats.org/officeDocument/2006/relationships/image" Target="../media/image19.png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7" Type="http://schemas.openxmlformats.org/officeDocument/2006/relationships/image" Target="../media/image21.png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7" Type="http://schemas.openxmlformats.org/officeDocument/2006/relationships/image" Target="../media/image22.png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2537618"/>
            <a:ext cx="213245" cy="17827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内容占位符 14"/>
          <p:cNvSpPr txBox="1"/>
          <p:nvPr/>
        </p:nvSpPr>
        <p:spPr>
          <a:xfrm>
            <a:off x="213245" y="2819474"/>
            <a:ext cx="7483864" cy="63858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5400" b="1" kern="1200">
                <a:solidFill>
                  <a:srgbClr val="7E0C6E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400" dirty="0">
                <a:ea typeface="微软雅黑" panose="020B0503020204020204" charset="-122"/>
              </a:rPr>
              <a:t>机器人电驱动系统设计分析</a:t>
            </a:r>
            <a:endParaRPr lang="en-US" altLang="zh-CN" sz="4400" dirty="0">
              <a:ea typeface="微软雅黑" panose="020B0503020204020204" charset="-122"/>
            </a:endParaRPr>
          </a:p>
        </p:txBody>
      </p:sp>
      <p:sp>
        <p:nvSpPr>
          <p:cNvPr id="7" name="内容占位符 14"/>
          <p:cNvSpPr txBox="1"/>
          <p:nvPr/>
        </p:nvSpPr>
        <p:spPr>
          <a:xfrm>
            <a:off x="511819" y="3458063"/>
            <a:ext cx="7073969" cy="100303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5400" b="1" kern="1200">
                <a:solidFill>
                  <a:srgbClr val="7E0C6E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30000"/>
              </a:lnSpc>
            </a:pPr>
            <a:r>
              <a:rPr lang="en-US" altLang="zh-CN" sz="2600" dirty="0">
                <a:ea typeface="微软雅黑" panose="020B0503020204020204" charset="-122"/>
              </a:rPr>
              <a:t>——</a:t>
            </a:r>
            <a:r>
              <a:rPr lang="zh-CN" altLang="en-US" sz="2600" dirty="0">
                <a:ea typeface="微软雅黑" panose="020B0503020204020204" charset="-122"/>
              </a:rPr>
              <a:t>电机与拖动大作业展示</a:t>
            </a:r>
            <a:endParaRPr lang="en-US" altLang="zh-CN" sz="2600" dirty="0"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800" dirty="0">
                <a:ea typeface="微软雅黑" panose="020B0503020204020204" charset="-122"/>
              </a:rPr>
              <a:t>小组成员：王永</a:t>
            </a:r>
            <a:r>
              <a:rPr lang="en-US" altLang="zh-CN" sz="1800" dirty="0">
                <a:ea typeface="微软雅黑" panose="020B0503020204020204" charset="-122"/>
              </a:rPr>
              <a:t> </a:t>
            </a:r>
            <a:r>
              <a:rPr lang="zh-CN" altLang="en-US" sz="1800" dirty="0">
                <a:ea typeface="微软雅黑" panose="020B0503020204020204" charset="-122"/>
              </a:rPr>
              <a:t>殷家兴 孙佳亮 吴泽豪 贺旭宁 梁誉耀 徐凤堡 余子扬</a:t>
            </a:r>
            <a:endParaRPr lang="en-US" altLang="zh-CN" sz="1800" dirty="0"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lang="zh-CN" altLang="en-US" sz="2000" dirty="0"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5326365" y="2172990"/>
            <a:ext cx="6019283" cy="2512020"/>
            <a:chOff x="5113005" y="2515360"/>
            <a:chExt cx="6019283" cy="2512020"/>
          </a:xfrm>
        </p:grpSpPr>
        <p:sp>
          <p:nvSpPr>
            <p:cNvPr id="15" name="标题1-文本框"/>
            <p:cNvSpPr txBox="1"/>
            <p:nvPr/>
          </p:nvSpPr>
          <p:spPr>
            <a:xfrm>
              <a:off x="5113005" y="2515360"/>
              <a:ext cx="4292600" cy="523240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90204" pitchFamily="34" charset="0"/>
                <a:buNone/>
                <a:defRPr sz="2800" kern="1200" spc="0">
                  <a:solidFill>
                    <a:srgbClr val="FFFFFF"/>
                  </a:solidFill>
                  <a:latin typeface="阿里巴巴普惠体 R" panose="00020600040101010101" pitchFamily="18" charset="-122"/>
                  <a:ea typeface="阿里巴巴普惠体 R" panose="00020600040101010101" pitchFamily="18" charset="-122"/>
                  <a:cs typeface="+mn-cs"/>
                  <a:sym typeface="阿里巴巴普惠体 R" panose="00020600040101010101" pitchFamily="18" charset="-122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3200" b="1" dirty="0">
                  <a:solidFill>
                    <a:schemeClr val="accent1"/>
                  </a:solidFill>
                  <a:ea typeface="微软雅黑" panose="020B0503020204020204" charset="-122"/>
                </a:rPr>
                <a:t>01</a:t>
              </a:r>
              <a:r>
                <a:rPr lang="zh-CN" altLang="en-US" sz="3200" b="1" dirty="0">
                  <a:solidFill>
                    <a:schemeClr val="accent1"/>
                  </a:solidFill>
                  <a:ea typeface="微软雅黑" panose="020B0503020204020204" charset="-122"/>
                </a:rPr>
                <a:t>丨机器人系统介绍</a:t>
              </a:r>
              <a:r>
                <a:rPr lang="en-US" altLang="zh-CN" sz="3600" b="1" dirty="0">
                  <a:solidFill>
                    <a:schemeClr val="accent1"/>
                  </a:solidFill>
                  <a:ea typeface="微软雅黑" panose="020B0503020204020204" charset="-122"/>
                </a:rPr>
                <a:t>   </a:t>
              </a:r>
              <a:endParaRPr lang="zh-CN" altLang="en-US" sz="3600" b="1" dirty="0">
                <a:solidFill>
                  <a:schemeClr val="accent1"/>
                </a:solidFill>
                <a:ea typeface="微软雅黑" panose="020B0503020204020204" charset="-122"/>
              </a:endParaRPr>
            </a:p>
            <a:p>
              <a:r>
                <a:rPr lang="en-US" altLang="zh-CN" sz="3600" b="1" dirty="0">
                  <a:solidFill>
                    <a:schemeClr val="accent1"/>
                  </a:solidFill>
                  <a:ea typeface="微软雅黑" panose="020B0503020204020204" charset="-122"/>
                </a:rPr>
                <a:t>   </a:t>
              </a:r>
            </a:p>
          </p:txBody>
        </p:sp>
        <p:sp>
          <p:nvSpPr>
            <p:cNvPr id="19" name="标题1-文本框"/>
            <p:cNvSpPr txBox="1"/>
            <p:nvPr/>
          </p:nvSpPr>
          <p:spPr>
            <a:xfrm>
              <a:off x="5113005" y="3178260"/>
              <a:ext cx="6019283" cy="523240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90204" pitchFamily="34" charset="0"/>
                <a:buNone/>
                <a:defRPr sz="2800" kern="1200" spc="0">
                  <a:solidFill>
                    <a:srgbClr val="FFFFFF"/>
                  </a:solidFill>
                  <a:latin typeface="阿里巴巴普惠体 R" panose="00020600040101010101" pitchFamily="18" charset="-122"/>
                  <a:ea typeface="阿里巴巴普惠体 R" panose="00020600040101010101" pitchFamily="18" charset="-122"/>
                  <a:cs typeface="+mn-cs"/>
                  <a:sym typeface="阿里巴巴普惠体 R" panose="00020600040101010101" pitchFamily="18" charset="-122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3200" b="1" dirty="0">
                  <a:solidFill>
                    <a:schemeClr val="accent1"/>
                  </a:solidFill>
                  <a:ea typeface="微软雅黑" panose="020B0503020204020204" charset="-122"/>
                </a:rPr>
                <a:t>02</a:t>
              </a:r>
              <a:r>
                <a:rPr lang="zh-CN" altLang="en-US" sz="3200" b="1" dirty="0">
                  <a:solidFill>
                    <a:schemeClr val="accent1"/>
                  </a:solidFill>
                  <a:ea typeface="微软雅黑" panose="020B0503020204020204" charset="-122"/>
                </a:rPr>
                <a:t>丨研究现状</a:t>
              </a:r>
            </a:p>
          </p:txBody>
        </p:sp>
        <p:sp>
          <p:nvSpPr>
            <p:cNvPr id="20" name="标题1-文本框"/>
            <p:cNvSpPr txBox="1"/>
            <p:nvPr/>
          </p:nvSpPr>
          <p:spPr>
            <a:xfrm>
              <a:off x="5113005" y="3841240"/>
              <a:ext cx="5449500" cy="523220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90204" pitchFamily="34" charset="0"/>
                <a:buNone/>
                <a:defRPr sz="2800" kern="1200" spc="0">
                  <a:solidFill>
                    <a:srgbClr val="FFFFFF"/>
                  </a:solidFill>
                  <a:latin typeface="阿里巴巴普惠体 R" panose="00020600040101010101" pitchFamily="18" charset="-122"/>
                  <a:ea typeface="阿里巴巴普惠体 R" panose="00020600040101010101" pitchFamily="18" charset="-122"/>
                  <a:cs typeface="+mn-cs"/>
                  <a:sym typeface="阿里巴巴普惠体 R" panose="00020600040101010101" pitchFamily="18" charset="-122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3200" b="1" dirty="0">
                  <a:solidFill>
                    <a:schemeClr val="accent1"/>
                  </a:solidFill>
                  <a:ea typeface="微软雅黑" panose="020B0503020204020204" charset="-122"/>
                </a:rPr>
                <a:t>03</a:t>
              </a:r>
              <a:r>
                <a:rPr lang="zh-CN" altLang="en-US" sz="3200" b="1" dirty="0">
                  <a:solidFill>
                    <a:schemeClr val="accent1"/>
                  </a:solidFill>
                  <a:ea typeface="微软雅黑" panose="020B0503020204020204" charset="-122"/>
                </a:rPr>
                <a:t>丨</a:t>
              </a:r>
              <a:r>
                <a:rPr lang="zh-CN" altLang="en-US" sz="3200" b="1" dirty="0">
                  <a:solidFill>
                    <a:schemeClr val="accent1"/>
                  </a:solidFill>
                  <a:ea typeface="微软雅黑" panose="020B0503020204020204" charset="-122"/>
                  <a:sym typeface="+mn-ea"/>
                </a:rPr>
                <a:t>电驱动系统分析设计</a:t>
              </a:r>
              <a:endParaRPr lang="zh-CN" altLang="en-US" sz="3600" b="1" dirty="0">
                <a:solidFill>
                  <a:schemeClr val="accent1"/>
                </a:solidFill>
                <a:ea typeface="微软雅黑" panose="020B0503020204020204" charset="-122"/>
              </a:endParaRPr>
            </a:p>
          </p:txBody>
        </p:sp>
        <p:sp>
          <p:nvSpPr>
            <p:cNvPr id="2" name="标题1-文本框"/>
            <p:cNvSpPr txBox="1"/>
            <p:nvPr/>
          </p:nvSpPr>
          <p:spPr>
            <a:xfrm>
              <a:off x="5113005" y="4504160"/>
              <a:ext cx="5449500" cy="523220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90204" pitchFamily="34" charset="0"/>
                <a:buNone/>
                <a:defRPr sz="2800" kern="1200" spc="0">
                  <a:solidFill>
                    <a:srgbClr val="FFFFFF"/>
                  </a:solidFill>
                  <a:latin typeface="阿里巴巴普惠体 R" panose="00020600040101010101" pitchFamily="18" charset="-122"/>
                  <a:ea typeface="阿里巴巴普惠体 R" panose="00020600040101010101" pitchFamily="18" charset="-122"/>
                  <a:cs typeface="+mn-cs"/>
                  <a:sym typeface="阿里巴巴普惠体 R" panose="00020600040101010101" pitchFamily="18" charset="-122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3200" b="1" dirty="0">
                  <a:solidFill>
                    <a:schemeClr val="accent1"/>
                  </a:solidFill>
                  <a:ea typeface="微软雅黑" panose="020B0503020204020204" charset="-122"/>
                </a:rPr>
                <a:t>04</a:t>
              </a:r>
              <a:r>
                <a:rPr lang="zh-CN" altLang="en-US" sz="3200" b="1" dirty="0">
                  <a:solidFill>
                    <a:schemeClr val="accent1"/>
                  </a:solidFill>
                  <a:ea typeface="微软雅黑" panose="020B0503020204020204" charset="-122"/>
                </a:rPr>
                <a:t>丨总结</a:t>
              </a:r>
            </a:p>
            <a:p>
              <a:endParaRPr lang="zh-CN" altLang="en-US" sz="3600" b="1" dirty="0">
                <a:solidFill>
                  <a:schemeClr val="accent1"/>
                </a:solidFill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形 21" descr="书籍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38800" y="1699400"/>
            <a:ext cx="914400" cy="914400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4892607" y="3429000"/>
            <a:ext cx="2418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ea typeface="微软雅黑" panose="020B0503020204020204" charset="-122"/>
              </a:rPr>
              <a:t>Part 1</a:t>
            </a:r>
            <a:endParaRPr lang="zh-CN" altLang="en-US" sz="3600" b="1" dirty="0">
              <a:solidFill>
                <a:schemeClr val="bg1"/>
              </a:solidFill>
              <a:ea typeface="微软雅黑" panose="020B050302020402020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565368" y="5600960"/>
            <a:ext cx="1061264" cy="65258"/>
            <a:chOff x="5551341" y="5589148"/>
            <a:chExt cx="1061264" cy="65258"/>
          </a:xfrm>
        </p:grpSpPr>
        <p:sp>
          <p:nvSpPr>
            <p:cNvPr id="10" name="圆角矩形 59"/>
            <p:cNvSpPr/>
            <p:nvPr/>
          </p:nvSpPr>
          <p:spPr>
            <a:xfrm>
              <a:off x="5551341" y="5589148"/>
              <a:ext cx="265316" cy="65258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368300" dir="5400000" algn="ctr" rotWithShape="0">
                <a:srgbClr val="FD4979">
                  <a:alpha val="49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ea typeface="微软雅黑" panose="020B0503020204020204" charset="-122"/>
              </a:endParaRPr>
            </a:p>
          </p:txBody>
        </p:sp>
        <p:sp>
          <p:nvSpPr>
            <p:cNvPr id="24" name="圆角矩形 59"/>
            <p:cNvSpPr/>
            <p:nvPr/>
          </p:nvSpPr>
          <p:spPr>
            <a:xfrm>
              <a:off x="5816657" y="5589148"/>
              <a:ext cx="265316" cy="65258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26000"/>
              </a:schemeClr>
            </a:solidFill>
            <a:ln>
              <a:noFill/>
            </a:ln>
            <a:effectLst>
              <a:outerShdw blurRad="368300" dir="5400000" algn="ctr" rotWithShape="0">
                <a:srgbClr val="FD4979">
                  <a:alpha val="49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ea typeface="微软雅黑" panose="020B0503020204020204" charset="-122"/>
              </a:endParaRPr>
            </a:p>
          </p:txBody>
        </p:sp>
        <p:sp>
          <p:nvSpPr>
            <p:cNvPr id="25" name="圆角矩形 59"/>
            <p:cNvSpPr/>
            <p:nvPr/>
          </p:nvSpPr>
          <p:spPr>
            <a:xfrm>
              <a:off x="6081973" y="5589148"/>
              <a:ext cx="265316" cy="65258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26000"/>
              </a:schemeClr>
            </a:solidFill>
            <a:ln>
              <a:noFill/>
            </a:ln>
            <a:effectLst>
              <a:outerShdw blurRad="368300" dir="5400000" algn="ctr" rotWithShape="0">
                <a:srgbClr val="FD4979">
                  <a:alpha val="49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ea typeface="微软雅黑" panose="020B0503020204020204" charset="-122"/>
              </a:endParaRPr>
            </a:p>
          </p:txBody>
        </p:sp>
        <p:sp>
          <p:nvSpPr>
            <p:cNvPr id="2" name="圆角矩形 59"/>
            <p:cNvSpPr/>
            <p:nvPr/>
          </p:nvSpPr>
          <p:spPr>
            <a:xfrm>
              <a:off x="6347289" y="5589148"/>
              <a:ext cx="265316" cy="65258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26000"/>
              </a:schemeClr>
            </a:solidFill>
            <a:ln>
              <a:noFill/>
            </a:ln>
            <a:effectLst>
              <a:outerShdw blurRad="368300" dir="5400000" algn="ctr" rotWithShape="0">
                <a:srgbClr val="FD4979">
                  <a:alpha val="49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ea typeface="微软雅黑" panose="020B0503020204020204" charset="-122"/>
              </a:endParaRP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9C1CE4F9-F878-929A-72DF-888D35A30119}"/>
              </a:ext>
            </a:extLst>
          </p:cNvPr>
          <p:cNvSpPr txBox="1"/>
          <p:nvPr/>
        </p:nvSpPr>
        <p:spPr>
          <a:xfrm>
            <a:off x="4392270" y="4408541"/>
            <a:ext cx="3406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accent1"/>
                </a:solidFill>
                <a:ea typeface="微软雅黑" panose="020B0503020204020204" charset="-122"/>
              </a:rPr>
              <a:t>机器人系统介绍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>
            <a:off x="1127760" y="1381760"/>
            <a:ext cx="9936480" cy="4752340"/>
          </a:xfrm>
          <a:prstGeom prst="roundRect">
            <a:avLst>
              <a:gd name="adj" fmla="val 1496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38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23449" y="135317"/>
            <a:ext cx="6632661" cy="679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rgbClr val="983D8B"/>
                </a:solidFill>
                <a:ea typeface="微软雅黑" panose="020B0503020204020204" charset="-122"/>
              </a:rPr>
              <a:t>1  </a:t>
            </a:r>
            <a:r>
              <a:rPr lang="zh-CN" altLang="en-US" sz="3200" b="1" dirty="0">
                <a:solidFill>
                  <a:srgbClr val="983D8B"/>
                </a:solidFill>
                <a:ea typeface="微软雅黑" panose="020B0503020204020204" charset="-122"/>
              </a:rPr>
              <a:t>机器人系统介绍</a:t>
            </a:r>
          </a:p>
        </p:txBody>
      </p:sp>
      <p:graphicFrame>
        <p:nvGraphicFramePr>
          <p:cNvPr id="11" name="图示 10"/>
          <p:cNvGraphicFramePr/>
          <p:nvPr/>
        </p:nvGraphicFramePr>
        <p:xfrm>
          <a:off x="1853436" y="4635189"/>
          <a:ext cx="2931803" cy="1253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744D1AA8-4B9D-E373-A93A-8B154320DD4F}"/>
              </a:ext>
            </a:extLst>
          </p:cNvPr>
          <p:cNvSpPr txBox="1"/>
          <p:nvPr/>
        </p:nvSpPr>
        <p:spPr>
          <a:xfrm>
            <a:off x="1412383" y="1510175"/>
            <a:ext cx="4229347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机器人系统的组成</a:t>
            </a: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2875A5E-055B-BF5C-607A-52F172D877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90440" y="2378254"/>
            <a:ext cx="1643453" cy="296164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5E0590A-892A-BEA1-9356-AE1707DF11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10060" y="3897261"/>
            <a:ext cx="1868736" cy="1442251"/>
          </a:xfrm>
          <a:prstGeom prst="rect">
            <a:avLst/>
          </a:prstGeom>
        </p:spPr>
      </p:pic>
      <p:pic>
        <p:nvPicPr>
          <p:cNvPr id="9" name="图片 8" descr="关节型机器人 - Panda - FRANKA EMIKA - 协同操作 / 7轴 / 多功能">
            <a:extLst>
              <a:ext uri="{FF2B5EF4-FFF2-40B4-BE49-F238E27FC236}">
                <a16:creationId xmlns:a16="http://schemas.microsoft.com/office/drawing/2014/main" id="{FDAD40C3-FEF0-80FD-105C-0E4E250B2FB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07856" y="2386185"/>
            <a:ext cx="2026950" cy="1433938"/>
          </a:xfrm>
          <a:prstGeom prst="rect">
            <a:avLst/>
          </a:prstGeom>
        </p:spPr>
      </p:pic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D40ADC9E-6E83-2CF2-C08C-A463AC38E7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5892020"/>
              </p:ext>
            </p:extLst>
          </p:nvPr>
        </p:nvGraphicFramePr>
        <p:xfrm>
          <a:off x="1541706" y="2386185"/>
          <a:ext cx="5161353" cy="296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6220">
                  <a:extLst>
                    <a:ext uri="{9D8B030D-6E8A-4147-A177-3AD203B41FA5}">
                      <a16:colId xmlns:a16="http://schemas.microsoft.com/office/drawing/2014/main" val="3914964030"/>
                    </a:ext>
                  </a:extLst>
                </a:gridCol>
                <a:gridCol w="1932972">
                  <a:extLst>
                    <a:ext uri="{9D8B030D-6E8A-4147-A177-3AD203B41FA5}">
                      <a16:colId xmlns:a16="http://schemas.microsoft.com/office/drawing/2014/main" val="1600867578"/>
                    </a:ext>
                  </a:extLst>
                </a:gridCol>
                <a:gridCol w="1942161">
                  <a:extLst>
                    <a:ext uri="{9D8B030D-6E8A-4147-A177-3AD203B41FA5}">
                      <a16:colId xmlns:a16="http://schemas.microsoft.com/office/drawing/2014/main" val="551767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模块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典型组件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122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环境感知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获取外部环境信息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视觉相机、激光雷达、超声波传感器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7149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状态感知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监测自身运动状态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编码器、</a:t>
                      </a:r>
                      <a:r>
                        <a:rPr lang="en-US" altLang="zh-CN" sz="1400" dirty="0"/>
                        <a:t>IMU</a:t>
                      </a:r>
                      <a:r>
                        <a:rPr lang="zh-CN" altLang="en-US" sz="1400" dirty="0"/>
                        <a:t>、力矩传感器、温度传感器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669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决策与控制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处理信息、生成指令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工控机、嵌入式控制器、运动规划算法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6069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驱动与执行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将指令转化为机械运动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伺服驱动器、电机、减速器、制动器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38734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通信系统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模块间数据交换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CAN</a:t>
                      </a:r>
                      <a:r>
                        <a:rPr lang="zh-CN" altLang="en-US" sz="1400" dirty="0"/>
                        <a:t>总线、</a:t>
                      </a:r>
                      <a:r>
                        <a:rPr lang="en-US" altLang="zh-CN" sz="1400" dirty="0" err="1"/>
                        <a:t>EtherCAT</a:t>
                      </a:r>
                      <a:r>
                        <a:rPr lang="zh-CN" altLang="en-US" sz="1400" dirty="0"/>
                        <a:t>、以太网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034713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C786D-7938-9DEB-05EA-E0CAD0836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608C94B4-5A0D-BEC1-C24C-CA123DC1B977}"/>
              </a:ext>
            </a:extLst>
          </p:cNvPr>
          <p:cNvSpPr/>
          <p:nvPr/>
        </p:nvSpPr>
        <p:spPr>
          <a:xfrm>
            <a:off x="1127760" y="1381760"/>
            <a:ext cx="9936480" cy="4752340"/>
          </a:xfrm>
          <a:prstGeom prst="roundRect">
            <a:avLst>
              <a:gd name="adj" fmla="val 1496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38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891F10B-81DA-2BC0-386C-02E5C48157CE}"/>
              </a:ext>
            </a:extLst>
          </p:cNvPr>
          <p:cNvSpPr txBox="1"/>
          <p:nvPr/>
        </p:nvSpPr>
        <p:spPr>
          <a:xfrm>
            <a:off x="823449" y="135317"/>
            <a:ext cx="6632661" cy="679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rgbClr val="983D8B"/>
                </a:solidFill>
                <a:ea typeface="微软雅黑" panose="020B0503020204020204" charset="-122"/>
              </a:rPr>
              <a:t>1  </a:t>
            </a:r>
            <a:r>
              <a:rPr lang="zh-CN" altLang="en-US" sz="3200" b="1" dirty="0">
                <a:solidFill>
                  <a:srgbClr val="983D8B"/>
                </a:solidFill>
                <a:ea typeface="微软雅黑" panose="020B0503020204020204" charset="-122"/>
              </a:rPr>
              <a:t>机器人系统介绍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B8F3A9F-4637-D49C-AA9D-CA7A4F9FD52E}"/>
              </a:ext>
            </a:extLst>
          </p:cNvPr>
          <p:cNvSpPr txBox="1"/>
          <p:nvPr/>
        </p:nvSpPr>
        <p:spPr>
          <a:xfrm>
            <a:off x="1412383" y="1510175"/>
            <a:ext cx="4229347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机器人系统工作流程</a:t>
            </a: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4299EE42-2376-C99A-335D-B825F172536B}"/>
              </a:ext>
            </a:extLst>
          </p:cNvPr>
          <p:cNvGrpSpPr/>
          <p:nvPr/>
        </p:nvGrpSpPr>
        <p:grpSpPr>
          <a:xfrm>
            <a:off x="1903648" y="2804062"/>
            <a:ext cx="8593711" cy="2119581"/>
            <a:chOff x="1707928" y="2845904"/>
            <a:chExt cx="8593711" cy="2119581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DB8A2EA3-853E-EEA4-9493-0D26AFC44770}"/>
                </a:ext>
              </a:extLst>
            </p:cNvPr>
            <p:cNvSpPr/>
            <p:nvPr/>
          </p:nvSpPr>
          <p:spPr>
            <a:xfrm>
              <a:off x="1707928" y="2845904"/>
              <a:ext cx="1056640" cy="61468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/>
                <a:t>环境感知</a:t>
              </a: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AAF30F3F-22EB-1534-19C0-80DCBF62FC47}"/>
                </a:ext>
              </a:extLst>
            </p:cNvPr>
            <p:cNvSpPr/>
            <p:nvPr/>
          </p:nvSpPr>
          <p:spPr>
            <a:xfrm>
              <a:off x="3817668" y="2852604"/>
              <a:ext cx="1056640" cy="61468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/>
                <a:t>决策控制</a:t>
              </a: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4FDA0C57-92E4-1123-8C7D-346FC9481BDD}"/>
                </a:ext>
              </a:extLst>
            </p:cNvPr>
            <p:cNvSpPr/>
            <p:nvPr/>
          </p:nvSpPr>
          <p:spPr>
            <a:xfrm>
              <a:off x="5923868" y="2852604"/>
              <a:ext cx="1056640" cy="61468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/>
                <a:t>驱动执行</a:t>
              </a: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19607711-44D2-7032-5D93-58A6E15010DA}"/>
                </a:ext>
              </a:extLst>
            </p:cNvPr>
            <p:cNvSpPr/>
            <p:nvPr/>
          </p:nvSpPr>
          <p:spPr>
            <a:xfrm>
              <a:off x="8317960" y="2852604"/>
              <a:ext cx="1056640" cy="61468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/>
                <a:t>机械运动</a:t>
              </a: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D753B084-0643-4D70-0902-530BF47BB301}"/>
                </a:ext>
              </a:extLst>
            </p:cNvPr>
            <p:cNvSpPr/>
            <p:nvPr/>
          </p:nvSpPr>
          <p:spPr>
            <a:xfrm>
              <a:off x="4528377" y="4350805"/>
              <a:ext cx="1567623" cy="61468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/>
                <a:t>状态感知反馈</a:t>
              </a:r>
            </a:p>
          </p:txBody>
        </p: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07A201C9-136A-85DB-E0BB-14258C5CA40C}"/>
                </a:ext>
              </a:extLst>
            </p:cNvPr>
            <p:cNvCxnSpPr>
              <a:stCxn id="3" idx="3"/>
              <a:endCxn id="7" idx="1"/>
            </p:cNvCxnSpPr>
            <p:nvPr/>
          </p:nvCxnSpPr>
          <p:spPr>
            <a:xfrm>
              <a:off x="2764568" y="3153244"/>
              <a:ext cx="1053100" cy="6700"/>
            </a:xfrm>
            <a:prstGeom prst="straightConnector1">
              <a:avLst/>
            </a:prstGeom>
            <a:ln w="38100"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B47B0CE1-03EE-D228-5B5D-37D8C5F4F315}"/>
                </a:ext>
              </a:extLst>
            </p:cNvPr>
            <p:cNvCxnSpPr>
              <a:cxnSpLocks/>
              <a:stCxn id="7" idx="3"/>
              <a:endCxn id="13" idx="1"/>
            </p:cNvCxnSpPr>
            <p:nvPr/>
          </p:nvCxnSpPr>
          <p:spPr>
            <a:xfrm>
              <a:off x="4874308" y="3159944"/>
              <a:ext cx="1049560" cy="0"/>
            </a:xfrm>
            <a:prstGeom prst="straightConnector1">
              <a:avLst/>
            </a:prstGeom>
            <a:ln w="38100"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AAE01D61-C7AE-5D0A-2F4D-8FEB69E8689F}"/>
                </a:ext>
              </a:extLst>
            </p:cNvPr>
            <p:cNvCxnSpPr>
              <a:cxnSpLocks/>
              <a:endCxn id="14" idx="1"/>
            </p:cNvCxnSpPr>
            <p:nvPr/>
          </p:nvCxnSpPr>
          <p:spPr>
            <a:xfrm>
              <a:off x="6816030" y="3159944"/>
              <a:ext cx="1501930" cy="0"/>
            </a:xfrm>
            <a:prstGeom prst="straightConnector1">
              <a:avLst/>
            </a:prstGeom>
            <a:ln w="38100"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BF12613D-A333-4DA8-31FA-EFDF757A790E}"/>
                </a:ext>
              </a:extLst>
            </p:cNvPr>
            <p:cNvCxnSpPr>
              <a:cxnSpLocks/>
            </p:cNvCxnSpPr>
            <p:nvPr/>
          </p:nvCxnSpPr>
          <p:spPr>
            <a:xfrm>
              <a:off x="9372830" y="3159944"/>
              <a:ext cx="928809" cy="0"/>
            </a:xfrm>
            <a:prstGeom prst="straightConnector1">
              <a:avLst/>
            </a:prstGeom>
            <a:ln w="38100"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0C2F26D0-B9C2-F39C-80B8-634D7B227975}"/>
                </a:ext>
              </a:extLst>
            </p:cNvPr>
            <p:cNvCxnSpPr>
              <a:cxnSpLocks/>
              <a:stCxn id="15" idx="3"/>
            </p:cNvCxnSpPr>
            <p:nvPr/>
          </p:nvCxnSpPr>
          <p:spPr>
            <a:xfrm>
              <a:off x="6096000" y="4658145"/>
              <a:ext cx="1236522" cy="0"/>
            </a:xfrm>
            <a:prstGeom prst="straightConnector1">
              <a:avLst/>
            </a:prstGeom>
            <a:ln w="38100"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CAD618BA-E177-F1E2-FF48-E763672E07BA}"/>
                </a:ext>
              </a:extLst>
            </p:cNvPr>
            <p:cNvCxnSpPr>
              <a:cxnSpLocks/>
            </p:cNvCxnSpPr>
            <p:nvPr/>
          </p:nvCxnSpPr>
          <p:spPr>
            <a:xfrm>
              <a:off x="7332522" y="3159944"/>
              <a:ext cx="0" cy="1498201"/>
            </a:xfrm>
            <a:prstGeom prst="straightConnector1">
              <a:avLst/>
            </a:prstGeom>
            <a:ln w="38100"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81E2A31A-ECEC-49C7-D4DF-F974552EF9B1}"/>
                </a:ext>
              </a:extLst>
            </p:cNvPr>
            <p:cNvCxnSpPr>
              <a:cxnSpLocks/>
              <a:endCxn id="15" idx="1"/>
            </p:cNvCxnSpPr>
            <p:nvPr/>
          </p:nvCxnSpPr>
          <p:spPr>
            <a:xfrm>
              <a:off x="2580640" y="4658145"/>
              <a:ext cx="1947737" cy="0"/>
            </a:xfrm>
            <a:prstGeom prst="straightConnector1">
              <a:avLst/>
            </a:prstGeom>
            <a:ln w="38100"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3F9FECFB-F7F9-F2C2-D72B-F3BD605414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80640" y="3566160"/>
              <a:ext cx="0" cy="1091985"/>
            </a:xfrm>
            <a:prstGeom prst="straightConnector1">
              <a:avLst/>
            </a:prstGeom>
            <a:ln w="38100"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69360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9AB64-0A3E-E3E4-53F6-401ABB98A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F6DAB3C5-CE31-4AC1-F649-203C26E8162C}"/>
              </a:ext>
            </a:extLst>
          </p:cNvPr>
          <p:cNvSpPr/>
          <p:nvPr/>
        </p:nvSpPr>
        <p:spPr>
          <a:xfrm>
            <a:off x="1127760" y="1381760"/>
            <a:ext cx="9936480" cy="4752340"/>
          </a:xfrm>
          <a:prstGeom prst="roundRect">
            <a:avLst>
              <a:gd name="adj" fmla="val 1496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38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66F2E7-A612-92A5-20FC-5BB7EDB980E7}"/>
              </a:ext>
            </a:extLst>
          </p:cNvPr>
          <p:cNvSpPr txBox="1"/>
          <p:nvPr/>
        </p:nvSpPr>
        <p:spPr>
          <a:xfrm>
            <a:off x="823449" y="135317"/>
            <a:ext cx="6632661" cy="679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rgbClr val="983D8B"/>
                </a:solidFill>
                <a:ea typeface="微软雅黑" panose="020B0503020204020204" charset="-122"/>
              </a:rPr>
              <a:t>1  </a:t>
            </a:r>
            <a:r>
              <a:rPr lang="zh-CN" altLang="en-US" sz="3200" b="1" dirty="0">
                <a:solidFill>
                  <a:srgbClr val="983D8B"/>
                </a:solidFill>
                <a:ea typeface="微软雅黑" panose="020B0503020204020204" charset="-122"/>
              </a:rPr>
              <a:t>机器人系统介绍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BFEE563-638B-A4F4-1AE0-5A28D896AA33}"/>
              </a:ext>
            </a:extLst>
          </p:cNvPr>
          <p:cNvSpPr txBox="1"/>
          <p:nvPr/>
        </p:nvSpPr>
        <p:spPr>
          <a:xfrm>
            <a:off x="1412383" y="1510175"/>
            <a:ext cx="4683617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电驱动系统 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—— 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运动控制的核心载体</a:t>
            </a: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78466E4-03F0-C4A1-92FA-DD3ABA1CA44B}"/>
              </a:ext>
            </a:extLst>
          </p:cNvPr>
          <p:cNvSpPr txBox="1"/>
          <p:nvPr/>
        </p:nvSpPr>
        <p:spPr>
          <a:xfrm>
            <a:off x="1412383" y="2040334"/>
            <a:ext cx="9367234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       在机器人系统中，电驱动系统负责将控制指令转化为关节的精确运动，是连接“决策大脑”与“机械骨骼”的关键环节。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643893F-FFDD-244B-4C69-BF3880E9A2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9886666"/>
              </p:ext>
            </p:extLst>
          </p:nvPr>
        </p:nvGraphicFramePr>
        <p:xfrm>
          <a:off x="1841796" y="3510025"/>
          <a:ext cx="382479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1038">
                  <a:extLst>
                    <a:ext uri="{9D8B030D-6E8A-4147-A177-3AD203B41FA5}">
                      <a16:colId xmlns:a16="http://schemas.microsoft.com/office/drawing/2014/main" val="989657138"/>
                    </a:ext>
                  </a:extLst>
                </a:gridCol>
                <a:gridCol w="2673752">
                  <a:extLst>
                    <a:ext uri="{9D8B030D-6E8A-4147-A177-3AD203B41FA5}">
                      <a16:colId xmlns:a16="http://schemas.microsoft.com/office/drawing/2014/main" val="41584700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627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电机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将电能转化为机械转矩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648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减速器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降低转速放大输出转矩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046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编码器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提供位置</a:t>
                      </a: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速度反馈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7167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制动器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断电保护、位置保持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1382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驱动器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功率变换、电流控制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049908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EA7A5895-91EE-AAF2-5510-40029522D123}"/>
              </a:ext>
            </a:extLst>
          </p:cNvPr>
          <p:cNvSpPr txBox="1"/>
          <p:nvPr/>
        </p:nvSpPr>
        <p:spPr>
          <a:xfrm>
            <a:off x="1645806" y="2939417"/>
            <a:ext cx="4683617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典型集成关节模组构成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E85C9CA-C7E9-A90A-7BFD-265F36AD9E44}"/>
              </a:ext>
            </a:extLst>
          </p:cNvPr>
          <p:cNvSpPr txBox="1"/>
          <p:nvPr/>
        </p:nvSpPr>
        <p:spPr>
          <a:xfrm>
            <a:off x="6096000" y="2995267"/>
            <a:ext cx="4683617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电驱动系统的核心任务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D759B63-1B79-56B6-34EC-075DAF28FA85}"/>
              </a:ext>
            </a:extLst>
          </p:cNvPr>
          <p:cNvSpPr txBox="1"/>
          <p:nvPr/>
        </p:nvSpPr>
        <p:spPr>
          <a:xfrm>
            <a:off x="6096000" y="3674785"/>
            <a:ext cx="4683617" cy="1895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输出足够的峰值转矩以应对加减速、碰撞冲击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维持稳定的连续转矩以保证长期运行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实现高精度位置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速度控制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提供柔顺交互能力（人机协作安全）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实时监测温度、电流、故障状态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47253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248AC-1B40-CCD2-1C43-6B9BD137A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226AB4F-316C-C5C5-DF5A-546C5F38D15F}"/>
              </a:ext>
            </a:extLst>
          </p:cNvPr>
          <p:cNvSpPr txBox="1"/>
          <p:nvPr/>
        </p:nvSpPr>
        <p:spPr>
          <a:xfrm>
            <a:off x="4892607" y="3429000"/>
            <a:ext cx="2418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ea typeface="微软雅黑" panose="020B0503020204020204" charset="-122"/>
              </a:rPr>
              <a:t>Part 2</a:t>
            </a:r>
            <a:endParaRPr lang="zh-CN" altLang="en-US" sz="3600" b="1" dirty="0">
              <a:solidFill>
                <a:schemeClr val="bg1"/>
              </a:solidFill>
              <a:ea typeface="微软雅黑" panose="020B0503020204020204" charset="-122"/>
            </a:endParaRPr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FD26891C-E1E8-CE46-4858-86D9F85AE5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44580" y="1680280"/>
            <a:ext cx="914400" cy="914400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FC3E621E-C32F-FF11-0DA1-8F563A0D193C}"/>
              </a:ext>
            </a:extLst>
          </p:cNvPr>
          <p:cNvGrpSpPr/>
          <p:nvPr/>
        </p:nvGrpSpPr>
        <p:grpSpPr>
          <a:xfrm>
            <a:off x="5565368" y="5600960"/>
            <a:ext cx="1061264" cy="65258"/>
            <a:chOff x="5565368" y="5600960"/>
            <a:chExt cx="1061264" cy="65258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6A36B5F4-35E9-5E80-712C-13975152926B}"/>
                </a:ext>
              </a:extLst>
            </p:cNvPr>
            <p:cNvGrpSpPr/>
            <p:nvPr/>
          </p:nvGrpSpPr>
          <p:grpSpPr>
            <a:xfrm>
              <a:off x="5565368" y="5600960"/>
              <a:ext cx="1061264" cy="65258"/>
              <a:chOff x="5551341" y="5589148"/>
              <a:chExt cx="1061264" cy="65258"/>
            </a:xfrm>
          </p:grpSpPr>
          <p:sp>
            <p:nvSpPr>
              <p:cNvPr id="10" name="圆角矩形 59">
                <a:extLst>
                  <a:ext uri="{FF2B5EF4-FFF2-40B4-BE49-F238E27FC236}">
                    <a16:creationId xmlns:a16="http://schemas.microsoft.com/office/drawing/2014/main" id="{542F978A-E4D4-E8ED-2AC7-1690CDC32F66}"/>
                  </a:ext>
                </a:extLst>
              </p:cNvPr>
              <p:cNvSpPr/>
              <p:nvPr/>
            </p:nvSpPr>
            <p:spPr>
              <a:xfrm>
                <a:off x="5551341" y="5589148"/>
                <a:ext cx="265316" cy="65258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  <a:effectLst>
                <a:outerShdw blurRad="368300" dir="5400000" algn="ctr" rotWithShape="0">
                  <a:srgbClr val="FD4979">
                    <a:alpha val="4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ea typeface="微软雅黑" panose="020B0503020204020204" charset="-122"/>
                </a:endParaRPr>
              </a:p>
            </p:txBody>
          </p:sp>
          <p:sp>
            <p:nvSpPr>
              <p:cNvPr id="25" name="圆角矩形 59">
                <a:extLst>
                  <a:ext uri="{FF2B5EF4-FFF2-40B4-BE49-F238E27FC236}">
                    <a16:creationId xmlns:a16="http://schemas.microsoft.com/office/drawing/2014/main" id="{F9989FB7-4882-2CE4-FA92-D5785ABD83CC}"/>
                  </a:ext>
                </a:extLst>
              </p:cNvPr>
              <p:cNvSpPr/>
              <p:nvPr/>
            </p:nvSpPr>
            <p:spPr>
              <a:xfrm>
                <a:off x="6081973" y="5589148"/>
                <a:ext cx="265316" cy="65258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26000"/>
                </a:schemeClr>
              </a:solidFill>
              <a:ln>
                <a:noFill/>
              </a:ln>
              <a:effectLst>
                <a:outerShdw blurRad="368300" dir="5400000" algn="ctr" rotWithShape="0">
                  <a:srgbClr val="FD4979">
                    <a:alpha val="4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ea typeface="微软雅黑" panose="020B0503020204020204" charset="-122"/>
                </a:endParaRPr>
              </a:p>
            </p:txBody>
          </p:sp>
          <p:sp>
            <p:nvSpPr>
              <p:cNvPr id="2" name="圆角矩形 59">
                <a:extLst>
                  <a:ext uri="{FF2B5EF4-FFF2-40B4-BE49-F238E27FC236}">
                    <a16:creationId xmlns:a16="http://schemas.microsoft.com/office/drawing/2014/main" id="{813847D3-E2AF-48B3-6352-70F8D174669F}"/>
                  </a:ext>
                </a:extLst>
              </p:cNvPr>
              <p:cNvSpPr/>
              <p:nvPr/>
            </p:nvSpPr>
            <p:spPr>
              <a:xfrm>
                <a:off x="6347289" y="5589148"/>
                <a:ext cx="265316" cy="65258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26000"/>
                </a:schemeClr>
              </a:solidFill>
              <a:ln>
                <a:noFill/>
              </a:ln>
              <a:effectLst>
                <a:outerShdw blurRad="368300" dir="5400000" algn="ctr" rotWithShape="0">
                  <a:srgbClr val="FD4979">
                    <a:alpha val="4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ea typeface="微软雅黑" panose="020B0503020204020204" charset="-122"/>
                </a:endParaRPr>
              </a:p>
            </p:txBody>
          </p:sp>
        </p:grpSp>
        <p:sp>
          <p:nvSpPr>
            <p:cNvPr id="7" name="圆角矩形 59">
              <a:extLst>
                <a:ext uri="{FF2B5EF4-FFF2-40B4-BE49-F238E27FC236}">
                  <a16:creationId xmlns:a16="http://schemas.microsoft.com/office/drawing/2014/main" id="{7AE7CBAE-2907-5121-74E6-A8EEE8764547}"/>
                </a:ext>
              </a:extLst>
            </p:cNvPr>
            <p:cNvSpPr/>
            <p:nvPr/>
          </p:nvSpPr>
          <p:spPr>
            <a:xfrm>
              <a:off x="5830374" y="5600960"/>
              <a:ext cx="265316" cy="65258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368300" dir="5400000" algn="ctr" rotWithShape="0">
                <a:srgbClr val="FD4979">
                  <a:alpha val="49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ea typeface="微软雅黑" panose="020B0503020204020204" charset="-122"/>
              </a:endParaRP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7218FC52-8984-10A3-136C-D29B26F96AD5}"/>
              </a:ext>
            </a:extLst>
          </p:cNvPr>
          <p:cNvSpPr txBox="1"/>
          <p:nvPr/>
        </p:nvSpPr>
        <p:spPr>
          <a:xfrm>
            <a:off x="4514850" y="4408541"/>
            <a:ext cx="3162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accent1"/>
                </a:solidFill>
                <a:ea typeface="微软雅黑" panose="020B0503020204020204" charset="-122"/>
              </a:rPr>
              <a:t>研究现状</a:t>
            </a:r>
          </a:p>
        </p:txBody>
      </p:sp>
    </p:spTree>
    <p:extLst>
      <p:ext uri="{BB962C8B-B14F-4D97-AF65-F5344CB8AC3E}">
        <p14:creationId xmlns:p14="http://schemas.microsoft.com/office/powerpoint/2010/main" val="4186602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>
            <a:off x="1127760" y="1381760"/>
            <a:ext cx="9936480" cy="4752340"/>
          </a:xfrm>
          <a:prstGeom prst="roundRect">
            <a:avLst>
              <a:gd name="adj" fmla="val 1496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38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23449" y="135317"/>
            <a:ext cx="8413857" cy="679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rgbClr val="983D8B"/>
                </a:solidFill>
                <a:ea typeface="微软雅黑" panose="020B0503020204020204" charset="-122"/>
              </a:rPr>
              <a:t>2  </a:t>
            </a:r>
            <a:r>
              <a:rPr lang="zh-CN" altLang="en-US" sz="3200" b="1" dirty="0">
                <a:solidFill>
                  <a:srgbClr val="983D8B"/>
                </a:solidFill>
                <a:ea typeface="微软雅黑" panose="020B0503020204020204" charset="-122"/>
              </a:rPr>
              <a:t>研究现状</a:t>
            </a:r>
          </a:p>
        </p:txBody>
      </p:sp>
      <p:graphicFrame>
        <p:nvGraphicFramePr>
          <p:cNvPr id="11" name="图示 10"/>
          <p:cNvGraphicFramePr/>
          <p:nvPr/>
        </p:nvGraphicFramePr>
        <p:xfrm>
          <a:off x="1853436" y="4635189"/>
          <a:ext cx="2931803" cy="1253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8C642DCD-2805-964E-C5D8-3DC51858F154}"/>
              </a:ext>
            </a:extLst>
          </p:cNvPr>
          <p:cNvGrpSpPr/>
          <p:nvPr/>
        </p:nvGrpSpPr>
        <p:grpSpPr>
          <a:xfrm>
            <a:off x="1496032" y="2249966"/>
            <a:ext cx="2346764" cy="3170960"/>
            <a:chOff x="3363154" y="1808544"/>
            <a:chExt cx="2113088" cy="3458105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D6050533-28B7-3FE6-14E0-80F322EC200F}"/>
                </a:ext>
              </a:extLst>
            </p:cNvPr>
            <p:cNvSpPr/>
            <p:nvPr/>
          </p:nvSpPr>
          <p:spPr>
            <a:xfrm>
              <a:off x="3363154" y="1808544"/>
              <a:ext cx="2113088" cy="3458105"/>
            </a:xfrm>
            <a:prstGeom prst="rect">
              <a:avLst/>
            </a:prstGeom>
            <a:solidFill>
              <a:srgbClr val="DDCE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3FFFAEA0-2E11-DDF3-50EE-9A3B114B8318}"/>
                </a:ext>
              </a:extLst>
            </p:cNvPr>
            <p:cNvSpPr/>
            <p:nvPr/>
          </p:nvSpPr>
          <p:spPr>
            <a:xfrm>
              <a:off x="3471965" y="1949275"/>
              <a:ext cx="1875098" cy="703049"/>
            </a:xfrm>
            <a:prstGeom prst="roundRect">
              <a:avLst/>
            </a:prstGeom>
            <a:solidFill>
              <a:srgbClr val="7E0C6E"/>
            </a:solidFill>
            <a:ln w="31750">
              <a:solidFill>
                <a:srgbClr val="7E0C6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传统工业驱动</a:t>
              </a:r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3413688" y="2713592"/>
              <a:ext cx="1991652" cy="16643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latin typeface="微软雅黑" panose="020B0503020204020204" charset="-122"/>
                  <a:ea typeface="微软雅黑" panose="020B0503020204020204" charset="-122"/>
                </a:rPr>
                <a:t>特征</a:t>
              </a:r>
              <a:r>
                <a:rPr lang="zh-CN" altLang="en-US" sz="1600" dirty="0">
                  <a:latin typeface="微软雅黑" panose="020B0503020204020204" charset="-122"/>
                  <a:ea typeface="微软雅黑" panose="020B0503020204020204" charset="-122"/>
                </a:rPr>
                <a:t>：</a:t>
              </a:r>
              <a:endParaRPr lang="en-US" altLang="zh-CN" sz="1600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latin typeface="微软雅黑" panose="020B0503020204020204" charset="-122"/>
                  <a:ea typeface="微软雅黑" panose="020B0503020204020204" charset="-122"/>
                </a:rPr>
                <a:t>高刚度、高精度、隔离作业</a:t>
              </a:r>
              <a:endParaRPr lang="en-US" altLang="zh-CN" sz="1600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latin typeface="微软雅黑" panose="020B0503020204020204" charset="-122"/>
                  <a:ea typeface="微软雅黑" panose="020B0503020204020204" charset="-122"/>
                </a:rPr>
                <a:t>局限性</a:t>
              </a:r>
              <a:r>
                <a:rPr lang="zh-CN" altLang="en-US" sz="1600" dirty="0">
                  <a:latin typeface="微软雅黑" panose="020B0503020204020204" charset="-122"/>
                  <a:ea typeface="微软雅黑" panose="020B0503020204020204" charset="-122"/>
                </a:rPr>
                <a:t>：</a:t>
              </a:r>
              <a:endParaRPr lang="en-US" altLang="zh-CN" sz="1600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latin typeface="微软雅黑" panose="020B0503020204020204" charset="-122"/>
                  <a:ea typeface="微软雅黑" panose="020B0503020204020204" charset="-122"/>
                </a:rPr>
                <a:t>人机交互风险高、无力控能力</a:t>
              </a:r>
              <a:endParaRPr lang="en-US" altLang="zh-CN" sz="16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F42B5AD-AF26-9FF2-A092-AA7452F4433A}"/>
              </a:ext>
            </a:extLst>
          </p:cNvPr>
          <p:cNvGrpSpPr/>
          <p:nvPr/>
        </p:nvGrpSpPr>
        <p:grpSpPr>
          <a:xfrm>
            <a:off x="8346302" y="2249966"/>
            <a:ext cx="2346764" cy="3170960"/>
            <a:chOff x="3363154" y="1808544"/>
            <a:chExt cx="2113088" cy="3458105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0200769F-4F03-66F8-F678-01AE11A6A757}"/>
                </a:ext>
              </a:extLst>
            </p:cNvPr>
            <p:cNvSpPr/>
            <p:nvPr/>
          </p:nvSpPr>
          <p:spPr>
            <a:xfrm>
              <a:off x="3363154" y="1808544"/>
              <a:ext cx="2113088" cy="3458105"/>
            </a:xfrm>
            <a:prstGeom prst="rect">
              <a:avLst/>
            </a:prstGeom>
            <a:solidFill>
              <a:srgbClr val="DDCE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C8A558AD-BAAA-4E09-C5C5-E23FC78C220D}"/>
                </a:ext>
              </a:extLst>
            </p:cNvPr>
            <p:cNvSpPr/>
            <p:nvPr/>
          </p:nvSpPr>
          <p:spPr>
            <a:xfrm>
              <a:off x="3471965" y="1949275"/>
              <a:ext cx="1875098" cy="703049"/>
            </a:xfrm>
            <a:prstGeom prst="roundRect">
              <a:avLst/>
            </a:prstGeom>
            <a:solidFill>
              <a:srgbClr val="7E0C6E"/>
            </a:solidFill>
            <a:ln w="31750">
              <a:solidFill>
                <a:srgbClr val="7E0C6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人形</a:t>
              </a:r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动态驱动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A1B3519D-D844-E60E-F577-3052E99EDE74}"/>
                </a:ext>
              </a:extLst>
            </p:cNvPr>
            <p:cNvSpPr txBox="1"/>
            <p:nvPr/>
          </p:nvSpPr>
          <p:spPr>
            <a:xfrm>
              <a:off x="3413688" y="2713592"/>
              <a:ext cx="1991652" cy="24699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latin typeface="微软雅黑" panose="020B0503020204020204" charset="-122"/>
                  <a:ea typeface="微软雅黑" panose="020B0503020204020204" charset="-122"/>
                </a:rPr>
                <a:t>特征</a:t>
              </a:r>
              <a:r>
                <a:rPr lang="zh-CN" altLang="en-US" sz="1600" dirty="0">
                  <a:latin typeface="微软雅黑" panose="020B0503020204020204" charset="-122"/>
                  <a:ea typeface="微软雅黑" panose="020B0503020204020204" charset="-122"/>
                </a:rPr>
                <a:t>：</a:t>
              </a:r>
              <a:endParaRPr lang="en-US" altLang="zh-CN" sz="1600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latin typeface="微软雅黑" panose="020B0503020204020204" charset="-122"/>
                  <a:ea typeface="微软雅黑" panose="020B0503020204020204" charset="-122"/>
                </a:rPr>
                <a:t>高动态、高功率密度、全状态感知</a:t>
              </a:r>
              <a:endParaRPr lang="en-US" altLang="zh-CN" sz="1600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latin typeface="微软雅黑" panose="020B0503020204020204" charset="-122"/>
                  <a:ea typeface="微软雅黑" panose="020B0503020204020204" charset="-122"/>
                </a:rPr>
                <a:t>局限性</a:t>
              </a:r>
              <a:r>
                <a:rPr lang="zh-CN" altLang="en-US" sz="1600" dirty="0">
                  <a:latin typeface="微软雅黑" panose="020B0503020204020204" charset="-122"/>
                  <a:ea typeface="微软雅黑" panose="020B0503020204020204" charset="-122"/>
                </a:rPr>
                <a:t>：</a:t>
              </a:r>
              <a:endParaRPr lang="en-US" altLang="zh-CN" sz="1600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latin typeface="微软雅黑" panose="020B0503020204020204" charset="-122"/>
                  <a:ea typeface="微软雅黑" panose="020B0503020204020204" charset="-122"/>
                </a:rPr>
                <a:t>集成度要求极高、热管理困难</a:t>
              </a:r>
              <a:endParaRPr lang="en-US" altLang="zh-CN" sz="16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E183B850-8F26-EE62-245E-17655079DFFD}"/>
              </a:ext>
            </a:extLst>
          </p:cNvPr>
          <p:cNvGrpSpPr/>
          <p:nvPr/>
        </p:nvGrpSpPr>
        <p:grpSpPr>
          <a:xfrm>
            <a:off x="4921167" y="2257476"/>
            <a:ext cx="2346764" cy="3170960"/>
            <a:chOff x="3363154" y="1808544"/>
            <a:chExt cx="2113088" cy="3458105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22489DE9-C7DC-32D4-84FA-986528BFCB71}"/>
                </a:ext>
              </a:extLst>
            </p:cNvPr>
            <p:cNvSpPr/>
            <p:nvPr/>
          </p:nvSpPr>
          <p:spPr>
            <a:xfrm>
              <a:off x="3363154" y="1808544"/>
              <a:ext cx="2113088" cy="3458105"/>
            </a:xfrm>
            <a:prstGeom prst="rect">
              <a:avLst/>
            </a:prstGeom>
            <a:solidFill>
              <a:srgbClr val="DDCE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41D0A558-5E47-FBBF-96D0-D6EDAAFB9A6C}"/>
                </a:ext>
              </a:extLst>
            </p:cNvPr>
            <p:cNvSpPr/>
            <p:nvPr/>
          </p:nvSpPr>
          <p:spPr>
            <a:xfrm>
              <a:off x="3471965" y="1949275"/>
              <a:ext cx="1875098" cy="703049"/>
            </a:xfrm>
            <a:prstGeom prst="roundRect">
              <a:avLst/>
            </a:prstGeom>
            <a:solidFill>
              <a:srgbClr val="7E0C6E"/>
            </a:solidFill>
            <a:ln w="31750">
              <a:solidFill>
                <a:srgbClr val="7E0C6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协作驱动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82568BF1-43F2-1DAD-F374-E377B1356E90}"/>
                </a:ext>
              </a:extLst>
            </p:cNvPr>
            <p:cNvSpPr txBox="1"/>
            <p:nvPr/>
          </p:nvSpPr>
          <p:spPr>
            <a:xfrm>
              <a:off x="3413688" y="2713592"/>
              <a:ext cx="1991652" cy="24699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latin typeface="微软雅黑" panose="020B0503020204020204" charset="-122"/>
                  <a:ea typeface="微软雅黑" panose="020B0503020204020204" charset="-122"/>
                </a:rPr>
                <a:t>特征</a:t>
              </a:r>
              <a:r>
                <a:rPr lang="zh-CN" altLang="en-US" sz="1600" dirty="0">
                  <a:latin typeface="微软雅黑" panose="020B0503020204020204" charset="-122"/>
                  <a:ea typeface="微软雅黑" panose="020B0503020204020204" charset="-122"/>
                </a:rPr>
                <a:t>：</a:t>
              </a:r>
              <a:endParaRPr lang="en-US" altLang="zh-CN" sz="1600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latin typeface="微软雅黑" panose="020B0503020204020204" charset="-122"/>
                  <a:ea typeface="微软雅黑" panose="020B0503020204020204" charset="-122"/>
                </a:rPr>
                <a:t>柔顺控制、安全交互</a:t>
              </a:r>
              <a:endParaRPr lang="en-US" altLang="zh-CN" sz="1600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50000"/>
                </a:lnSpc>
              </a:pPr>
              <a:endParaRPr lang="en-US" altLang="zh-CN" sz="1600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latin typeface="微软雅黑" panose="020B0503020204020204" charset="-122"/>
                  <a:ea typeface="微软雅黑" panose="020B0503020204020204" charset="-122"/>
                </a:rPr>
                <a:t>局限性</a:t>
              </a:r>
              <a:r>
                <a:rPr lang="zh-CN" altLang="en-US" sz="1600" dirty="0">
                  <a:latin typeface="微软雅黑" panose="020B0503020204020204" charset="-122"/>
                  <a:ea typeface="微软雅黑" panose="020B0503020204020204" charset="-122"/>
                </a:rPr>
                <a:t>：</a:t>
              </a:r>
              <a:endParaRPr lang="en-US" altLang="zh-CN" sz="1600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latin typeface="微软雅黑" panose="020B0503020204020204" charset="-122"/>
                  <a:ea typeface="微软雅黑" panose="020B0503020204020204" charset="-122"/>
                </a:rPr>
                <a:t>感知维度单一、散热受限</a:t>
              </a:r>
              <a:endParaRPr lang="en-US" altLang="zh-CN" sz="16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7" name="箭头: 右 26">
            <a:extLst>
              <a:ext uri="{FF2B5EF4-FFF2-40B4-BE49-F238E27FC236}">
                <a16:creationId xmlns:a16="http://schemas.microsoft.com/office/drawing/2014/main" id="{F24E8017-59A5-BB97-2D73-9755982D2AF9}"/>
              </a:ext>
            </a:extLst>
          </p:cNvPr>
          <p:cNvSpPr/>
          <p:nvPr/>
        </p:nvSpPr>
        <p:spPr>
          <a:xfrm>
            <a:off x="3889627" y="3615845"/>
            <a:ext cx="997454" cy="4931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20F97DA4-6CD0-5C0D-AB45-4ABF2E464565}"/>
              </a:ext>
            </a:extLst>
          </p:cNvPr>
          <p:cNvSpPr/>
          <p:nvPr/>
        </p:nvSpPr>
        <p:spPr>
          <a:xfrm>
            <a:off x="7323707" y="3615845"/>
            <a:ext cx="997454" cy="4931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7D0BC6F-FC52-17BB-C6E1-7C1E15B6E952}"/>
              </a:ext>
            </a:extLst>
          </p:cNvPr>
          <p:cNvSpPr txBox="1"/>
          <p:nvPr/>
        </p:nvSpPr>
        <p:spPr>
          <a:xfrm>
            <a:off x="1412383" y="1510175"/>
            <a:ext cx="4683617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电驱动系统发展历程</a:t>
            </a: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98853-652E-EFC8-5356-32365E975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22BF173C-FB9C-D8CC-7125-87829EA9E32D}"/>
              </a:ext>
            </a:extLst>
          </p:cNvPr>
          <p:cNvSpPr/>
          <p:nvPr/>
        </p:nvSpPr>
        <p:spPr>
          <a:xfrm>
            <a:off x="1127760" y="1381760"/>
            <a:ext cx="9936480" cy="4752340"/>
          </a:xfrm>
          <a:prstGeom prst="roundRect">
            <a:avLst>
              <a:gd name="adj" fmla="val 1496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38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A633A7D-4622-5DBD-9393-AB6B5AAC6BB6}"/>
              </a:ext>
            </a:extLst>
          </p:cNvPr>
          <p:cNvSpPr txBox="1"/>
          <p:nvPr/>
        </p:nvSpPr>
        <p:spPr>
          <a:xfrm>
            <a:off x="823449" y="135317"/>
            <a:ext cx="8413857" cy="679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rgbClr val="983D8B"/>
                </a:solidFill>
                <a:ea typeface="微软雅黑" panose="020B0503020204020204" charset="-122"/>
              </a:rPr>
              <a:t>2  </a:t>
            </a:r>
            <a:r>
              <a:rPr lang="zh-CN" altLang="en-US" sz="3200" b="1" dirty="0">
                <a:solidFill>
                  <a:srgbClr val="983D8B"/>
                </a:solidFill>
                <a:ea typeface="微软雅黑" panose="020B0503020204020204" charset="-122"/>
              </a:rPr>
              <a:t>研究现状</a:t>
            </a:r>
          </a:p>
        </p:txBody>
      </p:sp>
      <p:graphicFrame>
        <p:nvGraphicFramePr>
          <p:cNvPr id="11" name="图示 10">
            <a:extLst>
              <a:ext uri="{FF2B5EF4-FFF2-40B4-BE49-F238E27FC236}">
                <a16:creationId xmlns:a16="http://schemas.microsoft.com/office/drawing/2014/main" id="{AC954922-2332-D348-7E7C-4016576FEC67}"/>
              </a:ext>
            </a:extLst>
          </p:cNvPr>
          <p:cNvGraphicFramePr/>
          <p:nvPr/>
        </p:nvGraphicFramePr>
        <p:xfrm>
          <a:off x="1853436" y="4635189"/>
          <a:ext cx="2931803" cy="1253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9" name="文本框 28">
            <a:extLst>
              <a:ext uri="{FF2B5EF4-FFF2-40B4-BE49-F238E27FC236}">
                <a16:creationId xmlns:a16="http://schemas.microsoft.com/office/drawing/2014/main" id="{2BBDB30D-E24D-2CE6-CC8C-4E5ACDE024C8}"/>
              </a:ext>
            </a:extLst>
          </p:cNvPr>
          <p:cNvSpPr txBox="1"/>
          <p:nvPr/>
        </p:nvSpPr>
        <p:spPr>
          <a:xfrm>
            <a:off x="1412383" y="1510175"/>
            <a:ext cx="4683617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电驱动系统核心挑战</a:t>
            </a: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FFA180B-1AC6-94E6-C959-25BB10E1FD65}"/>
              </a:ext>
            </a:extLst>
          </p:cNvPr>
          <p:cNvSpPr txBox="1"/>
          <p:nvPr/>
        </p:nvSpPr>
        <p:spPr>
          <a:xfrm>
            <a:off x="2649522" y="2347443"/>
            <a:ext cx="6892955" cy="2914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如何在高功率密度与散热之间取得平衡？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如何实现精准的力矩控制以支撑柔顺交互？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如何在紧凑空间内集成多类传感器？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如何从结构层面吸收冲击、保障安全？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11394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D7494-63ED-357D-6892-539B9941A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E4364AB9-98E8-467F-FD23-6469013E3DE9}"/>
              </a:ext>
            </a:extLst>
          </p:cNvPr>
          <p:cNvSpPr txBox="1"/>
          <p:nvPr/>
        </p:nvSpPr>
        <p:spPr>
          <a:xfrm>
            <a:off x="4892607" y="3429000"/>
            <a:ext cx="2418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ea typeface="微软雅黑" panose="020B0503020204020204" charset="-122"/>
              </a:rPr>
              <a:t>Part 3</a:t>
            </a:r>
            <a:endParaRPr lang="zh-CN" altLang="en-US" sz="3600" b="1" dirty="0">
              <a:solidFill>
                <a:schemeClr val="bg1"/>
              </a:solidFill>
              <a:ea typeface="微软雅黑" panose="020B050302020402020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7AFDA2B-B2CC-1487-F55D-EF15084E2C45}"/>
              </a:ext>
            </a:extLst>
          </p:cNvPr>
          <p:cNvSpPr txBox="1"/>
          <p:nvPr/>
        </p:nvSpPr>
        <p:spPr>
          <a:xfrm>
            <a:off x="4366325" y="4414637"/>
            <a:ext cx="34709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accent1"/>
                </a:solidFill>
                <a:ea typeface="微软雅黑" panose="020B0503020204020204" charset="-122"/>
                <a:sym typeface="+mn-ea"/>
              </a:rPr>
              <a:t>电驱动系统</a:t>
            </a:r>
            <a:endParaRPr lang="en-US" altLang="zh-CN" sz="3200" b="1" dirty="0">
              <a:solidFill>
                <a:schemeClr val="accent1"/>
              </a:solidFill>
              <a:ea typeface="微软雅黑" panose="020B0503020204020204" charset="-122"/>
              <a:sym typeface="+mn-ea"/>
            </a:endParaRPr>
          </a:p>
          <a:p>
            <a:pPr algn="ctr"/>
            <a:r>
              <a:rPr lang="zh-CN" altLang="en-US" sz="3200" b="1" dirty="0">
                <a:solidFill>
                  <a:schemeClr val="accent1"/>
                </a:solidFill>
                <a:ea typeface="微软雅黑" panose="020B0503020204020204" charset="-122"/>
                <a:sym typeface="+mn-ea"/>
              </a:rPr>
              <a:t>分析设计</a:t>
            </a:r>
            <a:endParaRPr lang="zh-CN" altLang="en-US" sz="3200" b="1" dirty="0">
              <a:solidFill>
                <a:schemeClr val="accent1"/>
              </a:solidFill>
              <a:ea typeface="微软雅黑" panose="020B0503020204020204" charset="-122"/>
            </a:endParaRPr>
          </a:p>
        </p:txBody>
      </p:sp>
      <p:pic>
        <p:nvPicPr>
          <p:cNvPr id="12" name="图形 11">
            <a:extLst>
              <a:ext uri="{FF2B5EF4-FFF2-40B4-BE49-F238E27FC236}">
                <a16:creationId xmlns:a16="http://schemas.microsoft.com/office/drawing/2014/main" id="{C1CAB05B-D1EE-51CF-B17B-3E3D522566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44580" y="1680280"/>
            <a:ext cx="914400" cy="914400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299AEF63-DB51-F406-028F-3EDFD38B8D25}"/>
              </a:ext>
            </a:extLst>
          </p:cNvPr>
          <p:cNvGrpSpPr/>
          <p:nvPr/>
        </p:nvGrpSpPr>
        <p:grpSpPr>
          <a:xfrm>
            <a:off x="5565368" y="5600960"/>
            <a:ext cx="1061264" cy="65258"/>
            <a:chOff x="5565368" y="5600960"/>
            <a:chExt cx="1061264" cy="65258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6499B4D7-6292-1072-0014-56865DA66F87}"/>
                </a:ext>
              </a:extLst>
            </p:cNvPr>
            <p:cNvGrpSpPr/>
            <p:nvPr/>
          </p:nvGrpSpPr>
          <p:grpSpPr>
            <a:xfrm>
              <a:off x="5565368" y="5600960"/>
              <a:ext cx="1061264" cy="65258"/>
              <a:chOff x="5565368" y="5600960"/>
              <a:chExt cx="1061264" cy="65258"/>
            </a:xfrm>
          </p:grpSpPr>
          <p:grpSp>
            <p:nvGrpSpPr>
              <p:cNvPr id="5" name="组合 4">
                <a:extLst>
                  <a:ext uri="{FF2B5EF4-FFF2-40B4-BE49-F238E27FC236}">
                    <a16:creationId xmlns:a16="http://schemas.microsoft.com/office/drawing/2014/main" id="{230A7D7A-EAB3-CC8B-4367-2EA0757197B4}"/>
                  </a:ext>
                </a:extLst>
              </p:cNvPr>
              <p:cNvGrpSpPr/>
              <p:nvPr/>
            </p:nvGrpSpPr>
            <p:grpSpPr>
              <a:xfrm>
                <a:off x="5565368" y="5600960"/>
                <a:ext cx="1061264" cy="65258"/>
                <a:chOff x="5551341" y="5589148"/>
                <a:chExt cx="1061264" cy="65258"/>
              </a:xfrm>
            </p:grpSpPr>
            <p:sp>
              <p:nvSpPr>
                <p:cNvPr id="10" name="圆角矩形 59">
                  <a:extLst>
                    <a:ext uri="{FF2B5EF4-FFF2-40B4-BE49-F238E27FC236}">
                      <a16:creationId xmlns:a16="http://schemas.microsoft.com/office/drawing/2014/main" id="{9F681663-689E-C383-1881-867026524D6B}"/>
                    </a:ext>
                  </a:extLst>
                </p:cNvPr>
                <p:cNvSpPr/>
                <p:nvPr/>
              </p:nvSpPr>
              <p:spPr>
                <a:xfrm>
                  <a:off x="5551341" y="5589148"/>
                  <a:ext cx="265316" cy="6525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368300" dir="5400000" algn="ctr" rotWithShape="0">
                    <a:srgbClr val="FD4979">
                      <a:alpha val="49000"/>
                    </a:srgb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>
                    <a:ea typeface="微软雅黑" panose="020B0503020204020204" charset="-122"/>
                  </a:endParaRPr>
                </a:p>
              </p:txBody>
            </p:sp>
            <p:sp>
              <p:nvSpPr>
                <p:cNvPr id="2" name="圆角矩形 59">
                  <a:extLst>
                    <a:ext uri="{FF2B5EF4-FFF2-40B4-BE49-F238E27FC236}">
                      <a16:creationId xmlns:a16="http://schemas.microsoft.com/office/drawing/2014/main" id="{9DF91BC7-F597-34EB-64E9-2CEF11C975FF}"/>
                    </a:ext>
                  </a:extLst>
                </p:cNvPr>
                <p:cNvSpPr/>
                <p:nvPr/>
              </p:nvSpPr>
              <p:spPr>
                <a:xfrm>
                  <a:off x="6347289" y="5589148"/>
                  <a:ext cx="265316" cy="6525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1">
                    <a:alpha val="26000"/>
                  </a:schemeClr>
                </a:solidFill>
                <a:ln>
                  <a:noFill/>
                </a:ln>
                <a:effectLst>
                  <a:outerShdw blurRad="368300" dir="5400000" algn="ctr" rotWithShape="0">
                    <a:srgbClr val="FD4979">
                      <a:alpha val="49000"/>
                    </a:srgb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>
                    <a:ea typeface="微软雅黑" panose="020B0503020204020204" charset="-122"/>
                  </a:endParaRPr>
                </a:p>
              </p:txBody>
            </p:sp>
          </p:grpSp>
          <p:sp>
            <p:nvSpPr>
              <p:cNvPr id="7" name="圆角矩形 59">
                <a:extLst>
                  <a:ext uri="{FF2B5EF4-FFF2-40B4-BE49-F238E27FC236}">
                    <a16:creationId xmlns:a16="http://schemas.microsoft.com/office/drawing/2014/main" id="{E13327A2-AEB1-AE33-CC92-07B4C28E4952}"/>
                  </a:ext>
                </a:extLst>
              </p:cNvPr>
              <p:cNvSpPr/>
              <p:nvPr/>
            </p:nvSpPr>
            <p:spPr>
              <a:xfrm>
                <a:off x="5830374" y="5600960"/>
                <a:ext cx="265316" cy="65258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  <a:effectLst>
                <a:outerShdw blurRad="368300" dir="5400000" algn="ctr" rotWithShape="0">
                  <a:srgbClr val="FD4979">
                    <a:alpha val="4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ea typeface="微软雅黑" panose="020B0503020204020204" charset="-122"/>
                </a:endParaRPr>
              </a:p>
            </p:txBody>
          </p:sp>
        </p:grpSp>
        <p:sp>
          <p:nvSpPr>
            <p:cNvPr id="13" name="圆角矩形 59">
              <a:extLst>
                <a:ext uri="{FF2B5EF4-FFF2-40B4-BE49-F238E27FC236}">
                  <a16:creationId xmlns:a16="http://schemas.microsoft.com/office/drawing/2014/main" id="{32DA230C-F040-6E2B-83F7-19CEF2CB9EA4}"/>
                </a:ext>
              </a:extLst>
            </p:cNvPr>
            <p:cNvSpPr/>
            <p:nvPr/>
          </p:nvSpPr>
          <p:spPr>
            <a:xfrm>
              <a:off x="6095690" y="5600960"/>
              <a:ext cx="265316" cy="65258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368300" dir="5400000" algn="ctr" rotWithShape="0">
                <a:srgbClr val="FD4979">
                  <a:alpha val="49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ea typeface="微软雅黑" panose="020B050302020402020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53809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FD28D-80AA-67EE-922A-0524913BF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A548A301-ECF4-5847-74CF-0D51DC933C3E}"/>
              </a:ext>
            </a:extLst>
          </p:cNvPr>
          <p:cNvSpPr/>
          <p:nvPr/>
        </p:nvSpPr>
        <p:spPr>
          <a:xfrm>
            <a:off x="1127760" y="1381760"/>
            <a:ext cx="9936480" cy="4752340"/>
          </a:xfrm>
          <a:prstGeom prst="roundRect">
            <a:avLst>
              <a:gd name="adj" fmla="val 1496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38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5CDBBCA-DC60-6A77-5E33-7D404C67605F}"/>
              </a:ext>
            </a:extLst>
          </p:cNvPr>
          <p:cNvSpPr txBox="1"/>
          <p:nvPr/>
        </p:nvSpPr>
        <p:spPr>
          <a:xfrm>
            <a:off x="823449" y="135317"/>
            <a:ext cx="8413857" cy="679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rgbClr val="983D8B"/>
                </a:solidFill>
                <a:ea typeface="微软雅黑" panose="020B0503020204020204" charset="-122"/>
              </a:rPr>
              <a:t>3  </a:t>
            </a:r>
            <a:r>
              <a:rPr lang="zh-CN" altLang="en-US" sz="3200" b="1" dirty="0">
                <a:solidFill>
                  <a:srgbClr val="983D8B"/>
                </a:solidFill>
                <a:ea typeface="微软雅黑" panose="020B0503020204020204" charset="-122"/>
              </a:rPr>
              <a:t>机器人关节负载特性与转矩需求分析</a:t>
            </a:r>
          </a:p>
        </p:txBody>
      </p:sp>
      <p:graphicFrame>
        <p:nvGraphicFramePr>
          <p:cNvPr id="11" name="图示 10">
            <a:extLst>
              <a:ext uri="{FF2B5EF4-FFF2-40B4-BE49-F238E27FC236}">
                <a16:creationId xmlns:a16="http://schemas.microsoft.com/office/drawing/2014/main" id="{74F9FF65-3DEC-9917-4A87-888F2E376E90}"/>
              </a:ext>
            </a:extLst>
          </p:cNvPr>
          <p:cNvGraphicFramePr/>
          <p:nvPr/>
        </p:nvGraphicFramePr>
        <p:xfrm>
          <a:off x="1853436" y="4635189"/>
          <a:ext cx="2931803" cy="1253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D553E5B3-DB47-8293-C498-086BC4304331}"/>
              </a:ext>
            </a:extLst>
          </p:cNvPr>
          <p:cNvGrpSpPr/>
          <p:nvPr/>
        </p:nvGrpSpPr>
        <p:grpSpPr>
          <a:xfrm>
            <a:off x="1632030" y="1780028"/>
            <a:ext cx="3727048" cy="4108187"/>
            <a:chOff x="2060293" y="2101105"/>
            <a:chExt cx="4213185" cy="3856843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D02FE85E-6D52-0CAC-4850-2BC6B2C85C1B}"/>
                </a:ext>
              </a:extLst>
            </p:cNvPr>
            <p:cNvSpPr/>
            <p:nvPr/>
          </p:nvSpPr>
          <p:spPr>
            <a:xfrm>
              <a:off x="2060293" y="2101105"/>
              <a:ext cx="4213185" cy="385684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D356225B-F112-E2DC-AD5D-32BFEF179DDD}"/>
                </a:ext>
              </a:extLst>
            </p:cNvPr>
            <p:cNvSpPr txBox="1"/>
            <p:nvPr/>
          </p:nvSpPr>
          <p:spPr>
            <a:xfrm>
              <a:off x="2263521" y="2240002"/>
              <a:ext cx="3454376" cy="4996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关节负载的三类物理来源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：</a:t>
              </a: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F080820D-2915-6CB9-4A9D-FB9CE5CE7CD4}"/>
                </a:ext>
              </a:extLst>
            </p:cNvPr>
            <p:cNvSpPr txBox="1"/>
            <p:nvPr/>
          </p:nvSpPr>
          <p:spPr>
            <a:xfrm>
              <a:off x="2379281" y="2834243"/>
              <a:ext cx="3575207" cy="30035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惯性负载：</a:t>
              </a:r>
              <a:endPara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180000">
                <a:lnSpc>
                  <a:spcPct val="15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T=Jα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，产生峰值转矩，加减速、急停、轨迹突变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重力负载：</a:t>
              </a:r>
              <a:endPara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180000">
                <a:lnSpc>
                  <a:spcPct val="15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位姿相关，影响连续转矩，持重静止、低速大转矩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摩擦负载：</a:t>
              </a:r>
              <a:endPara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180000">
                <a:lnSpc>
                  <a:spcPct val="15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低速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/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启停时占比大</a:t>
              </a: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CB964053-75C6-4E5C-30FE-D91BD39E5F64}"/>
              </a:ext>
            </a:extLst>
          </p:cNvPr>
          <p:cNvSpPr txBox="1"/>
          <p:nvPr/>
        </p:nvSpPr>
        <p:spPr>
          <a:xfrm>
            <a:off x="6200528" y="4885785"/>
            <a:ext cx="4229347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三类负载不是独立存在的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而是叠加形成时变非线性转矩曲线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0DCFEBB-72B6-3DC5-077B-B4EF550AC5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45174" y="2078805"/>
            <a:ext cx="4584701" cy="2578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353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A938E-703F-D70C-E7D9-825BE4E5D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7F0F32E5-A3D6-B747-580E-B97EFAF279E2}"/>
              </a:ext>
            </a:extLst>
          </p:cNvPr>
          <p:cNvSpPr/>
          <p:nvPr/>
        </p:nvSpPr>
        <p:spPr>
          <a:xfrm>
            <a:off x="1127760" y="1381760"/>
            <a:ext cx="9936480" cy="4752340"/>
          </a:xfrm>
          <a:prstGeom prst="roundRect">
            <a:avLst>
              <a:gd name="adj" fmla="val 1496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38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8CEDEC9-BC04-BEF7-26C2-DEDBDCB35B54}"/>
              </a:ext>
            </a:extLst>
          </p:cNvPr>
          <p:cNvSpPr txBox="1"/>
          <p:nvPr/>
        </p:nvSpPr>
        <p:spPr>
          <a:xfrm>
            <a:off x="823449" y="135317"/>
            <a:ext cx="8413857" cy="679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rgbClr val="983D8B"/>
                </a:solidFill>
                <a:ea typeface="微软雅黑" panose="020B0503020204020204" charset="-122"/>
              </a:rPr>
              <a:t>3  </a:t>
            </a:r>
            <a:r>
              <a:rPr lang="zh-CN" altLang="en-US" sz="3200" b="1" dirty="0">
                <a:solidFill>
                  <a:srgbClr val="983D8B"/>
                </a:solidFill>
                <a:ea typeface="微软雅黑" panose="020B0503020204020204" charset="-122"/>
              </a:rPr>
              <a:t>机器人关节负载特性与转矩需求分析</a:t>
            </a:r>
          </a:p>
        </p:txBody>
      </p:sp>
      <p:graphicFrame>
        <p:nvGraphicFramePr>
          <p:cNvPr id="11" name="图示 10">
            <a:extLst>
              <a:ext uri="{FF2B5EF4-FFF2-40B4-BE49-F238E27FC236}">
                <a16:creationId xmlns:a16="http://schemas.microsoft.com/office/drawing/2014/main" id="{4888E8C9-0421-483B-96BC-06EFEF7E23E7}"/>
              </a:ext>
            </a:extLst>
          </p:cNvPr>
          <p:cNvGraphicFramePr/>
          <p:nvPr/>
        </p:nvGraphicFramePr>
        <p:xfrm>
          <a:off x="1853436" y="4635189"/>
          <a:ext cx="2931803" cy="1253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81505269-1EF6-1614-2438-4F7CA9A87E27}"/>
              </a:ext>
            </a:extLst>
          </p:cNvPr>
          <p:cNvSpPr txBox="1"/>
          <p:nvPr/>
        </p:nvSpPr>
        <p:spPr>
          <a:xfrm>
            <a:off x="1412383" y="1510175"/>
            <a:ext cx="4229347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两种独立的物理约束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746717E5-3B20-EF39-A37C-5F8CBA151B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2809209"/>
              </p:ext>
            </p:extLst>
          </p:nvPr>
        </p:nvGraphicFramePr>
        <p:xfrm>
          <a:off x="1660768" y="2055572"/>
          <a:ext cx="8870464" cy="1651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02862">
                  <a:extLst>
                    <a:ext uri="{9D8B030D-6E8A-4147-A177-3AD203B41FA5}">
                      <a16:colId xmlns:a16="http://schemas.microsoft.com/office/drawing/2014/main" val="3601220826"/>
                    </a:ext>
                  </a:extLst>
                </a:gridCol>
                <a:gridCol w="3032370">
                  <a:extLst>
                    <a:ext uri="{9D8B030D-6E8A-4147-A177-3AD203B41FA5}">
                      <a16:colId xmlns:a16="http://schemas.microsoft.com/office/drawing/2014/main" val="3582323998"/>
                    </a:ext>
                  </a:extLst>
                </a:gridCol>
                <a:gridCol w="2217616">
                  <a:extLst>
                    <a:ext uri="{9D8B030D-6E8A-4147-A177-3AD203B41FA5}">
                      <a16:colId xmlns:a16="http://schemas.microsoft.com/office/drawing/2014/main" val="1870219975"/>
                    </a:ext>
                  </a:extLst>
                </a:gridCol>
                <a:gridCol w="2217616">
                  <a:extLst>
                    <a:ext uri="{9D8B030D-6E8A-4147-A177-3AD203B41FA5}">
                      <a16:colId xmlns:a16="http://schemas.microsoft.com/office/drawing/2014/main" val="5702031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约束类型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1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物理上限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1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主导负载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1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超标后果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3316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峰值转矩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电磁力矩</a:t>
                      </a: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+</a:t>
                      </a: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逆变器峰值电流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惯性负载</a:t>
                      </a:r>
                      <a:endParaRPr lang="en-US" altLang="zh-CN" sz="1800" b="0" kern="1200" dirty="0">
                        <a:solidFill>
                          <a:schemeClr val="dk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（加速器、碰撞）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失步、堵转、过流保护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840640"/>
                  </a:ext>
                </a:extLst>
              </a:tr>
              <a:tr h="17810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连续转矩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绕组升温</a:t>
                      </a: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+</a:t>
                      </a: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散热条件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重力负载</a:t>
                      </a: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+</a:t>
                      </a: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摩擦负载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过热、绝缘老化、烧毁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0476421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180D6CBC-C5C1-650B-2BDA-06D7F17FAEBC}"/>
              </a:ext>
            </a:extLst>
          </p:cNvPr>
          <p:cNvSpPr txBox="1"/>
          <p:nvPr/>
        </p:nvSpPr>
        <p:spPr>
          <a:xfrm>
            <a:off x="1982558" y="3721979"/>
            <a:ext cx="4229347" cy="490196"/>
          </a:xfrm>
          <a:prstGeom prst="rect">
            <a:avLst/>
          </a:prstGeom>
        </p:spPr>
        <p:txBody>
          <a:bodyPr>
            <a:noAutofit/>
          </a:bodyPr>
          <a:lstStyle/>
          <a:p>
            <a:pPr defTabSz="266700"/>
            <a:r>
              <a:rPr lang="zh-CN" altLang="en-US" b="1" dirty="0">
                <a:latin typeface="仿宋" panose="02010609060101010101" charset="-122"/>
                <a:ea typeface="仿宋" panose="02010609060101010101" charset="-122"/>
              </a:rPr>
              <a:t>两者之间无固定比例关系，须独立校验</a:t>
            </a:r>
            <a:endParaRPr lang="zh-CN" altLang="en-US" sz="2000" b="1" dirty="0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B77B4F9-B2E3-6EDA-8B18-F61BCCE869FA}"/>
              </a:ext>
            </a:extLst>
          </p:cNvPr>
          <p:cNvSpPr txBox="1"/>
          <p:nvPr/>
        </p:nvSpPr>
        <p:spPr>
          <a:xfrm>
            <a:off x="1412382" y="4106697"/>
            <a:ext cx="4683618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负载特性与电机输出能力之间的匹配原则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B0BF0A8-F43C-B39D-54F8-FAE8EA556E9F}"/>
                  </a:ext>
                </a:extLst>
              </p:cNvPr>
              <p:cNvSpPr txBox="1"/>
              <p:nvPr/>
            </p:nvSpPr>
            <p:spPr>
              <a:xfrm>
                <a:off x="2148433" y="4522624"/>
                <a:ext cx="7895134" cy="15261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600" b="1" dirty="0">
                    <a:latin typeface="微软雅黑" panose="020B0503020204020204" charset="-122"/>
                    <a:ea typeface="微软雅黑" panose="020B0503020204020204" charset="-122"/>
                  </a:rPr>
                  <a:t>惯量匹配：</a:t>
                </a:r>
                <a:r>
                  <a:rPr lang="zh-CN" altLang="en-US" sz="1600" dirty="0">
                    <a:latin typeface="微软雅黑" panose="020B0503020204020204" charset="-122"/>
                    <a:ea typeface="微软雅黑" panose="020B0503020204020204" charset="-122"/>
                  </a:rPr>
                  <a:t>负载惯量</a:t>
                </a:r>
                <a:r>
                  <a:rPr lang="en-US" altLang="zh-CN" sz="1600" dirty="0">
                    <a:latin typeface="微软雅黑" panose="020B0503020204020204" charset="-122"/>
                    <a:ea typeface="微软雅黑" panose="020B0503020204020204" charset="-122"/>
                  </a:rPr>
                  <a:t>/</a:t>
                </a:r>
                <a:r>
                  <a:rPr lang="zh-CN" altLang="en-US" sz="1600" dirty="0">
                    <a:latin typeface="微软雅黑" panose="020B0503020204020204" charset="-122"/>
                    <a:ea typeface="微软雅黑" panose="020B0503020204020204" charset="-122"/>
                  </a:rPr>
                  <a:t>转子惯量控制在合理范围（通常</a:t>
                </a:r>
                <a:r>
                  <a:rPr lang="en-US" altLang="zh-CN" sz="1600" dirty="0">
                    <a:latin typeface="微软雅黑" panose="020B0503020204020204" charset="-122"/>
                    <a:ea typeface="微软雅黑" panose="020B0503020204020204" charset="-122"/>
                  </a:rPr>
                  <a:t>5~10</a:t>
                </a:r>
                <a:r>
                  <a:rPr lang="zh-CN" altLang="en-US" sz="1600" dirty="0">
                    <a:latin typeface="微软雅黑" panose="020B0503020204020204" charset="-122"/>
                    <a:ea typeface="微软雅黑" panose="020B0503020204020204" charset="-122"/>
                  </a:rPr>
                  <a:t>倍以内）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600" b="1" dirty="0">
                    <a:latin typeface="微软雅黑" panose="020B0503020204020204" charset="-122"/>
                    <a:ea typeface="微软雅黑" panose="020B0503020204020204" charset="-122"/>
                  </a:rPr>
                  <a:t>峰值校核：</a:t>
                </a:r>
                <a:r>
                  <a:rPr lang="zh-CN" altLang="en-US" sz="1600" dirty="0">
                    <a:latin typeface="微软雅黑" panose="020B0503020204020204" charset="-122"/>
                    <a:ea typeface="微软雅黑" panose="020B0503020204020204" charset="-122"/>
                  </a:rPr>
                  <a:t>最恶劣动态工况转矩 </a:t>
                </a:r>
                <a:r>
                  <a:rPr lang="en-US" altLang="zh-CN" sz="1600" dirty="0">
                    <a:latin typeface="微软雅黑" panose="020B0503020204020204" charset="-122"/>
                    <a:ea typeface="微软雅黑" panose="020B0503020204020204" charset="-122"/>
                  </a:rPr>
                  <a:t>&lt; </a:t>
                </a:r>
                <a:r>
                  <a:rPr lang="zh-CN" altLang="en-US" sz="1600" dirty="0">
                    <a:latin typeface="微软雅黑" panose="020B0503020204020204" charset="-122"/>
                    <a:ea typeface="微软雅黑" panose="020B0503020204020204" charset="-122"/>
                  </a:rPr>
                  <a:t>电机峰值能力（预留</a:t>
                </a:r>
                <a:r>
                  <a:rPr lang="en-US" altLang="zh-CN" sz="1600" dirty="0">
                    <a:latin typeface="微软雅黑" panose="020B0503020204020204" charset="-122"/>
                    <a:ea typeface="微软雅黑" panose="020B0503020204020204" charset="-122"/>
                  </a:rPr>
                  <a:t>20%~30%</a:t>
                </a:r>
                <a:r>
                  <a:rPr lang="zh-CN" altLang="en-US" sz="1600" dirty="0">
                    <a:latin typeface="微软雅黑" panose="020B0503020204020204" charset="-122"/>
                    <a:ea typeface="微软雅黑" panose="020B0503020204020204" charset="-122"/>
                  </a:rPr>
                  <a:t>裕量）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600" b="1" dirty="0">
                    <a:latin typeface="微软雅黑" panose="020B0503020204020204" charset="-122"/>
                    <a:ea typeface="微软雅黑" panose="020B0503020204020204" charset="-122"/>
                  </a:rPr>
                  <a:t>连续校核：</a:t>
                </a:r>
                <a:r>
                  <a:rPr lang="zh-CN" altLang="en-US" sz="1600" dirty="0">
                    <a:latin typeface="微软雅黑" panose="020B0503020204020204" charset="-122"/>
                    <a:ea typeface="微软雅黑" panose="020B0503020204020204" charset="-122"/>
                  </a:rPr>
                  <a:t>周期均方根转矩 </a:t>
                </a:r>
                <a:r>
                  <a:rPr lang="en-US" altLang="zh-CN" sz="1600" dirty="0">
                    <a:latin typeface="微软雅黑" panose="020B0503020204020204" charset="-122"/>
                    <a:ea typeface="微软雅黑" panose="020B0503020204020204" charset="-122"/>
                  </a:rPr>
                  <a:t>&lt; </a:t>
                </a:r>
                <a:r>
                  <a:rPr lang="zh-CN" altLang="en-US" sz="1600" dirty="0">
                    <a:latin typeface="微软雅黑" panose="020B0503020204020204" charset="-122"/>
                    <a:ea typeface="微软雅黑" panose="020B0503020204020204" charset="-122"/>
                  </a:rPr>
                  <a:t>电机额定转矩；持重静止工况需校核堵转温升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600" b="1" dirty="0">
                    <a:latin typeface="微软雅黑" panose="020B0503020204020204" charset="-122"/>
                    <a:ea typeface="微软雅黑" panose="020B0503020204020204" charset="-122"/>
                  </a:rPr>
                  <a:t>减速器折算：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𝑇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𝑚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charset="-122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  <m:t>𝐿</m:t>
                            </m:r>
                          </m:sub>
                        </m:sSub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(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𝑖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zh-CN" alt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zh-CN" altLang="en-US" sz="1600" dirty="0">
                    <a:latin typeface="微软雅黑" panose="020B0503020204020204" charset="-122"/>
                    <a:ea typeface="微软雅黑" panose="020B0503020204020204" charset="-122"/>
                  </a:rPr>
                  <a:t>，计入效率损失</a:t>
                </a:r>
                <a:endParaRPr lang="en-US" altLang="zh-CN" sz="1600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mc:Choice>
        <mc:Fallback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B0BF0A8-F43C-B39D-54F8-FAE8EA556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8433" y="4522624"/>
                <a:ext cx="7895134" cy="1526187"/>
              </a:xfrm>
              <a:prstGeom prst="rect">
                <a:avLst/>
              </a:prstGeom>
              <a:blipFill>
                <a:blip r:embed="rId7"/>
                <a:stretch>
                  <a:fillRect l="-309" b="-364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57210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91516-6E07-0F86-5E64-73DB55AE2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57A74BA5-3481-DE71-9121-8DA743C5F59A}"/>
              </a:ext>
            </a:extLst>
          </p:cNvPr>
          <p:cNvSpPr/>
          <p:nvPr/>
        </p:nvSpPr>
        <p:spPr>
          <a:xfrm>
            <a:off x="1127760" y="1381760"/>
            <a:ext cx="9936480" cy="4752340"/>
          </a:xfrm>
          <a:prstGeom prst="roundRect">
            <a:avLst>
              <a:gd name="adj" fmla="val 1496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38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charset="-122"/>
            </a:endParaRPr>
          </a:p>
        </p:txBody>
      </p:sp>
      <p:graphicFrame>
        <p:nvGraphicFramePr>
          <p:cNvPr id="11" name="图示 10">
            <a:extLst>
              <a:ext uri="{FF2B5EF4-FFF2-40B4-BE49-F238E27FC236}">
                <a16:creationId xmlns:a16="http://schemas.microsoft.com/office/drawing/2014/main" id="{329A9A02-B350-E2E4-15E5-0B925AA9283D}"/>
              </a:ext>
            </a:extLst>
          </p:cNvPr>
          <p:cNvGraphicFramePr/>
          <p:nvPr/>
        </p:nvGraphicFramePr>
        <p:xfrm>
          <a:off x="1853436" y="4635189"/>
          <a:ext cx="2931803" cy="1253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47CA17A-2A5A-0F9D-CF31-B754E6A216F1}"/>
              </a:ext>
            </a:extLst>
          </p:cNvPr>
          <p:cNvGraphicFramePr/>
          <p:nvPr/>
        </p:nvGraphicFramePr>
        <p:xfrm>
          <a:off x="1302434" y="2299915"/>
          <a:ext cx="9587132" cy="30321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060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73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0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3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243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/>
                        <a:t>电机类型</a:t>
                      </a:r>
                    </a:p>
                  </a:txBody>
                  <a:tcPr marL="0" marR="95567" marT="47942" marB="47942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dirty="0"/>
                        <a:t>核心特点</a:t>
                      </a:r>
                    </a:p>
                  </a:txBody>
                  <a:tcPr marL="0" marR="95567" marT="47942" marB="47942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/>
                        <a:t>主要优势</a:t>
                      </a:r>
                    </a:p>
                  </a:txBody>
                  <a:tcPr marL="0" marR="95567" marT="47942" marB="47942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/>
                        <a:t>适用场景</a:t>
                      </a:r>
                    </a:p>
                  </a:txBody>
                  <a:tcPr marL="0" marR="95567" marT="47942" marB="4794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无框力矩电机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>
                          <a:sym typeface="+mn-ea"/>
                        </a:rPr>
                        <a:t>无外壳，直驱设计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力矩密度极高，惯量极低，动态响应快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肩、肘等核心动力关节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97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永磁同步电机（</a:t>
                      </a:r>
                      <a:r>
                        <a:rPr lang="en-US" altLang="zh-CN" sz="1800">
                          <a:sym typeface="+mn-ea"/>
                        </a:rPr>
                        <a:t>PMSM</a:t>
                      </a:r>
                      <a:r>
                        <a:rPr lang="zh-CN" altLang="en-US" sz="1800">
                          <a:sym typeface="+mn-ea"/>
                        </a:rPr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正弦波驱动与矢量控制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控制精度高，运行平稳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腕、踝等高精度控制关节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97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无刷直流电机(</a:t>
                      </a:r>
                      <a:r>
                        <a:rPr lang="en-US" altLang="zh-CN"/>
                        <a:t>BLDC)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方波驱动，控制简单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成本低，可靠性高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>
                          <a:sym typeface="+mn-ea"/>
                        </a:rPr>
                        <a:t>腰、基座等经济型关节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97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空心杯电机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无铁芯转子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响应速度最快，功率密度高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>
                          <a:sym typeface="+mn-ea"/>
                        </a:rPr>
                        <a:t>灵巧手、末端执行器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F103F75B-C912-7D87-FC3C-177D7B984D1A}"/>
              </a:ext>
            </a:extLst>
          </p:cNvPr>
          <p:cNvSpPr txBox="1"/>
          <p:nvPr/>
        </p:nvSpPr>
        <p:spPr>
          <a:xfrm>
            <a:off x="1513635" y="5543230"/>
            <a:ext cx="9107170" cy="490196"/>
          </a:xfrm>
          <a:prstGeom prst="rect">
            <a:avLst/>
          </a:prstGeom>
        </p:spPr>
        <p:txBody>
          <a:bodyPr>
            <a:noAutofit/>
          </a:bodyPr>
          <a:lstStyle/>
          <a:p>
            <a:pPr defTabSz="266700"/>
            <a:r>
              <a:rPr lang="zh-CN" altLang="en-US" sz="2000" b="1" dirty="0">
                <a:latin typeface="仿宋" panose="02010609060101010101" charset="-122"/>
                <a:ea typeface="仿宋" panose="02010609060101010101" charset="-122"/>
              </a:rPr>
              <a:t>合理选型是实现机器人高性能、高性价比的关键。</a:t>
            </a:r>
            <a:endParaRPr lang="zh-CN" altLang="en-US" sz="2400" b="1" dirty="0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35D2E23-E38E-908C-9E7A-A98D781C8A80}"/>
              </a:ext>
            </a:extLst>
          </p:cNvPr>
          <p:cNvSpPr txBox="1"/>
          <p:nvPr/>
        </p:nvSpPr>
        <p:spPr>
          <a:xfrm>
            <a:off x="1659565" y="1646284"/>
            <a:ext cx="8363584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根据关节功能与性能需求，应采用分层选型策略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B4E218A-5FC9-9C51-1F43-8AB2A11ABEB5}"/>
              </a:ext>
            </a:extLst>
          </p:cNvPr>
          <p:cNvSpPr txBox="1"/>
          <p:nvPr/>
        </p:nvSpPr>
        <p:spPr>
          <a:xfrm>
            <a:off x="823449" y="135317"/>
            <a:ext cx="8413857" cy="679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rgbClr val="983D8B"/>
                </a:solidFill>
                <a:ea typeface="微软雅黑" panose="020B0503020204020204" charset="-122"/>
              </a:rPr>
              <a:t>3  </a:t>
            </a:r>
            <a:r>
              <a:rPr lang="zh-CN" altLang="en-US" sz="3200" b="1" dirty="0">
                <a:solidFill>
                  <a:srgbClr val="983D8B"/>
                </a:solidFill>
                <a:ea typeface="微软雅黑" panose="020B0503020204020204" charset="-122"/>
              </a:rPr>
              <a:t>电机选型对比分析</a:t>
            </a:r>
          </a:p>
        </p:txBody>
      </p:sp>
    </p:spTree>
    <p:extLst>
      <p:ext uri="{BB962C8B-B14F-4D97-AF65-F5344CB8AC3E}">
        <p14:creationId xmlns:p14="http://schemas.microsoft.com/office/powerpoint/2010/main" val="2923201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3F719-0E79-C69A-4C78-449458FAC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8BC1ED21-D63C-A279-340C-BD7C014A91FB}"/>
              </a:ext>
            </a:extLst>
          </p:cNvPr>
          <p:cNvSpPr/>
          <p:nvPr/>
        </p:nvSpPr>
        <p:spPr>
          <a:xfrm>
            <a:off x="1127760" y="1381760"/>
            <a:ext cx="9936480" cy="4752340"/>
          </a:xfrm>
          <a:prstGeom prst="roundRect">
            <a:avLst>
              <a:gd name="adj" fmla="val 1496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38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charset="-122"/>
            </a:endParaRPr>
          </a:p>
        </p:txBody>
      </p:sp>
      <p:graphicFrame>
        <p:nvGraphicFramePr>
          <p:cNvPr id="11" name="图示 10">
            <a:extLst>
              <a:ext uri="{FF2B5EF4-FFF2-40B4-BE49-F238E27FC236}">
                <a16:creationId xmlns:a16="http://schemas.microsoft.com/office/drawing/2014/main" id="{1B8BA838-29EA-08CB-223C-64C890BF16E3}"/>
              </a:ext>
            </a:extLst>
          </p:cNvPr>
          <p:cNvGraphicFramePr/>
          <p:nvPr/>
        </p:nvGraphicFramePr>
        <p:xfrm>
          <a:off x="1853436" y="4635189"/>
          <a:ext cx="2931803" cy="1253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22" name="组合 21">
            <a:extLst>
              <a:ext uri="{FF2B5EF4-FFF2-40B4-BE49-F238E27FC236}">
                <a16:creationId xmlns:a16="http://schemas.microsoft.com/office/drawing/2014/main" id="{DD29972C-A652-B29F-CDA4-727046814386}"/>
              </a:ext>
            </a:extLst>
          </p:cNvPr>
          <p:cNvGrpSpPr/>
          <p:nvPr/>
        </p:nvGrpSpPr>
        <p:grpSpPr>
          <a:xfrm>
            <a:off x="6766554" y="1780733"/>
            <a:ext cx="3703320" cy="2148840"/>
            <a:chOff x="7360920" y="1780733"/>
            <a:chExt cx="4251960" cy="2148840"/>
          </a:xfrm>
        </p:grpSpPr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39A8E9FB-8D51-752B-4E3B-7653F9825634}"/>
                </a:ext>
              </a:extLst>
            </p:cNvPr>
            <p:cNvSpPr/>
            <p:nvPr/>
          </p:nvSpPr>
          <p:spPr>
            <a:xfrm>
              <a:off x="7360920" y="1780733"/>
              <a:ext cx="4251960" cy="2148840"/>
            </a:xfrm>
            <a:prstGeom prst="roundRect">
              <a:avLst>
                <a:gd name="adj" fmla="val 3404"/>
              </a:avLst>
            </a:prstGeom>
            <a:solidFill>
              <a:srgbClr val="FFFFFF"/>
            </a:solidFill>
            <a:ln w="12700">
              <a:solidFill>
                <a:srgbClr val="7E0C6E"/>
              </a:solidFill>
              <a:prstDash val="solid"/>
            </a:ln>
            <a:effectLst>
              <a:outerShdw blurRad="12700" dist="7620" dir="2700000" algn="bl" rotWithShape="0">
                <a:srgbClr val="9AA4B2">
                  <a:alpha val="12000"/>
                </a:srgbClr>
              </a:outerShdw>
            </a:effectLst>
          </p:spPr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D5A77D9D-5F28-1C1E-3151-50521C244E13}"/>
                </a:ext>
              </a:extLst>
            </p:cNvPr>
            <p:cNvSpPr/>
            <p:nvPr/>
          </p:nvSpPr>
          <p:spPr>
            <a:xfrm>
              <a:off x="7607808" y="1991045"/>
              <a:ext cx="35661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7233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关键关系式</a:t>
              </a:r>
              <a:endParaRPr lang="en-US" sz="1500" dirty="0"/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DFA7E0C2-591C-9083-2138-628985F6B197}"/>
                </a:ext>
              </a:extLst>
            </p:cNvPr>
            <p:cNvSpPr/>
            <p:nvPr/>
          </p:nvSpPr>
          <p:spPr>
            <a:xfrm>
              <a:off x="7571232" y="2375093"/>
              <a:ext cx="37490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50" i="1" dirty="0">
                  <a:solidFill>
                    <a:srgbClr val="111827"/>
                  </a:solidFill>
                  <a:latin typeface="Cambria Math" pitchFamily="34" charset="0"/>
                  <a:ea typeface="Cambria Math" pitchFamily="34" charset="-122"/>
                  <a:cs typeface="Cambria Math" pitchFamily="34" charset="-120"/>
                </a:rPr>
                <a:t>T</a:t>
              </a:r>
              <a:r>
                <a:rPr lang="en-US" sz="1750" dirty="0">
                  <a:solidFill>
                    <a:srgbClr val="111827"/>
                  </a:solidFill>
                  <a:latin typeface="Cambria Math" pitchFamily="34" charset="0"/>
                  <a:ea typeface="Cambria Math" pitchFamily="34" charset="-122"/>
                  <a:cs typeface="Cambria Math" pitchFamily="34" charset="-120"/>
                </a:rPr>
                <a:t>ₑ = 3/2 · pₙ · ψ</a:t>
              </a:r>
              <a:r>
                <a:rPr lang="en-US" sz="1750" baseline="-40000" dirty="0">
                  <a:solidFill>
                    <a:srgbClr val="111827"/>
                  </a:solidFill>
                  <a:latin typeface="Cambria Math" pitchFamily="34" charset="0"/>
                  <a:ea typeface="Cambria Math" pitchFamily="34" charset="-122"/>
                  <a:cs typeface="Cambria Math" pitchFamily="34" charset="-120"/>
                </a:rPr>
                <a:t>f</a:t>
              </a:r>
              <a:r>
                <a:rPr lang="en-US" sz="1750" dirty="0">
                  <a:solidFill>
                    <a:srgbClr val="111827"/>
                  </a:solidFill>
                  <a:latin typeface="Cambria Math" pitchFamily="34" charset="0"/>
                  <a:ea typeface="Cambria Math" pitchFamily="34" charset="-122"/>
                  <a:cs typeface="Cambria Math" pitchFamily="34" charset="-120"/>
                </a:rPr>
                <a:t> · i</a:t>
              </a:r>
              <a:r>
                <a:rPr lang="en-US" sz="1750" baseline="-40000" dirty="0">
                  <a:solidFill>
                    <a:srgbClr val="111827"/>
                  </a:solidFill>
                  <a:latin typeface="Cambria Math" pitchFamily="34" charset="0"/>
                  <a:ea typeface="Cambria Math" pitchFamily="34" charset="-122"/>
                  <a:cs typeface="Cambria Math" pitchFamily="34" charset="-120"/>
                </a:rPr>
                <a:t>q</a:t>
              </a:r>
              <a:r>
                <a:rPr lang="en-US" sz="1750" dirty="0">
                  <a:solidFill>
                    <a:srgbClr val="111827"/>
                  </a:solidFill>
                  <a:latin typeface="Cambria Math" pitchFamily="34" charset="0"/>
                  <a:ea typeface="Cambria Math" pitchFamily="34" charset="-122"/>
                  <a:cs typeface="Cambria Math" pitchFamily="34" charset="-120"/>
                </a:rPr>
                <a:t>    （i</a:t>
              </a:r>
              <a:r>
                <a:rPr lang="en-US" sz="1750" baseline="-40000" dirty="0">
                  <a:solidFill>
                    <a:srgbClr val="111827"/>
                  </a:solidFill>
                  <a:latin typeface="Cambria Math" pitchFamily="34" charset="0"/>
                  <a:ea typeface="Cambria Math" pitchFamily="34" charset="-122"/>
                  <a:cs typeface="Cambria Math" pitchFamily="34" charset="-120"/>
                </a:rPr>
                <a:t>d</a:t>
              </a:r>
              <a:r>
                <a:rPr lang="en-US" sz="1750" dirty="0">
                  <a:solidFill>
                    <a:srgbClr val="111827"/>
                  </a:solidFill>
                  <a:latin typeface="Cambria Math" pitchFamily="34" charset="0"/>
                  <a:ea typeface="Cambria Math" pitchFamily="34" charset="-122"/>
                  <a:cs typeface="Cambria Math" pitchFamily="34" charset="-120"/>
                </a:rPr>
                <a:t> ≈ 0）</a:t>
              </a:r>
              <a:endParaRPr lang="en-US" sz="1750" dirty="0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9996B37F-B35F-9E1D-0D11-F33C55A45199}"/>
                </a:ext>
              </a:extLst>
            </p:cNvPr>
            <p:cNvSpPr/>
            <p:nvPr/>
          </p:nvSpPr>
          <p:spPr>
            <a:xfrm>
              <a:off x="7571232" y="2814005"/>
              <a:ext cx="37490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50" dirty="0">
                  <a:solidFill>
                    <a:srgbClr val="111827"/>
                  </a:solidFill>
                  <a:latin typeface="Cambria Math" pitchFamily="34" charset="0"/>
                  <a:ea typeface="Cambria Math" pitchFamily="34" charset="-122"/>
                  <a:cs typeface="Cambria Math" pitchFamily="34" charset="-120"/>
                </a:rPr>
                <a:t>i</a:t>
              </a:r>
              <a:r>
                <a:rPr lang="en-US" sz="1750" baseline="-40000" dirty="0">
                  <a:solidFill>
                    <a:srgbClr val="111827"/>
                  </a:solidFill>
                  <a:latin typeface="Cambria Math" pitchFamily="34" charset="0"/>
                  <a:ea typeface="Cambria Math" pitchFamily="34" charset="-122"/>
                  <a:cs typeface="Cambria Math" pitchFamily="34" charset="-120"/>
                </a:rPr>
                <a:t>q</a:t>
              </a:r>
              <a:r>
                <a:rPr lang="en-US" sz="1750" dirty="0">
                  <a:solidFill>
                    <a:srgbClr val="111827"/>
                  </a:solidFill>
                  <a:latin typeface="Cambria Math" pitchFamily="34" charset="0"/>
                  <a:ea typeface="Cambria Math" pitchFamily="34" charset="-122"/>
                  <a:cs typeface="Cambria Math" pitchFamily="34" charset="-120"/>
                </a:rPr>
                <a:t>* = T* / K</a:t>
              </a:r>
              <a:r>
                <a:rPr lang="en-US" sz="1750" baseline="-40000" dirty="0">
                  <a:solidFill>
                    <a:srgbClr val="111827"/>
                  </a:solidFill>
                  <a:latin typeface="Cambria Math" pitchFamily="34" charset="0"/>
                  <a:ea typeface="Cambria Math" pitchFamily="34" charset="-122"/>
                  <a:cs typeface="Cambria Math" pitchFamily="34" charset="-120"/>
                </a:rPr>
                <a:t>t</a:t>
              </a:r>
              <a:endParaRPr lang="en-US" sz="1750" dirty="0"/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CE5FE4E-673A-BF46-A16E-0813EFFF5750}"/>
                </a:ext>
              </a:extLst>
            </p:cNvPr>
            <p:cNvSpPr/>
            <p:nvPr/>
          </p:nvSpPr>
          <p:spPr>
            <a:xfrm>
              <a:off x="7571232" y="3271205"/>
              <a:ext cx="373075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20" dirty="0">
                  <a:solidFill>
                    <a:srgbClr val="4B5563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含义：将交流电机转矩控制转化为对 q 轴电流的快速闭环调节。</a:t>
              </a:r>
              <a:endParaRPr lang="en-US" sz="1220" dirty="0"/>
            </a:p>
          </p:txBody>
        </p:sp>
      </p:grpSp>
      <p:sp>
        <p:nvSpPr>
          <p:cNvPr id="19" name="Shape 17">
            <a:extLst>
              <a:ext uri="{FF2B5EF4-FFF2-40B4-BE49-F238E27FC236}">
                <a16:creationId xmlns:a16="http://schemas.microsoft.com/office/drawing/2014/main" id="{996274D7-4BAF-1AAE-255C-2EE6F2BB2081}"/>
              </a:ext>
            </a:extLst>
          </p:cNvPr>
          <p:cNvSpPr/>
          <p:nvPr/>
        </p:nvSpPr>
        <p:spPr>
          <a:xfrm>
            <a:off x="6710680" y="4185571"/>
            <a:ext cx="3825240" cy="54898"/>
          </a:xfrm>
          <a:prstGeom prst="rect">
            <a:avLst/>
          </a:prstGeom>
          <a:solidFill>
            <a:srgbClr val="7E0C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5FECF96-DC94-7C07-E7BB-C5D0AF9E0864}"/>
              </a:ext>
            </a:extLst>
          </p:cNvPr>
          <p:cNvSpPr txBox="1"/>
          <p:nvPr/>
        </p:nvSpPr>
        <p:spPr>
          <a:xfrm>
            <a:off x="823449" y="135317"/>
            <a:ext cx="8413857" cy="679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rgbClr val="983D8B"/>
                </a:solidFill>
                <a:ea typeface="微软雅黑" panose="020B0503020204020204" charset="-122"/>
              </a:rPr>
              <a:t>3 </a:t>
            </a:r>
            <a:r>
              <a:rPr lang="zh-CN" altLang="en-US" sz="3200" b="1" dirty="0">
                <a:solidFill>
                  <a:srgbClr val="983D8B"/>
                </a:solidFill>
                <a:ea typeface="微软雅黑" panose="020B0503020204020204" charset="-122"/>
              </a:rPr>
              <a:t>伺服驱动与矢量控制	</a:t>
            </a: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EB3E85DB-94E9-2B75-FF4D-0199D7473B68}"/>
              </a:ext>
            </a:extLst>
          </p:cNvPr>
          <p:cNvGrpSpPr/>
          <p:nvPr/>
        </p:nvGrpSpPr>
        <p:grpSpPr>
          <a:xfrm>
            <a:off x="1508760" y="1863029"/>
            <a:ext cx="4747507" cy="1257668"/>
            <a:chOff x="1508760" y="1863029"/>
            <a:chExt cx="4747507" cy="1257668"/>
          </a:xfrm>
        </p:grpSpPr>
        <p:sp>
          <p:nvSpPr>
            <p:cNvPr id="2" name="Text 5">
              <a:extLst>
                <a:ext uri="{FF2B5EF4-FFF2-40B4-BE49-F238E27FC236}">
                  <a16:creationId xmlns:a16="http://schemas.microsoft.com/office/drawing/2014/main" id="{FA44C730-3F9A-2B2D-2F07-C3DFD3D43346}"/>
                </a:ext>
              </a:extLst>
            </p:cNvPr>
            <p:cNvSpPr/>
            <p:nvPr/>
          </p:nvSpPr>
          <p:spPr>
            <a:xfrm>
              <a:off x="1508760" y="1863029"/>
              <a:ext cx="16459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7E0C6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核心问题</a:t>
              </a:r>
              <a:endParaRPr lang="en-US" dirty="0">
                <a:solidFill>
                  <a:srgbClr val="7E0C6E"/>
                </a:solidFill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70F94093-1E3D-B359-6194-645BB83ACEFF}"/>
                </a:ext>
              </a:extLst>
            </p:cNvPr>
            <p:cNvSpPr txBox="1"/>
            <p:nvPr/>
          </p:nvSpPr>
          <p:spPr>
            <a:xfrm>
              <a:off x="1508760" y="2105034"/>
              <a:ext cx="474750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机器人关节负载变化快、启停频繁，并常在低速大转矩和反复换向条件下工作。关节电驱动不仅要满足位置跟踪，还要在支撑、落地、抓取和接触交互中输出平稳可控的力矩。</a:t>
              </a: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73568BB8-2CB2-8DC4-2AF3-EA47F98B4607}"/>
              </a:ext>
            </a:extLst>
          </p:cNvPr>
          <p:cNvGrpSpPr/>
          <p:nvPr/>
        </p:nvGrpSpPr>
        <p:grpSpPr>
          <a:xfrm>
            <a:off x="1508759" y="3159445"/>
            <a:ext cx="4747507" cy="1261535"/>
            <a:chOff x="1508759" y="3281365"/>
            <a:chExt cx="4747507" cy="1261535"/>
          </a:xfrm>
        </p:grpSpPr>
        <p:sp>
          <p:nvSpPr>
            <p:cNvPr id="8" name="Text 7">
              <a:extLst>
                <a:ext uri="{FF2B5EF4-FFF2-40B4-BE49-F238E27FC236}">
                  <a16:creationId xmlns:a16="http://schemas.microsoft.com/office/drawing/2014/main" id="{2C20FF08-22CC-DD3F-8EBA-6519F2D7997B}"/>
                </a:ext>
              </a:extLst>
            </p:cNvPr>
            <p:cNvSpPr/>
            <p:nvPr/>
          </p:nvSpPr>
          <p:spPr>
            <a:xfrm>
              <a:off x="1525188" y="3281365"/>
              <a:ext cx="16459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7E0C6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控制思路</a:t>
              </a:r>
              <a:endParaRPr lang="en-US" dirty="0">
                <a:solidFill>
                  <a:srgbClr val="7E0C6E"/>
                </a:solidFill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DE3D0A1C-7A29-D3DA-B146-D4390D310EC1}"/>
                </a:ext>
              </a:extLst>
            </p:cNvPr>
            <p:cNvSpPr txBox="1"/>
            <p:nvPr/>
          </p:nvSpPr>
          <p:spPr>
            <a:xfrm>
              <a:off x="1508759" y="3527237"/>
              <a:ext cx="474750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矢量控制通过 </a:t>
              </a:r>
              <a:r>
                <a:rPr lang="en-US" altLang="zh-CN" sz="1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Clarke / Park </a:t>
              </a:r>
              <a:r>
                <a:rPr lang="zh-CN" altLang="en-US" sz="1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变换，将三相电流变换到随转子磁场旋转的 </a:t>
              </a:r>
              <a:r>
                <a:rPr lang="en-US" altLang="zh-CN" sz="1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d–q </a:t>
              </a:r>
              <a:r>
                <a:rPr lang="zh-CN" altLang="en-US" sz="1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坐标系，把励磁分量与转矩分量分开调节；对表贴式永磁同步电机，工程上常令 </a:t>
              </a:r>
              <a:r>
                <a:rPr lang="en-US" altLang="zh-CN" sz="1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d </a:t>
              </a:r>
              <a:r>
                <a:rPr lang="zh-CN" altLang="en-US" sz="1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轴电流近似为零，使转矩主要由 </a:t>
              </a:r>
              <a:r>
                <a:rPr lang="en-US" altLang="zh-CN" sz="1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q </a:t>
              </a:r>
              <a:r>
                <a:rPr lang="zh-CN" altLang="en-US" sz="1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轴电流决定。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682C98C9-0B8F-E956-F3AF-BDD35B34092F}"/>
              </a:ext>
            </a:extLst>
          </p:cNvPr>
          <p:cNvGrpSpPr/>
          <p:nvPr/>
        </p:nvGrpSpPr>
        <p:grpSpPr>
          <a:xfrm>
            <a:off x="1508758" y="4494725"/>
            <a:ext cx="4747507" cy="1259206"/>
            <a:chOff x="1508758" y="4596325"/>
            <a:chExt cx="4747507" cy="1259206"/>
          </a:xfrm>
        </p:grpSpPr>
        <p:sp>
          <p:nvSpPr>
            <p:cNvPr id="12" name="Text 9">
              <a:extLst>
                <a:ext uri="{FF2B5EF4-FFF2-40B4-BE49-F238E27FC236}">
                  <a16:creationId xmlns:a16="http://schemas.microsoft.com/office/drawing/2014/main" id="{43BB5C8B-074C-94F6-B4C3-45A0E7FA0273}"/>
                </a:ext>
              </a:extLst>
            </p:cNvPr>
            <p:cNvSpPr/>
            <p:nvPr/>
          </p:nvSpPr>
          <p:spPr>
            <a:xfrm>
              <a:off x="1525188" y="4596325"/>
              <a:ext cx="16459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7E0C6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工程意义</a:t>
              </a:r>
              <a:endParaRPr lang="en-US" dirty="0">
                <a:solidFill>
                  <a:srgbClr val="7E0C6E"/>
                </a:solidFill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02A46E53-6542-2615-BA23-B53CB48D01DE}"/>
                </a:ext>
              </a:extLst>
            </p:cNvPr>
            <p:cNvSpPr txBox="1"/>
            <p:nvPr/>
          </p:nvSpPr>
          <p:spPr>
            <a:xfrm>
              <a:off x="1508758" y="4839868"/>
              <a:ext cx="474750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三闭环伺服结构将“位置精度、速度稳定、电流响应”分层处理。电流环快速建立电磁转矩，速度环提高抗扰能力，位置环保证轨迹跟踪；配合限流、过热和堵转保护，可提升关节模组的可靠性与安全性。</a:t>
              </a: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6717088C-627A-0518-CEF6-747666164B6F}"/>
              </a:ext>
            </a:extLst>
          </p:cNvPr>
          <p:cNvGrpSpPr/>
          <p:nvPr/>
        </p:nvGrpSpPr>
        <p:grpSpPr>
          <a:xfrm>
            <a:off x="6756394" y="4455827"/>
            <a:ext cx="3843135" cy="1278121"/>
            <a:chOff x="6756394" y="4455827"/>
            <a:chExt cx="3843135" cy="1278121"/>
          </a:xfrm>
        </p:grpSpPr>
        <p:sp>
          <p:nvSpPr>
            <p:cNvPr id="20" name="Text 18">
              <a:extLst>
                <a:ext uri="{FF2B5EF4-FFF2-40B4-BE49-F238E27FC236}">
                  <a16:creationId xmlns:a16="http://schemas.microsoft.com/office/drawing/2014/main" id="{6EF51461-A6D2-FF1F-1769-5151669FD389}"/>
                </a:ext>
              </a:extLst>
            </p:cNvPr>
            <p:cNvSpPr/>
            <p:nvPr/>
          </p:nvSpPr>
          <p:spPr>
            <a:xfrm>
              <a:off x="6781800" y="4455827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7E0C6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结论</a:t>
              </a:r>
              <a:endParaRPr lang="en-US" dirty="0">
                <a:solidFill>
                  <a:srgbClr val="7E0C6E"/>
                </a:solidFill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D9DDD789-95CB-8219-882F-91E7C2D15525}"/>
                </a:ext>
              </a:extLst>
            </p:cNvPr>
            <p:cNvSpPr txBox="1"/>
            <p:nvPr/>
          </p:nvSpPr>
          <p:spPr>
            <a:xfrm>
              <a:off x="6756394" y="4718285"/>
              <a:ext cx="384313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伺服驱动提供稳定的闭环控制框架，矢量控制赋予交流电机接近直流伺服的可控性。二者共同决定关节电驱动系统的动态响应、低速平稳性和安全交互能力。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4727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0E568-B083-3CEB-E7D9-2E2978453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594AC626-947E-230F-5C90-774E2E8708E6}"/>
              </a:ext>
            </a:extLst>
          </p:cNvPr>
          <p:cNvSpPr/>
          <p:nvPr/>
        </p:nvSpPr>
        <p:spPr>
          <a:xfrm>
            <a:off x="1127760" y="1381760"/>
            <a:ext cx="9936480" cy="4752340"/>
          </a:xfrm>
          <a:prstGeom prst="roundRect">
            <a:avLst>
              <a:gd name="adj" fmla="val 1496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38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charset="-122"/>
            </a:endParaRPr>
          </a:p>
        </p:txBody>
      </p:sp>
      <p:graphicFrame>
        <p:nvGraphicFramePr>
          <p:cNvPr id="11" name="图示 10">
            <a:extLst>
              <a:ext uri="{FF2B5EF4-FFF2-40B4-BE49-F238E27FC236}">
                <a16:creationId xmlns:a16="http://schemas.microsoft.com/office/drawing/2014/main" id="{0434C80D-C83D-9758-D55A-411E9C21FDF2}"/>
              </a:ext>
            </a:extLst>
          </p:cNvPr>
          <p:cNvGraphicFramePr/>
          <p:nvPr/>
        </p:nvGraphicFramePr>
        <p:xfrm>
          <a:off x="1853436" y="4635189"/>
          <a:ext cx="2931803" cy="1253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A551CFC4-0411-DCE1-0B1E-CC54EAC2ACBB}"/>
              </a:ext>
            </a:extLst>
          </p:cNvPr>
          <p:cNvSpPr txBox="1"/>
          <p:nvPr/>
        </p:nvSpPr>
        <p:spPr>
          <a:xfrm>
            <a:off x="823449" y="135317"/>
            <a:ext cx="8413857" cy="679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rgbClr val="983D8B"/>
                </a:solidFill>
                <a:ea typeface="微软雅黑" panose="020B0503020204020204" charset="-122"/>
              </a:rPr>
              <a:t>3  </a:t>
            </a:r>
            <a:r>
              <a:rPr lang="zh-CN" altLang="en-US" sz="3200" b="1" dirty="0">
                <a:solidFill>
                  <a:srgbClr val="983D8B"/>
                </a:solidFill>
                <a:ea typeface="微软雅黑" panose="020B0503020204020204" charset="-122"/>
              </a:rPr>
              <a:t>力矩控制与阻抗控制分析</a:t>
            </a:r>
          </a:p>
        </p:txBody>
      </p:sp>
      <p:pic>
        <p:nvPicPr>
          <p:cNvPr id="7" name="Picture 24">
            <a:extLst>
              <a:ext uri="{FF2B5EF4-FFF2-40B4-BE49-F238E27FC236}">
                <a16:creationId xmlns:a16="http://schemas.microsoft.com/office/drawing/2014/main" id="{383A003A-D153-1D8B-AE66-05CE06D44F4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3543" b="3543"/>
          <a:stretch>
            <a:fillRect/>
          </a:stretch>
        </p:blipFill>
        <p:spPr>
          <a:xfrm>
            <a:off x="1239520" y="4043627"/>
            <a:ext cx="9715089" cy="18547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FBEB559E-3012-A216-14C9-A96E37146FE7}"/>
              </a:ext>
            </a:extLst>
          </p:cNvPr>
          <p:cNvGrpSpPr/>
          <p:nvPr/>
        </p:nvGrpSpPr>
        <p:grpSpPr>
          <a:xfrm>
            <a:off x="1745938" y="1812165"/>
            <a:ext cx="2431970" cy="1848205"/>
            <a:chOff x="2060293" y="2101101"/>
            <a:chExt cx="2749184" cy="6582671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4E303DD5-C7C1-2356-E9FD-BB6919F75DE4}"/>
                </a:ext>
              </a:extLst>
            </p:cNvPr>
            <p:cNvSpPr/>
            <p:nvPr/>
          </p:nvSpPr>
          <p:spPr>
            <a:xfrm>
              <a:off x="2060293" y="2101101"/>
              <a:ext cx="2749184" cy="6582671"/>
            </a:xfrm>
            <a:prstGeom prst="roundRect">
              <a:avLst/>
            </a:prstGeom>
            <a:solidFill>
              <a:srgbClr val="DDCE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3DA112FF-190F-7F42-5AFC-2C4F5D24D956}"/>
                </a:ext>
              </a:extLst>
            </p:cNvPr>
            <p:cNvSpPr txBox="1"/>
            <p:nvPr/>
          </p:nvSpPr>
          <p:spPr>
            <a:xfrm>
              <a:off x="2318076" y="2622118"/>
              <a:ext cx="2233616" cy="55494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b="1" dirty="0">
                  <a:solidFill>
                    <a:srgbClr val="7E0C6E"/>
                  </a:solidFill>
                  <a:latin typeface="微软雅黑" panose="020B0503020204020204" charset="-122"/>
                  <a:ea typeface="微软雅黑" panose="020B0503020204020204" charset="-122"/>
                </a:rPr>
                <a:t>控制目标：</a:t>
              </a:r>
              <a:endParaRPr lang="en-US" altLang="zh-CN" b="1" dirty="0">
                <a:solidFill>
                  <a:srgbClr val="7E0C6E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180000">
                <a:lnSpc>
                  <a:spcPct val="150000"/>
                </a:lnSpc>
              </a:pPr>
              <a:r>
                <a:rPr lang="zh-CN" altLang="en-US" sz="1600" b="1" dirty="0">
                  <a:solidFill>
                    <a:srgbClr val="7E0C6E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精确的运动能力</a:t>
              </a:r>
              <a:endParaRPr lang="en-US" altLang="zh-CN" sz="1600" b="1" dirty="0">
                <a:solidFill>
                  <a:srgbClr val="7E0C6E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180000">
                <a:lnSpc>
                  <a:spcPct val="150000"/>
                </a:lnSpc>
              </a:pPr>
              <a:r>
                <a:rPr lang="zh-CN" altLang="en-US" sz="1600" b="1" dirty="0">
                  <a:solidFill>
                    <a:srgbClr val="7E0C6E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柔顺接触交互</a:t>
              </a:r>
              <a:endParaRPr lang="en-US" altLang="zh-CN" sz="1600" b="1" dirty="0">
                <a:solidFill>
                  <a:srgbClr val="7E0C6E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180000">
                <a:lnSpc>
                  <a:spcPct val="150000"/>
                </a:lnSpc>
              </a:pPr>
              <a:r>
                <a:rPr lang="zh-CN" altLang="en-US" sz="1600" b="1" dirty="0">
                  <a:solidFill>
                    <a:srgbClr val="7E0C6E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高安全性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930EF87-FE72-D246-D6FD-8ADA95CDC6D5}"/>
              </a:ext>
            </a:extLst>
          </p:cNvPr>
          <p:cNvGrpSpPr/>
          <p:nvPr/>
        </p:nvGrpSpPr>
        <p:grpSpPr>
          <a:xfrm>
            <a:off x="4568270" y="1812164"/>
            <a:ext cx="5920455" cy="1848206"/>
            <a:chOff x="2060293" y="1851055"/>
            <a:chExt cx="2749184" cy="6582675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5B23A1A3-63C6-FD59-5AC5-8FC4A0ACA16A}"/>
                </a:ext>
              </a:extLst>
            </p:cNvPr>
            <p:cNvSpPr/>
            <p:nvPr/>
          </p:nvSpPr>
          <p:spPr>
            <a:xfrm>
              <a:off x="2060293" y="1851055"/>
              <a:ext cx="2749184" cy="6582675"/>
            </a:xfrm>
            <a:prstGeom prst="roundRect">
              <a:avLst/>
            </a:prstGeom>
            <a:solidFill>
              <a:srgbClr val="DDCE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006926BE-7721-DD77-C0DC-F29CAB03F886}"/>
                </a:ext>
              </a:extLst>
            </p:cNvPr>
            <p:cNvSpPr txBox="1"/>
            <p:nvPr/>
          </p:nvSpPr>
          <p:spPr>
            <a:xfrm>
              <a:off x="2213543" y="2106714"/>
              <a:ext cx="2566688" cy="60685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rgbClr val="7E0C6E"/>
                  </a:solidFill>
                  <a:latin typeface="微软雅黑" panose="020B0503020204020204" charset="-122"/>
                  <a:ea typeface="微软雅黑" panose="020B0503020204020204" charset="-122"/>
                </a:rPr>
                <a:t>双层控制架构方案：</a:t>
              </a:r>
              <a:endParaRPr lang="en-US" altLang="zh-CN" sz="1600" b="1" dirty="0">
                <a:solidFill>
                  <a:srgbClr val="7E0C6E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180000">
                <a:lnSpc>
                  <a:spcPct val="150000"/>
                </a:lnSpc>
              </a:pPr>
              <a:r>
                <a:rPr lang="zh-CN" altLang="en-US" sz="1400" b="1" dirty="0">
                  <a:solidFill>
                    <a:srgbClr val="7E0C6E"/>
                  </a:solidFill>
                  <a:latin typeface="微软雅黑" panose="020B0503020204020204" charset="-122"/>
                  <a:ea typeface="微软雅黑" panose="020B0503020204020204" charset="-122"/>
                </a:rPr>
                <a:t>内层力矩控制：</a:t>
              </a:r>
              <a:endParaRPr lang="en-US" altLang="zh-CN" sz="1400" b="1" dirty="0">
                <a:solidFill>
                  <a:srgbClr val="7E0C6E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180000">
                <a:lnSpc>
                  <a:spcPct val="150000"/>
                </a:lnSpc>
              </a:pPr>
              <a:r>
                <a:rPr lang="zh-CN" altLang="en-US" sz="1400" b="1" dirty="0">
                  <a:solidFill>
                    <a:srgbClr val="7E0C6E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建立精准力矩闭环，补偿非线性因素，提供高保真力矩源。</a:t>
              </a:r>
            </a:p>
            <a:p>
              <a:pPr marL="180000">
                <a:lnSpc>
                  <a:spcPct val="150000"/>
                </a:lnSpc>
              </a:pPr>
              <a:r>
                <a:rPr lang="zh-CN" altLang="en-US" sz="1400" b="1" dirty="0">
                  <a:solidFill>
                    <a:srgbClr val="7E0C6E"/>
                  </a:solidFill>
                  <a:latin typeface="微软雅黑" panose="020B0503020204020204" charset="-122"/>
                  <a:ea typeface="微软雅黑" panose="020B0503020204020204" charset="-122"/>
                </a:rPr>
                <a:t>外层阻抗控制：</a:t>
              </a:r>
              <a:endParaRPr lang="en-US" altLang="zh-CN" sz="1400" b="1" dirty="0">
                <a:solidFill>
                  <a:srgbClr val="7E0C6E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180000">
                <a:lnSpc>
                  <a:spcPct val="150000"/>
                </a:lnSpc>
              </a:pPr>
              <a:r>
                <a:rPr lang="zh-CN" altLang="en-US" sz="1400" b="1" dirty="0">
                  <a:solidFill>
                    <a:srgbClr val="7E0C6E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设定惯量</a:t>
              </a:r>
              <a:r>
                <a:rPr lang="en-US" altLang="zh-CN" sz="1400" b="1" dirty="0">
                  <a:solidFill>
                    <a:srgbClr val="7E0C6E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/</a:t>
              </a:r>
              <a:r>
                <a:rPr lang="zh-CN" altLang="en-US" sz="1400" b="1" dirty="0">
                  <a:solidFill>
                    <a:srgbClr val="7E0C6E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阻尼</a:t>
              </a:r>
              <a:r>
                <a:rPr lang="en-US" altLang="zh-CN" sz="1400" b="1" dirty="0">
                  <a:solidFill>
                    <a:srgbClr val="7E0C6E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/</a:t>
              </a:r>
              <a:r>
                <a:rPr lang="zh-CN" altLang="en-US" sz="1400" b="1" dirty="0">
                  <a:solidFill>
                    <a:srgbClr val="7E0C6E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刚度，定义力与位姿的动态关系，塑造柔顺特性。</a:t>
              </a:r>
              <a:endParaRPr lang="en-US" altLang="zh-CN" b="1" dirty="0">
                <a:solidFill>
                  <a:srgbClr val="7E0C6E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57361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ED89A-F7EE-BF19-6A5C-1030DDDEA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8F77EEE2-158A-BE1F-73FC-5F45C1544D88}"/>
              </a:ext>
            </a:extLst>
          </p:cNvPr>
          <p:cNvSpPr/>
          <p:nvPr/>
        </p:nvSpPr>
        <p:spPr>
          <a:xfrm>
            <a:off x="1127760" y="1381760"/>
            <a:ext cx="9936480" cy="4752340"/>
          </a:xfrm>
          <a:prstGeom prst="roundRect">
            <a:avLst>
              <a:gd name="adj" fmla="val 1496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38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charset="-122"/>
            </a:endParaRPr>
          </a:p>
        </p:txBody>
      </p:sp>
      <p:graphicFrame>
        <p:nvGraphicFramePr>
          <p:cNvPr id="11" name="图示 10">
            <a:extLst>
              <a:ext uri="{FF2B5EF4-FFF2-40B4-BE49-F238E27FC236}">
                <a16:creationId xmlns:a16="http://schemas.microsoft.com/office/drawing/2014/main" id="{A5631DE0-E5C9-8682-84CB-CB2D5B721636}"/>
              </a:ext>
            </a:extLst>
          </p:cNvPr>
          <p:cNvGraphicFramePr/>
          <p:nvPr/>
        </p:nvGraphicFramePr>
        <p:xfrm>
          <a:off x="1853436" y="4635189"/>
          <a:ext cx="2931803" cy="1253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338A4F3C-EB54-50DE-52CA-44AD6D8BC477}"/>
              </a:ext>
            </a:extLst>
          </p:cNvPr>
          <p:cNvSpPr txBox="1"/>
          <p:nvPr/>
        </p:nvSpPr>
        <p:spPr>
          <a:xfrm>
            <a:off x="1594734" y="5385595"/>
            <a:ext cx="9107170" cy="721438"/>
          </a:xfrm>
          <a:prstGeom prst="rect">
            <a:avLst/>
          </a:prstGeom>
        </p:spPr>
        <p:txBody>
          <a:bodyPr>
            <a:noAutofit/>
          </a:bodyPr>
          <a:lstStyle/>
          <a:p>
            <a:pPr defTabSz="266700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多传感器融合策略</a:t>
            </a:r>
            <a:r>
              <a:rPr lang="zh-CN" altLang="en-US" sz="2000" b="1" dirty="0">
                <a:latin typeface="仿宋" panose="02010609060101010101" charset="-122"/>
                <a:ea typeface="仿宋" panose="02010609060101010101" charset="-122"/>
              </a:rPr>
              <a:t>：</a:t>
            </a:r>
            <a:r>
              <a:rPr lang="zh-CN" altLang="en-US" b="1" dirty="0">
                <a:latin typeface="仿宋" panose="02010609060101010101" charset="-122"/>
                <a:ea typeface="仿宋" panose="02010609060101010101" charset="-122"/>
              </a:rPr>
              <a:t>通过卡尔曼滤波等算法融合多传感器数据，弥补单一传感器局限，实现对关节状态更鲁棒、精准的估计，为高性能控制提供基础。</a:t>
            </a:r>
            <a:endParaRPr lang="zh-CN" altLang="en-US" sz="2000" b="1" dirty="0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534C846-E285-8A3F-9EC3-51F67A8684F0}"/>
              </a:ext>
            </a:extLst>
          </p:cNvPr>
          <p:cNvSpPr txBox="1"/>
          <p:nvPr/>
        </p:nvSpPr>
        <p:spPr>
          <a:xfrm>
            <a:off x="823449" y="135317"/>
            <a:ext cx="8413857" cy="679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rgbClr val="983D8B"/>
                </a:solidFill>
                <a:ea typeface="微软雅黑" panose="020B0503020204020204" charset="-122"/>
              </a:rPr>
              <a:t>3  </a:t>
            </a:r>
            <a:r>
              <a:rPr lang="zh-CN" altLang="en-US" sz="3200" b="1" dirty="0">
                <a:solidFill>
                  <a:srgbClr val="983D8B"/>
                </a:solidFill>
                <a:ea typeface="微软雅黑" panose="020B0503020204020204" charset="-122"/>
              </a:rPr>
              <a:t>多传感器融合检测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28C82CEC-18BE-A892-A4B0-764A4C728151}"/>
              </a:ext>
            </a:extLst>
          </p:cNvPr>
          <p:cNvGrpSpPr/>
          <p:nvPr/>
        </p:nvGrpSpPr>
        <p:grpSpPr>
          <a:xfrm>
            <a:off x="1420818" y="1568325"/>
            <a:ext cx="9268555" cy="3751761"/>
            <a:chOff x="1420818" y="1639445"/>
            <a:chExt cx="9268555" cy="3751761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50946184-0477-0E9F-B87F-45D627C15999}"/>
                </a:ext>
              </a:extLst>
            </p:cNvPr>
            <p:cNvGrpSpPr/>
            <p:nvPr/>
          </p:nvGrpSpPr>
          <p:grpSpPr>
            <a:xfrm>
              <a:off x="1420818" y="1639445"/>
              <a:ext cx="4583212" cy="1848205"/>
              <a:chOff x="2060293" y="2101101"/>
              <a:chExt cx="2749184" cy="6582671"/>
            </a:xfrm>
          </p:grpSpPr>
          <p:sp>
            <p:nvSpPr>
              <p:cNvPr id="8" name="矩形: 圆角 7">
                <a:extLst>
                  <a:ext uri="{FF2B5EF4-FFF2-40B4-BE49-F238E27FC236}">
                    <a16:creationId xmlns:a16="http://schemas.microsoft.com/office/drawing/2014/main" id="{21C8D1AD-C6C4-DD7B-19D1-B40040AAACF5}"/>
                  </a:ext>
                </a:extLst>
              </p:cNvPr>
              <p:cNvSpPr/>
              <p:nvPr/>
            </p:nvSpPr>
            <p:spPr>
              <a:xfrm>
                <a:off x="2060293" y="2101101"/>
                <a:ext cx="2749184" cy="6582671"/>
              </a:xfrm>
              <a:prstGeom prst="roundRect">
                <a:avLst/>
              </a:prstGeom>
              <a:solidFill>
                <a:schemeClr val="bg1"/>
              </a:solidFill>
              <a:ln w="31750">
                <a:solidFill>
                  <a:srgbClr val="7E0C6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E8E5E89-5C02-187B-7FF0-791F587A13D1}"/>
                  </a:ext>
                </a:extLst>
              </p:cNvPr>
              <p:cNvSpPr txBox="1"/>
              <p:nvPr/>
            </p:nvSpPr>
            <p:spPr>
              <a:xfrm>
                <a:off x="2219465" y="2258003"/>
                <a:ext cx="2430839" cy="62688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b="1" dirty="0">
                    <a:latin typeface="微软雅黑" panose="020B0503020204020204" charset="-122"/>
                    <a:ea typeface="微软雅黑" panose="020B0503020204020204" charset="-122"/>
                  </a:rPr>
                  <a:t>编码器 </a:t>
                </a:r>
                <a:r>
                  <a:rPr lang="en-US" altLang="zh-CN" b="1" dirty="0">
                    <a:latin typeface="微软雅黑" panose="020B0503020204020204" charset="-122"/>
                    <a:ea typeface="微软雅黑" panose="020B0503020204020204" charset="-122"/>
                  </a:rPr>
                  <a:t>(Encoder)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通过光电或电磁原理提供高精度位置与速度反馈，是伺服控制核心，为机器人关节精准运动、闭环控制和轨迹跟踪奠定基础，决定运动控制精度与稳定性。</a:t>
                </a:r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A51C7D74-3905-0351-D157-F54B78CABF81}"/>
                </a:ext>
              </a:extLst>
            </p:cNvPr>
            <p:cNvGrpSpPr/>
            <p:nvPr/>
          </p:nvGrpSpPr>
          <p:grpSpPr>
            <a:xfrm>
              <a:off x="6064728" y="1639445"/>
              <a:ext cx="4593373" cy="1848205"/>
              <a:chOff x="2060293" y="2101101"/>
              <a:chExt cx="2749184" cy="6582671"/>
            </a:xfrm>
          </p:grpSpPr>
          <p:sp>
            <p:nvSpPr>
              <p:cNvPr id="12" name="矩形: 圆角 11">
                <a:extLst>
                  <a:ext uri="{FF2B5EF4-FFF2-40B4-BE49-F238E27FC236}">
                    <a16:creationId xmlns:a16="http://schemas.microsoft.com/office/drawing/2014/main" id="{DA90CE8D-C130-04BA-3A98-AE517A248AD5}"/>
                  </a:ext>
                </a:extLst>
              </p:cNvPr>
              <p:cNvSpPr/>
              <p:nvPr/>
            </p:nvSpPr>
            <p:spPr>
              <a:xfrm>
                <a:off x="2060293" y="2101101"/>
                <a:ext cx="2749184" cy="6582671"/>
              </a:xfrm>
              <a:prstGeom prst="roundRect">
                <a:avLst/>
              </a:prstGeom>
              <a:solidFill>
                <a:schemeClr val="bg1"/>
              </a:solidFill>
              <a:ln w="31750">
                <a:solidFill>
                  <a:srgbClr val="7E0C6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0C3E6E6-D768-9EFE-B9AE-724ABA6D26E6}"/>
                  </a:ext>
                </a:extLst>
              </p:cNvPr>
              <p:cNvSpPr txBox="1"/>
              <p:nvPr/>
            </p:nvSpPr>
            <p:spPr>
              <a:xfrm>
                <a:off x="2219465" y="2221816"/>
                <a:ext cx="2430839" cy="51260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b="1" dirty="0">
                    <a:latin typeface="微软雅黑" panose="020B0503020204020204" charset="-122"/>
                    <a:ea typeface="微软雅黑" panose="020B0503020204020204" charset="-122"/>
                  </a:rPr>
                  <a:t>力矩传感器 </a:t>
                </a:r>
                <a:r>
                  <a:rPr lang="en-US" altLang="zh-CN" b="1" dirty="0">
                    <a:latin typeface="微软雅黑" panose="020B0503020204020204" charset="-122"/>
                    <a:ea typeface="微软雅黑" panose="020B0503020204020204" charset="-122"/>
                  </a:rPr>
                  <a:t>(Torque Sensor)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基于应变片原理实时监测关节六轴力</a:t>
                </a:r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力矩信息，赋予机器人环境力感知能力，是实现柔顺控制、精确力控、安全碰撞检测与人机协作的关键。</a:t>
                </a:r>
              </a:p>
            </p:txBody>
          </p:sp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4C760943-951C-44C9-9805-CF4D864D04CE}"/>
                </a:ext>
              </a:extLst>
            </p:cNvPr>
            <p:cNvGrpSpPr/>
            <p:nvPr/>
          </p:nvGrpSpPr>
          <p:grpSpPr>
            <a:xfrm>
              <a:off x="1420818" y="3531704"/>
              <a:ext cx="4583213" cy="1859502"/>
              <a:chOff x="2060293" y="2101101"/>
              <a:chExt cx="2749184" cy="6582671"/>
            </a:xfrm>
          </p:grpSpPr>
          <p:sp>
            <p:nvSpPr>
              <p:cNvPr id="15" name="矩形: 圆角 14">
                <a:extLst>
                  <a:ext uri="{FF2B5EF4-FFF2-40B4-BE49-F238E27FC236}">
                    <a16:creationId xmlns:a16="http://schemas.microsoft.com/office/drawing/2014/main" id="{F0D23047-72B1-B076-E075-198F1EF5F1DB}"/>
                  </a:ext>
                </a:extLst>
              </p:cNvPr>
              <p:cNvSpPr/>
              <p:nvPr/>
            </p:nvSpPr>
            <p:spPr>
              <a:xfrm>
                <a:off x="2060293" y="2101101"/>
                <a:ext cx="2749184" cy="6582671"/>
              </a:xfrm>
              <a:prstGeom prst="roundRect">
                <a:avLst/>
              </a:prstGeom>
              <a:solidFill>
                <a:schemeClr val="bg1"/>
              </a:solidFill>
              <a:ln w="31750">
                <a:solidFill>
                  <a:srgbClr val="7E0C6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38521C1-EC79-0CCA-A900-6824B87A6CEE}"/>
                  </a:ext>
                </a:extLst>
              </p:cNvPr>
              <p:cNvSpPr txBox="1"/>
              <p:nvPr/>
            </p:nvSpPr>
            <p:spPr>
              <a:xfrm>
                <a:off x="2195086" y="2359061"/>
                <a:ext cx="2535481" cy="58432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b="1" dirty="0">
                    <a:latin typeface="微软雅黑" panose="020B0503020204020204" charset="-122"/>
                    <a:ea typeface="微软雅黑" panose="020B0503020204020204" charset="-122"/>
                  </a:rPr>
                  <a:t>惯性测量单元 </a:t>
                </a:r>
                <a:r>
                  <a:rPr lang="en-US" altLang="zh-CN" b="1" dirty="0">
                    <a:latin typeface="微软雅黑" panose="020B0503020204020204" charset="-122"/>
                    <a:ea typeface="微软雅黑" panose="020B0503020204020204" charset="-122"/>
                  </a:rPr>
                  <a:t>(IMU)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集成三轴陀螺仪、加速度计（部分含磁力计），经传感器融合算法解算，实时输出关节姿态、角速度和加速度，为运动状态估计、平衡控制和导航提供关键数据。</a:t>
                </a:r>
              </a:p>
            </p:txBody>
          </p: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A56CFE51-9A83-2191-9345-6B25E83362CF}"/>
                </a:ext>
              </a:extLst>
            </p:cNvPr>
            <p:cNvGrpSpPr/>
            <p:nvPr/>
          </p:nvGrpSpPr>
          <p:grpSpPr>
            <a:xfrm>
              <a:off x="6096000" y="3543000"/>
              <a:ext cx="4593373" cy="1848205"/>
              <a:chOff x="2060293" y="2101101"/>
              <a:chExt cx="2749184" cy="6582671"/>
            </a:xfrm>
          </p:grpSpPr>
          <p:sp>
            <p:nvSpPr>
              <p:cNvPr id="18" name="矩形: 圆角 17">
                <a:extLst>
                  <a:ext uri="{FF2B5EF4-FFF2-40B4-BE49-F238E27FC236}">
                    <a16:creationId xmlns:a16="http://schemas.microsoft.com/office/drawing/2014/main" id="{02DC0915-9925-537A-38D3-4FB7659ECF2C}"/>
                  </a:ext>
                </a:extLst>
              </p:cNvPr>
              <p:cNvSpPr/>
              <p:nvPr/>
            </p:nvSpPr>
            <p:spPr>
              <a:xfrm>
                <a:off x="2060293" y="2101101"/>
                <a:ext cx="2749184" cy="6582671"/>
              </a:xfrm>
              <a:prstGeom prst="roundRect">
                <a:avLst/>
              </a:prstGeom>
              <a:solidFill>
                <a:schemeClr val="bg1"/>
              </a:solidFill>
              <a:ln w="31750">
                <a:solidFill>
                  <a:srgbClr val="7E0C6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D719CE3-0C78-624B-75B0-0064587C36D5}"/>
                  </a:ext>
                </a:extLst>
              </p:cNvPr>
              <p:cNvSpPr txBox="1"/>
              <p:nvPr/>
            </p:nvSpPr>
            <p:spPr>
              <a:xfrm>
                <a:off x="2219465" y="2258003"/>
                <a:ext cx="2430839" cy="62770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b="1" dirty="0">
                    <a:latin typeface="微软雅黑" panose="020B0503020204020204" charset="-122"/>
                    <a:ea typeface="微软雅黑" panose="020B0503020204020204" charset="-122"/>
                  </a:rPr>
                  <a:t>温度传感器 </a:t>
                </a:r>
                <a:r>
                  <a:rPr lang="en-US" altLang="zh-CN" b="1" dirty="0">
                    <a:latin typeface="微软雅黑" panose="020B0503020204020204" charset="-122"/>
                    <a:ea typeface="微软雅黑" panose="020B0503020204020204" charset="-122"/>
                  </a:rPr>
                  <a:t>(Temperature Sensor)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通过热电偶或热敏电阻监控电机绕组、驱动器</a:t>
                </a:r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IGBT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等热源温度，为过热保护提供数据，超阈值时系统自动调整或停机，保障电驱动系统可靠性与安全性。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32481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72FAA-35B5-B8D2-2004-626B844DE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8E800609-A742-4AA9-AF1E-59EDBF67C5AB}"/>
              </a:ext>
            </a:extLst>
          </p:cNvPr>
          <p:cNvSpPr/>
          <p:nvPr/>
        </p:nvSpPr>
        <p:spPr>
          <a:xfrm>
            <a:off x="1127760" y="1381760"/>
            <a:ext cx="9936480" cy="4752340"/>
          </a:xfrm>
          <a:prstGeom prst="roundRect">
            <a:avLst>
              <a:gd name="adj" fmla="val 1496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38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charset="-122"/>
            </a:endParaRPr>
          </a:p>
        </p:txBody>
      </p:sp>
      <p:graphicFrame>
        <p:nvGraphicFramePr>
          <p:cNvPr id="11" name="图示 10">
            <a:extLst>
              <a:ext uri="{FF2B5EF4-FFF2-40B4-BE49-F238E27FC236}">
                <a16:creationId xmlns:a16="http://schemas.microsoft.com/office/drawing/2014/main" id="{9AC864FA-1537-35B5-B4A5-35A76F89FD5F}"/>
              </a:ext>
            </a:extLst>
          </p:cNvPr>
          <p:cNvGraphicFramePr/>
          <p:nvPr/>
        </p:nvGraphicFramePr>
        <p:xfrm>
          <a:off x="1853436" y="4635189"/>
          <a:ext cx="2931803" cy="1253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DF15A0FB-80EA-3974-0662-25AAE7E9EB9C}"/>
              </a:ext>
            </a:extLst>
          </p:cNvPr>
          <p:cNvSpPr txBox="1"/>
          <p:nvPr/>
        </p:nvSpPr>
        <p:spPr>
          <a:xfrm>
            <a:off x="823449" y="135317"/>
            <a:ext cx="8413857" cy="679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rgbClr val="983D8B"/>
                </a:solidFill>
                <a:ea typeface="微软雅黑" panose="020B0503020204020204" charset="-122"/>
              </a:rPr>
              <a:t>3  </a:t>
            </a:r>
            <a:r>
              <a:rPr lang="zh-CN" altLang="en-US" sz="3200" b="1" dirty="0">
                <a:solidFill>
                  <a:srgbClr val="983D8B"/>
                </a:solidFill>
                <a:ea typeface="微软雅黑" panose="020B0503020204020204" charset="-122"/>
              </a:rPr>
              <a:t>关节驱动系统三级安全保护机制</a:t>
            </a:r>
          </a:p>
        </p:txBody>
      </p:sp>
      <p:pic>
        <p:nvPicPr>
          <p:cNvPr id="3" name="图片 2" descr="三级保护">
            <a:extLst>
              <a:ext uri="{FF2B5EF4-FFF2-40B4-BE49-F238E27FC236}">
                <a16:creationId xmlns:a16="http://schemas.microsoft.com/office/drawing/2014/main" id="{57E87805-21E9-66A4-456D-5F7C5360F0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2116" y="1483360"/>
            <a:ext cx="9150208" cy="4029390"/>
          </a:xfrm>
          <a:prstGeom prst="rect">
            <a:avLst/>
          </a:prstGeom>
        </p:spPr>
      </p:pic>
      <p:sp>
        <p:nvSpPr>
          <p:cNvPr id="7" name="圆角矩形 5">
            <a:extLst>
              <a:ext uri="{FF2B5EF4-FFF2-40B4-BE49-F238E27FC236}">
                <a16:creationId xmlns:a16="http://schemas.microsoft.com/office/drawing/2014/main" id="{0282BE44-0A96-8DAD-F303-3D99FF6AA239}"/>
              </a:ext>
            </a:extLst>
          </p:cNvPr>
          <p:cNvSpPr/>
          <p:nvPr/>
        </p:nvSpPr>
        <p:spPr>
          <a:xfrm>
            <a:off x="1368358" y="5375048"/>
            <a:ext cx="9397724" cy="621030"/>
          </a:xfrm>
          <a:prstGeom prst="roundRect">
            <a:avLst/>
          </a:prstGeom>
          <a:solidFill>
            <a:srgbClr val="EDEDFF"/>
          </a:solidFill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三级协同防护，实现从硬件到系统的全面检测于保障</a:t>
            </a:r>
          </a:p>
        </p:txBody>
      </p:sp>
    </p:spTree>
    <p:extLst>
      <p:ext uri="{BB962C8B-B14F-4D97-AF65-F5344CB8AC3E}">
        <p14:creationId xmlns:p14="http://schemas.microsoft.com/office/powerpoint/2010/main" val="28630540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B8774-A62D-F6AD-FE43-41CCC4B69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34EC29EB-F3B7-C601-1E23-BFE677B79CD6}"/>
              </a:ext>
            </a:extLst>
          </p:cNvPr>
          <p:cNvSpPr/>
          <p:nvPr/>
        </p:nvSpPr>
        <p:spPr>
          <a:xfrm>
            <a:off x="1127760" y="1381760"/>
            <a:ext cx="9936480" cy="4752340"/>
          </a:xfrm>
          <a:prstGeom prst="roundRect">
            <a:avLst>
              <a:gd name="adj" fmla="val 1496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38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charset="-122"/>
            </a:endParaRPr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C17BBD27-2C0A-56D5-7950-906AABF25CE1}"/>
              </a:ext>
            </a:extLst>
          </p:cNvPr>
          <p:cNvGrpSpPr/>
          <p:nvPr/>
        </p:nvGrpSpPr>
        <p:grpSpPr>
          <a:xfrm>
            <a:off x="7725099" y="2382482"/>
            <a:ext cx="3147673" cy="3621265"/>
            <a:chOff x="457086" y="2253032"/>
            <a:chExt cx="3605799" cy="4133850"/>
          </a:xfrm>
        </p:grpSpPr>
        <p:sp>
          <p:nvSpPr>
            <p:cNvPr id="50" name="AutoShape 10">
              <a:extLst>
                <a:ext uri="{FF2B5EF4-FFF2-40B4-BE49-F238E27FC236}">
                  <a16:creationId xmlns:a16="http://schemas.microsoft.com/office/drawing/2014/main" id="{DBCBC202-6C4D-ECE8-520C-A63066C55EF1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457086" y="2253032"/>
              <a:ext cx="3605799" cy="413385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>
              <a:solidFill>
                <a:srgbClr val="D1D5DB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1" name="AutoShape 11">
              <a:extLst>
                <a:ext uri="{FF2B5EF4-FFF2-40B4-BE49-F238E27FC236}">
                  <a16:creationId xmlns:a16="http://schemas.microsoft.com/office/drawing/2014/main" id="{B3BEBA47-3B55-2893-F967-C027FC6A0BFA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457086" y="2253032"/>
              <a:ext cx="3605799" cy="9525"/>
            </a:xfrm>
            <a:prstGeom prst="line">
              <a:avLst/>
            </a:prstGeom>
            <a:ln>
              <a:headEnd type="none"/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sp>
        <p:sp>
          <p:nvSpPr>
            <p:cNvPr id="52" name="AutoShape 12">
              <a:extLst>
                <a:ext uri="{FF2B5EF4-FFF2-40B4-BE49-F238E27FC236}">
                  <a16:creationId xmlns:a16="http://schemas.microsoft.com/office/drawing/2014/main" id="{4236DCD0-D59B-51C4-C960-661A05D4A47A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695151" y="2881682"/>
              <a:ext cx="3129670" cy="9525"/>
            </a:xfrm>
            <a:prstGeom prst="line">
              <a:avLst/>
            </a:prstGeom>
            <a:ln>
              <a:headEnd type="none"/>
              <a:tailEnd type="non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77C44296-9388-0FD4-A7C7-CA423393624A}"/>
              </a:ext>
            </a:extLst>
          </p:cNvPr>
          <p:cNvGrpSpPr/>
          <p:nvPr/>
        </p:nvGrpSpPr>
        <p:grpSpPr>
          <a:xfrm>
            <a:off x="4528130" y="2374607"/>
            <a:ext cx="3147673" cy="3621265"/>
            <a:chOff x="457086" y="2266950"/>
            <a:chExt cx="3605799" cy="4133850"/>
          </a:xfrm>
        </p:grpSpPr>
        <p:sp>
          <p:nvSpPr>
            <p:cNvPr id="46" name="AutoShape 10">
              <a:extLst>
                <a:ext uri="{FF2B5EF4-FFF2-40B4-BE49-F238E27FC236}">
                  <a16:creationId xmlns:a16="http://schemas.microsoft.com/office/drawing/2014/main" id="{71B6C20B-5FF3-8D0B-37C4-C23725BF17C4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457086" y="2266950"/>
              <a:ext cx="3605799" cy="413385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>
              <a:solidFill>
                <a:srgbClr val="D1D5DB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7" name="AutoShape 11">
              <a:extLst>
                <a:ext uri="{FF2B5EF4-FFF2-40B4-BE49-F238E27FC236}">
                  <a16:creationId xmlns:a16="http://schemas.microsoft.com/office/drawing/2014/main" id="{1CBD05AB-E471-27D2-FFD7-28552B5ADCE7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457086" y="2266950"/>
              <a:ext cx="3605799" cy="9525"/>
            </a:xfrm>
            <a:prstGeom prst="line">
              <a:avLst/>
            </a:prstGeom>
            <a:ln>
              <a:headEnd type="none"/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sp>
        <p:sp>
          <p:nvSpPr>
            <p:cNvPr id="48" name="AutoShape 12">
              <a:extLst>
                <a:ext uri="{FF2B5EF4-FFF2-40B4-BE49-F238E27FC236}">
                  <a16:creationId xmlns:a16="http://schemas.microsoft.com/office/drawing/2014/main" id="{BFA8BFCE-C43A-70A2-58AF-80CAAC66AA34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695151" y="2895600"/>
              <a:ext cx="3129669" cy="9525"/>
            </a:xfrm>
            <a:prstGeom prst="line">
              <a:avLst/>
            </a:prstGeom>
            <a:ln>
              <a:headEnd type="none"/>
              <a:tailEnd type="non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sp>
      </p:grpSp>
      <p:graphicFrame>
        <p:nvGraphicFramePr>
          <p:cNvPr id="11" name="图示 10">
            <a:extLst>
              <a:ext uri="{FF2B5EF4-FFF2-40B4-BE49-F238E27FC236}">
                <a16:creationId xmlns:a16="http://schemas.microsoft.com/office/drawing/2014/main" id="{4E411F5B-3462-CD47-BD67-A44A9A9655D0}"/>
              </a:ext>
            </a:extLst>
          </p:cNvPr>
          <p:cNvGraphicFramePr/>
          <p:nvPr/>
        </p:nvGraphicFramePr>
        <p:xfrm>
          <a:off x="1853436" y="4635189"/>
          <a:ext cx="2931803" cy="1253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4" r:lo="rId25" r:qs="rId26" r:cs="rId27"/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639F5D34-5F7F-2F80-0CBE-AFFD3BE0D78B}"/>
              </a:ext>
            </a:extLst>
          </p:cNvPr>
          <p:cNvSpPr txBox="1"/>
          <p:nvPr/>
        </p:nvSpPr>
        <p:spPr>
          <a:xfrm>
            <a:off x="823449" y="135317"/>
            <a:ext cx="8413857" cy="679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rgbClr val="983D8B"/>
                </a:solidFill>
                <a:ea typeface="微软雅黑" panose="020B0503020204020204" charset="-122"/>
              </a:rPr>
              <a:t>3  </a:t>
            </a:r>
            <a:r>
              <a:rPr lang="zh-CN" altLang="en-US" sz="3200" b="1" dirty="0">
                <a:solidFill>
                  <a:srgbClr val="983D8B"/>
                </a:solidFill>
                <a:ea typeface="微软雅黑" panose="020B0503020204020204" charset="-122"/>
              </a:rPr>
              <a:t>串联弹性执行器 </a:t>
            </a:r>
            <a:r>
              <a:rPr lang="en-US" altLang="zh-CN" sz="3200" b="1" dirty="0">
                <a:solidFill>
                  <a:srgbClr val="983D8B"/>
                </a:solidFill>
                <a:ea typeface="微软雅黑" panose="020B0503020204020204" charset="-122"/>
              </a:rPr>
              <a:t>(SEA) </a:t>
            </a:r>
            <a:r>
              <a:rPr lang="zh-CN" altLang="en-US" sz="3200" b="1" dirty="0">
                <a:solidFill>
                  <a:srgbClr val="983D8B"/>
                </a:solidFill>
                <a:ea typeface="微软雅黑" panose="020B0503020204020204" charset="-122"/>
              </a:rPr>
              <a:t>结构原理与柔顺特性</a:t>
            </a: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8D2C7EB5-571F-7002-3435-DC07BD2A96F5}"/>
              </a:ext>
            </a:extLst>
          </p:cNvPr>
          <p:cNvGrpSpPr/>
          <p:nvPr/>
        </p:nvGrpSpPr>
        <p:grpSpPr>
          <a:xfrm>
            <a:off x="1815421" y="1633538"/>
            <a:ext cx="8557960" cy="609600"/>
            <a:chOff x="457086" y="1352550"/>
            <a:chExt cx="8557960" cy="609600"/>
          </a:xfrm>
        </p:grpSpPr>
        <p:sp>
          <p:nvSpPr>
            <p:cNvPr id="3" name="AutoShape 6">
              <a:extLst>
                <a:ext uri="{FF2B5EF4-FFF2-40B4-BE49-F238E27FC236}">
                  <a16:creationId xmlns:a16="http://schemas.microsoft.com/office/drawing/2014/main" id="{79547F68-B9A2-7770-3366-FB4C984DABA6}"/>
                </a:ext>
              </a:extLst>
            </p:cNvPr>
            <p:cNvSpPr/>
            <p:nvPr/>
          </p:nvSpPr>
          <p:spPr>
            <a:xfrm>
              <a:off x="457087" y="1352550"/>
              <a:ext cx="8557959" cy="609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7" name="AutoShape 7">
              <a:extLst>
                <a:ext uri="{FF2B5EF4-FFF2-40B4-BE49-F238E27FC236}">
                  <a16:creationId xmlns:a16="http://schemas.microsoft.com/office/drawing/2014/main" id="{F167AE86-6BC8-18D5-974B-598E4EC6998F}"/>
                </a:ext>
              </a:extLst>
            </p:cNvPr>
            <p:cNvSpPr/>
            <p:nvPr/>
          </p:nvSpPr>
          <p:spPr>
            <a:xfrm>
              <a:off x="457086" y="1352550"/>
              <a:ext cx="9522" cy="609600"/>
            </a:xfrm>
            <a:prstGeom prst="line">
              <a:avLst/>
            </a:prstGeom>
            <a:ln w="38100">
              <a:solidFill>
                <a:srgbClr val="A40079"/>
              </a:solidFill>
              <a:prstDash val="solid"/>
              <a:headEnd type="none"/>
              <a:tailEnd type="none"/>
            </a:ln>
          </p:spPr>
        </p:sp>
        <p:sp>
          <p:nvSpPr>
            <p:cNvPr id="8" name="AutoShape 8">
              <a:extLst>
                <a:ext uri="{FF2B5EF4-FFF2-40B4-BE49-F238E27FC236}">
                  <a16:creationId xmlns:a16="http://schemas.microsoft.com/office/drawing/2014/main" id="{3F6B255F-8A57-FB0C-D427-F3CA66C1F6A7}"/>
                </a:ext>
              </a:extLst>
            </p:cNvPr>
            <p:cNvSpPr/>
            <p:nvPr/>
          </p:nvSpPr>
          <p:spPr>
            <a:xfrm>
              <a:off x="664501" y="1571625"/>
              <a:ext cx="190452" cy="190500"/>
            </a:xfrm>
            <a:custGeom>
              <a:avLst/>
              <a:gdLst/>
              <a:ahLst/>
              <a:cxnLst/>
              <a:rect l="l" t="t" r="r" b="b"/>
              <a:pathLst>
                <a:path w="9998" h="10000">
                  <a:moveTo>
                    <a:pt x="2188" y="6020"/>
                  </a:moveTo>
                  <a:cubicBezTo>
                    <a:pt x="2054" y="6333"/>
                    <a:pt x="1943" y="6630"/>
                    <a:pt x="1855" y="6910"/>
                  </a:cubicBezTo>
                  <a:cubicBezTo>
                    <a:pt x="2395" y="6556"/>
                    <a:pt x="3029" y="6340"/>
                    <a:pt x="3755" y="6260"/>
                  </a:cubicBezTo>
                  <a:cubicBezTo>
                    <a:pt x="4436" y="6180"/>
                    <a:pt x="5073" y="5953"/>
                    <a:pt x="5666" y="5580"/>
                  </a:cubicBezTo>
                  <a:cubicBezTo>
                    <a:pt x="6243" y="5213"/>
                    <a:pt x="6691" y="4763"/>
                    <a:pt x="7010" y="4230"/>
                  </a:cubicBezTo>
                  <a:lnTo>
                    <a:pt x="6210" y="3500"/>
                  </a:lnTo>
                  <a:lnTo>
                    <a:pt x="7543" y="2290"/>
                  </a:lnTo>
                  <a:cubicBezTo>
                    <a:pt x="7787" y="2070"/>
                    <a:pt x="8054" y="1676"/>
                    <a:pt x="8343" y="1110"/>
                  </a:cubicBezTo>
                  <a:cubicBezTo>
                    <a:pt x="6824" y="1323"/>
                    <a:pt x="5550" y="1850"/>
                    <a:pt x="4521" y="2690"/>
                  </a:cubicBezTo>
                  <a:cubicBezTo>
                    <a:pt x="3551" y="3490"/>
                    <a:pt x="2773" y="4600"/>
                    <a:pt x="2188" y="6020"/>
                  </a:cubicBezTo>
                  <a:moveTo>
                    <a:pt x="8332" y="3000"/>
                  </a:moveTo>
                  <a:lnTo>
                    <a:pt x="7776" y="3500"/>
                  </a:lnTo>
                  <a:lnTo>
                    <a:pt x="8332" y="4000"/>
                  </a:lnTo>
                  <a:cubicBezTo>
                    <a:pt x="8139" y="4513"/>
                    <a:pt x="7839" y="4996"/>
                    <a:pt x="7432" y="5450"/>
                  </a:cubicBezTo>
                  <a:cubicBezTo>
                    <a:pt x="6994" y="5930"/>
                    <a:pt x="6483" y="6323"/>
                    <a:pt x="5899" y="6630"/>
                  </a:cubicBezTo>
                  <a:cubicBezTo>
                    <a:pt x="5269" y="6963"/>
                    <a:pt x="4599" y="7170"/>
                    <a:pt x="3888" y="7250"/>
                  </a:cubicBezTo>
                  <a:cubicBezTo>
                    <a:pt x="2406" y="7416"/>
                    <a:pt x="1481" y="8333"/>
                    <a:pt x="1111" y="10000"/>
                  </a:cubicBezTo>
                  <a:lnTo>
                    <a:pt x="0" y="10000"/>
                  </a:lnTo>
                  <a:lnTo>
                    <a:pt x="33" y="9810"/>
                  </a:lnTo>
                  <a:cubicBezTo>
                    <a:pt x="203" y="8890"/>
                    <a:pt x="363" y="8153"/>
                    <a:pt x="511" y="7600"/>
                  </a:cubicBezTo>
                  <a:cubicBezTo>
                    <a:pt x="763" y="6640"/>
                    <a:pt x="1070" y="5780"/>
                    <a:pt x="1433" y="5020"/>
                  </a:cubicBezTo>
                  <a:cubicBezTo>
                    <a:pt x="1899" y="4060"/>
                    <a:pt x="2466" y="3240"/>
                    <a:pt x="3133" y="2560"/>
                  </a:cubicBezTo>
                  <a:cubicBezTo>
                    <a:pt x="3910" y="1760"/>
                    <a:pt x="4828" y="1146"/>
                    <a:pt x="5888" y="720"/>
                  </a:cubicBezTo>
                  <a:cubicBezTo>
                    <a:pt x="7080" y="240"/>
                    <a:pt x="8450" y="0"/>
                    <a:pt x="9998" y="0"/>
                  </a:cubicBezTo>
                  <a:cubicBezTo>
                    <a:pt x="9442" y="1500"/>
                    <a:pt x="8887" y="2500"/>
                    <a:pt x="8332" y="3000"/>
                  </a:cubicBezTo>
                </a:path>
              </a:pathLst>
            </a:custGeom>
            <a:solidFill>
              <a:srgbClr val="7E0C6E"/>
            </a:solidFill>
            <a:ln>
              <a:headEnd type="none"/>
              <a:tailEnd type="none"/>
            </a:ln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EA60523-D149-DA43-FE69-F3B1CD6FC756}"/>
                </a:ext>
              </a:extLst>
            </p:cNvPr>
            <p:cNvSpPr txBox="1"/>
            <p:nvPr/>
          </p:nvSpPr>
          <p:spPr>
            <a:xfrm>
              <a:off x="993580" y="1387915"/>
              <a:ext cx="8021466" cy="541258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0" tIns="0" rIns="0" bIns="0" rtlCol="0" anchor="t" anchorCtr="0"/>
            <a:lstStyle/>
            <a:p>
              <a:pPr algn="l">
                <a:defRPr/>
              </a:pPr>
              <a:r>
                <a:rPr lang="en-US" i="0" strike="noStrike" dirty="0">
                  <a:solidFill>
                    <a:srgbClr val="7E0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ource Han Sans" panose="020B0500000000000000" charset="-122"/>
                </a:rPr>
                <a:t>S</a:t>
              </a:r>
              <a:r>
                <a:rPr i="0" strike="noStrike" dirty="0">
                  <a:solidFill>
                    <a:srgbClr val="7E0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ource Han Sans" panose="020B0500000000000000" charset="-122"/>
                </a:rPr>
                <a:t>EA 通过在传动链路串联弹性元件实现驱动端与负载端机械解耦，有效吸收冲击载荷并实现无传感器力矩检测，大幅提升机器人环境适配能力与作业安全性。</a:t>
              </a: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EB636CE9-317C-0FAB-358D-B1B797BCAEEC}"/>
              </a:ext>
            </a:extLst>
          </p:cNvPr>
          <p:cNvGrpSpPr/>
          <p:nvPr/>
        </p:nvGrpSpPr>
        <p:grpSpPr>
          <a:xfrm>
            <a:off x="1343467" y="2366264"/>
            <a:ext cx="3147673" cy="3632840"/>
            <a:chOff x="457086" y="2253737"/>
            <a:chExt cx="3605799" cy="4147063"/>
          </a:xfrm>
        </p:grpSpPr>
        <p:sp>
          <p:nvSpPr>
            <p:cNvPr id="10" name="AutoShape 10">
              <a:extLst>
                <a:ext uri="{FF2B5EF4-FFF2-40B4-BE49-F238E27FC236}">
                  <a16:creationId xmlns:a16="http://schemas.microsoft.com/office/drawing/2014/main" id="{BA96BCC5-5F9C-ECD2-D318-8A40C27392E3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457086" y="2266950"/>
              <a:ext cx="3605799" cy="413385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>
              <a:solidFill>
                <a:srgbClr val="D1D5DB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2" name="AutoShape 11">
              <a:extLst>
                <a:ext uri="{FF2B5EF4-FFF2-40B4-BE49-F238E27FC236}">
                  <a16:creationId xmlns:a16="http://schemas.microsoft.com/office/drawing/2014/main" id="{99C6A018-44E0-8BAC-1683-905007FCEDB3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457086" y="2253737"/>
              <a:ext cx="3605799" cy="9525"/>
            </a:xfrm>
            <a:prstGeom prst="line">
              <a:avLst/>
            </a:prstGeom>
            <a:ln>
              <a:headEnd type="none"/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sp>
        <p:sp>
          <p:nvSpPr>
            <p:cNvPr id="13" name="AutoShape 12">
              <a:extLst>
                <a:ext uri="{FF2B5EF4-FFF2-40B4-BE49-F238E27FC236}">
                  <a16:creationId xmlns:a16="http://schemas.microsoft.com/office/drawing/2014/main" id="{361445CF-64B0-53A1-3F15-1987FEA62EA5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95151" y="2895600"/>
              <a:ext cx="3129669" cy="9525"/>
            </a:xfrm>
            <a:prstGeom prst="line">
              <a:avLst/>
            </a:prstGeom>
            <a:ln>
              <a:headEnd type="none"/>
              <a:tailEnd type="non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593BD620-5AB6-64DE-3932-912EBFFD257B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656792" y="2610075"/>
            <a:ext cx="2385060" cy="650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 dirty="0" err="1">
                <a:solidFill>
                  <a:srgbClr val="7E0C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erif CN" panose="02020400000000000000" charset="-122"/>
              </a:rPr>
              <a:t>结构对比</a:t>
            </a:r>
            <a:endParaRPr lang="en-US" sz="1800" b="1" i="0" strike="noStrike" dirty="0">
              <a:solidFill>
                <a:srgbClr val="7E0C6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ource Han Serif CN" panose="02020400000000000000" charset="-122"/>
            </a:endParaRP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FC4A9C9D-0CCB-3E56-11BB-1070BC4F24AA}"/>
              </a:ext>
            </a:extLst>
          </p:cNvPr>
          <p:cNvGrpSpPr/>
          <p:nvPr/>
        </p:nvGrpSpPr>
        <p:grpSpPr>
          <a:xfrm>
            <a:off x="1460153" y="3130934"/>
            <a:ext cx="2925805" cy="2756669"/>
            <a:chOff x="1656792" y="3143121"/>
            <a:chExt cx="2732037" cy="2756669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4A8C28D-D3E6-D366-5244-4D19931BDEB8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656792" y="3143121"/>
              <a:ext cx="2675998" cy="852547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0" tIns="0" rIns="0" bIns="0" rtlCol="0" anchor="t" anchorCtr="0"/>
            <a:lstStyle/>
            <a:p>
              <a:pPr algn="l">
                <a:defRPr/>
              </a:pPr>
              <a:r>
                <a:rPr lang="en-US" sz="1400" b="1" i="0" strike="noStrike" dirty="0">
                  <a:solidFill>
                    <a:srgbClr val="0A1F3D">
                      <a:alpha val="85098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Source Han Sans" panose="020B0500000000000000" charset="-122"/>
                </a:rPr>
                <a:t>    </a:t>
              </a:r>
              <a:r>
                <a:rPr sz="1400" b="1" i="0" strike="noStrike" dirty="0" err="1">
                  <a:solidFill>
                    <a:srgbClr val="0A1F3D">
                      <a:alpha val="85098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Source Han Sans" panose="020B0500000000000000" charset="-122"/>
                </a:rPr>
                <a:t>传统刚性减速关节动力链路为伺服电机、减速器与负载刚性固结，传动全程无柔性缓冲构件，抗冲击能力弱且无法实现柔性力控</a:t>
              </a:r>
              <a:r>
                <a:rPr lang="zh-CN" altLang="en-US" sz="1400" b="1" i="0" strike="noStrike" dirty="0">
                  <a:solidFill>
                    <a:srgbClr val="0A1F3D">
                      <a:alpha val="85098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Source Han Sans" panose="020B0500000000000000" charset="-122"/>
                </a:rPr>
                <a:t>。</a:t>
              </a:r>
              <a:endParaRPr sz="1400" b="1" i="0" strike="noStrike" dirty="0">
                <a:solidFill>
                  <a:srgbClr val="0A1F3D">
                    <a:alpha val="85098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Source Han Sans" panose="020B0500000000000000" charset="-122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1511870-4221-B22C-0412-2D23A39C20B0}"/>
                </a:ext>
              </a:extLst>
            </p:cNvPr>
            <p:cNvSpPr txBox="1"/>
            <p:nvPr>
              <p:custDataLst>
                <p:tags r:id="rId11"/>
              </p:custDataLst>
            </p:nvPr>
          </p:nvSpPr>
          <p:spPr>
            <a:xfrm>
              <a:off x="1656792" y="4087742"/>
              <a:ext cx="2732037" cy="894518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0" tIns="0" rIns="0" bIns="0" rtlCol="0" anchor="t" anchorCtr="0"/>
            <a:lstStyle/>
            <a:p>
              <a:pPr algn="l">
                <a:defRPr/>
              </a:pPr>
              <a:r>
                <a:rPr lang="en-US" sz="1400" b="1" dirty="0">
                  <a:solidFill>
                    <a:srgbClr val="0A1F3D">
                      <a:alpha val="85098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</a:t>
              </a:r>
              <a:r>
                <a:rPr sz="1400" b="1" dirty="0" err="1">
                  <a:solidFill>
                    <a:srgbClr val="0A1F3D">
                      <a:alpha val="85098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SEA在减速器与负载之间串联扭簧或弹性体</a:t>
              </a:r>
              <a:r>
                <a:rPr sz="1400" b="1" dirty="0">
                  <a:solidFill>
                    <a:srgbClr val="0A1F3D">
                      <a:alpha val="85098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，</a:t>
              </a:r>
              <a:r>
                <a:rPr lang="zh-CN" altLang="en-US" sz="1400" b="1" dirty="0">
                  <a:solidFill>
                    <a:srgbClr val="0A1F3D">
                      <a:alpha val="85098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完</a:t>
              </a:r>
              <a:r>
                <a:rPr sz="1400" b="1" dirty="0" err="1">
                  <a:solidFill>
                    <a:srgbClr val="0A1F3D">
                      <a:alpha val="85098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整链路为伺服电机</a:t>
              </a:r>
              <a:r>
                <a:rPr sz="1400" b="1" dirty="0">
                  <a:solidFill>
                    <a:srgbClr val="0A1F3D">
                      <a:alpha val="85098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—</a:t>
              </a:r>
              <a:r>
                <a:rPr sz="1400" b="1" dirty="0" err="1">
                  <a:solidFill>
                    <a:srgbClr val="0A1F3D">
                      <a:alpha val="85098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减速器</a:t>
              </a:r>
              <a:r>
                <a:rPr sz="1400" b="1" dirty="0">
                  <a:solidFill>
                    <a:srgbClr val="0A1F3D">
                      <a:alpha val="85098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—</a:t>
              </a:r>
              <a:r>
                <a:rPr sz="1400" b="1" dirty="0" err="1">
                  <a:solidFill>
                    <a:srgbClr val="0A1F3D">
                      <a:alpha val="85098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弹性元件</a:t>
              </a:r>
              <a:r>
                <a:rPr sz="1400" b="1" dirty="0">
                  <a:solidFill>
                    <a:srgbClr val="0A1F3D">
                      <a:alpha val="85098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—</a:t>
              </a:r>
              <a:r>
                <a:rPr sz="1400" b="1" dirty="0" err="1">
                  <a:solidFill>
                    <a:srgbClr val="0A1F3D">
                      <a:alpha val="85098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关节输出端，赋予关节被动柔顺特性</a:t>
              </a:r>
              <a:r>
                <a:rPr lang="zh-CN" altLang="en-US" sz="1400" b="1" dirty="0">
                  <a:solidFill>
                    <a:srgbClr val="0A1F3D">
                      <a:alpha val="85098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。</a:t>
              </a:r>
              <a:endParaRPr sz="1400" b="1" dirty="0">
                <a:solidFill>
                  <a:srgbClr val="0A1F3D">
                    <a:alpha val="85098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7A655C5-71C0-EB02-3CE4-AD210A7BDA69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1656792" y="5051184"/>
              <a:ext cx="2732037" cy="848606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0" tIns="0" rIns="0" bIns="0" rtlCol="0" anchor="t" anchorCtr="0"/>
            <a:lstStyle/>
            <a:p>
              <a:pPr>
                <a:defRPr/>
              </a:pPr>
              <a:r>
                <a:rPr lang="en-US" sz="1400" b="1" dirty="0">
                  <a:solidFill>
                    <a:srgbClr val="0A1F3D">
                      <a:alpha val="85098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</a:t>
              </a:r>
              <a:r>
                <a:rPr sz="1400" b="1" dirty="0" err="1">
                  <a:solidFill>
                    <a:srgbClr val="0A1F3D">
                      <a:alpha val="85098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SEA无需改动电机与减速器主体结构，仅通过增设柔性结构即可兼容各类人形机器人关节改造，结构简洁且适配性强</a:t>
              </a:r>
              <a:r>
                <a:rPr lang="zh-CN" altLang="en-US" sz="1400" b="1" dirty="0">
                  <a:solidFill>
                    <a:srgbClr val="0A1F3D">
                      <a:alpha val="85098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。</a:t>
              </a:r>
              <a:endParaRPr sz="1400" b="1" dirty="0">
                <a:solidFill>
                  <a:srgbClr val="0A1F3D">
                    <a:alpha val="85098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C9F47F25-07EB-E420-DF89-34AC4EAEC18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785239" y="2610075"/>
            <a:ext cx="1738630" cy="26733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b="1" i="0" strike="noStrike" dirty="0" err="1">
                <a:solidFill>
                  <a:srgbClr val="7E0C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erif CN" panose="02020400000000000000" charset="-122"/>
              </a:rPr>
              <a:t>柔顺机理</a:t>
            </a:r>
            <a:endParaRPr lang="en-US" b="1" i="0" strike="noStrike" dirty="0">
              <a:solidFill>
                <a:srgbClr val="7E0C6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ource Han Serif CN" panose="02020400000000000000" charset="-122"/>
            </a:endParaRP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5CFC59E4-2268-E8BC-A394-27392DF23D32}"/>
              </a:ext>
            </a:extLst>
          </p:cNvPr>
          <p:cNvGrpSpPr/>
          <p:nvPr/>
        </p:nvGrpSpPr>
        <p:grpSpPr>
          <a:xfrm>
            <a:off x="4644866" y="3122142"/>
            <a:ext cx="2972875" cy="2769581"/>
            <a:chOff x="4846152" y="3129597"/>
            <a:chExt cx="2734633" cy="2769581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4CC6ABE-0B7A-0536-7C6D-ED2BD07EA4FF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4848748" y="3129597"/>
              <a:ext cx="2732037" cy="855198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0" tIns="0" rIns="0" bIns="0" rtlCol="0" anchor="t" anchorCtr="0"/>
            <a:lstStyle/>
            <a:p>
              <a:pPr>
                <a:defRPr/>
              </a:pPr>
              <a:r>
                <a:rPr lang="en-US" sz="1400" b="1" dirty="0">
                  <a:solidFill>
                    <a:srgbClr val="0A1F3D">
                      <a:alpha val="85098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</a:t>
              </a:r>
              <a:r>
                <a:rPr lang="en-US" sz="1400" b="1" dirty="0" err="1">
                  <a:solidFill>
                    <a:srgbClr val="0A1F3D">
                      <a:alpha val="85098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弹性元件可通过形变吸收冲击动能，对突发载荷</a:t>
              </a:r>
              <a:r>
                <a:rPr sz="1400" b="1" dirty="0" err="1">
                  <a:solidFill>
                    <a:srgbClr val="0A1F3D">
                      <a:alpha val="85098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形成滤波效果，降低传动结构峰值受力，显著提升关节抗冲击能力与使用寿命</a:t>
              </a:r>
              <a:r>
                <a:rPr lang="zh-CN" altLang="en-US" sz="1400" b="1" dirty="0">
                  <a:solidFill>
                    <a:srgbClr val="0A1F3D">
                      <a:alpha val="85098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。</a:t>
              </a:r>
              <a:endParaRPr sz="1400" b="1" dirty="0">
                <a:solidFill>
                  <a:srgbClr val="0A1F3D">
                    <a:alpha val="85098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23BC074-71C5-78FD-CEB5-7CD92D73BEBA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4848747" y="4087446"/>
              <a:ext cx="2732038" cy="855198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0" tIns="0" rIns="0" bIns="0" rtlCol="0" anchor="t" anchorCtr="0"/>
            <a:lstStyle/>
            <a:p>
              <a:pPr>
                <a:defRPr/>
              </a:pPr>
              <a:r>
                <a:rPr lang="en-US" sz="1400" b="1" dirty="0">
                  <a:solidFill>
                    <a:srgbClr val="0A1F3D">
                      <a:alpha val="85098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</a:t>
              </a:r>
              <a:r>
                <a:rPr sz="1400" b="1" dirty="0" err="1">
                  <a:solidFill>
                    <a:srgbClr val="0A1F3D">
                      <a:alpha val="85098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基于胡克定律利用编码器采集弹性元件两端扭转角度差，结合刚度系数精准换算关节输出力矩，无需外置力矩传感器且力控稳定性更高</a:t>
              </a:r>
              <a:r>
                <a:rPr lang="zh-CN" altLang="en-US" sz="1400" b="1" dirty="0">
                  <a:solidFill>
                    <a:srgbClr val="0A1F3D">
                      <a:alpha val="85098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。</a:t>
              </a:r>
              <a:endParaRPr sz="1400" b="1" dirty="0">
                <a:solidFill>
                  <a:srgbClr val="0A1F3D">
                    <a:alpha val="85098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125BA3B-C0F3-C7B5-C623-EBA9385F735F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4846152" y="5043980"/>
              <a:ext cx="2732038" cy="855198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0" tIns="0" rIns="0" bIns="0" rtlCol="0" anchor="t" anchorCtr="0"/>
            <a:lstStyle/>
            <a:p>
              <a:pPr>
                <a:defRPr/>
              </a:pPr>
              <a:r>
                <a:rPr lang="en-US" sz="1400" b="1" dirty="0">
                  <a:solidFill>
                    <a:srgbClr val="0A1F3D">
                      <a:alpha val="85098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</a:t>
              </a:r>
              <a:r>
                <a:rPr sz="1400" b="1" dirty="0" err="1">
                  <a:solidFill>
                    <a:srgbClr val="0A1F3D">
                      <a:alpha val="85098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弹性形变虽小幅降低关节控制带宽，但对行走、柔性抓取、人机交互等常规作业场景影响极小，整体动态作业性能提升显著</a:t>
              </a:r>
              <a:endParaRPr sz="1400" b="1" dirty="0">
                <a:solidFill>
                  <a:srgbClr val="0A1F3D">
                    <a:alpha val="85098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9787F392-8C9C-4EA7-9196-F72523D1DF8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8043363" y="2608580"/>
            <a:ext cx="2029460" cy="4775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 dirty="0" err="1">
                <a:solidFill>
                  <a:srgbClr val="7E0C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erif CN" panose="02020400000000000000" charset="-122"/>
              </a:rPr>
              <a:t>工程验证</a:t>
            </a:r>
            <a:endParaRPr lang="en-US" sz="1800" b="1" i="0" strike="noStrike" dirty="0">
              <a:solidFill>
                <a:srgbClr val="7E0C6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ource Han Serif CN" panose="02020400000000000000" charset="-122"/>
            </a:endParaRP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4278D97D-9552-D2F3-81F5-AD830666A129}"/>
              </a:ext>
            </a:extLst>
          </p:cNvPr>
          <p:cNvGrpSpPr/>
          <p:nvPr/>
        </p:nvGrpSpPr>
        <p:grpSpPr>
          <a:xfrm>
            <a:off x="7839679" y="3049199"/>
            <a:ext cx="2925322" cy="2815254"/>
            <a:chOff x="7851254" y="3049199"/>
            <a:chExt cx="2925322" cy="2815254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5EB5AF2-4632-AC6A-53A7-60A09A1E85C0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7871190" y="3049199"/>
              <a:ext cx="2885450" cy="917432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0" tIns="0" rIns="0" bIns="0" rtlCol="0" anchor="t" anchorCtr="0"/>
            <a:lstStyle/>
            <a:p>
              <a:pPr>
                <a:defRPr/>
              </a:pPr>
              <a:r>
                <a:rPr lang="en-US" sz="1400" b="1" dirty="0">
                  <a:solidFill>
                    <a:srgbClr val="0A1F3D">
                      <a:alpha val="85098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</a:t>
              </a:r>
              <a:r>
                <a:rPr sz="1400" b="1" dirty="0">
                  <a:solidFill>
                    <a:srgbClr val="0A1F3D">
                      <a:alpha val="85098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CMU研发的JH1人形腿部样机搭载 </a:t>
              </a:r>
              <a:r>
                <a:rPr sz="1400" b="1" dirty="0" err="1">
                  <a:solidFill>
                    <a:srgbClr val="0A1F3D">
                      <a:alpha val="85098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SEA驱动关节，依靠弹性被动柔顺特性抵消路面凹凸扰动，有效提升机器人步行稳定性与环境适配能力</a:t>
              </a:r>
              <a:r>
                <a:rPr lang="zh-CN" altLang="en-US" sz="1400" b="1" dirty="0">
                  <a:solidFill>
                    <a:srgbClr val="0A1F3D">
                      <a:alpha val="85098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。</a:t>
              </a:r>
              <a:endParaRPr sz="1400" b="1" dirty="0">
                <a:solidFill>
                  <a:srgbClr val="0A1F3D">
                    <a:alpha val="85098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F2555D6-DBD8-3F0C-3562-6373C14F2D6B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7851254" y="3985369"/>
              <a:ext cx="2925322" cy="855198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0" tIns="0" rIns="0" bIns="0" rtlCol="0" anchor="t" anchorCtr="0"/>
            <a:lstStyle/>
            <a:p>
              <a:pPr>
                <a:defRPr/>
              </a:pPr>
              <a:r>
                <a:rPr lang="en-US" sz="1400" b="1" dirty="0">
                  <a:solidFill>
                    <a:srgbClr val="0A1F3D">
                      <a:alpha val="85098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</a:t>
              </a:r>
              <a:r>
                <a:rPr sz="1400" b="1" dirty="0" err="1">
                  <a:solidFill>
                    <a:srgbClr val="0A1F3D">
                      <a:alpha val="85098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德州大学</a:t>
              </a:r>
              <a:r>
                <a:rPr sz="1400" b="1" dirty="0">
                  <a:solidFill>
                    <a:srgbClr val="0A1F3D">
                      <a:alpha val="85098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HCRL </a:t>
              </a:r>
              <a:r>
                <a:rPr sz="1400" b="1" dirty="0" err="1">
                  <a:solidFill>
                    <a:srgbClr val="0A1F3D">
                      <a:alpha val="85098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团队</a:t>
              </a:r>
              <a:r>
                <a:rPr lang="zh-CN" altLang="en-US" sz="1400" b="1" dirty="0">
                  <a:solidFill>
                    <a:srgbClr val="0A1F3D">
                      <a:alpha val="85098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在</a:t>
              </a:r>
              <a:r>
                <a:rPr sz="1400" b="1" dirty="0">
                  <a:solidFill>
                    <a:srgbClr val="0A1F3D">
                      <a:alpha val="85098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Valkyrie人形机器人下肢关节采用SEA替代纯刚性谐波传动，实测落地冲击与意外碰撞峰值载荷下降 42%</a:t>
              </a:r>
              <a:r>
                <a:rPr lang="zh-CN" altLang="en-US" sz="1400" b="1" dirty="0">
                  <a:solidFill>
                    <a:srgbClr val="0A1F3D">
                      <a:alpha val="85098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。</a:t>
              </a:r>
              <a:endParaRPr sz="1400" b="1" dirty="0">
                <a:solidFill>
                  <a:srgbClr val="0A1F3D">
                    <a:alpha val="85098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9DB8983-6B04-B395-AF83-240C5C924E7D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7871190" y="4935348"/>
              <a:ext cx="2885450" cy="929105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0" tIns="0" rIns="0" bIns="0" rtlCol="0" anchor="t" anchorCtr="0"/>
            <a:lstStyle/>
            <a:p>
              <a:pPr>
                <a:defRPr/>
              </a:pPr>
              <a:r>
                <a:rPr lang="en-US" sz="1400" b="1" dirty="0">
                  <a:solidFill>
                    <a:srgbClr val="0A1F3D">
                      <a:alpha val="85098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</a:t>
              </a:r>
              <a:r>
                <a:rPr sz="1400" b="1" dirty="0" err="1">
                  <a:solidFill>
                    <a:srgbClr val="0A1F3D">
                      <a:alpha val="85098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搭配阻抗控制算法可有效弥补SEA定位精度短板，实现高精度定位与柔性驱动的双向平衡，验证了</a:t>
              </a:r>
              <a:r>
                <a:rPr sz="1400" b="1" dirty="0">
                  <a:solidFill>
                    <a:srgbClr val="0A1F3D">
                      <a:alpha val="85098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SEA </a:t>
              </a:r>
              <a:r>
                <a:rPr sz="1400" b="1" dirty="0" err="1">
                  <a:solidFill>
                    <a:srgbClr val="0A1F3D">
                      <a:alpha val="85098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分布式控制架构的可行性</a:t>
              </a:r>
              <a:r>
                <a:rPr lang="zh-CN" altLang="en-US" sz="1400" b="1" dirty="0">
                  <a:solidFill>
                    <a:srgbClr val="0A1F3D">
                      <a:alpha val="85098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。</a:t>
              </a:r>
              <a:endParaRPr sz="1400" b="1" dirty="0">
                <a:solidFill>
                  <a:srgbClr val="0A1F3D">
                    <a:alpha val="85098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37547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64351-11C9-A092-64FE-F89DFA2A9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5B98759F-62E4-F8B0-AF84-F3CC51F9AFDF}"/>
              </a:ext>
            </a:extLst>
          </p:cNvPr>
          <p:cNvSpPr/>
          <p:nvPr/>
        </p:nvSpPr>
        <p:spPr>
          <a:xfrm>
            <a:off x="1127760" y="1381760"/>
            <a:ext cx="9936480" cy="4752340"/>
          </a:xfrm>
          <a:prstGeom prst="roundRect">
            <a:avLst>
              <a:gd name="adj" fmla="val 1496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38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charset="-122"/>
            </a:endParaRPr>
          </a:p>
        </p:txBody>
      </p:sp>
      <p:graphicFrame>
        <p:nvGraphicFramePr>
          <p:cNvPr id="11" name="图示 10">
            <a:extLst>
              <a:ext uri="{FF2B5EF4-FFF2-40B4-BE49-F238E27FC236}">
                <a16:creationId xmlns:a16="http://schemas.microsoft.com/office/drawing/2014/main" id="{C5BB2289-9FAB-8421-805E-42BB5BA33AEB}"/>
              </a:ext>
            </a:extLst>
          </p:cNvPr>
          <p:cNvGraphicFramePr/>
          <p:nvPr/>
        </p:nvGraphicFramePr>
        <p:xfrm>
          <a:off x="1853436" y="4635189"/>
          <a:ext cx="2931803" cy="1253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A7179DC-FAD2-D0EC-235B-1DABD76DFBE0}"/>
                  </a:ext>
                </a:extLst>
              </p:cNvPr>
              <p:cNvSpPr txBox="1"/>
              <p:nvPr/>
            </p:nvSpPr>
            <p:spPr>
              <a:xfrm>
                <a:off x="2209758" y="5412409"/>
                <a:ext cx="7263197" cy="490196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 algn="ctr" eaLnBrk="0"/>
                <a:r>
                  <a:rPr lang="zh-CN" altLang="en-US" b="1" kern="0" spc="120" dirty="0">
                    <a:solidFill>
                      <a:srgbClr val="141414">
                        <a:alpha val="100000"/>
                      </a:srgbClr>
                    </a:solidFill>
                    <a:latin typeface="仿宋" panose="02010609060101010101" pitchFamily="49" charset="-122"/>
                    <a:ea typeface="仿宋" panose="02010609060101010101" pitchFamily="49" charset="-122"/>
                    <a:cs typeface="微软雅黑" panose="020B0503020204020204" charset="-122"/>
                  </a:rPr>
                  <a:t>低速大转矩工况下，</a:t>
                </a:r>
                <a:r>
                  <a:rPr lang="zh-CN" altLang="en-US" b="1" kern="0" spc="180" dirty="0">
                    <a:solidFill>
                      <a:srgbClr val="141414">
                        <a:alpha val="100000"/>
                      </a:srgbClr>
                    </a:solidFill>
                    <a:latin typeface="仿宋" panose="02010609060101010101" pitchFamily="49" charset="-122"/>
                    <a:ea typeface="仿宋" panose="02010609060101010101" pitchFamily="49" charset="-122"/>
                    <a:cs typeface="微软雅黑" panose="020B0503020204020204" charset="-122"/>
                  </a:rPr>
                  <a:t> </a:t>
                </a:r>
                <a:r>
                  <a:rPr lang="zh-CN" altLang="en-US" b="1" kern="0" spc="120" dirty="0" err="1">
                    <a:solidFill>
                      <a:srgbClr val="141414">
                        <a:alpha val="100000"/>
                      </a:srgb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charset="-122"/>
                  </a:rPr>
                  <a:t>铜耗</a:t>
                </a:r>
                <a:r>
                  <a:rPr lang="zh-CN" altLang="en-US" b="1" kern="0" spc="120" dirty="0" err="1">
                    <a:solidFill>
                      <a:srgbClr val="141414">
                        <a:alpha val="100000"/>
                      </a:srgbClr>
                    </a:solidFill>
                    <a:latin typeface="仿宋" panose="02010609060101010101" pitchFamily="49" charset="-122"/>
                    <a:ea typeface="仿宋" panose="02010609060101010101" pitchFamily="49" charset="-122"/>
                    <a:cs typeface="微软雅黑" panose="020B0503020204020204" charset="-122"/>
                  </a:rPr>
                  <a:t>通常占</a:t>
                </a:r>
                <a:r>
                  <a:rPr lang="zh-CN" altLang="en-US" b="1" kern="0" spc="110" dirty="0" err="1">
                    <a:solidFill>
                      <a:srgbClr val="141414">
                        <a:alpha val="100000"/>
                      </a:srgbClr>
                    </a:solidFill>
                    <a:latin typeface="仿宋" panose="02010609060101010101" pitchFamily="49" charset="-122"/>
                    <a:ea typeface="仿宋" panose="02010609060101010101" pitchFamily="49" charset="-122"/>
                    <a:cs typeface="微软雅黑" panose="020B0503020204020204" charset="-122"/>
                  </a:rPr>
                  <a:t>主导</a:t>
                </a:r>
                <a:r>
                  <a:rPr lang="zh-CN" altLang="en-US" kern="0" spc="110" dirty="0">
                    <a:solidFill>
                      <a:srgbClr val="141414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 kern="0" spc="110">
                            <a:solidFill>
                              <a:srgbClr val="141414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微软雅黑" panose="020B0503020204020204" charset="-122"/>
                          </a:rPr>
                        </m:ctrlPr>
                      </m:sSubPr>
                      <m:e>
                        <m:r>
                          <a:rPr lang="zh-CN" altLang="ar-AE" i="1" kern="0" spc="110">
                            <a:solidFill>
                              <a:srgbClr val="141414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微软雅黑" panose="020B0503020204020204" charset="-122"/>
                          </a:rPr>
                          <m:t>𝑃</m:t>
                        </m:r>
                      </m:e>
                      <m:sub>
                        <m:r>
                          <a:rPr lang="zh-CN" altLang="ar-AE" i="1" kern="0" spc="110">
                            <a:solidFill>
                              <a:srgbClr val="141414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微软雅黑" panose="020B0503020204020204" charset="-122"/>
                          </a:rPr>
                          <m:t>𝑐𝑢</m:t>
                        </m:r>
                      </m:sub>
                    </m:sSub>
                    <m:r>
                      <a:rPr lang="ar-AE" altLang="zh-CN" i="1" kern="0" spc="110">
                        <a:solidFill>
                          <a:srgbClr val="141414">
                            <a:alpha val="100000"/>
                          </a:srgbClr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  <a:cs typeface="微软雅黑" panose="020B0503020204020204" charset="-122"/>
                      </a:rPr>
                      <m:t>=</m:t>
                    </m:r>
                    <m:r>
                      <a:rPr lang="ar-AE" altLang="zh-CN" i="1" kern="0" spc="110">
                        <a:solidFill>
                          <a:srgbClr val="141414">
                            <a:alpha val="100000"/>
                          </a:srgbClr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  <a:cs typeface="微软雅黑" panose="020B0503020204020204" charset="-122"/>
                      </a:rPr>
                      <m:t>3</m:t>
                    </m:r>
                    <m:sSubSup>
                      <m:sSubSupPr>
                        <m:ctrlPr>
                          <a:rPr lang="ar-AE" altLang="zh-CN" i="1" kern="0" spc="110">
                            <a:solidFill>
                              <a:srgbClr val="141414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微软雅黑" panose="020B0503020204020204" charset="-122"/>
                          </a:rPr>
                        </m:ctrlPr>
                      </m:sSubSupPr>
                      <m:e>
                        <m:r>
                          <a:rPr lang="zh-CN" altLang="ar-AE" i="1" kern="0" spc="110">
                            <a:solidFill>
                              <a:srgbClr val="141414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微软雅黑" panose="020B0503020204020204" charset="-122"/>
                          </a:rPr>
                          <m:t>𝐼</m:t>
                        </m:r>
                      </m:e>
                      <m:sub>
                        <m:r>
                          <a:rPr lang="zh-CN" altLang="ar-AE" i="1" kern="0" spc="110">
                            <a:solidFill>
                              <a:srgbClr val="141414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微软雅黑" panose="020B0503020204020204" charset="-122"/>
                          </a:rPr>
                          <m:t>𝑟𝑚𝑠</m:t>
                        </m:r>
                      </m:sub>
                      <m:sup>
                        <m:r>
                          <a:rPr lang="ar-AE" altLang="zh-CN" i="1" kern="0" spc="110">
                            <a:solidFill>
                              <a:srgbClr val="141414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微软雅黑" panose="020B0503020204020204" charset="-122"/>
                          </a:rPr>
                          <m:t>2</m:t>
                        </m:r>
                      </m:sup>
                    </m:sSubSup>
                    <m:r>
                      <a:rPr lang="zh-CN" altLang="ar-AE" i="1" kern="0" spc="110">
                        <a:solidFill>
                          <a:srgbClr val="141414">
                            <a:alpha val="100000"/>
                          </a:srgbClr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  <a:cs typeface="微软雅黑" panose="020B0503020204020204" charset="-122"/>
                      </a:rPr>
                      <m:t>𝑅</m:t>
                    </m:r>
                  </m:oMath>
                </a14:m>
                <a:endParaRPr lang="ar-AE" altLang="zh-CN" dirty="0">
                  <a:latin typeface="Times New Roman" panose="02020603050405020304"/>
                  <a:ea typeface="Times New Roman" panose="02020603050405020304"/>
                  <a:cs typeface="Times New Roman" panose="02020603050405020304"/>
                </a:endParaRPr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A7179DC-FAD2-D0EC-235B-1DABD76DFB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758" y="5412409"/>
                <a:ext cx="7263197" cy="490196"/>
              </a:xfrm>
              <a:prstGeom prst="rect">
                <a:avLst/>
              </a:prstGeom>
              <a:blipFill>
                <a:blip r:embed="rId7"/>
                <a:stretch>
                  <a:fillRect t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46642918-D4A3-8665-B8A7-2DB7CDACC117}"/>
              </a:ext>
            </a:extLst>
          </p:cNvPr>
          <p:cNvSpPr txBox="1"/>
          <p:nvPr/>
        </p:nvSpPr>
        <p:spPr>
          <a:xfrm>
            <a:off x="1659565" y="1646284"/>
            <a:ext cx="8363584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主要损耗来源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1D8357E-8527-E8EA-9268-DD782E3C54C6}"/>
              </a:ext>
            </a:extLst>
          </p:cNvPr>
          <p:cNvSpPr txBox="1"/>
          <p:nvPr/>
        </p:nvSpPr>
        <p:spPr>
          <a:xfrm>
            <a:off x="823449" y="135317"/>
            <a:ext cx="8413857" cy="679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rgbClr val="983D8B"/>
                </a:solidFill>
                <a:ea typeface="微软雅黑" panose="020B0503020204020204" charset="-122"/>
              </a:rPr>
              <a:t>3  </a:t>
            </a:r>
            <a:r>
              <a:rPr lang="zh-CN" altLang="en-US" sz="3200" b="1" dirty="0">
                <a:solidFill>
                  <a:srgbClr val="983D8B"/>
                </a:solidFill>
                <a:ea typeface="微软雅黑" panose="020B0503020204020204" charset="-122"/>
              </a:rPr>
              <a:t>热管理与效率优化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945AFDA-93F8-18D4-42DC-FBEEA481439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98667" y="2334946"/>
            <a:ext cx="9194666" cy="284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5044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02B1C-1B1E-5CB5-3BC1-A96663F39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B693A5D4-54CA-2D45-8BD2-63E01B14A34F}"/>
              </a:ext>
            </a:extLst>
          </p:cNvPr>
          <p:cNvSpPr/>
          <p:nvPr/>
        </p:nvSpPr>
        <p:spPr>
          <a:xfrm>
            <a:off x="1127760" y="1381760"/>
            <a:ext cx="9936480" cy="4752340"/>
          </a:xfrm>
          <a:prstGeom prst="roundRect">
            <a:avLst>
              <a:gd name="adj" fmla="val 1496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38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charset="-122"/>
            </a:endParaRPr>
          </a:p>
        </p:txBody>
      </p:sp>
      <p:graphicFrame>
        <p:nvGraphicFramePr>
          <p:cNvPr id="11" name="图示 10">
            <a:extLst>
              <a:ext uri="{FF2B5EF4-FFF2-40B4-BE49-F238E27FC236}">
                <a16:creationId xmlns:a16="http://schemas.microsoft.com/office/drawing/2014/main" id="{51F3ABA7-2E60-BFE4-4163-459A97826B37}"/>
              </a:ext>
            </a:extLst>
          </p:cNvPr>
          <p:cNvGraphicFramePr/>
          <p:nvPr/>
        </p:nvGraphicFramePr>
        <p:xfrm>
          <a:off x="1853436" y="4635189"/>
          <a:ext cx="2931803" cy="1253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028E7DD0-2F97-3BB9-65BF-4C296277B38B}"/>
              </a:ext>
            </a:extLst>
          </p:cNvPr>
          <p:cNvSpPr txBox="1"/>
          <p:nvPr/>
        </p:nvSpPr>
        <p:spPr>
          <a:xfrm>
            <a:off x="1542415" y="5521749"/>
            <a:ext cx="9107170" cy="490196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 defTabSz="266700"/>
            <a:r>
              <a:rPr lang="zh-CN" altLang="en-US" b="1" dirty="0">
                <a:latin typeface="仿宋" panose="02010609060101010101" charset="-122"/>
                <a:ea typeface="仿宋" panose="02010609060101010101" charset="-122"/>
              </a:rPr>
              <a:t>温升会使绕组电阻升高，从而进一步增加铜耗，形成热正反馈。</a:t>
            </a:r>
            <a:endParaRPr lang="zh-CN" altLang="en-US" sz="2000" b="1" dirty="0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2397AC8-D6AE-7DE7-4B52-4DF46CDC70DF}"/>
              </a:ext>
            </a:extLst>
          </p:cNvPr>
          <p:cNvSpPr txBox="1"/>
          <p:nvPr/>
        </p:nvSpPr>
        <p:spPr>
          <a:xfrm>
            <a:off x="1659565" y="1646284"/>
            <a:ext cx="8363584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温升对关节性能的影响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EAD8713-2A84-1449-6434-C8F5F51D8DD3}"/>
              </a:ext>
            </a:extLst>
          </p:cNvPr>
          <p:cNvSpPr txBox="1"/>
          <p:nvPr/>
        </p:nvSpPr>
        <p:spPr>
          <a:xfrm>
            <a:off x="823449" y="135317"/>
            <a:ext cx="8413857" cy="679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rgbClr val="983D8B"/>
                </a:solidFill>
                <a:ea typeface="微软雅黑" panose="020B0503020204020204" charset="-122"/>
              </a:rPr>
              <a:t>3  </a:t>
            </a:r>
            <a:r>
              <a:rPr lang="zh-CN" altLang="en-US" sz="3200" b="1" dirty="0">
                <a:solidFill>
                  <a:srgbClr val="983D8B"/>
                </a:solidFill>
                <a:ea typeface="微软雅黑" panose="020B0503020204020204" charset="-122"/>
              </a:rPr>
              <a:t>热管理与效率优化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FA31979D-F0AA-EEB4-0D14-C68375E92E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9565" y="2195601"/>
            <a:ext cx="8877417" cy="3124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1490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C40DE-D3D6-F6D0-8B8F-6FA0A13D2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8637FBBA-E0E0-19FC-545A-447D2B98CE1A}"/>
              </a:ext>
            </a:extLst>
          </p:cNvPr>
          <p:cNvSpPr/>
          <p:nvPr/>
        </p:nvSpPr>
        <p:spPr>
          <a:xfrm>
            <a:off x="1127760" y="1381760"/>
            <a:ext cx="9936480" cy="4752340"/>
          </a:xfrm>
          <a:prstGeom prst="roundRect">
            <a:avLst>
              <a:gd name="adj" fmla="val 1496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38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charset="-122"/>
            </a:endParaRPr>
          </a:p>
        </p:txBody>
      </p:sp>
      <p:graphicFrame>
        <p:nvGraphicFramePr>
          <p:cNvPr id="11" name="图示 10">
            <a:extLst>
              <a:ext uri="{FF2B5EF4-FFF2-40B4-BE49-F238E27FC236}">
                <a16:creationId xmlns:a16="http://schemas.microsoft.com/office/drawing/2014/main" id="{45E86AE6-CF63-B15C-98B5-4BAAF1D180BA}"/>
              </a:ext>
            </a:extLst>
          </p:cNvPr>
          <p:cNvGraphicFramePr/>
          <p:nvPr/>
        </p:nvGraphicFramePr>
        <p:xfrm>
          <a:off x="1853436" y="4635189"/>
          <a:ext cx="2931803" cy="1253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03DA4DC5-68DF-80BE-ABE5-A3E4B891C08C}"/>
              </a:ext>
            </a:extLst>
          </p:cNvPr>
          <p:cNvSpPr txBox="1"/>
          <p:nvPr/>
        </p:nvSpPr>
        <p:spPr>
          <a:xfrm>
            <a:off x="1659565" y="1646284"/>
            <a:ext cx="8363584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效率优化策略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414D412-CFB6-C17E-3F04-602735286D98}"/>
              </a:ext>
            </a:extLst>
          </p:cNvPr>
          <p:cNvSpPr txBox="1"/>
          <p:nvPr/>
        </p:nvSpPr>
        <p:spPr>
          <a:xfrm>
            <a:off x="823449" y="135317"/>
            <a:ext cx="8413857" cy="679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rgbClr val="983D8B"/>
                </a:solidFill>
                <a:ea typeface="微软雅黑" panose="020B0503020204020204" charset="-122"/>
              </a:rPr>
              <a:t>3  </a:t>
            </a:r>
            <a:r>
              <a:rPr lang="zh-CN" altLang="en-US" sz="3200" b="1" dirty="0">
                <a:solidFill>
                  <a:srgbClr val="983D8B"/>
                </a:solidFill>
                <a:ea typeface="微软雅黑" panose="020B0503020204020204" charset="-122"/>
              </a:rPr>
              <a:t>热管理与效率优化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F9A0290-9F10-9A04-5415-2F7E36FDBA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6742" y="2268442"/>
            <a:ext cx="9258515" cy="227162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F5D7178-F0DF-8248-ABDC-6AC396258CA5}"/>
              </a:ext>
            </a:extLst>
          </p:cNvPr>
          <p:cNvSpPr txBox="1"/>
          <p:nvPr/>
        </p:nvSpPr>
        <p:spPr>
          <a:xfrm>
            <a:off x="1659565" y="4565408"/>
            <a:ext cx="87637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RMS:  </a:t>
            </a:r>
            <a:r>
              <a:rPr lang="zh-CN" altLang="en-US" sz="1400" dirty="0"/>
              <a:t>均方根值，即有效值。</a:t>
            </a:r>
            <a:endParaRPr lang="en-US" altLang="zh-CN" sz="1400" dirty="0"/>
          </a:p>
          <a:p>
            <a:r>
              <a:rPr lang="en-US" altLang="zh-CN" sz="1400" dirty="0"/>
              <a:t>FOC</a:t>
            </a:r>
            <a:r>
              <a:rPr lang="zh-CN" altLang="en-US" sz="1400" dirty="0"/>
              <a:t>：磁场定向控制，</a:t>
            </a:r>
            <a:r>
              <a:rPr lang="zh-CN" altLang="zh-CN" sz="1400" dirty="0"/>
              <a:t>把电机三相电流变换成两个互相垂直的分量</a:t>
            </a:r>
            <a:r>
              <a:rPr lang="zh-CN" altLang="en-US" sz="1400" dirty="0"/>
              <a:t>，</a:t>
            </a:r>
            <a:r>
              <a:rPr lang="zh-CN" altLang="zh-CN" sz="1400" dirty="0"/>
              <a:t>常用于实现平稳、快速、精确的转矩控制。</a:t>
            </a:r>
            <a:endParaRPr lang="en-US" altLang="zh-CN" sz="1400" dirty="0"/>
          </a:p>
          <a:p>
            <a:r>
              <a:rPr lang="en-US" altLang="zh-CN" sz="1400" dirty="0"/>
              <a:t>MTPA</a:t>
            </a:r>
            <a:r>
              <a:rPr lang="zh-CN" altLang="en-US" sz="1400" dirty="0"/>
              <a:t>：</a:t>
            </a:r>
            <a:r>
              <a:rPr lang="zh-CN" altLang="zh-CN" sz="1400" dirty="0"/>
              <a:t>最大转矩电流比控制。用更小的电流产生同样的转矩，从而降低铜耗、减少发热、提高效率。</a:t>
            </a:r>
            <a:endParaRPr lang="zh-CN" altLang="en-US" sz="1400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AF6C0F2-5AA5-D6A6-4C2C-D3BE7D6A2EFF}"/>
              </a:ext>
            </a:extLst>
          </p:cNvPr>
          <p:cNvGrpSpPr/>
          <p:nvPr/>
        </p:nvGrpSpPr>
        <p:grpSpPr>
          <a:xfrm>
            <a:off x="2181477" y="5427588"/>
            <a:ext cx="7829044" cy="457976"/>
            <a:chOff x="1853436" y="5532196"/>
            <a:chExt cx="7829044" cy="457976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8160B78D-E26F-2B22-93F4-2D7E27B29630}"/>
                </a:ext>
              </a:extLst>
            </p:cNvPr>
            <p:cNvSpPr/>
            <p:nvPr/>
          </p:nvSpPr>
          <p:spPr>
            <a:xfrm>
              <a:off x="1853436" y="5532196"/>
              <a:ext cx="7829044" cy="457976"/>
            </a:xfrm>
            <a:prstGeom prst="roundRect">
              <a:avLst/>
            </a:prstGeom>
            <a:solidFill>
              <a:schemeClr val="bg1"/>
            </a:solidFill>
            <a:ln w="31750">
              <a:solidFill>
                <a:srgbClr val="7E0C6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C843DE7A-772C-8F2E-E108-3CE85445A414}"/>
                </a:ext>
              </a:extLst>
            </p:cNvPr>
            <p:cNvSpPr txBox="1"/>
            <p:nvPr/>
          </p:nvSpPr>
          <p:spPr>
            <a:xfrm>
              <a:off x="2289484" y="5598651"/>
              <a:ext cx="6944403" cy="391521"/>
            </a:xfrm>
            <a:prstGeom prst="rect">
              <a:avLst/>
            </a:prstGeom>
          </p:spPr>
          <p:txBody>
            <a:bodyPr>
              <a:noAutofit/>
            </a:bodyPr>
            <a:lstStyle/>
            <a:p>
              <a:pPr algn="ctr" defTabSz="266700"/>
              <a:r>
                <a:rPr lang="zh-CN" altLang="en-US" b="1" dirty="0">
                  <a:latin typeface="仿宋" panose="02010609060101010101" charset="-122"/>
                  <a:ea typeface="仿宋" panose="02010609060101010101" charset="-122"/>
                </a:rPr>
                <a:t> 热管理不是附属设计， 而是关节功率密度、效率和可靠性的基础。</a:t>
              </a:r>
              <a:endParaRPr lang="zh-CN" altLang="en-US" sz="2000" b="1" dirty="0">
                <a:latin typeface="仿宋" panose="02010609060101010101" charset="-122"/>
                <a:ea typeface="仿宋" panose="02010609060101010101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28257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7719E-FE6D-FE23-5DEC-6AD5CB0E7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B579895-D534-310F-0DC3-50E1B33B3E15}"/>
              </a:ext>
            </a:extLst>
          </p:cNvPr>
          <p:cNvSpPr txBox="1"/>
          <p:nvPr/>
        </p:nvSpPr>
        <p:spPr>
          <a:xfrm>
            <a:off x="4892607" y="3429000"/>
            <a:ext cx="2418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ea typeface="微软雅黑" panose="020B0503020204020204" charset="-122"/>
              </a:rPr>
              <a:t>Part 4</a:t>
            </a:r>
            <a:endParaRPr lang="zh-CN" altLang="en-US" sz="3600" b="1" dirty="0">
              <a:solidFill>
                <a:schemeClr val="bg1"/>
              </a:solidFill>
              <a:ea typeface="微软雅黑" panose="020B050302020402020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C4DDFDB-9E19-FFFE-EF99-A1EADE0BD301}"/>
              </a:ext>
            </a:extLst>
          </p:cNvPr>
          <p:cNvSpPr txBox="1"/>
          <p:nvPr/>
        </p:nvSpPr>
        <p:spPr>
          <a:xfrm>
            <a:off x="4366325" y="4414637"/>
            <a:ext cx="34709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accent1"/>
                </a:solidFill>
                <a:ea typeface="微软雅黑" panose="020B0503020204020204" charset="-122"/>
              </a:rPr>
              <a:t>总结</a:t>
            </a:r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1EAA9A9F-D569-6FE1-DBD9-3BCDDFE8DF2D}"/>
              </a:ext>
            </a:extLst>
          </p:cNvPr>
          <p:cNvSpPr>
            <a:spLocks noEditPoints="1"/>
          </p:cNvSpPr>
          <p:nvPr/>
        </p:nvSpPr>
        <p:spPr bwMode="auto">
          <a:xfrm>
            <a:off x="5643863" y="1702160"/>
            <a:ext cx="914400" cy="914400"/>
          </a:xfrm>
          <a:custGeom>
            <a:avLst/>
            <a:gdLst>
              <a:gd name="T0" fmla="*/ 90 w 174"/>
              <a:gd name="T1" fmla="*/ 14 h 176"/>
              <a:gd name="T2" fmla="*/ 90 w 174"/>
              <a:gd name="T3" fmla="*/ 0 h 176"/>
              <a:gd name="T4" fmla="*/ 80 w 174"/>
              <a:gd name="T5" fmla="*/ 0 h 176"/>
              <a:gd name="T6" fmla="*/ 80 w 174"/>
              <a:gd name="T7" fmla="*/ 14 h 176"/>
              <a:gd name="T8" fmla="*/ 0 w 174"/>
              <a:gd name="T9" fmla="*/ 14 h 176"/>
              <a:gd name="T10" fmla="*/ 0 w 174"/>
              <a:gd name="T11" fmla="*/ 40 h 176"/>
              <a:gd name="T12" fmla="*/ 9 w 174"/>
              <a:gd name="T13" fmla="*/ 40 h 176"/>
              <a:gd name="T14" fmla="*/ 9 w 174"/>
              <a:gd name="T15" fmla="*/ 138 h 176"/>
              <a:gd name="T16" fmla="*/ 70 w 174"/>
              <a:gd name="T17" fmla="*/ 138 h 176"/>
              <a:gd name="T18" fmla="*/ 33 w 174"/>
              <a:gd name="T19" fmla="*/ 168 h 176"/>
              <a:gd name="T20" fmla="*/ 39 w 174"/>
              <a:gd name="T21" fmla="*/ 176 h 176"/>
              <a:gd name="T22" fmla="*/ 86 w 174"/>
              <a:gd name="T23" fmla="*/ 138 h 176"/>
              <a:gd name="T24" fmla="*/ 86 w 174"/>
              <a:gd name="T25" fmla="*/ 138 h 176"/>
              <a:gd name="T26" fmla="*/ 133 w 174"/>
              <a:gd name="T27" fmla="*/ 176 h 176"/>
              <a:gd name="T28" fmla="*/ 140 w 174"/>
              <a:gd name="T29" fmla="*/ 168 h 176"/>
              <a:gd name="T30" fmla="*/ 102 w 174"/>
              <a:gd name="T31" fmla="*/ 138 h 176"/>
              <a:gd name="T32" fmla="*/ 164 w 174"/>
              <a:gd name="T33" fmla="*/ 138 h 176"/>
              <a:gd name="T34" fmla="*/ 164 w 174"/>
              <a:gd name="T35" fmla="*/ 40 h 176"/>
              <a:gd name="T36" fmla="*/ 174 w 174"/>
              <a:gd name="T37" fmla="*/ 40 h 176"/>
              <a:gd name="T38" fmla="*/ 174 w 174"/>
              <a:gd name="T39" fmla="*/ 14 h 176"/>
              <a:gd name="T40" fmla="*/ 90 w 174"/>
              <a:gd name="T41" fmla="*/ 14 h 176"/>
              <a:gd name="T42" fmla="*/ 154 w 174"/>
              <a:gd name="T43" fmla="*/ 128 h 176"/>
              <a:gd name="T44" fmla="*/ 19 w 174"/>
              <a:gd name="T45" fmla="*/ 128 h 176"/>
              <a:gd name="T46" fmla="*/ 19 w 174"/>
              <a:gd name="T47" fmla="*/ 40 h 176"/>
              <a:gd name="T48" fmla="*/ 154 w 174"/>
              <a:gd name="T49" fmla="*/ 40 h 176"/>
              <a:gd name="T50" fmla="*/ 154 w 174"/>
              <a:gd name="T51" fmla="*/ 128 h 176"/>
              <a:gd name="T52" fmla="*/ 51 w 174"/>
              <a:gd name="T53" fmla="*/ 105 h 176"/>
              <a:gd name="T54" fmla="*/ 51 w 174"/>
              <a:gd name="T55" fmla="*/ 79 h 176"/>
              <a:gd name="T56" fmla="*/ 77 w 174"/>
              <a:gd name="T57" fmla="*/ 79 h 176"/>
              <a:gd name="T58" fmla="*/ 51 w 174"/>
              <a:gd name="T59" fmla="*/ 53 h 176"/>
              <a:gd name="T60" fmla="*/ 25 w 174"/>
              <a:gd name="T61" fmla="*/ 79 h 176"/>
              <a:gd name="T62" fmla="*/ 51 w 174"/>
              <a:gd name="T63" fmla="*/ 105 h 176"/>
              <a:gd name="T64" fmla="*/ 59 w 174"/>
              <a:gd name="T65" fmla="*/ 112 h 176"/>
              <a:gd name="T66" fmla="*/ 85 w 174"/>
              <a:gd name="T67" fmla="*/ 86 h 176"/>
              <a:gd name="T68" fmla="*/ 59 w 174"/>
              <a:gd name="T69" fmla="*/ 86 h 176"/>
              <a:gd name="T70" fmla="*/ 59 w 174"/>
              <a:gd name="T71" fmla="*/ 112 h 176"/>
              <a:gd name="T72" fmla="*/ 138 w 174"/>
              <a:gd name="T73" fmla="*/ 59 h 176"/>
              <a:gd name="T74" fmla="*/ 105 w 174"/>
              <a:gd name="T75" fmla="*/ 59 h 176"/>
              <a:gd name="T76" fmla="*/ 105 w 174"/>
              <a:gd name="T77" fmla="*/ 69 h 176"/>
              <a:gd name="T78" fmla="*/ 138 w 174"/>
              <a:gd name="T79" fmla="*/ 69 h 176"/>
              <a:gd name="T80" fmla="*/ 138 w 174"/>
              <a:gd name="T81" fmla="*/ 59 h 176"/>
              <a:gd name="T82" fmla="*/ 138 w 174"/>
              <a:gd name="T83" fmla="*/ 77 h 176"/>
              <a:gd name="T84" fmla="*/ 105 w 174"/>
              <a:gd name="T85" fmla="*/ 77 h 176"/>
              <a:gd name="T86" fmla="*/ 105 w 174"/>
              <a:gd name="T87" fmla="*/ 87 h 176"/>
              <a:gd name="T88" fmla="*/ 138 w 174"/>
              <a:gd name="T89" fmla="*/ 87 h 176"/>
              <a:gd name="T90" fmla="*/ 138 w 174"/>
              <a:gd name="T91" fmla="*/ 77 h 176"/>
              <a:gd name="T92" fmla="*/ 138 w 174"/>
              <a:gd name="T93" fmla="*/ 96 h 176"/>
              <a:gd name="T94" fmla="*/ 105 w 174"/>
              <a:gd name="T95" fmla="*/ 96 h 176"/>
              <a:gd name="T96" fmla="*/ 105 w 174"/>
              <a:gd name="T97" fmla="*/ 106 h 176"/>
              <a:gd name="T98" fmla="*/ 138 w 174"/>
              <a:gd name="T99" fmla="*/ 106 h 176"/>
              <a:gd name="T100" fmla="*/ 138 w 174"/>
              <a:gd name="T101" fmla="*/ 96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74" h="176">
                <a:moveTo>
                  <a:pt x="90" y="14"/>
                </a:moveTo>
                <a:cubicBezTo>
                  <a:pt x="90" y="0"/>
                  <a:pt x="90" y="0"/>
                  <a:pt x="90" y="0"/>
                </a:cubicBezTo>
                <a:cubicBezTo>
                  <a:pt x="80" y="0"/>
                  <a:pt x="80" y="0"/>
                  <a:pt x="80" y="0"/>
                </a:cubicBezTo>
                <a:cubicBezTo>
                  <a:pt x="80" y="14"/>
                  <a:pt x="80" y="14"/>
                  <a:pt x="80" y="14"/>
                </a:cubicBezTo>
                <a:cubicBezTo>
                  <a:pt x="0" y="14"/>
                  <a:pt x="0" y="14"/>
                  <a:pt x="0" y="14"/>
                </a:cubicBezTo>
                <a:cubicBezTo>
                  <a:pt x="0" y="40"/>
                  <a:pt x="0" y="40"/>
                  <a:pt x="0" y="40"/>
                </a:cubicBezTo>
                <a:cubicBezTo>
                  <a:pt x="9" y="40"/>
                  <a:pt x="9" y="40"/>
                  <a:pt x="9" y="40"/>
                </a:cubicBezTo>
                <a:cubicBezTo>
                  <a:pt x="9" y="138"/>
                  <a:pt x="9" y="138"/>
                  <a:pt x="9" y="138"/>
                </a:cubicBezTo>
                <a:cubicBezTo>
                  <a:pt x="70" y="138"/>
                  <a:pt x="70" y="138"/>
                  <a:pt x="70" y="138"/>
                </a:cubicBezTo>
                <a:cubicBezTo>
                  <a:pt x="33" y="168"/>
                  <a:pt x="33" y="168"/>
                  <a:pt x="33" y="168"/>
                </a:cubicBezTo>
                <a:cubicBezTo>
                  <a:pt x="39" y="176"/>
                  <a:pt x="39" y="176"/>
                  <a:pt x="39" y="176"/>
                </a:cubicBezTo>
                <a:cubicBezTo>
                  <a:pt x="86" y="138"/>
                  <a:pt x="86" y="138"/>
                  <a:pt x="86" y="138"/>
                </a:cubicBezTo>
                <a:cubicBezTo>
                  <a:pt x="86" y="138"/>
                  <a:pt x="86" y="138"/>
                  <a:pt x="86" y="138"/>
                </a:cubicBezTo>
                <a:cubicBezTo>
                  <a:pt x="133" y="176"/>
                  <a:pt x="133" y="176"/>
                  <a:pt x="133" y="176"/>
                </a:cubicBezTo>
                <a:cubicBezTo>
                  <a:pt x="140" y="168"/>
                  <a:pt x="140" y="168"/>
                  <a:pt x="140" y="168"/>
                </a:cubicBezTo>
                <a:cubicBezTo>
                  <a:pt x="102" y="138"/>
                  <a:pt x="102" y="138"/>
                  <a:pt x="102" y="138"/>
                </a:cubicBezTo>
                <a:cubicBezTo>
                  <a:pt x="164" y="138"/>
                  <a:pt x="164" y="138"/>
                  <a:pt x="164" y="138"/>
                </a:cubicBezTo>
                <a:cubicBezTo>
                  <a:pt x="164" y="40"/>
                  <a:pt x="164" y="40"/>
                  <a:pt x="164" y="40"/>
                </a:cubicBezTo>
                <a:cubicBezTo>
                  <a:pt x="174" y="40"/>
                  <a:pt x="174" y="40"/>
                  <a:pt x="174" y="40"/>
                </a:cubicBezTo>
                <a:cubicBezTo>
                  <a:pt x="174" y="14"/>
                  <a:pt x="174" y="14"/>
                  <a:pt x="174" y="14"/>
                </a:cubicBezTo>
                <a:lnTo>
                  <a:pt x="90" y="14"/>
                </a:lnTo>
                <a:close/>
                <a:moveTo>
                  <a:pt x="154" y="128"/>
                </a:moveTo>
                <a:cubicBezTo>
                  <a:pt x="19" y="128"/>
                  <a:pt x="19" y="128"/>
                  <a:pt x="19" y="128"/>
                </a:cubicBezTo>
                <a:cubicBezTo>
                  <a:pt x="19" y="40"/>
                  <a:pt x="19" y="40"/>
                  <a:pt x="19" y="40"/>
                </a:cubicBezTo>
                <a:cubicBezTo>
                  <a:pt x="154" y="40"/>
                  <a:pt x="154" y="40"/>
                  <a:pt x="154" y="40"/>
                </a:cubicBezTo>
                <a:lnTo>
                  <a:pt x="154" y="128"/>
                </a:lnTo>
                <a:close/>
                <a:moveTo>
                  <a:pt x="51" y="105"/>
                </a:moveTo>
                <a:cubicBezTo>
                  <a:pt x="51" y="79"/>
                  <a:pt x="51" y="79"/>
                  <a:pt x="51" y="79"/>
                </a:cubicBezTo>
                <a:cubicBezTo>
                  <a:pt x="77" y="79"/>
                  <a:pt x="77" y="79"/>
                  <a:pt x="77" y="79"/>
                </a:cubicBezTo>
                <a:cubicBezTo>
                  <a:pt x="77" y="65"/>
                  <a:pt x="66" y="53"/>
                  <a:pt x="51" y="53"/>
                </a:cubicBezTo>
                <a:cubicBezTo>
                  <a:pt x="37" y="53"/>
                  <a:pt x="25" y="65"/>
                  <a:pt x="25" y="79"/>
                </a:cubicBezTo>
                <a:cubicBezTo>
                  <a:pt x="25" y="94"/>
                  <a:pt x="37" y="105"/>
                  <a:pt x="51" y="105"/>
                </a:cubicBezTo>
                <a:close/>
                <a:moveTo>
                  <a:pt x="59" y="112"/>
                </a:moveTo>
                <a:cubicBezTo>
                  <a:pt x="73" y="112"/>
                  <a:pt x="85" y="101"/>
                  <a:pt x="85" y="86"/>
                </a:cubicBezTo>
                <a:cubicBezTo>
                  <a:pt x="59" y="86"/>
                  <a:pt x="59" y="86"/>
                  <a:pt x="59" y="86"/>
                </a:cubicBezTo>
                <a:lnTo>
                  <a:pt x="59" y="112"/>
                </a:lnTo>
                <a:close/>
                <a:moveTo>
                  <a:pt x="138" y="59"/>
                </a:moveTo>
                <a:cubicBezTo>
                  <a:pt x="105" y="59"/>
                  <a:pt x="105" y="59"/>
                  <a:pt x="105" y="59"/>
                </a:cubicBezTo>
                <a:cubicBezTo>
                  <a:pt x="105" y="69"/>
                  <a:pt x="105" y="69"/>
                  <a:pt x="105" y="69"/>
                </a:cubicBezTo>
                <a:cubicBezTo>
                  <a:pt x="138" y="69"/>
                  <a:pt x="138" y="69"/>
                  <a:pt x="138" y="69"/>
                </a:cubicBezTo>
                <a:lnTo>
                  <a:pt x="138" y="59"/>
                </a:lnTo>
                <a:close/>
                <a:moveTo>
                  <a:pt x="138" y="77"/>
                </a:moveTo>
                <a:cubicBezTo>
                  <a:pt x="105" y="77"/>
                  <a:pt x="105" y="77"/>
                  <a:pt x="105" y="77"/>
                </a:cubicBezTo>
                <a:cubicBezTo>
                  <a:pt x="105" y="87"/>
                  <a:pt x="105" y="87"/>
                  <a:pt x="105" y="87"/>
                </a:cubicBezTo>
                <a:cubicBezTo>
                  <a:pt x="138" y="87"/>
                  <a:pt x="138" y="87"/>
                  <a:pt x="138" y="87"/>
                </a:cubicBezTo>
                <a:lnTo>
                  <a:pt x="138" y="77"/>
                </a:lnTo>
                <a:close/>
                <a:moveTo>
                  <a:pt x="138" y="96"/>
                </a:moveTo>
                <a:cubicBezTo>
                  <a:pt x="105" y="96"/>
                  <a:pt x="105" y="96"/>
                  <a:pt x="105" y="96"/>
                </a:cubicBezTo>
                <a:cubicBezTo>
                  <a:pt x="105" y="106"/>
                  <a:pt x="105" y="106"/>
                  <a:pt x="105" y="106"/>
                </a:cubicBezTo>
                <a:cubicBezTo>
                  <a:pt x="138" y="106"/>
                  <a:pt x="138" y="106"/>
                  <a:pt x="138" y="106"/>
                </a:cubicBezTo>
                <a:lnTo>
                  <a:pt x="138" y="9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E01EC0A4-EB31-1A43-1191-07C71E30E1EE}"/>
              </a:ext>
            </a:extLst>
          </p:cNvPr>
          <p:cNvGrpSpPr/>
          <p:nvPr/>
        </p:nvGrpSpPr>
        <p:grpSpPr>
          <a:xfrm>
            <a:off x="5565368" y="5600960"/>
            <a:ext cx="1060644" cy="65258"/>
            <a:chOff x="5565368" y="5600960"/>
            <a:chExt cx="1060644" cy="65258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389A3AA5-5366-3287-2977-D688342F87A7}"/>
                </a:ext>
              </a:extLst>
            </p:cNvPr>
            <p:cNvGrpSpPr/>
            <p:nvPr/>
          </p:nvGrpSpPr>
          <p:grpSpPr>
            <a:xfrm>
              <a:off x="5565368" y="5600960"/>
              <a:ext cx="795638" cy="65258"/>
              <a:chOff x="5565368" y="5600960"/>
              <a:chExt cx="795638" cy="65258"/>
            </a:xfrm>
          </p:grpSpPr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6E1D805B-7341-A58B-391D-BDBEBCB1CE93}"/>
                  </a:ext>
                </a:extLst>
              </p:cNvPr>
              <p:cNvGrpSpPr/>
              <p:nvPr/>
            </p:nvGrpSpPr>
            <p:grpSpPr>
              <a:xfrm>
                <a:off x="5565368" y="5600960"/>
                <a:ext cx="530322" cy="65258"/>
                <a:chOff x="5565368" y="5600960"/>
                <a:chExt cx="530322" cy="65258"/>
              </a:xfrm>
            </p:grpSpPr>
            <p:sp>
              <p:nvSpPr>
                <p:cNvPr id="10" name="圆角矩形 59">
                  <a:extLst>
                    <a:ext uri="{FF2B5EF4-FFF2-40B4-BE49-F238E27FC236}">
                      <a16:creationId xmlns:a16="http://schemas.microsoft.com/office/drawing/2014/main" id="{2E9DAC7E-0F0A-BC92-8832-E1BA8B9FBBB7}"/>
                    </a:ext>
                  </a:extLst>
                </p:cNvPr>
                <p:cNvSpPr/>
                <p:nvPr/>
              </p:nvSpPr>
              <p:spPr>
                <a:xfrm>
                  <a:off x="5565368" y="5600960"/>
                  <a:ext cx="265316" cy="6525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368300" dir="5400000" algn="ctr" rotWithShape="0">
                    <a:srgbClr val="FD4979">
                      <a:alpha val="49000"/>
                    </a:srgb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>
                    <a:ea typeface="微软雅黑" panose="020B0503020204020204" charset="-122"/>
                  </a:endParaRPr>
                </a:p>
              </p:txBody>
            </p:sp>
            <p:sp>
              <p:nvSpPr>
                <p:cNvPr id="7" name="圆角矩形 59">
                  <a:extLst>
                    <a:ext uri="{FF2B5EF4-FFF2-40B4-BE49-F238E27FC236}">
                      <a16:creationId xmlns:a16="http://schemas.microsoft.com/office/drawing/2014/main" id="{8B61EC30-ED79-E4D2-71BD-1D01CDC5E796}"/>
                    </a:ext>
                  </a:extLst>
                </p:cNvPr>
                <p:cNvSpPr/>
                <p:nvPr/>
              </p:nvSpPr>
              <p:spPr>
                <a:xfrm>
                  <a:off x="5830374" y="5600960"/>
                  <a:ext cx="265316" cy="6525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368300" dir="5400000" algn="ctr" rotWithShape="0">
                    <a:srgbClr val="FD4979">
                      <a:alpha val="49000"/>
                    </a:srgb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>
                    <a:ea typeface="微软雅黑" panose="020B0503020204020204" charset="-122"/>
                  </a:endParaRPr>
                </a:p>
              </p:txBody>
            </p:sp>
          </p:grpSp>
          <p:sp>
            <p:nvSpPr>
              <p:cNvPr id="13" name="圆角矩形 59">
                <a:extLst>
                  <a:ext uri="{FF2B5EF4-FFF2-40B4-BE49-F238E27FC236}">
                    <a16:creationId xmlns:a16="http://schemas.microsoft.com/office/drawing/2014/main" id="{47BFF44A-5BD6-5408-D73D-759A06C377B4}"/>
                  </a:ext>
                </a:extLst>
              </p:cNvPr>
              <p:cNvSpPr/>
              <p:nvPr/>
            </p:nvSpPr>
            <p:spPr>
              <a:xfrm>
                <a:off x="6095690" y="5600960"/>
                <a:ext cx="265316" cy="65258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  <a:effectLst>
                <a:outerShdw blurRad="368300" dir="5400000" algn="ctr" rotWithShape="0">
                  <a:srgbClr val="FD4979">
                    <a:alpha val="4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ea typeface="微软雅黑" panose="020B0503020204020204" charset="-122"/>
                </a:endParaRPr>
              </a:p>
            </p:txBody>
          </p:sp>
        </p:grpSp>
        <p:sp>
          <p:nvSpPr>
            <p:cNvPr id="15" name="圆角矩形 59">
              <a:extLst>
                <a:ext uri="{FF2B5EF4-FFF2-40B4-BE49-F238E27FC236}">
                  <a16:creationId xmlns:a16="http://schemas.microsoft.com/office/drawing/2014/main" id="{F1D077E3-0302-6A79-203E-553FB5152FAA}"/>
                </a:ext>
              </a:extLst>
            </p:cNvPr>
            <p:cNvSpPr/>
            <p:nvPr/>
          </p:nvSpPr>
          <p:spPr>
            <a:xfrm>
              <a:off x="6360696" y="5600960"/>
              <a:ext cx="265316" cy="65258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368300" dir="5400000" algn="ctr" rotWithShape="0">
                <a:srgbClr val="FD4979">
                  <a:alpha val="49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微软雅黑" panose="020B050302020402020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34361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>
            <a:off x="1127760" y="1381760"/>
            <a:ext cx="9936480" cy="4752340"/>
          </a:xfrm>
          <a:prstGeom prst="roundRect">
            <a:avLst>
              <a:gd name="adj" fmla="val 1496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38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23449" y="135317"/>
            <a:ext cx="11023111" cy="679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rgbClr val="983D8B"/>
                </a:solidFill>
                <a:ea typeface="微软雅黑" panose="020B0503020204020204" charset="-122"/>
              </a:rPr>
              <a:t>4  </a:t>
            </a:r>
            <a:r>
              <a:rPr lang="zh-CN" altLang="en-US" sz="3200" b="1" dirty="0">
                <a:solidFill>
                  <a:srgbClr val="983D8B"/>
                </a:solidFill>
                <a:ea typeface="微软雅黑" panose="020B0503020204020204" charset="-122"/>
              </a:rPr>
              <a:t>总结</a:t>
            </a:r>
          </a:p>
        </p:txBody>
      </p:sp>
      <p:graphicFrame>
        <p:nvGraphicFramePr>
          <p:cNvPr id="11" name="图示 10"/>
          <p:cNvGraphicFramePr/>
          <p:nvPr/>
        </p:nvGraphicFramePr>
        <p:xfrm>
          <a:off x="1853436" y="4635189"/>
          <a:ext cx="2931803" cy="1253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5AFCE890-6FC0-0284-BC55-453D51EEDFBB}"/>
              </a:ext>
            </a:extLst>
          </p:cNvPr>
          <p:cNvSpPr txBox="1"/>
          <p:nvPr/>
        </p:nvSpPr>
        <p:spPr>
          <a:xfrm>
            <a:off x="1439889" y="1695272"/>
            <a:ext cx="9312222" cy="4192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机器人电驱动系统的设计，不是单一技术的突破，而是电机、控制、感知、安全、热管理的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系统集成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  <a:p>
            <a:pPr indent="457200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从工程实际出发，一条完整的技术链贯穿始终：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负载需求决定电机选型，矢量控制与阻抗控制实现从转矩到交互的调控，多源感知与故障保护构建安全闭环，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SEA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提供被动柔顺，热管理划定持续运行的物理边界。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八个环节环环相扣，任何一个短板都会限制整机性能。</a:t>
            </a:r>
          </a:p>
          <a:p>
            <a:pPr indent="457200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选型要匹配关节功能，控制要让电机从“转动”升级为“可控交互”，集成必须兼顾感知、保护、柔顺与散热。 唯有将电、磁、热、控、感知、结构纳入统一设计框架，才能在精度、动态、安全与功率密度之间取得平衡。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C0491-5156-7F4D-798A-63B826275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5DB53DFF-2C0E-DB32-5C0E-90AD49678E14}"/>
              </a:ext>
            </a:extLst>
          </p:cNvPr>
          <p:cNvSpPr/>
          <p:nvPr/>
        </p:nvSpPr>
        <p:spPr>
          <a:xfrm>
            <a:off x="1127760" y="1381760"/>
            <a:ext cx="9936480" cy="4752340"/>
          </a:xfrm>
          <a:prstGeom prst="roundRect">
            <a:avLst>
              <a:gd name="adj" fmla="val 1496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38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A33F5C5-E1E3-6341-533E-F41EF884B545}"/>
              </a:ext>
            </a:extLst>
          </p:cNvPr>
          <p:cNvSpPr txBox="1"/>
          <p:nvPr/>
        </p:nvSpPr>
        <p:spPr>
          <a:xfrm>
            <a:off x="823449" y="135317"/>
            <a:ext cx="11023111" cy="679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solidFill>
                  <a:srgbClr val="983D8B"/>
                </a:solidFill>
                <a:ea typeface="微软雅黑" panose="020B0503020204020204" charset="-122"/>
              </a:rPr>
              <a:t>参考文献</a:t>
            </a:r>
          </a:p>
        </p:txBody>
      </p:sp>
      <p:graphicFrame>
        <p:nvGraphicFramePr>
          <p:cNvPr id="11" name="图示 10">
            <a:extLst>
              <a:ext uri="{FF2B5EF4-FFF2-40B4-BE49-F238E27FC236}">
                <a16:creationId xmlns:a16="http://schemas.microsoft.com/office/drawing/2014/main" id="{67D0F036-7F1E-14E5-1B9D-5B1DE38B8049}"/>
              </a:ext>
            </a:extLst>
          </p:cNvPr>
          <p:cNvGraphicFramePr/>
          <p:nvPr/>
        </p:nvGraphicFramePr>
        <p:xfrm>
          <a:off x="1853436" y="4635189"/>
          <a:ext cx="2931803" cy="1253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D3C268C5-2558-D559-4526-3472C7FE310E}"/>
              </a:ext>
            </a:extLst>
          </p:cNvPr>
          <p:cNvSpPr txBox="1"/>
          <p:nvPr/>
        </p:nvSpPr>
        <p:spPr>
          <a:xfrm>
            <a:off x="1510387" y="1702117"/>
            <a:ext cx="9171225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[1]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李发海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,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王岩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.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电机与拖动基础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[M].4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版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.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北京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: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清华大学出版社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,2012.</a:t>
            </a:r>
          </a:p>
          <a:p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[2]EMIRE S, BARASUOL V, VILLA M, et al. Load-based variable transmission mechanism for robotic applications[C]//2025 IEEE International Conference on Advanced Robotics (ICAR). San Juan: IEEE, 2025: 73-79.</a:t>
            </a:r>
          </a:p>
          <a:p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[3]Hogan, N. Impedance Control: An Approach to Manipulation: Part I - Theory. Journal of Dynamic Systems, Mea-</a:t>
            </a:r>
            <a:r>
              <a:rPr lang="en-US" altLang="zh-CN" sz="1600" dirty="0" err="1">
                <a:latin typeface="微软雅黑" panose="020B0503020204020204" charset="-122"/>
                <a:ea typeface="微软雅黑" panose="020B0503020204020204" charset="-122"/>
              </a:rPr>
              <a:t>surement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, and Control, 107(1):1 -7, 1985.</a:t>
            </a:r>
          </a:p>
          <a:p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[4]Pratt G A, Williamson M </a:t>
            </a:r>
            <a:r>
              <a:rPr lang="en-US" altLang="zh-CN" sz="1600" dirty="0" err="1">
                <a:latin typeface="微软雅黑" panose="020B0503020204020204" charset="-122"/>
                <a:ea typeface="微软雅黑" panose="020B0503020204020204" charset="-122"/>
              </a:rPr>
              <a:t>M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. Series Elastic Actuators[R]. MIT Artificial Intelligence Laboratory, 1995.</a:t>
            </a:r>
          </a:p>
          <a:p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[5]Frontiers. Mechanical Compliance Optimization of SEA Driven Humanoid Joint[J]. Frontiers in Bioengineering and Biotechnology, 2019.</a:t>
            </a:r>
          </a:p>
          <a:p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[6]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潘京辉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.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多关节协作机器人故障诊断及容错控制研究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[D].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北京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: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北京科技大学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,2023.DO1:10.26945/d.cnki.gbjku.2023.000501.</a:t>
            </a:r>
          </a:p>
          <a:p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[7]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陈赛旋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.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协作机器人零力控制与碰撞检测技术研究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[D].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合肥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: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中国科学技术大学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,2018.</a:t>
            </a:r>
          </a:p>
          <a:p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[8]Anirban Mazumdar et al. "Improving Robotic Actuator Torque Density and Efficiency Through Enhanced Heat Transfer". In: </a:t>
            </a:r>
            <a:r>
              <a:rPr lang="en-US" altLang="zh-CN" sz="1600" dirty="0" err="1">
                <a:latin typeface="微软雅黑" panose="020B0503020204020204" charset="-122"/>
                <a:ea typeface="微软雅黑" panose="020B0503020204020204" charset="-122"/>
              </a:rPr>
              <a:t>ASMEDynamic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 Systems and Control Conference (DSCC). 2016. Dor: 10.1115/DSCC2016-9738.</a:t>
            </a:r>
          </a:p>
          <a:p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……</a:t>
            </a:r>
          </a:p>
        </p:txBody>
      </p:sp>
    </p:spTree>
    <p:extLst>
      <p:ext uri="{BB962C8B-B14F-4D97-AF65-F5344CB8AC3E}">
        <p14:creationId xmlns:p14="http://schemas.microsoft.com/office/powerpoint/2010/main" val="12713029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2537618"/>
            <a:ext cx="213245" cy="17827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614045" y="2796382"/>
            <a:ext cx="6472255" cy="1242639"/>
            <a:chOff x="2859872" y="2733461"/>
            <a:chExt cx="6472255" cy="1242639"/>
          </a:xfrm>
        </p:grpSpPr>
        <p:sp>
          <p:nvSpPr>
            <p:cNvPr id="5" name="内容占位符 14"/>
            <p:cNvSpPr txBox="1"/>
            <p:nvPr/>
          </p:nvSpPr>
          <p:spPr>
            <a:xfrm>
              <a:off x="2859872" y="2733461"/>
              <a:ext cx="5732011" cy="896937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None/>
                <a:defRPr sz="5400" b="1" kern="1200">
                  <a:solidFill>
                    <a:srgbClr val="7E0C6E"/>
                  </a:solidFill>
                  <a:latin typeface="+mn-ea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dirty="0">
                  <a:ea typeface="微软雅黑" panose="020B0503020204020204" charset="-122"/>
                </a:rPr>
                <a:t>感谢您的聆听</a:t>
              </a:r>
            </a:p>
          </p:txBody>
        </p:sp>
        <p:sp>
          <p:nvSpPr>
            <p:cNvPr id="6" name="内容占位符 14"/>
            <p:cNvSpPr txBox="1"/>
            <p:nvPr/>
          </p:nvSpPr>
          <p:spPr>
            <a:xfrm>
              <a:off x="2859872" y="3543408"/>
              <a:ext cx="6472255" cy="432692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None/>
                <a:defRPr sz="5400" b="1" kern="1200">
                  <a:solidFill>
                    <a:srgbClr val="7E0C6E"/>
                  </a:solidFill>
                  <a:latin typeface="+mn-ea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400" spc="100" dirty="0">
                  <a:solidFill>
                    <a:srgbClr val="7E0C6E">
                      <a:alpha val="55000"/>
                    </a:srgbClr>
                  </a:solidFill>
                  <a:ea typeface="微软雅黑" panose="020B0503020204020204" charset="-122"/>
                </a:rPr>
                <a:t>THANKS FOR YOU LISTENING</a:t>
              </a:r>
              <a:endParaRPr lang="zh-CN" altLang="en-US" sz="2400" spc="100" dirty="0">
                <a:solidFill>
                  <a:srgbClr val="7E0C6E">
                    <a:alpha val="55000"/>
                  </a:srgbClr>
                </a:solidFill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mMyYzI2Y2M4MWQwOWMzNzdlNzY1ZGU2NTU5OTg5Nz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5,&quot;left&quot;:35.991023622047244,&quot;top&quot;:178.5,&quot;width&quot;:887.777952755905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5,&quot;left&quot;:35.991023622047244,&quot;top&quot;:178.5,&quot;width&quot;:887.7779527559054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5,&quot;left&quot;:35.991023622047244,&quot;top&quot;:178.5,&quot;width&quot;:887.7779527559054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5,&quot;left&quot;:35.991023622047244,&quot;top&quot;:178.5,&quot;width&quot;:887.777952755905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5,&quot;left&quot;:35.991023622047244,&quot;top&quot;:178.5,&quot;width&quot;:887.7779527559054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5,&quot;left&quot;:35.991023622047244,&quot;top&quot;:178.5,&quot;width&quot;:887.7779527559054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5,&quot;left&quot;:35.991023622047244,&quot;top&quot;:178.5,&quot;width&quot;:887.7779527559054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5,&quot;left&quot;:35.991023622047244,&quot;top&quot;:178.5,&quot;width&quot;:887.777952755905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5,&quot;left&quot;:35.991023622047244,&quot;top&quot;:178.5,&quot;width&quot;:887.7779527559054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5,&quot;left&quot;:35.991023622047244,&quot;top&quot;:178.5,&quot;width&quot;:887.777952755905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5,&quot;left&quot;:35.991023622047244,&quot;top&quot;:178.5,&quot;width&quot;:887.7779527559054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5,&quot;left&quot;:35.991023622047244,&quot;top&quot;:178.5,&quot;width&quot;:887.777952755905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5,&quot;left&quot;:35.991023622047244,&quot;top&quot;:178.5,&quot;width&quot;:887.7779527559054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5,&quot;left&quot;:35.991023622047244,&quot;top&quot;:178.5,&quot;width&quot;:887.777952755905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5,&quot;left&quot;:35.991023622047244,&quot;top&quot;:178.5,&quot;width&quot;:887.7779527559054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5,&quot;left&quot;:35.991023622047244,&quot;top&quot;:178.5,&quot;width&quot;:887.777952755905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5,&quot;left&quot;:35.991023622047244,&quot;top&quot;:178.5,&quot;width&quot;:887.7779527559054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5,&quot;left&quot;:35.991023622047244,&quot;top&quot;:178.5,&quot;width&quot;:887.7779527559054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5,&quot;left&quot;:35.991023622047244,&quot;top&quot;:178.5,&quot;width&quot;:887.7779527559054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5,&quot;left&quot;:35.991023622047244,&quot;top&quot;:178.5,&quot;width&quot;:887.7779527559054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5,&quot;left&quot;:35.991023622047244,&quot;top&quot;:178.5,&quot;width&quot;:887.7779527559054}"/>
</p:tagLst>
</file>

<file path=ppt/theme/theme1.xml><?xml version="1.0" encoding="utf-8"?>
<a:theme xmlns:a="http://schemas.openxmlformats.org/drawingml/2006/main" name="Office 主题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E0C6E"/>
      </a:accent1>
      <a:accent2>
        <a:srgbClr val="983D8B"/>
      </a:accent2>
      <a:accent3>
        <a:srgbClr val="B26DA8"/>
      </a:accent3>
      <a:accent4>
        <a:srgbClr val="CB9EC5"/>
      </a:accent4>
      <a:accent5>
        <a:srgbClr val="7E0C6E"/>
      </a:accent5>
      <a:accent6>
        <a:srgbClr val="983D8B"/>
      </a:accent6>
      <a:hlink>
        <a:srgbClr val="B26DA8"/>
      </a:hlink>
      <a:folHlink>
        <a:srgbClr val="CB9EC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E0C6E"/>
      </a:accent1>
      <a:accent2>
        <a:srgbClr val="983D8B"/>
      </a:accent2>
      <a:accent3>
        <a:srgbClr val="B26DA8"/>
      </a:accent3>
      <a:accent4>
        <a:srgbClr val="CB9EC5"/>
      </a:accent4>
      <a:accent5>
        <a:srgbClr val="7E0C6E"/>
      </a:accent5>
      <a:accent6>
        <a:srgbClr val="983D8B"/>
      </a:accent6>
      <a:hlink>
        <a:srgbClr val="B26DA8"/>
      </a:hlink>
      <a:folHlink>
        <a:srgbClr val="CB9EC5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3组-姚力瑗、刘子豪、孙乃川  -  已修复</Template>
  <TotalTime>1283</TotalTime>
  <Words>2036</Words>
  <Application>Microsoft Office PowerPoint</Application>
  <PresentationFormat>宽屏</PresentationFormat>
  <Paragraphs>224</Paragraphs>
  <Slides>25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7" baseType="lpstr">
      <vt:lpstr>等线</vt:lpstr>
      <vt:lpstr>方正姚体</vt:lpstr>
      <vt:lpstr>仿宋</vt:lpstr>
      <vt:lpstr>宋体</vt:lpstr>
      <vt:lpstr>微软雅黑</vt:lpstr>
      <vt:lpstr>微软雅黑</vt:lpstr>
      <vt:lpstr>Arial</vt:lpstr>
      <vt:lpstr>Calibri</vt:lpstr>
      <vt:lpstr>Cambria Math</vt:lpstr>
      <vt:lpstr>Times New Roman</vt:lpstr>
      <vt:lpstr>Office 主题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家兴 殷</dc:creator>
  <cp:lastModifiedBy>家兴 殷</cp:lastModifiedBy>
  <cp:revision>69</cp:revision>
  <dcterms:created xsi:type="dcterms:W3CDTF">2025-11-03T03:01:05Z</dcterms:created>
  <dcterms:modified xsi:type="dcterms:W3CDTF">2026-06-05T12:53:35Z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6D7EBB0F02E748749DCA8A7A7EA9D28C_12</vt:lpwstr>
  </property>
  <property fmtid="{D5CDD505-2E9C-101B-9397-08002B2CF9AE}" pid="3" name="KSOProductBuildVer">
    <vt:lpwstr>2052-7.4.1.8983</vt:lpwstr>
  </property>
</Properties>
</file>