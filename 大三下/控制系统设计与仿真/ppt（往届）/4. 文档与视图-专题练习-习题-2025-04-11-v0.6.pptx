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49" r:id="rId2"/>
    <p:sldMasterId id="2147483652" r:id="rId3"/>
  </p:sldMasterIdLst>
  <p:notesMasterIdLst>
    <p:notesMasterId r:id="rId13"/>
  </p:notesMasterIdLst>
  <p:sldIdLst>
    <p:sldId id="256" r:id="rId4"/>
    <p:sldId id="650" r:id="rId5"/>
    <p:sldId id="651" r:id="rId6"/>
    <p:sldId id="613" r:id="rId7"/>
    <p:sldId id="649" r:id="rId8"/>
    <p:sldId id="620" r:id="rId9"/>
    <p:sldId id="635" r:id="rId10"/>
    <p:sldId id="636" r:id="rId11"/>
    <p:sldId id="479" r:id="rId12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FF9900"/>
    <a:srgbClr val="FFCCFF"/>
    <a:srgbClr val="FFFFCC"/>
    <a:srgbClr val="800080"/>
    <a:srgbClr val="00FF00"/>
    <a:srgbClr val="993366"/>
    <a:srgbClr val="000099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17" autoAdjust="0"/>
    <p:restoredTop sz="88462" autoAdjust="0"/>
  </p:normalViewPr>
  <p:slideViewPr>
    <p:cSldViewPr>
      <p:cViewPr varScale="1">
        <p:scale>
          <a:sx n="132" d="100"/>
          <a:sy n="132" d="100"/>
        </p:scale>
        <p:origin x="2532" y="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322" y="-9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i="0"/>
            </a:lvl1pPr>
          </a:lstStyle>
          <a:p>
            <a:pPr>
              <a:defRPr/>
            </a:pPr>
            <a:fld id="{C8B1F324-75FA-4A04-88D8-73F622D2CF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2985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8B1F324-75FA-4A04-88D8-73F622D2CF0A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1976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6"/>
          <p:cNvSpPr>
            <a:spLocks noChangeArrowheads="1"/>
          </p:cNvSpPr>
          <p:nvPr/>
        </p:nvSpPr>
        <p:spPr bwMode="auto">
          <a:xfrm>
            <a:off x="0" y="0"/>
            <a:ext cx="9144000" cy="4497388"/>
          </a:xfrm>
          <a:prstGeom prst="roundRect">
            <a:avLst>
              <a:gd name="adj" fmla="val 3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1143000" y="2422525"/>
            <a:ext cx="7999413" cy="276225"/>
            <a:chOff x="720" y="1526"/>
            <a:chExt cx="5039" cy="174"/>
          </a:xfrm>
        </p:grpSpPr>
        <p:sp>
          <p:nvSpPr>
            <p:cNvPr id="6" name="Line 18"/>
            <p:cNvSpPr>
              <a:spLocks noChangeShapeType="1"/>
            </p:cNvSpPr>
            <p:nvPr/>
          </p:nvSpPr>
          <p:spPr bwMode="auto">
            <a:xfrm flipH="1">
              <a:off x="719" y="1526"/>
              <a:ext cx="5042" cy="1"/>
            </a:xfrm>
            <a:prstGeom prst="line">
              <a:avLst/>
            </a:prstGeom>
            <a:noFill/>
            <a:ln w="9360">
              <a:solidFill>
                <a:srgbClr val="BABDB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9"/>
            <p:cNvSpPr>
              <a:spLocks noChangeShapeType="1"/>
            </p:cNvSpPr>
            <p:nvPr/>
          </p:nvSpPr>
          <p:spPr bwMode="auto">
            <a:xfrm>
              <a:off x="1266" y="1528"/>
              <a:ext cx="1" cy="173"/>
            </a:xfrm>
            <a:prstGeom prst="line">
              <a:avLst/>
            </a:prstGeom>
            <a:noFill/>
            <a:ln w="9360">
              <a:solidFill>
                <a:srgbClr val="BABDB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AutoShape 20"/>
          <p:cNvSpPr>
            <a:spLocks noChangeArrowheads="1"/>
          </p:cNvSpPr>
          <p:nvPr/>
        </p:nvSpPr>
        <p:spPr bwMode="auto">
          <a:xfrm>
            <a:off x="4687888" y="4486275"/>
            <a:ext cx="4456112" cy="61913"/>
          </a:xfrm>
          <a:prstGeom prst="roundRect">
            <a:avLst>
              <a:gd name="adj" fmla="val 2630"/>
            </a:avLst>
          </a:prstGeom>
          <a:solidFill>
            <a:srgbClr val="4D44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21"/>
          <p:cNvSpPr>
            <a:spLocks noChangeArrowheads="1"/>
          </p:cNvSpPr>
          <p:nvPr/>
        </p:nvSpPr>
        <p:spPr bwMode="auto">
          <a:xfrm>
            <a:off x="2014538" y="4241800"/>
            <a:ext cx="7129462" cy="165100"/>
          </a:xfrm>
          <a:prstGeom prst="roundRect">
            <a:avLst>
              <a:gd name="adj" fmla="val 958"/>
            </a:avLst>
          </a:prstGeom>
          <a:solidFill>
            <a:srgbClr val="B6C9C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22"/>
          <p:cNvSpPr>
            <a:spLocks noChangeArrowheads="1"/>
          </p:cNvSpPr>
          <p:nvPr/>
        </p:nvSpPr>
        <p:spPr bwMode="auto">
          <a:xfrm>
            <a:off x="1146175" y="4398963"/>
            <a:ext cx="7997825" cy="96837"/>
          </a:xfrm>
          <a:prstGeom prst="roundRect">
            <a:avLst>
              <a:gd name="adj" fmla="val 1667"/>
            </a:avLst>
          </a:prstGeom>
          <a:solidFill>
            <a:srgbClr val="6484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23"/>
          <p:cNvSpPr>
            <a:spLocks noChangeShapeType="1"/>
          </p:cNvSpPr>
          <p:nvPr/>
        </p:nvSpPr>
        <p:spPr bwMode="auto">
          <a:xfrm flipH="1">
            <a:off x="1141413" y="2422525"/>
            <a:ext cx="8004175" cy="1588"/>
          </a:xfrm>
          <a:prstGeom prst="line">
            <a:avLst/>
          </a:prstGeom>
          <a:noFill/>
          <a:ln w="936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24"/>
          <p:cNvSpPr>
            <a:spLocks noChangeShapeType="1"/>
          </p:cNvSpPr>
          <p:nvPr/>
        </p:nvSpPr>
        <p:spPr bwMode="auto">
          <a:xfrm>
            <a:off x="2009775" y="2425700"/>
            <a:ext cx="1588" cy="274638"/>
          </a:xfrm>
          <a:prstGeom prst="line">
            <a:avLst/>
          </a:prstGeom>
          <a:noFill/>
          <a:ln w="936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Picture 25" descr="image0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5300663"/>
            <a:ext cx="2662237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1044575" y="5345113"/>
            <a:ext cx="41052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</a:rPr>
              <a:t>机器人与信息自动化研究所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2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fornian FB" pitchFamily="18" charset="0"/>
              </a:rPr>
              <a:t>Institute of Robotics &amp; Automatic Information System</a:t>
            </a:r>
          </a:p>
        </p:txBody>
      </p:sp>
      <p:pic>
        <p:nvPicPr>
          <p:cNvPr id="15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410200"/>
            <a:ext cx="5445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7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1263650" y="1125538"/>
            <a:ext cx="7772400" cy="127158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 altLang="zh-CN"/>
              <a:t>Click to edit the title text format</a:t>
            </a:r>
            <a:endParaRPr lang="en-US" altLang="zh-CN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68538" y="2638425"/>
            <a:ext cx="6400800" cy="1295400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zh-CN"/>
              <a:t>Click to edit the title text format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132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7037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8716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341438"/>
            <a:ext cx="4135438" cy="4741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341438"/>
            <a:ext cx="4137025" cy="4741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278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7592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68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060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385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9647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6384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4638" y="476250"/>
            <a:ext cx="2124075" cy="56070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476250"/>
            <a:ext cx="6221413" cy="56070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654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76250"/>
            <a:ext cx="7921625" cy="711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23850" y="1341438"/>
            <a:ext cx="8424863" cy="4741862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824146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76250"/>
            <a:ext cx="7921625" cy="711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341438"/>
            <a:ext cx="4135438" cy="474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1341438"/>
            <a:ext cx="4137025" cy="474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1617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476250"/>
            <a:ext cx="7921625" cy="711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341438"/>
            <a:ext cx="4135438" cy="4741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4611688" y="1341438"/>
            <a:ext cx="4137025" cy="4741862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627264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9917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23839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8882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4826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048559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514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4952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531569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3636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142008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330968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2528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797496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20827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494066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389788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401655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5131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8143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96579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577398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911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47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341438"/>
            <a:ext cx="8424863" cy="4741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dirty="0"/>
              <a:t>Click to edit the title text format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7" name="AutoShape 17"/>
          <p:cNvSpPr>
            <a:spLocks noChangeArrowheads="1"/>
          </p:cNvSpPr>
          <p:nvPr/>
        </p:nvSpPr>
        <p:spPr bwMode="auto">
          <a:xfrm>
            <a:off x="3175" y="0"/>
            <a:ext cx="9144000" cy="304800"/>
          </a:xfrm>
          <a:prstGeom prst="roundRect">
            <a:avLst>
              <a:gd name="adj" fmla="val 519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AutoShape 18"/>
          <p:cNvSpPr>
            <a:spLocks noChangeArrowheads="1"/>
          </p:cNvSpPr>
          <p:nvPr/>
        </p:nvSpPr>
        <p:spPr bwMode="auto">
          <a:xfrm>
            <a:off x="4763" y="6721475"/>
            <a:ext cx="9144000" cy="92075"/>
          </a:xfrm>
          <a:prstGeom prst="roundRect">
            <a:avLst>
              <a:gd name="adj" fmla="val 172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9" name="AutoShape 19"/>
          <p:cNvSpPr>
            <a:spLocks noChangeArrowheads="1"/>
          </p:cNvSpPr>
          <p:nvPr/>
        </p:nvSpPr>
        <p:spPr bwMode="auto">
          <a:xfrm>
            <a:off x="550863" y="6811963"/>
            <a:ext cx="8593137" cy="46037"/>
          </a:xfrm>
          <a:prstGeom prst="roundRect">
            <a:avLst>
              <a:gd name="adj" fmla="val 3569"/>
            </a:avLst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0" name="AutoShape 20"/>
          <p:cNvSpPr>
            <a:spLocks noChangeArrowheads="1"/>
          </p:cNvSpPr>
          <p:nvPr/>
        </p:nvSpPr>
        <p:spPr bwMode="auto">
          <a:xfrm>
            <a:off x="1528763" y="6556375"/>
            <a:ext cx="7620000" cy="165100"/>
          </a:xfrm>
          <a:prstGeom prst="roundRect">
            <a:avLst>
              <a:gd name="adj" fmla="val 958"/>
            </a:avLst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31" name="Picture 21" descr="image00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404813"/>
            <a:ext cx="787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2" name="Group 25"/>
          <p:cNvGrpSpPr>
            <a:grpSpLocks/>
          </p:cNvGrpSpPr>
          <p:nvPr/>
        </p:nvGrpSpPr>
        <p:grpSpPr bwMode="auto">
          <a:xfrm>
            <a:off x="250825" y="6165850"/>
            <a:ext cx="4105275" cy="431800"/>
            <a:chOff x="158" y="3884"/>
            <a:chExt cx="2586" cy="272"/>
          </a:xfrm>
        </p:grpSpPr>
        <p:sp>
          <p:nvSpPr>
            <p:cNvPr id="44048" name="Text Box 16"/>
            <p:cNvSpPr txBox="1">
              <a:spLocks noChangeArrowheads="1"/>
            </p:cNvSpPr>
            <p:nvPr userDrawn="1"/>
          </p:nvSpPr>
          <p:spPr bwMode="auto">
            <a:xfrm>
              <a:off x="385" y="3929"/>
              <a:ext cx="235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zh-CN" altLang="en-US" sz="1200" b="1" i="0">
                  <a:solidFill>
                    <a:srgbClr val="80008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机器人与信息自动化研究所</a:t>
              </a:r>
              <a:endParaRPr lang="zh-CN" altLang="en-GB" sz="12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pic>
          <p:nvPicPr>
            <p:cNvPr id="1037" name="Picture 23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" y="3884"/>
              <a:ext cx="20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33" name="Line 24"/>
          <p:cNvSpPr>
            <a:spLocks noChangeShapeType="1"/>
          </p:cNvSpPr>
          <p:nvPr/>
        </p:nvSpPr>
        <p:spPr bwMode="auto">
          <a:xfrm>
            <a:off x="323850" y="1268413"/>
            <a:ext cx="8828088" cy="0"/>
          </a:xfrm>
          <a:prstGeom prst="line">
            <a:avLst/>
          </a:prstGeom>
          <a:noFill/>
          <a:ln w="93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5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50825" y="476250"/>
            <a:ext cx="7921625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 dirty="0"/>
              <a:t>Click to edit the title text format</a:t>
            </a:r>
            <a:endParaRPr lang="en-US" altLang="zh-CN" dirty="0"/>
          </a:p>
        </p:txBody>
      </p:sp>
      <p:sp>
        <p:nvSpPr>
          <p:cNvPr id="44061" name="Text Box 29"/>
          <p:cNvSpPr txBox="1">
            <a:spLocks noChangeArrowheads="1"/>
          </p:cNvSpPr>
          <p:nvPr userDrawn="1"/>
        </p:nvSpPr>
        <p:spPr bwMode="auto">
          <a:xfrm>
            <a:off x="8026400" y="6165850"/>
            <a:ext cx="6492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B4B22D0D-444C-40FF-8D7C-89EDAF49A663}" type="slidenum">
              <a:rPr lang="en-US" altLang="zh-CN" sz="1400" b="1" i="0" smtClean="0">
                <a:solidFill>
                  <a:schemeClr val="bg2"/>
                </a:solidFill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zh-CN" sz="1400" b="1" i="0" dirty="0">
              <a:solidFill>
                <a:schemeClr val="bg2"/>
              </a:solidFill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205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  <p:sldLayoutId id="2147484180" r:id="rId12"/>
    <p:sldLayoutId id="2147484181" r:id="rId13"/>
    <p:sldLayoutId id="214748418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800080"/>
          </a:solidFill>
          <a:effectLst>
            <a:outerShdw blurRad="38100" dist="38100" dir="2700000" algn="tl">
              <a:srgbClr val="C0C0C0"/>
            </a:outerShdw>
          </a:effectLst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SzPct val="70000"/>
        <a:buFont typeface="Wingdings" pitchFamily="2" charset="2"/>
        <a:buChar char="Ø"/>
        <a:defRPr sz="2800" b="1">
          <a:solidFill>
            <a:schemeClr val="bg2"/>
          </a:solidFill>
          <a:effectLst/>
          <a:latin typeface="华文中宋" pitchFamily="2" charset="-122"/>
          <a:ea typeface="华文中宋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2400" b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2pPr>
      <a:lvl3pPr marL="1176338" indent="-2619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Ø"/>
        <a:defRPr sz="2000" b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Ø"/>
        <a:defRPr sz="2000" b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0">
          <a:solidFill>
            <a:schemeClr val="bg2"/>
          </a:solidFill>
          <a:effectLst/>
          <a:latin typeface="华文中宋" pitchFamily="2" charset="-122"/>
          <a:ea typeface="华文中宋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Ø"/>
        <a:defRPr sz="2000" b="1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AutoShape 7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Institute of Robotics and Automatic Information System</a:t>
            </a:r>
          </a:p>
        </p:txBody>
      </p:sp>
      <p:sp>
        <p:nvSpPr>
          <p:cNvPr id="2051" name="AutoShape 8"/>
          <p:cNvSpPr>
            <a:spLocks noChangeArrowheads="1"/>
          </p:cNvSpPr>
          <p:nvPr/>
        </p:nvSpPr>
        <p:spPr bwMode="auto">
          <a:xfrm>
            <a:off x="0" y="0"/>
            <a:ext cx="9144000" cy="4487863"/>
          </a:xfrm>
          <a:prstGeom prst="roundRect">
            <a:avLst>
              <a:gd name="adj" fmla="val 3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63713" y="2241550"/>
            <a:ext cx="60293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the title text format</a:t>
            </a:r>
          </a:p>
        </p:txBody>
      </p:sp>
      <p:pic>
        <p:nvPicPr>
          <p:cNvPr id="2053" name="Picture 13" descr="image0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5300663"/>
            <a:ext cx="2662237" cy="82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1044575" y="5345113"/>
            <a:ext cx="4105275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Palatino Linotype" pitchFamily="18" charset="0"/>
              </a:rPr>
              <a:t>机器人与信息自动化研究所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1200" b="1" i="0">
                <a:solidFill>
                  <a:srgbClr val="80008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alifornian FB" pitchFamily="18" charset="0"/>
              </a:rPr>
              <a:t>Institute of Robotics &amp; Automatic Information System</a:t>
            </a:r>
          </a:p>
        </p:txBody>
      </p:sp>
      <p:pic>
        <p:nvPicPr>
          <p:cNvPr id="2055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5410200"/>
            <a:ext cx="54451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AutoShap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altLang="zh-CN" sz="2400" b="1" i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Institute of Robotics and Automatic Information System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0" y="0"/>
            <a:ext cx="9144000" cy="4487863"/>
          </a:xfrm>
          <a:prstGeom prst="roundRect">
            <a:avLst>
              <a:gd name="adj" fmla="val 32"/>
            </a:avLst>
          </a:pr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763713" y="2241550"/>
            <a:ext cx="60293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  <p:sldLayoutId id="2147484200" r:id="rId7"/>
    <p:sldLayoutId id="2147484201" r:id="rId8"/>
    <p:sldLayoutId id="2147484202" r:id="rId9"/>
    <p:sldLayoutId id="2147484203" r:id="rId10"/>
    <p:sldLayoutId id="214748420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黑体" pitchFamily="2" charset="-122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31640" y="1484313"/>
            <a:ext cx="7561535" cy="8397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200" dirty="0"/>
              <a:t>文档与视图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68538" y="2709863"/>
            <a:ext cx="6400800" cy="12954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2800" b="0" dirty="0">
                <a:latin typeface="Arial" charset="0"/>
              </a:rPr>
              <a:t>党宇</a:t>
            </a:r>
            <a:endParaRPr lang="en-US" altLang="zh-CN" sz="2800" b="0" dirty="0">
              <a:latin typeface="Arial" charset="0"/>
            </a:endParaRPr>
          </a:p>
          <a:p>
            <a:pPr algn="ctr" eaLnBrk="1" hangingPunct="1">
              <a:defRPr/>
            </a:pPr>
            <a:r>
              <a:rPr lang="en-US" altLang="zh-CN" sz="2800" b="0" dirty="0">
                <a:latin typeface="Arial" charset="0"/>
              </a:rPr>
              <a:t>dangyu@Nankai.edu.cn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文档与视图</a:t>
            </a:r>
            <a:endParaRPr lang="en-US" altLang="zh-CN" dirty="0"/>
          </a:p>
          <a:p>
            <a:r>
              <a:rPr lang="zh-CN" altLang="en-US" dirty="0"/>
              <a:t>资源的应用</a:t>
            </a:r>
            <a:endParaRPr lang="en-US" altLang="zh-CN" dirty="0"/>
          </a:p>
          <a:p>
            <a:r>
              <a:rPr lang="en-US" altLang="zh-CN" dirty="0"/>
              <a:t>WM_TIMER</a:t>
            </a:r>
            <a:r>
              <a:rPr lang="zh-CN" altLang="en-US" dirty="0"/>
              <a:t>消息</a:t>
            </a:r>
            <a:endParaRPr lang="en-US" altLang="zh-CN" dirty="0"/>
          </a:p>
          <a:p>
            <a:r>
              <a:rPr lang="zh-CN" altLang="en-US" dirty="0"/>
              <a:t>综合实例</a:t>
            </a:r>
            <a:endParaRPr lang="en-US" altLang="zh-CN" dirty="0"/>
          </a:p>
          <a:p>
            <a:pPr lvl="1"/>
            <a:r>
              <a:rPr lang="zh-CN" altLang="en-US" dirty="0"/>
              <a:t>绘制曲线动画</a:t>
            </a:r>
            <a:endParaRPr lang="en-US" altLang="zh-CN" dirty="0"/>
          </a:p>
          <a:p>
            <a:pPr lvl="1"/>
            <a:r>
              <a:rPr lang="zh-CN" altLang="en-US" dirty="0"/>
              <a:t>位图资源的应用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文档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视图的专题练习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431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33C6D1-D5C1-48E2-BBD2-3FB0F34A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专题练习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EA0D2-5CE1-4F5D-878C-43FFE3A94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341438"/>
            <a:ext cx="8712646" cy="4741862"/>
          </a:xfrm>
        </p:spPr>
        <p:txBody>
          <a:bodyPr/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单击鼠标左键，在视图中显示点击位置，并进行保存。（知识点：文档</a:t>
            </a:r>
            <a:r>
              <a:rPr lang="en-US" altLang="zh-CN" sz="2400" dirty="0"/>
              <a:t>/</a:t>
            </a:r>
            <a:r>
              <a:rPr lang="zh-CN" altLang="en-US" sz="2400" dirty="0"/>
              <a:t>视图）</a:t>
            </a: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创建一个包含有“黑色” “红色” “绿色” “蓝色” 四个选项的应用程序，能够对显示的线条颜色进行改变。（知识点：资源的应用，绘图颜色）</a:t>
            </a:r>
            <a:endParaRPr lang="en-US" altLang="zh-CN" sz="2400" dirty="0"/>
          </a:p>
          <a:p>
            <a:r>
              <a:rPr lang="en-US" altLang="zh-CN" sz="2400" dirty="0"/>
              <a:t>3. </a:t>
            </a:r>
            <a:r>
              <a:rPr lang="zh-CN" altLang="en-US" sz="2400" dirty="0"/>
              <a:t>在习题</a:t>
            </a:r>
            <a:r>
              <a:rPr lang="en-US" altLang="zh-CN" sz="2400" dirty="0"/>
              <a:t>2</a:t>
            </a:r>
            <a:r>
              <a:rPr lang="zh-CN" altLang="en-US" sz="2400" dirty="0"/>
              <a:t>基础上，在菜单栏添加开始和停止键。按下开始键，可以利用计数器实现线条的闪烁和颜色变化。按下停止键，可以停留到当前颜色。可以保存并打开查看线条的位置和颜色，并能继续闪烁。（知识点：计时器）</a:t>
            </a:r>
            <a:endParaRPr lang="en-US" altLang="zh-CN" sz="2400" dirty="0"/>
          </a:p>
          <a:p>
            <a:r>
              <a:rPr lang="en-US" altLang="zh-CN" sz="2400" dirty="0"/>
              <a:t>4.</a:t>
            </a:r>
            <a:r>
              <a:rPr lang="zh-CN" altLang="en-US" sz="2400" dirty="0"/>
              <a:t>创建一个单文档应用程序，连续左键单击三个点，连线绘成三角形。添加颜色按钮菜单，能够实现颜色改变。能够保存并打开三角形形状和颜色。</a:t>
            </a:r>
            <a:endParaRPr lang="en-US" altLang="zh-CN" sz="2400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2458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723CC-E4E8-4018-BCCA-424385BCE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专题练习</a:t>
            </a:r>
            <a:r>
              <a:rPr lang="en-US" altLang="zh-CN" dirty="0"/>
              <a:t>-</a:t>
            </a:r>
            <a:r>
              <a:rPr lang="zh-CN" altLang="en-US" dirty="0"/>
              <a:t>习题</a:t>
            </a:r>
            <a:r>
              <a:rPr lang="en-US" altLang="zh-CN" dirty="0"/>
              <a:t>1-3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9D44C-904E-42D8-BDCB-ADF0B9FCF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341438"/>
            <a:ext cx="8568630" cy="4741862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E34E06-FE06-48C8-86BB-68CDBD054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77" y="1700808"/>
            <a:ext cx="8108245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8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723CC-E4E8-4018-BCCA-424385BCE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专题练习</a:t>
            </a:r>
            <a:r>
              <a:rPr lang="en-US" altLang="zh-CN" dirty="0"/>
              <a:t>-</a:t>
            </a:r>
            <a:r>
              <a:rPr lang="zh-CN" altLang="en-US" dirty="0"/>
              <a:t>习题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9D44C-904E-42D8-BDCB-ADF0B9FCF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341438"/>
            <a:ext cx="8568630" cy="4741862"/>
          </a:xfrm>
        </p:spPr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创建一个包含有“黑色” “红色” “绿色” “蓝色” 四个选项的应用程序，能够对显示的线条颜色进行改变。（知识点：资源的应用，绘图颜色）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49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1F756-BC60-4151-9D1A-17B1EBE7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专题练习</a:t>
            </a:r>
            <a:r>
              <a:rPr lang="en-US" altLang="zh-CN" dirty="0"/>
              <a:t>-</a:t>
            </a:r>
            <a:r>
              <a:rPr lang="zh-CN" altLang="en-US" dirty="0"/>
              <a:t>习题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70E0F8-ED00-46FC-8181-21BB92796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341438"/>
            <a:ext cx="8712646" cy="4741862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在习题</a:t>
            </a:r>
            <a:r>
              <a:rPr lang="en-US" altLang="zh-CN" dirty="0"/>
              <a:t>2</a:t>
            </a:r>
            <a:r>
              <a:rPr lang="zh-CN" altLang="en-US" dirty="0"/>
              <a:t>基础上，在菜单栏添加开始和停止键。按下开始键，可以利用计数器实现线条的闪烁和颜色变化。按下停止键，可以停留到当前颜色。可以保存并打开查看线条的位置和颜色，并能继续闪烁。（知识点：计时器）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985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C977C-0E2F-4034-9C73-06B924F5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专题练习</a:t>
            </a:r>
            <a:r>
              <a:rPr lang="en-US" altLang="zh-CN" dirty="0"/>
              <a:t>-</a:t>
            </a:r>
            <a:r>
              <a:rPr lang="zh-CN" altLang="en-US" dirty="0"/>
              <a:t>习题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18F50A1-8E36-4506-B0CC-FAF6F1F81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341438"/>
            <a:ext cx="8712646" cy="4741862"/>
          </a:xfrm>
        </p:spPr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创建一个单文档应用程序，连续左键单击三个点，连线绘成三角形。添加颜色按钮菜单，能够实现颜色改变。能够保存并打开三角形形状和颜色。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423AB8-F98F-400E-9388-3579193BA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858" y="2851850"/>
            <a:ext cx="6714136" cy="338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5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C7E547-199B-4554-BBA1-ADEF733E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练习题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716E82-55A2-4EEB-B3AA-9F12FFE4A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分析本节课的专题练习，练习独立写出代码。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练习综合实例的例子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阅读教科书第</a:t>
            </a:r>
            <a:r>
              <a:rPr lang="en-US" altLang="zh-CN" dirty="0"/>
              <a:t>10</a:t>
            </a:r>
            <a:r>
              <a:rPr lang="zh-CN" altLang="en-US" dirty="0"/>
              <a:t>章和第</a:t>
            </a:r>
            <a:r>
              <a:rPr lang="en-US" altLang="zh-CN" dirty="0"/>
              <a:t>11</a:t>
            </a:r>
            <a:r>
              <a:rPr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402242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文档与视图</a:t>
            </a:r>
            <a:endParaRPr lang="en-US" altLang="zh-CN" dirty="0"/>
          </a:p>
          <a:p>
            <a:r>
              <a:rPr lang="zh-CN" altLang="en-US" dirty="0"/>
              <a:t>资源的应用</a:t>
            </a:r>
            <a:endParaRPr lang="en-US" altLang="zh-CN" dirty="0"/>
          </a:p>
          <a:p>
            <a:r>
              <a:rPr lang="en-US" altLang="zh-CN" dirty="0"/>
              <a:t>WM_TIMER</a:t>
            </a:r>
            <a:r>
              <a:rPr lang="zh-CN" altLang="en-US" dirty="0"/>
              <a:t>消息</a:t>
            </a:r>
            <a:endParaRPr lang="en-US" altLang="zh-CN" dirty="0"/>
          </a:p>
          <a:p>
            <a:r>
              <a:rPr lang="zh-CN" altLang="en-US"/>
              <a:t>综合实例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2721306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0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660066"/>
      </a:accent1>
      <a:accent2>
        <a:srgbClr val="A886E0"/>
      </a:accent2>
      <a:accent3>
        <a:srgbClr val="AAADCA"/>
      </a:accent3>
      <a:accent4>
        <a:srgbClr val="DADADA"/>
      </a:accent4>
      <a:accent5>
        <a:srgbClr val="B8AAB8"/>
      </a:accent5>
      <a:accent6>
        <a:srgbClr val="9879CB"/>
      </a:accent6>
      <a:hlink>
        <a:srgbClr val="000066"/>
      </a:hlink>
      <a:folHlink>
        <a:srgbClr val="0000FF"/>
      </a:folHlink>
    </a:clrScheme>
    <a:fontScheme name="Stream">
      <a:majorFont>
        <a:latin typeface="黑体"/>
        <a:ea typeface="黑体"/>
        <a:cs typeface=""/>
      </a:majorFont>
      <a:minorFont>
        <a:latin typeface="华文仿宋"/>
        <a:ea typeface="华文仿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10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660066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B8AAB8"/>
        </a:accent5>
        <a:accent6>
          <a:srgbClr val="9879CB"/>
        </a:accent6>
        <a:hlink>
          <a:srgbClr val="000066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黑体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3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660066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B8AAB8"/>
        </a:accent5>
        <a:accent6>
          <a:srgbClr val="9879CB"/>
        </a:accent6>
        <a:hlink>
          <a:srgbClr val="000066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黑体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3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660066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B8AAB8"/>
        </a:accent5>
        <a:accent6>
          <a:srgbClr val="9879CB"/>
        </a:accent6>
        <a:hlink>
          <a:srgbClr val="000066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39881</TotalTime>
  <Words>415</Words>
  <Application>Microsoft Office PowerPoint</Application>
  <PresentationFormat>On-screen Show (4:3)</PresentationFormat>
  <Paragraphs>34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黑体</vt:lpstr>
      <vt:lpstr>华文中宋</vt:lpstr>
      <vt:lpstr>Arial</vt:lpstr>
      <vt:lpstr>Californian FB</vt:lpstr>
      <vt:lpstr>Palatino Linotype</vt:lpstr>
      <vt:lpstr>Times New Roman</vt:lpstr>
      <vt:lpstr>Wingdings</vt:lpstr>
      <vt:lpstr>Stream</vt:lpstr>
      <vt:lpstr>自定义设计方案</vt:lpstr>
      <vt:lpstr>1_自定义设计方案</vt:lpstr>
      <vt:lpstr>文档与视图</vt:lpstr>
      <vt:lpstr>目录</vt:lpstr>
      <vt:lpstr>专题练习</vt:lpstr>
      <vt:lpstr>专题练习-习题1-3</vt:lpstr>
      <vt:lpstr>专题练习-习题2</vt:lpstr>
      <vt:lpstr>专题练习-习题3</vt:lpstr>
      <vt:lpstr>专题练习-习题4</vt:lpstr>
      <vt:lpstr>练习题</vt:lpstr>
      <vt:lpstr>总结</vt:lpstr>
    </vt:vector>
  </TitlesOfParts>
  <Company>NKU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Chris</dc:creator>
  <cp:lastModifiedBy>Yu Dang</cp:lastModifiedBy>
  <cp:revision>3808</cp:revision>
  <dcterms:created xsi:type="dcterms:W3CDTF">2009-09-01T03:33:22Z</dcterms:created>
  <dcterms:modified xsi:type="dcterms:W3CDTF">2025-04-10T13:05:45Z</dcterms:modified>
</cp:coreProperties>
</file>