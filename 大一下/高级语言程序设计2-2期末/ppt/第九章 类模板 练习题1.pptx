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9"/>
  </p:notesMasterIdLst>
  <p:sldIdLst>
    <p:sldId id="269" r:id="rId2"/>
    <p:sldId id="257" r:id="rId3"/>
    <p:sldId id="258" r:id="rId4"/>
    <p:sldId id="259" r:id="rId5"/>
    <p:sldId id="260" r:id="rId6"/>
    <p:sldId id="270" r:id="rId7"/>
    <p:sldId id="271" r:id="rId8"/>
  </p:sldIdLst>
  <p:sldSz cx="9144000" cy="6858000" type="screen4x3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2727" autoAdjust="0"/>
    <p:restoredTop sz="94660"/>
  </p:normalViewPr>
  <p:slideViewPr>
    <p:cSldViewPr snapToGrid="0">
      <p:cViewPr varScale="1">
        <p:scale>
          <a:sx n="108" d="100"/>
          <a:sy n="108" d="100"/>
        </p:scale>
        <p:origin x="1134" y="-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3F125CC-5B43-43DE-B22C-6039F767B39E}" type="datetimeFigureOut">
              <a:rPr lang="zh-CN" altLang="en-US" smtClean="0"/>
              <a:t>2022/5/5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3EC8EAC-5B10-4431-B010-B901521EEAF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733401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单击以编辑母版副标题样式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75FD68-4E9B-48CC-BEF7-15C4EBAA348F}" type="datetimeFigureOut">
              <a:rPr lang="zh-CN" altLang="en-US" smtClean="0"/>
              <a:t>2022/5/5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DFF043-B3BA-4799-9603-DDA4A744828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755259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75FD68-4E9B-48CC-BEF7-15C4EBAA348F}" type="datetimeFigureOut">
              <a:rPr lang="zh-CN" altLang="en-US" smtClean="0"/>
              <a:t>2022/5/5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DFF043-B3BA-4799-9603-DDA4A744828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092664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75FD68-4E9B-48CC-BEF7-15C4EBAA348F}" type="datetimeFigureOut">
              <a:rPr lang="zh-CN" altLang="en-US" smtClean="0"/>
              <a:t>2022/5/5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DFF043-B3BA-4799-9603-DDA4A744828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8505263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75FD68-4E9B-48CC-BEF7-15C4EBAA348F}" type="datetimeFigureOut">
              <a:rPr lang="zh-CN" altLang="en-US" smtClean="0"/>
              <a:t>2022/5/5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DFF043-B3BA-4799-9603-DDA4A744828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6783742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75FD68-4E9B-48CC-BEF7-15C4EBAA348F}" type="datetimeFigureOut">
              <a:rPr lang="zh-CN" altLang="en-US" smtClean="0"/>
              <a:t>2022/5/5</a:t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DFF043-B3BA-4799-9603-DDA4A744828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187277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75FD68-4E9B-48CC-BEF7-15C4EBAA348F}" type="datetimeFigureOut">
              <a:rPr lang="zh-CN" altLang="en-US" smtClean="0"/>
              <a:t>2022/5/5</a:t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DFF043-B3BA-4799-9603-DDA4A744828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6580963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75FD68-4E9B-48CC-BEF7-15C4EBAA348F}" type="datetimeFigureOut">
              <a:rPr lang="zh-CN" altLang="en-US" smtClean="0"/>
              <a:t>2022/5/5</a:t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DFF043-B3BA-4799-9603-DDA4A744828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991215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75FD68-4E9B-48CC-BEF7-15C4EBAA348F}" type="datetimeFigureOut">
              <a:rPr lang="zh-CN" altLang="en-US" smtClean="0"/>
              <a:t>2022/5/5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DFF043-B3BA-4799-9603-DDA4A744828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761453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75FD68-4E9B-48CC-BEF7-15C4EBAA348F}" type="datetimeFigureOut">
              <a:rPr lang="zh-CN" altLang="en-US" smtClean="0"/>
              <a:t>2022/5/5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DFF043-B3BA-4799-9603-DDA4A744828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838899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75FD68-4E9B-48CC-BEF7-15C4EBAA348F}" type="datetimeFigureOut">
              <a:rPr lang="zh-CN" altLang="en-US" smtClean="0"/>
              <a:t>2022/5/5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DFF043-B3BA-4799-9603-DDA4A744828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389456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75FD68-4E9B-48CC-BEF7-15C4EBAA348F}" type="datetimeFigureOut">
              <a:rPr lang="zh-CN" altLang="en-US" smtClean="0"/>
              <a:t>2022/5/5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DFF043-B3BA-4799-9603-DDA4A744828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415829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875FD68-4E9B-48CC-BEF7-15C4EBAA348F}" type="datetimeFigureOut">
              <a:rPr lang="zh-CN" altLang="en-US" smtClean="0"/>
              <a:t>2022/5/5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8DFF043-B3BA-4799-9603-DDA4A744828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762259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35163" y="116114"/>
            <a:ext cx="7886700" cy="870857"/>
          </a:xfrm>
        </p:spPr>
        <p:txBody>
          <a:bodyPr>
            <a:normAutofit/>
          </a:bodyPr>
          <a:lstStyle/>
          <a:p>
            <a:r>
              <a:rPr lang="zh-CN" altLang="en-US" sz="3200" b="1" dirty="0"/>
              <a:t>下面程序中存在哪些错误</a:t>
            </a:r>
            <a:r>
              <a:rPr lang="en-US" altLang="zh-CN" sz="3200" b="1" dirty="0"/>
              <a:t>?</a:t>
            </a:r>
            <a:endParaRPr lang="zh-CN" altLang="en-US" sz="3200" b="1" dirty="0"/>
          </a:p>
        </p:txBody>
      </p:sp>
      <p:sp>
        <p:nvSpPr>
          <p:cNvPr id="5" name="矩形 4"/>
          <p:cNvSpPr/>
          <p:nvPr/>
        </p:nvSpPr>
        <p:spPr>
          <a:xfrm>
            <a:off x="341903" y="871562"/>
            <a:ext cx="6964419" cy="55092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3200" dirty="0"/>
              <a:t>template&lt;</a:t>
            </a:r>
            <a:r>
              <a:rPr lang="en-US" altLang="zh-CN" sz="3200" dirty="0" err="1"/>
              <a:t>typename</a:t>
            </a:r>
            <a:r>
              <a:rPr lang="en-US" altLang="zh-CN" sz="3200" dirty="0"/>
              <a:t> T&gt; class </a:t>
            </a:r>
            <a:r>
              <a:rPr lang="en-US" altLang="zh-CN" sz="3200" dirty="0" err="1"/>
              <a:t>ListItem</a:t>
            </a:r>
            <a:r>
              <a:rPr lang="en-US" altLang="zh-CN" sz="3200" dirty="0"/>
              <a:t>;</a:t>
            </a:r>
          </a:p>
          <a:p>
            <a:r>
              <a:rPr lang="en-US" altLang="zh-CN" sz="3200" dirty="0"/>
              <a:t>template&lt;</a:t>
            </a:r>
            <a:r>
              <a:rPr lang="en-US" altLang="zh-CN" sz="3200" dirty="0" err="1"/>
              <a:t>typename</a:t>
            </a:r>
            <a:r>
              <a:rPr lang="en-US" altLang="zh-CN" sz="3200" dirty="0"/>
              <a:t> T&gt; class List {</a:t>
            </a:r>
          </a:p>
          <a:p>
            <a:r>
              <a:rPr lang="en-US" altLang="zh-CN" sz="3200" dirty="0">
                <a:solidFill>
                  <a:srgbClr val="0070C0"/>
                </a:solidFill>
              </a:rPr>
              <a:t>public:</a:t>
            </a:r>
          </a:p>
          <a:p>
            <a:r>
              <a:rPr lang="en-US" altLang="zh-CN" sz="3200" dirty="0"/>
              <a:t>    List ();</a:t>
            </a:r>
          </a:p>
          <a:p>
            <a:r>
              <a:rPr lang="en-US" altLang="zh-CN" sz="3200" dirty="0"/>
              <a:t>    List (const List&lt;T&gt; &amp;);</a:t>
            </a:r>
          </a:p>
          <a:p>
            <a:r>
              <a:rPr lang="en-US" altLang="zh-CN" sz="3200" dirty="0"/>
              <a:t>    List &amp; operator=(const List&lt;T&gt; &amp;);</a:t>
            </a:r>
          </a:p>
          <a:p>
            <a:r>
              <a:rPr lang="en-US" altLang="zh-CN" sz="3200" dirty="0"/>
              <a:t>    ~List ();</a:t>
            </a:r>
          </a:p>
          <a:p>
            <a:r>
              <a:rPr lang="en-US" altLang="zh-CN" sz="3200" dirty="0"/>
              <a:t>    void insert(</a:t>
            </a:r>
            <a:r>
              <a:rPr lang="en-US" altLang="zh-CN" sz="3200" dirty="0" err="1"/>
              <a:t>ListItem</a:t>
            </a:r>
            <a:r>
              <a:rPr lang="en-US" altLang="zh-CN" sz="3200" dirty="0"/>
              <a:t> *</a:t>
            </a:r>
            <a:r>
              <a:rPr lang="en-US" altLang="zh-CN" sz="3200" dirty="0" err="1"/>
              <a:t>ptr</a:t>
            </a:r>
            <a:r>
              <a:rPr lang="en-US" altLang="zh-CN" sz="3200" dirty="0"/>
              <a:t>, T value);</a:t>
            </a:r>
          </a:p>
          <a:p>
            <a:r>
              <a:rPr lang="en-US" altLang="zh-CN" sz="3200" dirty="0">
                <a:solidFill>
                  <a:srgbClr val="0070C0"/>
                </a:solidFill>
              </a:rPr>
              <a:t>private:</a:t>
            </a:r>
          </a:p>
          <a:p>
            <a:r>
              <a:rPr lang="en-US" altLang="zh-CN" sz="3200" dirty="0"/>
              <a:t>    </a:t>
            </a:r>
            <a:r>
              <a:rPr lang="en-US" altLang="zh-CN" sz="3200" dirty="0" err="1"/>
              <a:t>ListItem</a:t>
            </a:r>
            <a:r>
              <a:rPr lang="en-US" altLang="zh-CN" sz="3200" dirty="0"/>
              <a:t> *front, *end;</a:t>
            </a:r>
          </a:p>
          <a:p>
            <a:r>
              <a:rPr lang="en-US" altLang="zh-CN" sz="3200" dirty="0"/>
              <a:t>};</a:t>
            </a:r>
            <a:endParaRPr lang="zh-CN" altLang="en-US" sz="3200" dirty="0"/>
          </a:p>
        </p:txBody>
      </p:sp>
      <p:sp>
        <p:nvSpPr>
          <p:cNvPr id="7" name="矩形 6"/>
          <p:cNvSpPr/>
          <p:nvPr/>
        </p:nvSpPr>
        <p:spPr>
          <a:xfrm>
            <a:off x="1553593" y="5768789"/>
            <a:ext cx="8087556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3200" dirty="0" err="1">
                <a:solidFill>
                  <a:srgbClr val="FF0000"/>
                </a:solidFill>
              </a:rPr>
              <a:t>ListItem</a:t>
            </a:r>
            <a:r>
              <a:rPr lang="zh-CN" altLang="en-US" sz="3200" dirty="0">
                <a:solidFill>
                  <a:srgbClr val="FF0000"/>
                </a:solidFill>
              </a:rPr>
              <a:t>是类模板，必须写成</a:t>
            </a:r>
            <a:r>
              <a:rPr lang="en-US" altLang="zh-CN" sz="3200" dirty="0" err="1">
                <a:solidFill>
                  <a:srgbClr val="FF0000"/>
                </a:solidFill>
              </a:rPr>
              <a:t>ListItem</a:t>
            </a:r>
            <a:r>
              <a:rPr lang="en-US" altLang="zh-CN" sz="3200" dirty="0">
                <a:solidFill>
                  <a:srgbClr val="FF0000"/>
                </a:solidFill>
              </a:rPr>
              <a:t>&lt;T&gt;</a:t>
            </a:r>
            <a:endParaRPr lang="zh-CN" altLang="en-US" sz="3200" dirty="0">
              <a:solidFill>
                <a:srgbClr val="FF0000"/>
              </a:solidFill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72B157C7-D89C-4056-BFF0-40E09C88FE52}"/>
              </a:ext>
            </a:extLst>
          </p:cNvPr>
          <p:cNvSpPr/>
          <p:nvPr/>
        </p:nvSpPr>
        <p:spPr>
          <a:xfrm>
            <a:off x="621437" y="5282214"/>
            <a:ext cx="1589104" cy="568170"/>
          </a:xfrm>
          <a:prstGeom prst="rect">
            <a:avLst/>
          </a:prstGeom>
          <a:noFill/>
          <a:ln w="3810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322EB2A6-CD2A-4228-8416-5314DC3924D1}"/>
              </a:ext>
            </a:extLst>
          </p:cNvPr>
          <p:cNvSpPr/>
          <p:nvPr/>
        </p:nvSpPr>
        <p:spPr>
          <a:xfrm>
            <a:off x="2602637" y="4298272"/>
            <a:ext cx="1463336" cy="568170"/>
          </a:xfrm>
          <a:prstGeom prst="rect">
            <a:avLst/>
          </a:prstGeom>
          <a:noFill/>
          <a:ln w="3810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108224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3" grpId="0" animBg="1"/>
      <p:bldP spid="8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35163" y="116114"/>
            <a:ext cx="7886700" cy="870857"/>
          </a:xfrm>
        </p:spPr>
        <p:txBody>
          <a:bodyPr>
            <a:normAutofit/>
          </a:bodyPr>
          <a:lstStyle/>
          <a:p>
            <a:r>
              <a:rPr lang="zh-CN" altLang="en-US" sz="3200" b="1" dirty="0"/>
              <a:t>下面程序中存在哪些错误</a:t>
            </a:r>
            <a:r>
              <a:rPr lang="en-US" altLang="zh-CN" sz="3200" b="1" dirty="0"/>
              <a:t>?</a:t>
            </a:r>
            <a:endParaRPr lang="zh-CN" altLang="en-US" sz="3200" b="1" dirty="0"/>
          </a:p>
        </p:txBody>
      </p:sp>
      <p:sp>
        <p:nvSpPr>
          <p:cNvPr id="5" name="矩形 4"/>
          <p:cNvSpPr/>
          <p:nvPr/>
        </p:nvSpPr>
        <p:spPr>
          <a:xfrm>
            <a:off x="341903" y="871562"/>
            <a:ext cx="6964419" cy="55092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3200" dirty="0"/>
              <a:t>template&lt;</a:t>
            </a:r>
            <a:r>
              <a:rPr lang="en-US" altLang="zh-CN" sz="3200" dirty="0" err="1"/>
              <a:t>typename</a:t>
            </a:r>
            <a:r>
              <a:rPr lang="en-US" altLang="zh-CN" sz="3200" dirty="0"/>
              <a:t> T&gt; class </a:t>
            </a:r>
            <a:r>
              <a:rPr lang="en-US" altLang="zh-CN" sz="3200" dirty="0" err="1"/>
              <a:t>ListItem</a:t>
            </a:r>
            <a:r>
              <a:rPr lang="en-US" altLang="zh-CN" sz="3200" dirty="0"/>
              <a:t>;</a:t>
            </a:r>
          </a:p>
          <a:p>
            <a:r>
              <a:rPr lang="en-US" altLang="zh-CN" sz="3200" dirty="0"/>
              <a:t>template&lt;</a:t>
            </a:r>
            <a:r>
              <a:rPr lang="en-US" altLang="zh-CN" sz="3200" dirty="0" err="1"/>
              <a:t>typename</a:t>
            </a:r>
            <a:r>
              <a:rPr lang="en-US" altLang="zh-CN" sz="3200" dirty="0"/>
              <a:t> T&gt; class List {</a:t>
            </a:r>
          </a:p>
          <a:p>
            <a:r>
              <a:rPr lang="en-US" altLang="zh-CN" sz="3200" dirty="0">
                <a:solidFill>
                  <a:srgbClr val="0070C0"/>
                </a:solidFill>
              </a:rPr>
              <a:t>public:</a:t>
            </a:r>
          </a:p>
          <a:p>
            <a:r>
              <a:rPr lang="en-US" altLang="zh-CN" sz="3200" dirty="0"/>
              <a:t>    List ();</a:t>
            </a:r>
          </a:p>
          <a:p>
            <a:r>
              <a:rPr lang="en-US" altLang="zh-CN" sz="3200" dirty="0"/>
              <a:t>    List (const List&lt;T&gt; &amp;);</a:t>
            </a:r>
          </a:p>
          <a:p>
            <a:r>
              <a:rPr lang="en-US" altLang="zh-CN" sz="3200" dirty="0"/>
              <a:t>    List &amp; operator=(const List&lt;T&gt; &amp;);</a:t>
            </a:r>
          </a:p>
          <a:p>
            <a:r>
              <a:rPr lang="en-US" altLang="zh-CN" sz="3200" dirty="0"/>
              <a:t>    ~List ();</a:t>
            </a:r>
          </a:p>
          <a:p>
            <a:r>
              <a:rPr lang="en-US" altLang="zh-CN" sz="3200" dirty="0"/>
              <a:t>    void insert(</a:t>
            </a:r>
            <a:r>
              <a:rPr lang="en-US" altLang="zh-CN" sz="3200" dirty="0" err="1"/>
              <a:t>ListItem</a:t>
            </a:r>
            <a:r>
              <a:rPr lang="en-US" altLang="zh-CN" sz="3200" dirty="0"/>
              <a:t> *</a:t>
            </a:r>
            <a:r>
              <a:rPr lang="en-US" altLang="zh-CN" sz="3200" dirty="0" err="1"/>
              <a:t>ptr</a:t>
            </a:r>
            <a:r>
              <a:rPr lang="en-US" altLang="zh-CN" sz="3200" dirty="0"/>
              <a:t>, T value);</a:t>
            </a:r>
          </a:p>
          <a:p>
            <a:r>
              <a:rPr lang="en-US" altLang="zh-CN" sz="3200" dirty="0">
                <a:solidFill>
                  <a:srgbClr val="0070C0"/>
                </a:solidFill>
              </a:rPr>
              <a:t>private:</a:t>
            </a:r>
          </a:p>
          <a:p>
            <a:r>
              <a:rPr lang="en-US" altLang="zh-CN" sz="3200" dirty="0"/>
              <a:t>    </a:t>
            </a:r>
            <a:r>
              <a:rPr lang="en-US" altLang="zh-CN" sz="3200" dirty="0" err="1"/>
              <a:t>ListItem</a:t>
            </a:r>
            <a:r>
              <a:rPr lang="en-US" altLang="zh-CN" sz="3200" dirty="0"/>
              <a:t> *front, *end;</a:t>
            </a:r>
          </a:p>
          <a:p>
            <a:r>
              <a:rPr lang="en-US" altLang="zh-CN" sz="3200" dirty="0"/>
              <a:t>};</a:t>
            </a:r>
            <a:endParaRPr lang="zh-CN" altLang="en-US" sz="3200" dirty="0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322EB2A6-CD2A-4228-8416-5314DC3924D1}"/>
              </a:ext>
            </a:extLst>
          </p:cNvPr>
          <p:cNvSpPr/>
          <p:nvPr/>
        </p:nvSpPr>
        <p:spPr>
          <a:xfrm>
            <a:off x="630314" y="2379470"/>
            <a:ext cx="781235" cy="568170"/>
          </a:xfrm>
          <a:prstGeom prst="rect">
            <a:avLst/>
          </a:prstGeom>
          <a:noFill/>
          <a:ln w="3810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BCDE44A4-BA37-48E1-8479-2D648945C621}"/>
              </a:ext>
            </a:extLst>
          </p:cNvPr>
          <p:cNvSpPr/>
          <p:nvPr/>
        </p:nvSpPr>
        <p:spPr>
          <a:xfrm>
            <a:off x="2339379" y="1870422"/>
            <a:ext cx="6804621" cy="10772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3200" dirty="0">
                <a:solidFill>
                  <a:srgbClr val="FF0000"/>
                </a:solidFill>
              </a:rPr>
              <a:t>List</a:t>
            </a:r>
            <a:r>
              <a:rPr lang="zh-CN" altLang="en-US" sz="3200" dirty="0">
                <a:solidFill>
                  <a:srgbClr val="FF0000"/>
                </a:solidFill>
              </a:rPr>
              <a:t>是类模板，但在其作用域中可以省略类型，即</a:t>
            </a:r>
            <a:r>
              <a:rPr lang="en-US" altLang="zh-CN" sz="3200" dirty="0">
                <a:solidFill>
                  <a:srgbClr val="FF0000"/>
                </a:solidFill>
              </a:rPr>
              <a:t>List&lt;T&gt;</a:t>
            </a:r>
            <a:r>
              <a:rPr lang="zh-CN" altLang="en-US" sz="3200" dirty="0">
                <a:solidFill>
                  <a:srgbClr val="FF0000"/>
                </a:solidFill>
              </a:rPr>
              <a:t>可以写成</a:t>
            </a:r>
            <a:r>
              <a:rPr lang="en-US" altLang="zh-CN" sz="3200" dirty="0">
                <a:solidFill>
                  <a:srgbClr val="FF0000"/>
                </a:solidFill>
              </a:rPr>
              <a:t>List</a:t>
            </a:r>
            <a:endParaRPr lang="zh-CN" altLang="en-US" sz="32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481576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35163" y="116114"/>
            <a:ext cx="7886700" cy="870857"/>
          </a:xfrm>
        </p:spPr>
        <p:txBody>
          <a:bodyPr>
            <a:normAutofit/>
          </a:bodyPr>
          <a:lstStyle/>
          <a:p>
            <a:r>
              <a:rPr lang="zh-CN" altLang="en-US" sz="3200" b="1" dirty="0"/>
              <a:t>下面函数模板声明是否合法？</a:t>
            </a:r>
          </a:p>
        </p:txBody>
      </p:sp>
      <p:sp>
        <p:nvSpPr>
          <p:cNvPr id="5" name="矩形 4"/>
          <p:cNvSpPr/>
          <p:nvPr/>
        </p:nvSpPr>
        <p:spPr>
          <a:xfrm>
            <a:off x="365057" y="848310"/>
            <a:ext cx="8272916" cy="304698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514350" indent="-514350">
              <a:buAutoNum type="alphaLcParenBoth"/>
            </a:pPr>
            <a:r>
              <a:rPr lang="en-US" altLang="zh-CN" sz="3200" dirty="0"/>
              <a:t>template&lt;</a:t>
            </a:r>
            <a:r>
              <a:rPr lang="en-US" altLang="zh-CN" sz="3200" dirty="0" err="1"/>
              <a:t>typename</a:t>
            </a:r>
            <a:r>
              <a:rPr lang="en-US" altLang="zh-CN" sz="3200" dirty="0"/>
              <a:t> T, U, </a:t>
            </a:r>
            <a:r>
              <a:rPr lang="en-US" altLang="zh-CN" sz="3200" dirty="0" err="1"/>
              <a:t>typename</a:t>
            </a:r>
            <a:r>
              <a:rPr lang="en-US" altLang="zh-CN" sz="3200" dirty="0"/>
              <a:t> V&gt; void f1(T, U, V);</a:t>
            </a:r>
          </a:p>
          <a:p>
            <a:pPr marL="514350" indent="-514350">
              <a:buAutoNum type="alphaLcParenBoth"/>
            </a:pPr>
            <a:r>
              <a:rPr lang="en-US" altLang="zh-CN" sz="3200" dirty="0"/>
              <a:t>template&lt;</a:t>
            </a:r>
            <a:r>
              <a:rPr lang="en-US" altLang="zh-CN" sz="3200" dirty="0" err="1"/>
              <a:t>typename</a:t>
            </a:r>
            <a:r>
              <a:rPr lang="en-US" altLang="zh-CN" sz="3200" dirty="0"/>
              <a:t> T&gt; T f2(int &amp;T);</a:t>
            </a:r>
          </a:p>
          <a:p>
            <a:pPr marL="514350" indent="-514350">
              <a:buAutoNum type="alphaLcParenBoth"/>
            </a:pPr>
            <a:r>
              <a:rPr lang="en-US" altLang="zh-CN" sz="3200" dirty="0"/>
              <a:t>template &lt;</a:t>
            </a:r>
            <a:r>
              <a:rPr lang="en-US" altLang="zh-CN" sz="3200" dirty="0" err="1"/>
              <a:t>typename</a:t>
            </a:r>
            <a:r>
              <a:rPr lang="en-US" altLang="zh-CN" sz="3200" dirty="0"/>
              <a:t> T&gt; f4(T, T);</a:t>
            </a:r>
          </a:p>
          <a:p>
            <a:pPr marL="514350" indent="-514350">
              <a:buAutoNum type="alphaLcParenBoth"/>
            </a:pPr>
            <a:r>
              <a:rPr lang="en-US" altLang="zh-CN" sz="3200" dirty="0"/>
              <a:t>typedef char </a:t>
            </a:r>
            <a:r>
              <a:rPr lang="en-US" altLang="zh-CN" sz="3200" dirty="0" err="1"/>
              <a:t>Ctype</a:t>
            </a:r>
            <a:r>
              <a:rPr lang="en-US" altLang="zh-CN" sz="3200" dirty="0"/>
              <a:t>;</a:t>
            </a:r>
          </a:p>
          <a:p>
            <a:r>
              <a:rPr lang="en-US" altLang="zh-CN" sz="3200" dirty="0"/>
              <a:t>template&lt;</a:t>
            </a:r>
            <a:r>
              <a:rPr lang="en-US" altLang="zh-CN" sz="3200" dirty="0" err="1"/>
              <a:t>typename</a:t>
            </a:r>
            <a:r>
              <a:rPr lang="en-US" altLang="zh-CN" sz="3200" dirty="0"/>
              <a:t> </a:t>
            </a:r>
            <a:r>
              <a:rPr lang="en-US" altLang="zh-CN" sz="3200" dirty="0" err="1"/>
              <a:t>Ctype</a:t>
            </a:r>
            <a:r>
              <a:rPr lang="en-US" altLang="zh-CN" sz="3200" dirty="0"/>
              <a:t>&gt; </a:t>
            </a:r>
            <a:r>
              <a:rPr lang="en-US" altLang="zh-CN" sz="3200" dirty="0" err="1"/>
              <a:t>Ctype</a:t>
            </a:r>
            <a:r>
              <a:rPr lang="en-US" altLang="zh-CN" sz="3200" dirty="0"/>
              <a:t> f5(</a:t>
            </a:r>
            <a:r>
              <a:rPr lang="en-US" altLang="zh-CN" sz="3200" dirty="0" err="1"/>
              <a:t>Ctype</a:t>
            </a:r>
            <a:r>
              <a:rPr lang="en-US" altLang="zh-CN" sz="3200" dirty="0"/>
              <a:t> a);</a:t>
            </a:r>
          </a:p>
        </p:txBody>
      </p:sp>
      <p:sp>
        <p:nvSpPr>
          <p:cNvPr id="7" name="矩形 6"/>
          <p:cNvSpPr/>
          <p:nvPr/>
        </p:nvSpPr>
        <p:spPr>
          <a:xfrm>
            <a:off x="556401" y="4108617"/>
            <a:ext cx="8311463" cy="224676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514350" indent="-514350">
              <a:buAutoNum type="arabicParenBoth"/>
            </a:pPr>
            <a:r>
              <a:rPr lang="en-US" altLang="zh-CN" sz="2800" b="1" dirty="0">
                <a:solidFill>
                  <a:srgbClr val="FF0000"/>
                </a:solidFill>
              </a:rPr>
              <a:t>U</a:t>
            </a:r>
            <a:r>
              <a:rPr lang="zh-CN" altLang="en-US" sz="2800" b="1" dirty="0">
                <a:solidFill>
                  <a:srgbClr val="FF0000"/>
                </a:solidFill>
              </a:rPr>
              <a:t>前面必须加</a:t>
            </a:r>
            <a:r>
              <a:rPr lang="en-US" altLang="zh-CN" sz="2800" b="1" dirty="0" err="1">
                <a:solidFill>
                  <a:srgbClr val="FF0000"/>
                </a:solidFill>
              </a:rPr>
              <a:t>typename</a:t>
            </a:r>
            <a:endParaRPr lang="en-US" altLang="zh-CN" sz="2800" b="1" dirty="0">
              <a:solidFill>
                <a:srgbClr val="FF0000"/>
              </a:solidFill>
            </a:endParaRPr>
          </a:p>
          <a:p>
            <a:pPr marL="514350" indent="-514350">
              <a:buAutoNum type="arabicParenBoth"/>
            </a:pPr>
            <a:r>
              <a:rPr lang="zh-CN" altLang="en-US" sz="2800" b="1" dirty="0">
                <a:solidFill>
                  <a:srgbClr val="FF0000"/>
                </a:solidFill>
              </a:rPr>
              <a:t>参数名不能是模板类型名</a:t>
            </a:r>
            <a:endParaRPr lang="en-US" altLang="zh-CN" sz="2800" b="1" dirty="0">
              <a:solidFill>
                <a:srgbClr val="FF0000"/>
              </a:solidFill>
            </a:endParaRPr>
          </a:p>
          <a:p>
            <a:pPr marL="514350" indent="-514350">
              <a:buAutoNum type="arabicParenBoth"/>
            </a:pPr>
            <a:r>
              <a:rPr lang="zh-CN" altLang="en-US" sz="2800" b="1" dirty="0">
                <a:solidFill>
                  <a:srgbClr val="FF0000"/>
                </a:solidFill>
              </a:rPr>
              <a:t>没有函数返回类型</a:t>
            </a:r>
            <a:endParaRPr lang="en-US" altLang="zh-CN" sz="2800" b="1" dirty="0">
              <a:solidFill>
                <a:srgbClr val="FF0000"/>
              </a:solidFill>
            </a:endParaRPr>
          </a:p>
          <a:p>
            <a:pPr marL="514350" indent="-514350">
              <a:buAutoNum type="arabicParenBoth"/>
            </a:pPr>
            <a:r>
              <a:rPr lang="zh-CN" altLang="en-US" sz="2800" b="1" dirty="0">
                <a:solidFill>
                  <a:srgbClr val="FF0000"/>
                </a:solidFill>
              </a:rPr>
              <a:t>合法，在模板作用域中，类型参数</a:t>
            </a:r>
            <a:r>
              <a:rPr lang="en-US" altLang="zh-CN" sz="2800" b="1" dirty="0" err="1">
                <a:solidFill>
                  <a:srgbClr val="FF0000"/>
                </a:solidFill>
              </a:rPr>
              <a:t>Ctype</a:t>
            </a:r>
            <a:r>
              <a:rPr lang="zh-CN" altLang="en-US" sz="2800" b="1" dirty="0">
                <a:solidFill>
                  <a:srgbClr val="FF0000"/>
                </a:solidFill>
              </a:rPr>
              <a:t>屏蔽了之前定义的类型别名</a:t>
            </a:r>
            <a:r>
              <a:rPr lang="en-US" altLang="zh-CN" sz="2800" b="1" dirty="0" err="1">
                <a:solidFill>
                  <a:srgbClr val="FF0000"/>
                </a:solidFill>
              </a:rPr>
              <a:t>Ctype</a:t>
            </a:r>
            <a:endParaRPr lang="en-US" altLang="zh-CN" sz="28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179295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35163" y="116114"/>
            <a:ext cx="7886700" cy="870857"/>
          </a:xfrm>
        </p:spPr>
        <p:txBody>
          <a:bodyPr>
            <a:normAutofit/>
          </a:bodyPr>
          <a:lstStyle/>
          <a:p>
            <a:r>
              <a:rPr lang="zh-CN" altLang="en-US" sz="3200" b="1" dirty="0"/>
              <a:t>下面的调用是否合法</a:t>
            </a:r>
            <a:r>
              <a:rPr lang="en-US" altLang="zh-CN" sz="3200" b="1" dirty="0"/>
              <a:t>?</a:t>
            </a:r>
            <a:endParaRPr lang="zh-CN" altLang="en-US" sz="3200" b="1" dirty="0"/>
          </a:p>
        </p:txBody>
      </p:sp>
      <p:sp>
        <p:nvSpPr>
          <p:cNvPr id="5" name="矩形 4"/>
          <p:cNvSpPr/>
          <p:nvPr/>
        </p:nvSpPr>
        <p:spPr>
          <a:xfrm>
            <a:off x="382812" y="812799"/>
            <a:ext cx="8267702" cy="45243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3600" dirty="0"/>
              <a:t>template&lt;class T&gt; T calc(T, int);</a:t>
            </a:r>
          </a:p>
          <a:p>
            <a:r>
              <a:rPr lang="en-US" altLang="zh-CN" sz="3600" dirty="0"/>
              <a:t>template&lt;</a:t>
            </a:r>
            <a:r>
              <a:rPr lang="en-US" altLang="zh-CN" sz="3600" dirty="0" err="1"/>
              <a:t>typename</a:t>
            </a:r>
            <a:r>
              <a:rPr lang="en-US" altLang="zh-CN" sz="3600" dirty="0"/>
              <a:t> T&gt; T </a:t>
            </a:r>
            <a:r>
              <a:rPr lang="en-US" altLang="zh-CN" sz="3600" dirty="0" err="1"/>
              <a:t>fcn</a:t>
            </a:r>
            <a:r>
              <a:rPr lang="en-US" altLang="zh-CN" sz="3600" dirty="0"/>
              <a:t>(T, T);</a:t>
            </a:r>
          </a:p>
          <a:p>
            <a:r>
              <a:rPr lang="en-US" altLang="zh-CN" sz="3600" dirty="0">
                <a:solidFill>
                  <a:srgbClr val="0070C0"/>
                </a:solidFill>
              </a:rPr>
              <a:t>double</a:t>
            </a:r>
            <a:r>
              <a:rPr lang="en-US" altLang="zh-CN" sz="3600" dirty="0"/>
              <a:t> d; </a:t>
            </a:r>
            <a:r>
              <a:rPr lang="en-US" altLang="zh-CN" sz="3600" dirty="0">
                <a:solidFill>
                  <a:srgbClr val="0070C0"/>
                </a:solidFill>
              </a:rPr>
              <a:t>float</a:t>
            </a:r>
            <a:r>
              <a:rPr lang="en-US" altLang="zh-CN" sz="3600" dirty="0"/>
              <a:t> f; </a:t>
            </a:r>
            <a:r>
              <a:rPr lang="en-US" altLang="zh-CN" sz="3600" dirty="0">
                <a:solidFill>
                  <a:srgbClr val="0070C0"/>
                </a:solidFill>
              </a:rPr>
              <a:t>char</a:t>
            </a:r>
            <a:r>
              <a:rPr lang="en-US" altLang="zh-CN" sz="3600" dirty="0"/>
              <a:t> c;</a:t>
            </a:r>
          </a:p>
          <a:p>
            <a:r>
              <a:rPr lang="en-US" altLang="zh-CN" sz="3600" dirty="0"/>
              <a:t>  </a:t>
            </a:r>
          </a:p>
          <a:p>
            <a:pPr marL="514350" indent="-514350">
              <a:buAutoNum type="alphaLcParenBoth"/>
            </a:pPr>
            <a:r>
              <a:rPr lang="en-US" altLang="zh-CN" sz="3600" dirty="0"/>
              <a:t>calc(c, ‘c’);</a:t>
            </a:r>
          </a:p>
          <a:p>
            <a:pPr marL="514350" indent="-514350">
              <a:buAutoNum type="alphaLcParenBoth"/>
            </a:pPr>
            <a:r>
              <a:rPr lang="en-US" altLang="zh-CN" sz="3600" dirty="0"/>
              <a:t>calc(d, f);</a:t>
            </a:r>
          </a:p>
          <a:p>
            <a:pPr marL="514350" indent="-514350">
              <a:buAutoNum type="alphaLcParenBoth"/>
            </a:pPr>
            <a:r>
              <a:rPr lang="en-US" altLang="zh-CN" sz="3600" dirty="0" err="1"/>
              <a:t>fcn</a:t>
            </a:r>
            <a:r>
              <a:rPr lang="en-US" altLang="zh-CN" sz="3600" dirty="0"/>
              <a:t>(c, ‘c’);</a:t>
            </a:r>
          </a:p>
          <a:p>
            <a:pPr marL="514350" indent="-514350">
              <a:buAutoNum type="alphaLcParenBoth"/>
            </a:pPr>
            <a:r>
              <a:rPr lang="en-US" altLang="zh-CN" sz="3600" dirty="0" err="1"/>
              <a:t>fcn</a:t>
            </a:r>
            <a:r>
              <a:rPr lang="en-US" altLang="zh-CN" sz="3600" dirty="0"/>
              <a:t>(d, f);</a:t>
            </a:r>
            <a:endParaRPr lang="zh-CN" altLang="en-US" sz="3600" dirty="0"/>
          </a:p>
        </p:txBody>
      </p:sp>
      <p:sp>
        <p:nvSpPr>
          <p:cNvPr id="7" name="矩形 6"/>
          <p:cNvSpPr/>
          <p:nvPr/>
        </p:nvSpPr>
        <p:spPr>
          <a:xfrm>
            <a:off x="4516663" y="3862077"/>
            <a:ext cx="3740236" cy="13234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4000" dirty="0">
                <a:solidFill>
                  <a:srgbClr val="FF0000"/>
                </a:solidFill>
              </a:rPr>
              <a:t>d</a:t>
            </a:r>
            <a:r>
              <a:rPr lang="zh-CN" altLang="en-US" sz="4000" dirty="0">
                <a:solidFill>
                  <a:srgbClr val="FF0000"/>
                </a:solidFill>
              </a:rPr>
              <a:t>不合法，无法推断</a:t>
            </a:r>
            <a:r>
              <a:rPr lang="en-US" altLang="zh-CN" sz="4000" dirty="0">
                <a:solidFill>
                  <a:srgbClr val="FF0000"/>
                </a:solidFill>
              </a:rPr>
              <a:t>T</a:t>
            </a:r>
            <a:r>
              <a:rPr lang="zh-CN" altLang="en-US" sz="4000" dirty="0">
                <a:solidFill>
                  <a:srgbClr val="FF0000"/>
                </a:solidFill>
              </a:rPr>
              <a:t>的类型</a:t>
            </a:r>
          </a:p>
        </p:txBody>
      </p:sp>
    </p:spTree>
    <p:extLst>
      <p:ext uri="{BB962C8B-B14F-4D97-AF65-F5344CB8AC3E}">
        <p14:creationId xmlns:p14="http://schemas.microsoft.com/office/powerpoint/2010/main" val="11775939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35163" y="116114"/>
            <a:ext cx="7886700" cy="870857"/>
          </a:xfrm>
        </p:spPr>
        <p:txBody>
          <a:bodyPr>
            <a:normAutofit/>
          </a:bodyPr>
          <a:lstStyle/>
          <a:p>
            <a:r>
              <a:rPr lang="zh-CN" altLang="en-US" sz="3200" b="1" dirty="0"/>
              <a:t>下面模板说明正确的是</a:t>
            </a:r>
            <a:r>
              <a:rPr lang="en-US" altLang="zh-CN" sz="3200" b="1" dirty="0"/>
              <a:t>?</a:t>
            </a:r>
            <a:endParaRPr lang="zh-CN" altLang="en-US" sz="3200" b="1" dirty="0"/>
          </a:p>
        </p:txBody>
      </p:sp>
      <p:sp>
        <p:nvSpPr>
          <p:cNvPr id="5" name="矩形 4"/>
          <p:cNvSpPr/>
          <p:nvPr/>
        </p:nvSpPr>
        <p:spPr>
          <a:xfrm>
            <a:off x="382812" y="812799"/>
            <a:ext cx="8267702" cy="45243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742950" indent="-742950">
              <a:buAutoNum type="alphaUcPeriod"/>
            </a:pPr>
            <a:r>
              <a:rPr lang="en-US" altLang="zh-CN" sz="3600" dirty="0"/>
              <a:t>template&lt;</a:t>
            </a:r>
            <a:r>
              <a:rPr lang="en-US" altLang="zh-CN" sz="3600" dirty="0" err="1"/>
              <a:t>typename</a:t>
            </a:r>
            <a:r>
              <a:rPr lang="en-US" altLang="zh-CN" sz="3600" dirty="0"/>
              <a:t> T1, T2&gt;</a:t>
            </a:r>
          </a:p>
          <a:p>
            <a:pPr marL="742950" indent="-742950">
              <a:buAutoNum type="alphaUcPeriod"/>
            </a:pPr>
            <a:r>
              <a:rPr lang="en-US" altLang="zh-CN" sz="3600" dirty="0"/>
              <a:t>template&lt;</a:t>
            </a:r>
            <a:r>
              <a:rPr lang="en-US" altLang="zh-CN" sz="3600" dirty="0" err="1"/>
              <a:t>typename</a:t>
            </a:r>
            <a:r>
              <a:rPr lang="en-US" altLang="zh-CN" sz="3600" dirty="0"/>
              <a:t> T1, </a:t>
            </a:r>
            <a:r>
              <a:rPr lang="en-US" altLang="zh-CN" sz="3600" dirty="0" err="1"/>
              <a:t>typename</a:t>
            </a:r>
            <a:r>
              <a:rPr lang="en-US" altLang="zh-CN" sz="3600" dirty="0"/>
              <a:t> T2&gt;</a:t>
            </a:r>
          </a:p>
          <a:p>
            <a:pPr marL="742950" indent="-742950">
              <a:buAutoNum type="alphaUcPeriod"/>
            </a:pPr>
            <a:r>
              <a:rPr lang="en-US" altLang="zh-CN" sz="3600" dirty="0"/>
              <a:t>template&lt;T1, T2&gt;</a:t>
            </a:r>
          </a:p>
          <a:p>
            <a:pPr marL="742950" indent="-742950">
              <a:buAutoNum type="alphaUcPeriod"/>
            </a:pPr>
            <a:r>
              <a:rPr lang="en-US" altLang="zh-CN" sz="3600" dirty="0"/>
              <a:t>template&lt;class T1, T2&gt;</a:t>
            </a:r>
          </a:p>
          <a:p>
            <a:pPr marL="742950" indent="-742950">
              <a:buAutoNum type="alphaUcPeriod"/>
            </a:pPr>
            <a:r>
              <a:rPr lang="en-US" altLang="zh-CN" sz="3600" dirty="0"/>
              <a:t>template&lt;class T, int </a:t>
            </a:r>
            <a:r>
              <a:rPr lang="en-US" altLang="zh-CN" sz="3600" dirty="0" err="1"/>
              <a:t>i</a:t>
            </a:r>
            <a:r>
              <a:rPr lang="en-US" altLang="zh-CN" sz="3600" dirty="0"/>
              <a:t> = 0&gt;</a:t>
            </a:r>
          </a:p>
          <a:p>
            <a:pPr marL="742950" indent="-742950">
              <a:buAutoNum type="alphaUcPeriod"/>
            </a:pPr>
            <a:r>
              <a:rPr lang="en-US" altLang="zh-CN" sz="3600" dirty="0"/>
              <a:t>template&lt;class T, class int </a:t>
            </a:r>
            <a:r>
              <a:rPr lang="en-US" altLang="zh-CN" sz="3600" dirty="0" err="1"/>
              <a:t>i</a:t>
            </a:r>
            <a:r>
              <a:rPr lang="en-US" altLang="zh-CN" sz="3600" dirty="0"/>
              <a:t>&gt;</a:t>
            </a:r>
          </a:p>
          <a:p>
            <a:pPr marL="742950" indent="-742950">
              <a:buAutoNum type="alphaUcPeriod"/>
            </a:pPr>
            <a:r>
              <a:rPr lang="en-US" altLang="zh-CN" sz="3600" dirty="0"/>
              <a:t>template&lt;class T, </a:t>
            </a:r>
            <a:r>
              <a:rPr lang="en-US" altLang="zh-CN" sz="3600" dirty="0" err="1"/>
              <a:t>typename</a:t>
            </a:r>
            <a:r>
              <a:rPr lang="en-US" altLang="zh-CN" sz="3600" dirty="0"/>
              <a:t> T&gt;</a:t>
            </a:r>
          </a:p>
          <a:p>
            <a:pPr marL="742950" indent="-742950">
              <a:buAutoNum type="alphaUcPeriod"/>
            </a:pPr>
            <a:r>
              <a:rPr lang="en-US" altLang="zh-CN" sz="3600" dirty="0"/>
              <a:t>template&lt;class T1, </a:t>
            </a:r>
            <a:r>
              <a:rPr lang="en-US" altLang="zh-CN" sz="3600" dirty="0" err="1"/>
              <a:t>typename</a:t>
            </a:r>
            <a:r>
              <a:rPr lang="en-US" altLang="zh-CN" sz="3600" dirty="0"/>
              <a:t> T2&gt;</a:t>
            </a:r>
          </a:p>
        </p:txBody>
      </p:sp>
      <p:sp>
        <p:nvSpPr>
          <p:cNvPr id="7" name="矩形 6"/>
          <p:cNvSpPr/>
          <p:nvPr/>
        </p:nvSpPr>
        <p:spPr>
          <a:xfrm>
            <a:off x="6930571" y="5122706"/>
            <a:ext cx="1967592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4000" dirty="0">
                <a:solidFill>
                  <a:srgbClr val="FF0000"/>
                </a:solidFill>
              </a:rPr>
              <a:t>B E H</a:t>
            </a:r>
            <a:endParaRPr lang="zh-CN" altLang="en-US" sz="40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442523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/>
        </p:nvSpPr>
        <p:spPr>
          <a:xfrm>
            <a:off x="742834" y="5122706"/>
            <a:ext cx="7531153" cy="13234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4000" dirty="0">
                <a:solidFill>
                  <a:srgbClr val="FF0000"/>
                </a:solidFill>
              </a:rPr>
              <a:t>(a)</a:t>
            </a:r>
            <a:r>
              <a:rPr lang="zh-CN" altLang="en-US" sz="4000" dirty="0">
                <a:solidFill>
                  <a:srgbClr val="FF0000"/>
                </a:solidFill>
              </a:rPr>
              <a:t>无法确定返回类型</a:t>
            </a:r>
            <a:endParaRPr lang="en-US" altLang="zh-CN" sz="4000" dirty="0">
              <a:solidFill>
                <a:srgbClr val="FF0000"/>
              </a:solidFill>
            </a:endParaRPr>
          </a:p>
          <a:p>
            <a:r>
              <a:rPr lang="en-US" altLang="zh-CN" sz="4000" dirty="0">
                <a:solidFill>
                  <a:srgbClr val="FF0000"/>
                </a:solidFill>
              </a:rPr>
              <a:t>(d)</a:t>
            </a:r>
            <a:r>
              <a:rPr lang="zh-CN" altLang="en-US" sz="4000" dirty="0">
                <a:solidFill>
                  <a:srgbClr val="FF0000"/>
                </a:solidFill>
              </a:rPr>
              <a:t>不能跳跃指定模板参数类型</a:t>
            </a:r>
            <a:r>
              <a:rPr lang="en-US" altLang="zh-CN" sz="4000" dirty="0">
                <a:solidFill>
                  <a:srgbClr val="FF0000"/>
                </a:solidFill>
              </a:rPr>
              <a:t> </a:t>
            </a:r>
            <a:endParaRPr lang="zh-CN" altLang="en-US" sz="4000" dirty="0">
              <a:solidFill>
                <a:srgbClr val="FF0000"/>
              </a:solidFill>
            </a:endParaRPr>
          </a:p>
        </p:txBody>
      </p:sp>
      <p:sp>
        <p:nvSpPr>
          <p:cNvPr id="8" name="文本框 3">
            <a:extLst>
              <a:ext uri="{FF2B5EF4-FFF2-40B4-BE49-F238E27FC236}">
                <a16:creationId xmlns:a16="http://schemas.microsoft.com/office/drawing/2014/main" id="{52DA355A-8E1D-4D55-BAFF-72F2598CDC5A}"/>
              </a:ext>
            </a:extLst>
          </p:cNvPr>
          <p:cNvSpPr txBox="1"/>
          <p:nvPr/>
        </p:nvSpPr>
        <p:spPr>
          <a:xfrm>
            <a:off x="404673" y="250903"/>
            <a:ext cx="8493490" cy="1070836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defTabSz="914400">
              <a:defRPr/>
            </a:pP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  <a:sym typeface="Microsoft Yahei" panose="020B0503020204020204" pitchFamily="34" charset="-122"/>
              </a:rPr>
              <a:t>对于下面的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  <a:sym typeface="Microsoft Yahei" panose="020B0503020204020204" pitchFamily="34" charset="-122"/>
              </a:rPr>
              <a:t>sum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  <a:sym typeface="Microsoft Yahei" panose="020B0503020204020204" pitchFamily="34" charset="-122"/>
              </a:rPr>
              <a:t>模板</a:t>
            </a:r>
            <a:r>
              <a:rPr lang="zh-CN" altLang="en-US" sz="28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定义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  <a:sym typeface="Microsoft Yahei" panose="020B0503020204020204" pitchFamily="34" charset="-122"/>
              </a:rPr>
              <a:t>：</a:t>
            </a:r>
            <a:endParaRPr kumimoji="0" lang="en-US" altLang="zh-CN" sz="2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Microsoft Yahei" panose="020B0503020204020204" pitchFamily="34" charset="-122"/>
              <a:ea typeface="Microsoft Yahei" panose="020B0503020204020204" pitchFamily="34" charset="-122"/>
              <a:cs typeface="+mn-cs"/>
              <a:sym typeface="Microsoft Yahei" panose="020B0503020204020204" pitchFamily="34" charset="-122"/>
            </a:endParaRPr>
          </a:p>
          <a:p>
            <a:pPr lvl="0" defTabSz="914400">
              <a:defRPr/>
            </a:pPr>
            <a:r>
              <a:rPr lang="en-US" altLang="zh-CN" sz="2800" dirty="0">
                <a:solidFill>
                  <a:prstClr val="black"/>
                </a:solidFill>
              </a:rPr>
              <a:t>template &lt;class T1,</a:t>
            </a:r>
            <a:r>
              <a:rPr lang="zh-CN" altLang="en-US" sz="2800" dirty="0">
                <a:solidFill>
                  <a:prstClr val="black"/>
                </a:solidFill>
              </a:rPr>
              <a:t> </a:t>
            </a:r>
            <a:r>
              <a:rPr lang="en-US" altLang="zh-CN" sz="2800" dirty="0">
                <a:solidFill>
                  <a:prstClr val="black"/>
                </a:solidFill>
              </a:rPr>
              <a:t>class</a:t>
            </a:r>
            <a:r>
              <a:rPr lang="zh-CN" altLang="en-US" sz="2800" dirty="0">
                <a:solidFill>
                  <a:prstClr val="black"/>
                </a:solidFill>
              </a:rPr>
              <a:t> </a:t>
            </a:r>
            <a:r>
              <a:rPr lang="en-US" altLang="zh-CN" sz="2800" dirty="0">
                <a:solidFill>
                  <a:prstClr val="black"/>
                </a:solidFill>
              </a:rPr>
              <a:t>T2,</a:t>
            </a:r>
            <a:r>
              <a:rPr lang="zh-CN" altLang="en-US" sz="2800" dirty="0">
                <a:solidFill>
                  <a:prstClr val="black"/>
                </a:solidFill>
              </a:rPr>
              <a:t> </a:t>
            </a:r>
            <a:r>
              <a:rPr lang="en-US" altLang="zh-CN" sz="2800" dirty="0">
                <a:solidFill>
                  <a:prstClr val="black"/>
                </a:solidFill>
              </a:rPr>
              <a:t>class</a:t>
            </a:r>
            <a:r>
              <a:rPr lang="zh-CN" altLang="en-US" sz="2800" dirty="0">
                <a:solidFill>
                  <a:prstClr val="black"/>
                </a:solidFill>
              </a:rPr>
              <a:t> </a:t>
            </a:r>
            <a:r>
              <a:rPr lang="en-US" altLang="zh-CN" sz="2800" dirty="0">
                <a:solidFill>
                  <a:prstClr val="black"/>
                </a:solidFill>
              </a:rPr>
              <a:t>T3&gt;T1 sum(T2, T3);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1E5C2686-91D5-4E3D-A12D-7DDF188DDBE8}"/>
              </a:ext>
            </a:extLst>
          </p:cNvPr>
          <p:cNvSpPr txBox="1"/>
          <p:nvPr>
            <p:custDataLst>
              <p:tags r:id="rId1"/>
            </p:custDataLst>
          </p:nvPr>
        </p:nvSpPr>
        <p:spPr>
          <a:xfrm>
            <a:off x="342529" y="1448803"/>
            <a:ext cx="8801471" cy="3673903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/>
          <a:p>
            <a:pPr lvl="0" defTabSz="914400">
              <a:defRPr/>
            </a:pP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  <a:sym typeface="Microsoft Yahei" panose="020B0503020204020204" pitchFamily="34" charset="-122"/>
              </a:rPr>
              <a:t>解释下面的每个调用，指出哪些是错误的</a:t>
            </a:r>
            <a:endParaRPr kumimoji="0" lang="en-US" altLang="zh-CN" sz="2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Microsoft Yahei" panose="020B0503020204020204" pitchFamily="34" charset="-122"/>
              <a:ea typeface="Microsoft Yahei" panose="020B0503020204020204" pitchFamily="34" charset="-122"/>
              <a:cs typeface="+mn-cs"/>
              <a:sym typeface="Microsoft Yahei" panose="020B0503020204020204" pitchFamily="34" charset="-122"/>
            </a:endParaRPr>
          </a:p>
          <a:p>
            <a:pPr lvl="0" defTabSz="914400">
              <a:defRPr/>
            </a:pPr>
            <a:r>
              <a:rPr lang="en-US" altLang="zh-CN" sz="2800" dirty="0">
                <a:solidFill>
                  <a:prstClr val="black"/>
                </a:solidFill>
              </a:rPr>
              <a:t>double dobj1,</a:t>
            </a:r>
            <a:r>
              <a:rPr lang="zh-CN" altLang="en-US" sz="2800" dirty="0">
                <a:solidFill>
                  <a:prstClr val="black"/>
                </a:solidFill>
              </a:rPr>
              <a:t> </a:t>
            </a:r>
            <a:r>
              <a:rPr lang="en-US" altLang="zh-CN" sz="2800" dirty="0">
                <a:solidFill>
                  <a:prstClr val="black"/>
                </a:solidFill>
              </a:rPr>
              <a:t>dobj2; float fobj1, fobj2; char cobj1, cobj2;</a:t>
            </a:r>
          </a:p>
          <a:p>
            <a:pPr lvl="0" defTabSz="914400">
              <a:defRPr/>
            </a:pPr>
            <a:endParaRPr lang="en-US" altLang="zh-CN" sz="2800" dirty="0">
              <a:solidFill>
                <a:prstClr val="black"/>
              </a:solidFill>
            </a:endParaRPr>
          </a:p>
          <a:p>
            <a:pPr marL="342900" lvl="0" indent="-342900" defTabSz="914400">
              <a:buAutoNum type="alphaLcParenBoth"/>
              <a:defRPr/>
            </a:pPr>
            <a:r>
              <a:rPr lang="en-US" altLang="zh-CN" sz="2800" dirty="0">
                <a:solidFill>
                  <a:prstClr val="black"/>
                </a:solidFill>
              </a:rPr>
              <a:t> sum(dobj1, dobj2);</a:t>
            </a:r>
          </a:p>
          <a:p>
            <a:pPr marL="342900" lvl="0" indent="-342900" defTabSz="914400">
              <a:buAutoNum type="alphaLcParenBoth"/>
              <a:defRPr/>
            </a:pPr>
            <a:r>
              <a:rPr lang="en-US" altLang="zh-CN" sz="2800" dirty="0">
                <a:solidFill>
                  <a:prstClr val="black"/>
                </a:solidFill>
              </a:rPr>
              <a:t> sum&lt;double, double, double&gt;(fobj1, fobj2);</a:t>
            </a:r>
          </a:p>
          <a:p>
            <a:pPr marL="342900" lvl="0" indent="-342900" defTabSz="914400">
              <a:buAutoNum type="alphaLcParenBoth"/>
              <a:defRPr/>
            </a:pPr>
            <a:r>
              <a:rPr lang="en-US" altLang="zh-CN" sz="2800" dirty="0">
                <a:solidFill>
                  <a:prstClr val="black"/>
                </a:solidFill>
              </a:rPr>
              <a:t> sum&lt;int&gt;(cobj1, cobj2);</a:t>
            </a:r>
          </a:p>
          <a:p>
            <a:pPr marL="342900" lvl="0" indent="-342900" defTabSz="914400">
              <a:buAutoNum type="alphaLcParenBoth"/>
              <a:defRPr/>
            </a:pPr>
            <a:r>
              <a:rPr lang="en-US" altLang="zh-CN" sz="2800" dirty="0">
                <a:solidFill>
                  <a:prstClr val="black"/>
                </a:solidFill>
              </a:rPr>
              <a:t> sum&lt;double, ,double&gt;(fobj2, dobj2);</a:t>
            </a:r>
          </a:p>
        </p:txBody>
      </p:sp>
    </p:spTree>
    <p:extLst>
      <p:ext uri="{BB962C8B-B14F-4D97-AF65-F5344CB8AC3E}">
        <p14:creationId xmlns:p14="http://schemas.microsoft.com/office/powerpoint/2010/main" val="41726658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/>
        </p:nvSpPr>
        <p:spPr>
          <a:xfrm>
            <a:off x="742834" y="4847497"/>
            <a:ext cx="7531153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4000" dirty="0">
                <a:solidFill>
                  <a:srgbClr val="FF0000"/>
                </a:solidFill>
              </a:rPr>
              <a:t>(a)</a:t>
            </a:r>
            <a:r>
              <a:rPr lang="zh-CN" altLang="en-US" sz="4000" dirty="0">
                <a:solidFill>
                  <a:srgbClr val="FF0000"/>
                </a:solidFill>
              </a:rPr>
              <a:t>两个</a:t>
            </a:r>
            <a:r>
              <a:rPr lang="en-US" altLang="zh-CN" sz="4000" dirty="0">
                <a:solidFill>
                  <a:srgbClr val="FF0000"/>
                </a:solidFill>
              </a:rPr>
              <a:t>C1</a:t>
            </a:r>
            <a:r>
              <a:rPr lang="zh-CN" altLang="en-US" sz="4000" dirty="0">
                <a:solidFill>
                  <a:srgbClr val="FF0000"/>
                </a:solidFill>
              </a:rPr>
              <a:t>的声明类型不同</a:t>
            </a:r>
            <a:endParaRPr lang="en-US" altLang="zh-CN" sz="4000" dirty="0">
              <a:solidFill>
                <a:srgbClr val="FF0000"/>
              </a:solidFill>
            </a:endParaRPr>
          </a:p>
          <a:p>
            <a:r>
              <a:rPr lang="en-US" altLang="zh-CN" sz="4000" dirty="0">
                <a:solidFill>
                  <a:srgbClr val="FF0000"/>
                </a:solidFill>
              </a:rPr>
              <a:t>(b)U</a:t>
            </a:r>
            <a:r>
              <a:rPr lang="zh-CN" altLang="en-US" sz="4000" dirty="0">
                <a:solidFill>
                  <a:srgbClr val="FF0000"/>
                </a:solidFill>
              </a:rPr>
              <a:t>前面无</a:t>
            </a:r>
            <a:r>
              <a:rPr lang="en-US" altLang="zh-CN" sz="4000" dirty="0" err="1">
                <a:solidFill>
                  <a:srgbClr val="FF0000"/>
                </a:solidFill>
              </a:rPr>
              <a:t>typename</a:t>
            </a:r>
            <a:r>
              <a:rPr lang="en-US" altLang="zh-CN" sz="4000" dirty="0">
                <a:solidFill>
                  <a:srgbClr val="FF0000"/>
                </a:solidFill>
              </a:rPr>
              <a:t> </a:t>
            </a:r>
          </a:p>
          <a:p>
            <a:r>
              <a:rPr lang="en-US" altLang="zh-CN" sz="4000" dirty="0">
                <a:solidFill>
                  <a:srgbClr val="FF0000"/>
                </a:solidFill>
              </a:rPr>
              <a:t>(d)</a:t>
            </a:r>
            <a:r>
              <a:rPr lang="en-US" altLang="zh-CN" sz="4000" dirty="0" err="1">
                <a:solidFill>
                  <a:srgbClr val="FF0000"/>
                </a:solidFill>
              </a:rPr>
              <a:t>myT</a:t>
            </a:r>
            <a:r>
              <a:rPr lang="zh-CN" altLang="en-US" sz="4000" dirty="0">
                <a:solidFill>
                  <a:srgbClr val="FF0000"/>
                </a:solidFill>
              </a:rPr>
              <a:t>名字相同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DC57B92D-5309-4E25-9B83-7E39CF96307E}"/>
              </a:ext>
            </a:extLst>
          </p:cNvPr>
          <p:cNvSpPr txBox="1"/>
          <p:nvPr>
            <p:custDataLst>
              <p:tags r:id="rId1"/>
            </p:custDataLst>
          </p:nvPr>
        </p:nvSpPr>
        <p:spPr>
          <a:xfrm>
            <a:off x="266329" y="514905"/>
            <a:ext cx="9339308" cy="4607801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/>
          <a:p>
            <a:pPr lvl="0" defTabSz="914400">
              <a:defRPr/>
            </a:pPr>
            <a:r>
              <a:rPr lang="zh-CN" altLang="en-US" sz="32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指出</a:t>
            </a:r>
            <a:r>
              <a:rPr kumimoji="0" lang="zh-CN" alt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  <a:sym typeface="Microsoft Yahei" panose="020B0503020204020204" pitchFamily="34" charset="-122"/>
              </a:rPr>
              <a:t>下面类模板声明中哪些是非法的</a:t>
            </a:r>
            <a:r>
              <a:rPr kumimoji="0" lang="zh-CN" alt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639EF4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  <a:sym typeface="Microsoft Yahei" panose="020B0503020204020204" pitchFamily="34" charset="-122"/>
              </a:rPr>
              <a:t> </a:t>
            </a:r>
            <a:r>
              <a:rPr kumimoji="0" lang="en-US" altLang="zh-CN" sz="3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  <a:sym typeface="Microsoft Yahei" panose="020B0503020204020204" pitchFamily="34" charset="-122"/>
              </a:rPr>
              <a:t> </a:t>
            </a:r>
          </a:p>
          <a:p>
            <a:pPr marL="342900" lvl="0" indent="-342900" defTabSz="914400">
              <a:buAutoNum type="alphaLcParenBoth"/>
              <a:defRPr/>
            </a:pPr>
            <a:r>
              <a:rPr lang="en-US" altLang="zh-CN" sz="3200">
                <a:solidFill>
                  <a:prstClr val="black"/>
                </a:solidFill>
              </a:rPr>
              <a:t> template </a:t>
            </a:r>
            <a:r>
              <a:rPr lang="en-US" altLang="zh-CN" sz="3200" dirty="0">
                <a:solidFill>
                  <a:prstClr val="black"/>
                </a:solidFill>
              </a:rPr>
              <a:t>&lt;class Type&gt; class C1;</a:t>
            </a:r>
          </a:p>
          <a:p>
            <a:pPr lvl="0" defTabSz="914400">
              <a:defRPr/>
            </a:pPr>
            <a:r>
              <a:rPr lang="en-US" altLang="zh-CN" sz="3200" dirty="0">
                <a:solidFill>
                  <a:prstClr val="black"/>
                </a:solidFill>
              </a:rPr>
              <a:t>      template &lt;class Type, int size&gt; class C1;</a:t>
            </a:r>
          </a:p>
          <a:p>
            <a:pPr lvl="0" defTabSz="914400">
              <a:defRPr/>
            </a:pPr>
            <a:r>
              <a:rPr lang="en-US" altLang="zh-CN" sz="3200" dirty="0">
                <a:solidFill>
                  <a:prstClr val="black"/>
                </a:solidFill>
              </a:rPr>
              <a:t>(b) template &lt;class T, U, class V&gt; class C2;</a:t>
            </a:r>
          </a:p>
          <a:p>
            <a:pPr lvl="0" defTabSz="914400">
              <a:defRPr/>
            </a:pPr>
            <a:r>
              <a:rPr lang="en-US" altLang="zh-CN" sz="3200" dirty="0">
                <a:solidFill>
                  <a:prstClr val="black"/>
                </a:solidFill>
              </a:rPr>
              <a:t>(c) template &lt;class C1, </a:t>
            </a:r>
            <a:r>
              <a:rPr lang="en-US" altLang="zh-CN" sz="3200" dirty="0" err="1">
                <a:solidFill>
                  <a:prstClr val="black"/>
                </a:solidFill>
              </a:rPr>
              <a:t>typename</a:t>
            </a:r>
            <a:r>
              <a:rPr lang="en-US" altLang="zh-CN" sz="3200" dirty="0">
                <a:solidFill>
                  <a:prstClr val="black"/>
                </a:solidFill>
              </a:rPr>
              <a:t> c2&gt; class C3 { };</a:t>
            </a:r>
          </a:p>
          <a:p>
            <a:pPr lvl="0" defTabSz="914400">
              <a:defRPr/>
            </a:pPr>
            <a:r>
              <a:rPr lang="en-US" altLang="zh-CN" sz="3200" dirty="0">
                <a:solidFill>
                  <a:prstClr val="black"/>
                </a:solidFill>
              </a:rPr>
              <a:t>(d) template &lt;</a:t>
            </a:r>
            <a:r>
              <a:rPr lang="en-US" altLang="zh-CN" sz="3200" dirty="0" err="1">
                <a:solidFill>
                  <a:prstClr val="black"/>
                </a:solidFill>
              </a:rPr>
              <a:t>typename</a:t>
            </a:r>
            <a:r>
              <a:rPr lang="en-US" altLang="zh-CN" sz="3200" dirty="0">
                <a:solidFill>
                  <a:prstClr val="black"/>
                </a:solidFill>
              </a:rPr>
              <a:t> </a:t>
            </a:r>
            <a:r>
              <a:rPr lang="en-US" altLang="zh-CN" sz="3200" dirty="0" err="1">
                <a:solidFill>
                  <a:prstClr val="black"/>
                </a:solidFill>
              </a:rPr>
              <a:t>myT</a:t>
            </a:r>
            <a:r>
              <a:rPr lang="en-US" altLang="zh-CN" sz="3200" dirty="0">
                <a:solidFill>
                  <a:prstClr val="black"/>
                </a:solidFill>
              </a:rPr>
              <a:t>, class </a:t>
            </a:r>
            <a:r>
              <a:rPr lang="en-US" altLang="zh-CN" sz="3200" dirty="0" err="1">
                <a:solidFill>
                  <a:prstClr val="black"/>
                </a:solidFill>
              </a:rPr>
              <a:t>myT</a:t>
            </a:r>
            <a:r>
              <a:rPr lang="en-US" altLang="zh-CN" sz="3200" dirty="0">
                <a:solidFill>
                  <a:prstClr val="black"/>
                </a:solidFill>
              </a:rPr>
              <a:t>&gt; class C4 { };</a:t>
            </a:r>
          </a:p>
          <a:p>
            <a:pPr lvl="0" defTabSz="914400">
              <a:defRPr/>
            </a:pPr>
            <a:r>
              <a:rPr lang="en-US" altLang="zh-CN" sz="3200" dirty="0">
                <a:solidFill>
                  <a:prstClr val="black"/>
                </a:solidFill>
              </a:rPr>
              <a:t>(e) template &lt;class Type, int *</a:t>
            </a:r>
            <a:r>
              <a:rPr lang="en-US" altLang="zh-CN" sz="3200" dirty="0" err="1">
                <a:solidFill>
                  <a:prstClr val="black"/>
                </a:solidFill>
              </a:rPr>
              <a:t>ptr</a:t>
            </a:r>
            <a:r>
              <a:rPr lang="en-US" altLang="zh-CN" sz="3200" dirty="0">
                <a:solidFill>
                  <a:prstClr val="black"/>
                </a:solidFill>
              </a:rPr>
              <a:t>&gt; class C5;</a:t>
            </a:r>
          </a:p>
          <a:p>
            <a:pPr lvl="0" defTabSz="914400">
              <a:defRPr/>
            </a:pPr>
            <a:r>
              <a:rPr lang="en-US" altLang="zh-CN" sz="3200" dirty="0">
                <a:solidFill>
                  <a:prstClr val="black"/>
                </a:solidFill>
              </a:rPr>
              <a:t>      template &lt;class T, int *pi&gt; class C5;</a:t>
            </a:r>
          </a:p>
        </p:txBody>
      </p:sp>
    </p:spTree>
    <p:extLst>
      <p:ext uri="{BB962C8B-B14F-4D97-AF65-F5344CB8AC3E}">
        <p14:creationId xmlns:p14="http://schemas.microsoft.com/office/powerpoint/2010/main" val="24962809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heme/theme1.xml><?xml version="1.0" encoding="utf-8"?>
<a:theme xmlns:a="http://schemas.openxmlformats.org/drawingml/2006/main" name="Office 主题​​">
  <a:themeElements>
    <a:clrScheme name="Office 主题​​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主题​​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213</TotalTime>
  <Words>665</Words>
  <Application>Microsoft Office PowerPoint</Application>
  <PresentationFormat>全屏显示(4:3)</PresentationFormat>
  <Paragraphs>78</Paragraphs>
  <Slides>7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7</vt:i4>
      </vt:variant>
    </vt:vector>
  </HeadingPairs>
  <TitlesOfParts>
    <vt:vector size="13" baseType="lpstr">
      <vt:lpstr>等线</vt:lpstr>
      <vt:lpstr>Microsoft Yahei</vt:lpstr>
      <vt:lpstr>Arial</vt:lpstr>
      <vt:lpstr>Calibri</vt:lpstr>
      <vt:lpstr>Calibri Light</vt:lpstr>
      <vt:lpstr>Office 主题​​</vt:lpstr>
      <vt:lpstr>下面程序中存在哪些错误?</vt:lpstr>
      <vt:lpstr>下面程序中存在哪些错误?</vt:lpstr>
      <vt:lpstr>下面函数模板声明是否合法？</vt:lpstr>
      <vt:lpstr>下面的调用是否合法?</vt:lpstr>
      <vt:lpstr>下面模板说明正确的是?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dell</dc:creator>
  <cp:lastModifiedBy>liyusen</cp:lastModifiedBy>
  <cp:revision>71</cp:revision>
  <dcterms:created xsi:type="dcterms:W3CDTF">2021-05-10T12:20:29Z</dcterms:created>
  <dcterms:modified xsi:type="dcterms:W3CDTF">2022-05-05T07:32:43Z</dcterms:modified>
</cp:coreProperties>
</file>