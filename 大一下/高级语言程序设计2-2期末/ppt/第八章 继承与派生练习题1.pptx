
<file path=[Content_Types].xml><?xml version="1.0" encoding="utf-8"?>
<Types xmlns="http://schemas.openxmlformats.org/package/2006/content-types">
  <Default Extension="png" ContentType="image/png"/>
  <Default Extension="tmp"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1146" r:id="rId2"/>
    <p:sldId id="1147" r:id="rId3"/>
    <p:sldId id="1148" r:id="rId4"/>
    <p:sldId id="1149" r:id="rId5"/>
    <p:sldId id="1151" r:id="rId6"/>
    <p:sldId id="1150" r:id="rId7"/>
    <p:sldId id="1152" r:id="rId8"/>
    <p:sldId id="1153" r:id="rId9"/>
    <p:sldId id="1154" r:id="rId10"/>
    <p:sldId id="1155" r:id="rId11"/>
    <p:sldId id="1156" r:id="rId12"/>
    <p:sldId id="1157" r:id="rId13"/>
    <p:sldId id="1158" r:id="rId14"/>
    <p:sldId id="1159" r:id="rId15"/>
    <p:sldId id="1160" r:id="rId16"/>
    <p:sldId id="1161" r:id="rId1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7013" autoAdjust="0"/>
  </p:normalViewPr>
  <p:slideViewPr>
    <p:cSldViewPr snapToGrid="0">
      <p:cViewPr varScale="1">
        <p:scale>
          <a:sx n="76" d="100"/>
          <a:sy n="76" d="100"/>
        </p:scale>
        <p:origin x="1277"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20000A-274B-4C3C-AB5F-9C4716F47B5E}" type="datetimeFigureOut">
              <a:rPr lang="zh-CN" altLang="en-US" smtClean="0"/>
              <a:t>2021/5/29</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3DFB01-3ED2-44BF-BDB8-C141447F752D}" type="slidenum">
              <a:rPr lang="zh-CN" altLang="en-US" smtClean="0"/>
              <a:t>‹#›</a:t>
            </a:fld>
            <a:endParaRPr lang="zh-CN" altLang="en-US"/>
          </a:p>
        </p:txBody>
      </p:sp>
    </p:spTree>
    <p:extLst>
      <p:ext uri="{BB962C8B-B14F-4D97-AF65-F5344CB8AC3E}">
        <p14:creationId xmlns:p14="http://schemas.microsoft.com/office/powerpoint/2010/main" val="3630433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tx2"/>
        </a:solidFill>
        <a:effectLst/>
      </p:bgPr>
    </p:bg>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cstate="print"/>
          <a:srcRect/>
          <a:stretch>
            <a:fillRect/>
          </a:stretch>
        </p:blipFill>
        <p:spPr bwMode="auto">
          <a:xfrm>
            <a:off x="6572250" y="179388"/>
            <a:ext cx="1447800" cy="646112"/>
          </a:xfrm>
          <a:prstGeom prst="rect">
            <a:avLst/>
          </a:prstGeom>
          <a:effectLst>
            <a:outerShdw blurRad="25400" dist="12700" dir="2700000" algn="tl" rotWithShape="0">
              <a:schemeClr val="bg1">
                <a:alpha val="60000"/>
              </a:schemeClr>
            </a:outerShdw>
          </a:effectLst>
        </p:spPr>
      </p:pic>
      <p:sp>
        <p:nvSpPr>
          <p:cNvPr id="2" name="标题 1"/>
          <p:cNvSpPr>
            <a:spLocks noGrp="1"/>
          </p:cNvSpPr>
          <p:nvPr>
            <p:ph type="ctrTitle"/>
          </p:nvPr>
        </p:nvSpPr>
        <p:spPr>
          <a:xfrm>
            <a:off x="714348" y="2000240"/>
            <a:ext cx="7715304" cy="1928826"/>
          </a:xfrm>
        </p:spPr>
        <p:txBody>
          <a:bodyPr/>
          <a:lstStyle>
            <a:lvl1pPr algn="ctr">
              <a:defRPr sz="4800">
                <a:solidFill>
                  <a:schemeClr val="bg1"/>
                </a:solidFill>
                <a:latin typeface="黑体" pitchFamily="2" charset="-122"/>
                <a:ea typeface="黑体" pitchFamily="2" charset="-122"/>
              </a:defRPr>
            </a:lvl1pPr>
          </a:lstStyle>
          <a:p>
            <a:r>
              <a:rPr lang="zh-CN" altLang="en-US" dirty="0"/>
              <a:t>单击此处编辑母版标题样式</a:t>
            </a:r>
          </a:p>
        </p:txBody>
      </p:sp>
      <p:sp>
        <p:nvSpPr>
          <p:cNvPr id="3" name="副标题 2"/>
          <p:cNvSpPr>
            <a:spLocks noGrp="1"/>
          </p:cNvSpPr>
          <p:nvPr>
            <p:ph type="subTitle" idx="1"/>
          </p:nvPr>
        </p:nvSpPr>
        <p:spPr>
          <a:xfrm>
            <a:off x="714348" y="4000504"/>
            <a:ext cx="7715304" cy="1928826"/>
          </a:xfrm>
        </p:spPr>
        <p:txBody>
          <a:bodyPr/>
          <a:lstStyle>
            <a:lvl1pPr marL="0" indent="0" algn="ctr">
              <a:buNone/>
              <a:defRPr sz="2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Tree>
    <p:extLst>
      <p:ext uri="{BB962C8B-B14F-4D97-AF65-F5344CB8AC3E}">
        <p14:creationId xmlns:p14="http://schemas.microsoft.com/office/powerpoint/2010/main" val="23015991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7" name="标题 1"/>
          <p:cNvSpPr>
            <a:spLocks noGrp="1"/>
          </p:cNvSpPr>
          <p:nvPr>
            <p:ph type="title"/>
          </p:nvPr>
        </p:nvSpPr>
        <p:spPr>
          <a:xfrm>
            <a:off x="457200" y="1000125"/>
            <a:ext cx="8229600" cy="857250"/>
          </a:xfrm>
        </p:spPr>
        <p:txBody>
          <a:bodyPr/>
          <a:lstStyle>
            <a:lvl1pPr algn="ctr">
              <a:defRPr sz="4400"/>
            </a:lvl1pPr>
          </a:lstStyle>
          <a:p>
            <a:r>
              <a:rPr lang="zh-CN" altLang="en-US" dirty="0"/>
              <a:t>单击此处编辑母版标题样式</a:t>
            </a:r>
          </a:p>
        </p:txBody>
      </p:sp>
      <p:sp>
        <p:nvSpPr>
          <p:cNvPr id="4" name="页脚占位符 4"/>
          <p:cNvSpPr>
            <a:spLocks noGrp="1"/>
          </p:cNvSpPr>
          <p:nvPr>
            <p:ph type="ftr" sz="quarter" idx="11"/>
          </p:nvPr>
        </p:nvSpPr>
        <p:spPr/>
        <p:txBody>
          <a:bodyPr/>
          <a:lstStyle>
            <a:lvl1pPr>
              <a:defRPr b="1"/>
            </a:lvl1pPr>
          </a:lstStyle>
          <a:p>
            <a:pPr>
              <a:defRPr/>
            </a:pPr>
            <a:r>
              <a:rPr lang="zh-CN" altLang="en-US"/>
              <a:t>高级语言</a:t>
            </a:r>
            <a:r>
              <a:rPr lang="en-US" altLang="zh-CN"/>
              <a:t>C++</a:t>
            </a:r>
            <a:r>
              <a:rPr lang="zh-CN" altLang="en-US"/>
              <a:t>程序设计</a:t>
            </a:r>
          </a:p>
        </p:txBody>
      </p:sp>
    </p:spTree>
    <p:extLst>
      <p:ext uri="{BB962C8B-B14F-4D97-AF65-F5344CB8AC3E}">
        <p14:creationId xmlns:p14="http://schemas.microsoft.com/office/powerpoint/2010/main" val="1078052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标题 6"/>
          <p:cNvSpPr>
            <a:spLocks noGrp="1"/>
          </p:cNvSpPr>
          <p:nvPr>
            <p:ph type="title"/>
          </p:nvPr>
        </p:nvSpPr>
        <p:spPr/>
        <p:txBody>
          <a:bodyPr/>
          <a:lstStyle/>
          <a:p>
            <a:r>
              <a:rPr lang="zh-CN" altLang="en-US"/>
              <a:t>单击此处编辑母版标题样式</a:t>
            </a:r>
          </a:p>
        </p:txBody>
      </p:sp>
      <p:sp>
        <p:nvSpPr>
          <p:cNvPr id="10" name="页脚占位符 9"/>
          <p:cNvSpPr>
            <a:spLocks noGrp="1"/>
          </p:cNvSpPr>
          <p:nvPr>
            <p:ph type="ftr" sz="quarter" idx="12"/>
          </p:nvPr>
        </p:nvSpPr>
        <p:spPr/>
        <p:txBody>
          <a:bodyPr/>
          <a:lstStyle/>
          <a:p>
            <a:pPr>
              <a:defRPr/>
            </a:pPr>
            <a:r>
              <a:rPr lang="zh-CN" altLang="en-US"/>
              <a:t>高级语言</a:t>
            </a:r>
            <a:r>
              <a:rPr lang="en-US" altLang="zh-CN"/>
              <a:t>C++</a:t>
            </a:r>
            <a:r>
              <a:rPr lang="zh-CN" altLang="en-US"/>
              <a:t>程序设计</a:t>
            </a:r>
          </a:p>
        </p:txBody>
      </p:sp>
    </p:spTree>
    <p:extLst>
      <p:ext uri="{BB962C8B-B14F-4D97-AF65-F5344CB8AC3E}">
        <p14:creationId xmlns:p14="http://schemas.microsoft.com/office/powerpoint/2010/main" val="2531719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928802"/>
            <a:ext cx="4038600" cy="450059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48200" y="1928802"/>
            <a:ext cx="4038600" cy="450059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Tree>
    <p:extLst>
      <p:ext uri="{BB962C8B-B14F-4D97-AF65-F5344CB8AC3E}">
        <p14:creationId xmlns:p14="http://schemas.microsoft.com/office/powerpoint/2010/main" val="20165080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10" name="文本占位符 2"/>
          <p:cNvSpPr>
            <a:spLocks noGrp="1"/>
          </p:cNvSpPr>
          <p:nvPr>
            <p:ph type="body" idx="1"/>
          </p:nvPr>
        </p:nvSpPr>
        <p:spPr>
          <a:xfrm>
            <a:off x="457200" y="4286256"/>
            <a:ext cx="2614602" cy="2143140"/>
          </a:xfrm>
        </p:spPr>
        <p:txBody>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11" name="内容占位符 3"/>
          <p:cNvSpPr>
            <a:spLocks noGrp="1"/>
          </p:cNvSpPr>
          <p:nvPr>
            <p:ph sz="half" idx="2"/>
          </p:nvPr>
        </p:nvSpPr>
        <p:spPr>
          <a:xfrm>
            <a:off x="457200" y="1928802"/>
            <a:ext cx="2614602" cy="21431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4" name="文本占位符 2"/>
          <p:cNvSpPr>
            <a:spLocks noGrp="1"/>
          </p:cNvSpPr>
          <p:nvPr>
            <p:ph type="body" idx="13"/>
          </p:nvPr>
        </p:nvSpPr>
        <p:spPr>
          <a:xfrm>
            <a:off x="3243282" y="4286256"/>
            <a:ext cx="2614602" cy="2143140"/>
          </a:xfrm>
        </p:spPr>
        <p:txBody>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15" name="内容占位符 3"/>
          <p:cNvSpPr>
            <a:spLocks noGrp="1"/>
          </p:cNvSpPr>
          <p:nvPr>
            <p:ph sz="half" idx="14"/>
          </p:nvPr>
        </p:nvSpPr>
        <p:spPr>
          <a:xfrm>
            <a:off x="3243282" y="1928802"/>
            <a:ext cx="2614602" cy="21431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6" name="文本占位符 2"/>
          <p:cNvSpPr>
            <a:spLocks noGrp="1"/>
          </p:cNvSpPr>
          <p:nvPr>
            <p:ph type="body" idx="15"/>
          </p:nvPr>
        </p:nvSpPr>
        <p:spPr>
          <a:xfrm>
            <a:off x="6072198" y="4286256"/>
            <a:ext cx="2614602" cy="2143140"/>
          </a:xfrm>
        </p:spPr>
        <p:txBody>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17" name="内容占位符 3"/>
          <p:cNvSpPr>
            <a:spLocks noGrp="1"/>
          </p:cNvSpPr>
          <p:nvPr>
            <p:ph sz="half" idx="16"/>
          </p:nvPr>
        </p:nvSpPr>
        <p:spPr>
          <a:xfrm>
            <a:off x="6072198" y="1928802"/>
            <a:ext cx="2614602" cy="21431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2" name="页脚占位符 4"/>
          <p:cNvSpPr>
            <a:spLocks noGrp="1"/>
          </p:cNvSpPr>
          <p:nvPr>
            <p:ph type="ftr" sz="quarter" idx="18"/>
          </p:nvPr>
        </p:nvSpPr>
        <p:spPr/>
        <p:txBody>
          <a:bodyPr/>
          <a:lstStyle>
            <a:lvl1pPr>
              <a:defRPr/>
            </a:lvl1pPr>
          </a:lstStyle>
          <a:p>
            <a:pPr>
              <a:defRPr/>
            </a:pPr>
            <a:endParaRPr lang="zh-CN" altLang="en-US"/>
          </a:p>
        </p:txBody>
      </p:sp>
    </p:spTree>
    <p:extLst>
      <p:ext uri="{BB962C8B-B14F-4D97-AF65-F5344CB8AC3E}">
        <p14:creationId xmlns:p14="http://schemas.microsoft.com/office/powerpoint/2010/main" val="31205867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7" name="页脚占位符 6"/>
          <p:cNvSpPr>
            <a:spLocks noGrp="1"/>
          </p:cNvSpPr>
          <p:nvPr>
            <p:ph type="ftr" sz="quarter" idx="11"/>
          </p:nvPr>
        </p:nvSpPr>
        <p:spPr/>
        <p:txBody>
          <a:bodyPr/>
          <a:lstStyle/>
          <a:p>
            <a:pPr>
              <a:defRPr/>
            </a:pPr>
            <a:r>
              <a:rPr lang="zh-CN" altLang="en-US"/>
              <a:t>高级语言</a:t>
            </a:r>
            <a:r>
              <a:rPr lang="en-US" altLang="zh-CN"/>
              <a:t>C++</a:t>
            </a:r>
            <a:r>
              <a:rPr lang="zh-CN" altLang="en-US"/>
              <a:t>程序设计</a:t>
            </a:r>
          </a:p>
        </p:txBody>
      </p:sp>
    </p:spTree>
    <p:extLst>
      <p:ext uri="{BB962C8B-B14F-4D97-AF65-F5344CB8AC3E}">
        <p14:creationId xmlns:p14="http://schemas.microsoft.com/office/powerpoint/2010/main" val="1941575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9459F2C8-95D8-4B43-A911-3544CDC95C48}"/>
              </a:ext>
            </a:extLst>
          </p:cNvPr>
          <p:cNvSpPr>
            <a:spLocks noGrp="1"/>
          </p:cNvSpPr>
          <p:nvPr>
            <p:ph type="ftr" sz="quarter" idx="10"/>
          </p:nvPr>
        </p:nvSpPr>
        <p:spPr/>
        <p:txBody>
          <a:bodyPr/>
          <a:lstStyle/>
          <a:p>
            <a:pPr>
              <a:defRPr/>
            </a:pPr>
            <a:r>
              <a:rPr lang="zh-CN" altLang="en-US"/>
              <a:t>高级语言</a:t>
            </a:r>
            <a:r>
              <a:rPr lang="en-US" altLang="zh-CN"/>
              <a:t>C++</a:t>
            </a:r>
            <a:r>
              <a:rPr lang="zh-CN" altLang="en-US"/>
              <a:t>程序设计</a:t>
            </a:r>
          </a:p>
        </p:txBody>
      </p:sp>
    </p:spTree>
    <p:extLst>
      <p:ext uri="{BB962C8B-B14F-4D97-AF65-F5344CB8AC3E}">
        <p14:creationId xmlns:p14="http://schemas.microsoft.com/office/powerpoint/2010/main" val="37881743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emf"/><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矩形 10"/>
          <p:cNvSpPr/>
          <p:nvPr/>
        </p:nvSpPr>
        <p:spPr>
          <a:xfrm>
            <a:off x="0" y="6572250"/>
            <a:ext cx="9144000" cy="285750"/>
          </a:xfrm>
          <a:prstGeom prst="rect">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540000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800" dirty="0"/>
          </a:p>
        </p:txBody>
      </p:sp>
      <p:sp>
        <p:nvSpPr>
          <p:cNvPr id="7" name="矩形 6"/>
          <p:cNvSpPr/>
          <p:nvPr/>
        </p:nvSpPr>
        <p:spPr>
          <a:xfrm>
            <a:off x="1" y="0"/>
            <a:ext cx="2786063" cy="857250"/>
          </a:xfrm>
          <a:prstGeom prst="rect">
            <a:avLst/>
          </a:prstGeom>
          <a:gradFill flip="none" rotWithShape="1">
            <a:gsLst>
              <a:gs pos="0">
                <a:schemeClr val="tx2">
                  <a:lumMod val="50000"/>
                </a:schemeClr>
              </a:gs>
              <a:gs pos="50000">
                <a:schemeClr val="tx2"/>
              </a:gs>
              <a:gs pos="100000">
                <a:schemeClr val="tx2">
                  <a:lumMod val="60000"/>
                  <a:lumOff val="40000"/>
                </a:schemeClr>
              </a:gs>
            </a:gsLst>
            <a:lin ang="10800000" scaled="1"/>
            <a:tileRect/>
          </a:gradFill>
          <a:ln w="127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800"/>
          </a:p>
        </p:txBody>
      </p:sp>
      <p:sp>
        <p:nvSpPr>
          <p:cNvPr id="8" name="矩形 7"/>
          <p:cNvSpPr/>
          <p:nvPr/>
        </p:nvSpPr>
        <p:spPr>
          <a:xfrm>
            <a:off x="2786064" y="0"/>
            <a:ext cx="6357937" cy="857250"/>
          </a:xfrm>
          <a:prstGeom prst="rect">
            <a:avLst/>
          </a:prstGeom>
          <a:gradFill flip="none" rotWithShape="1">
            <a:gsLst>
              <a:gs pos="30000">
                <a:schemeClr val="tx2"/>
              </a:gs>
              <a:gs pos="60000">
                <a:schemeClr val="tx2">
                  <a:lumMod val="40000"/>
                  <a:lumOff val="60000"/>
                </a:schemeClr>
              </a:gs>
              <a:gs pos="90000">
                <a:schemeClr val="bg1"/>
              </a:gs>
            </a:gsLst>
            <a:lin ang="10800000" scaled="1"/>
            <a:tileRect/>
          </a:gra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800"/>
          </a:p>
        </p:txBody>
      </p:sp>
      <p:sp>
        <p:nvSpPr>
          <p:cNvPr id="1029" name="标题占位符 1"/>
          <p:cNvSpPr>
            <a:spLocks noGrp="1"/>
          </p:cNvSpPr>
          <p:nvPr>
            <p:ph type="title"/>
          </p:nvPr>
        </p:nvSpPr>
        <p:spPr bwMode="auto">
          <a:xfrm>
            <a:off x="457200" y="1000127"/>
            <a:ext cx="8229600" cy="7143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0" name="文本占位符 2"/>
          <p:cNvSpPr>
            <a:spLocks noGrp="1"/>
          </p:cNvSpPr>
          <p:nvPr>
            <p:ph type="body" idx="1"/>
          </p:nvPr>
        </p:nvSpPr>
        <p:spPr bwMode="auto">
          <a:xfrm>
            <a:off x="457200" y="1928813"/>
            <a:ext cx="8229600" cy="45005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3"/>
          </p:nvPr>
        </p:nvSpPr>
        <p:spPr>
          <a:xfrm>
            <a:off x="3721026" y="6551615"/>
            <a:ext cx="1715070" cy="306387"/>
          </a:xfrm>
          <a:prstGeom prst="rect">
            <a:avLst/>
          </a:prstGeom>
        </p:spPr>
        <p:txBody>
          <a:bodyPr vert="horz" lIns="91440" tIns="45720" rIns="91440" bIns="45720" rtlCol="0" anchor="ctr"/>
          <a:lstStyle>
            <a:lvl1pPr algn="l" fontAlgn="auto">
              <a:spcBef>
                <a:spcPts val="0"/>
              </a:spcBef>
              <a:spcAft>
                <a:spcPts val="0"/>
              </a:spcAft>
              <a:defRPr sz="1200">
                <a:solidFill>
                  <a:schemeClr val="bg1"/>
                </a:solidFill>
                <a:latin typeface="Courier New" pitchFamily="49" charset="0"/>
                <a:ea typeface="黑体" pitchFamily="2" charset="-122"/>
                <a:cs typeface="Courier New" pitchFamily="49" charset="0"/>
              </a:defRPr>
            </a:lvl1pPr>
          </a:lstStyle>
          <a:p>
            <a:pPr>
              <a:defRPr/>
            </a:pPr>
            <a:r>
              <a:rPr lang="zh-CN" altLang="en-US"/>
              <a:t>高级语言</a:t>
            </a:r>
            <a:r>
              <a:rPr lang="en-US" altLang="zh-CN"/>
              <a:t>C++</a:t>
            </a:r>
            <a:r>
              <a:rPr lang="zh-CN" altLang="en-US"/>
              <a:t>程序设计</a:t>
            </a:r>
          </a:p>
        </p:txBody>
      </p:sp>
      <p:pic>
        <p:nvPicPr>
          <p:cNvPr id="1034" name="图片 12"/>
          <p:cNvPicPr>
            <a:picLocks noChangeAspect="1"/>
          </p:cNvPicPr>
          <p:nvPr/>
        </p:nvPicPr>
        <p:blipFill>
          <a:blip r:embed="rId9" cstate="print"/>
          <a:srcRect/>
          <a:stretch>
            <a:fillRect/>
          </a:stretch>
        </p:blipFill>
        <p:spPr bwMode="auto">
          <a:xfrm>
            <a:off x="214314" y="6594477"/>
            <a:ext cx="1951037" cy="244475"/>
          </a:xfrm>
          <a:prstGeom prst="rect">
            <a:avLst/>
          </a:prstGeom>
          <a:noFill/>
          <a:ln w="9525">
            <a:noFill/>
            <a:miter lim="800000"/>
            <a:headEnd/>
            <a:tailEnd/>
          </a:ln>
        </p:spPr>
      </p:pic>
      <p:pic>
        <p:nvPicPr>
          <p:cNvPr id="1035" name="Picture 12">
            <a:hlinkClick r:id="" action="ppaction://hlinkshowjump?jump=firstslide"/>
          </p:cNvPr>
          <p:cNvPicPr>
            <a:picLocks noChangeAspect="1" noChangeArrowheads="1"/>
          </p:cNvPicPr>
          <p:nvPr/>
        </p:nvPicPr>
        <p:blipFill>
          <a:blip r:embed="rId10" cstate="print"/>
          <a:srcRect/>
          <a:stretch>
            <a:fillRect/>
          </a:stretch>
        </p:blipFill>
        <p:spPr bwMode="auto">
          <a:xfrm>
            <a:off x="8329613" y="50800"/>
            <a:ext cx="781050" cy="776288"/>
          </a:xfrm>
          <a:prstGeom prst="rect">
            <a:avLst/>
          </a:prstGeom>
          <a:noFill/>
          <a:ln w="9525">
            <a:noFill/>
            <a:miter lim="800000"/>
            <a:headEnd/>
            <a:tailEnd/>
          </a:ln>
        </p:spPr>
      </p:pic>
      <p:sp>
        <p:nvSpPr>
          <p:cNvPr id="12" name="TextBox 9">
            <a:extLst>
              <a:ext uri="{FF2B5EF4-FFF2-40B4-BE49-F238E27FC236}">
                <a16:creationId xmlns:a16="http://schemas.microsoft.com/office/drawing/2014/main" id="{FF1270DC-62E0-4C2A-8BAF-0E5972EB3A8C}"/>
              </a:ext>
            </a:extLst>
          </p:cNvPr>
          <p:cNvSpPr txBox="1"/>
          <p:nvPr userDrawn="1"/>
        </p:nvSpPr>
        <p:spPr>
          <a:xfrm>
            <a:off x="5868145" y="6572250"/>
            <a:ext cx="3242519" cy="291426"/>
          </a:xfrm>
          <a:prstGeom prst="rect">
            <a:avLst/>
          </a:prstGeom>
          <a:noFill/>
        </p:spPr>
        <p:txBody>
          <a:bodyPr wrap="square" rtlCol="0">
            <a:spAutoFit/>
          </a:bodyPr>
          <a:lstStyle/>
          <a:p>
            <a:pPr algn="r">
              <a:lnSpc>
                <a:spcPct val="120000"/>
              </a:lnSpc>
              <a:defRPr/>
            </a:pPr>
            <a:r>
              <a:rPr lang="zh-CN" altLang="en-US" sz="1200" dirty="0">
                <a:solidFill>
                  <a:schemeClr val="bg1"/>
                </a:solidFill>
                <a:latin typeface="+mn-lt"/>
                <a:ea typeface="方正姚体" pitchFamily="2" charset="-122"/>
              </a:rPr>
              <a:t>计算机学院</a:t>
            </a:r>
            <a:r>
              <a:rPr lang="en-US" altLang="zh-CN" sz="1200" dirty="0">
                <a:solidFill>
                  <a:schemeClr val="bg1"/>
                </a:solidFill>
                <a:latin typeface="+mn-lt"/>
                <a:ea typeface="方正姚体" pitchFamily="2" charset="-122"/>
              </a:rPr>
              <a:t>&amp;</a:t>
            </a:r>
            <a:r>
              <a:rPr lang="zh-CN" altLang="en-US" sz="1200" dirty="0">
                <a:solidFill>
                  <a:schemeClr val="bg1"/>
                </a:solidFill>
                <a:latin typeface="+mn-lt"/>
                <a:ea typeface="方正姚体" pitchFamily="2" charset="-122"/>
              </a:rPr>
              <a:t>网络空间安全学院</a:t>
            </a:r>
          </a:p>
        </p:txBody>
      </p:sp>
    </p:spTree>
    <p:extLst>
      <p:ext uri="{BB962C8B-B14F-4D97-AF65-F5344CB8AC3E}">
        <p14:creationId xmlns:p14="http://schemas.microsoft.com/office/powerpoint/2010/main" val="19802504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hf hdr="0" ftr="0" dt="0"/>
  <p:txStyles>
    <p:titleStyle>
      <a:lvl1pPr algn="l" rtl="0" eaLnBrk="0" fontAlgn="base" hangingPunct="0">
        <a:spcBef>
          <a:spcPct val="0"/>
        </a:spcBef>
        <a:spcAft>
          <a:spcPct val="0"/>
        </a:spcAft>
        <a:defRPr sz="3600" kern="12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Arial" charset="0"/>
          <a:ea typeface="黑体" pitchFamily="2" charset="-122"/>
        </a:defRPr>
      </a:lvl2pPr>
      <a:lvl3pPr algn="l" rtl="0" eaLnBrk="0" fontAlgn="base" hangingPunct="0">
        <a:spcBef>
          <a:spcPct val="0"/>
        </a:spcBef>
        <a:spcAft>
          <a:spcPct val="0"/>
        </a:spcAft>
        <a:defRPr sz="3600">
          <a:solidFill>
            <a:schemeClr val="tx2"/>
          </a:solidFill>
          <a:latin typeface="Arial" charset="0"/>
          <a:ea typeface="黑体" pitchFamily="2" charset="-122"/>
        </a:defRPr>
      </a:lvl3pPr>
      <a:lvl4pPr algn="l" rtl="0" eaLnBrk="0" fontAlgn="base" hangingPunct="0">
        <a:spcBef>
          <a:spcPct val="0"/>
        </a:spcBef>
        <a:spcAft>
          <a:spcPct val="0"/>
        </a:spcAft>
        <a:defRPr sz="3600">
          <a:solidFill>
            <a:schemeClr val="tx2"/>
          </a:solidFill>
          <a:latin typeface="Arial" charset="0"/>
          <a:ea typeface="黑体" pitchFamily="2" charset="-122"/>
        </a:defRPr>
      </a:lvl4pPr>
      <a:lvl5pPr algn="l" rtl="0" eaLnBrk="0" fontAlgn="base" hangingPunct="0">
        <a:spcBef>
          <a:spcPct val="0"/>
        </a:spcBef>
        <a:spcAft>
          <a:spcPct val="0"/>
        </a:spcAft>
        <a:defRPr sz="3600">
          <a:solidFill>
            <a:schemeClr val="tx2"/>
          </a:solidFill>
          <a:latin typeface="Arial" charset="0"/>
          <a:ea typeface="黑体" pitchFamily="2"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charset="0"/>
        <a:buChar char=" "/>
        <a:defRPr sz="2800" kern="1200">
          <a:solidFill>
            <a:schemeClr val="tx1"/>
          </a:solidFill>
          <a:latin typeface="+mn-lt"/>
          <a:ea typeface="黑体" pitchFamily="2" charset="-122"/>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黑体" pitchFamily="2" charset="-122"/>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黑体" pitchFamily="2" charset="-122"/>
          <a:cs typeface="+mn-cs"/>
        </a:defRPr>
      </a:lvl3pPr>
      <a:lvl4pPr marL="1600200" indent="-228600" algn="l" rtl="0" eaLnBrk="0" fontAlgn="base" hangingPunct="0">
        <a:spcBef>
          <a:spcPct val="20000"/>
        </a:spcBef>
        <a:spcAft>
          <a:spcPct val="0"/>
        </a:spcAft>
        <a:buFont typeface="Arial" charset="0"/>
        <a:buChar char="•"/>
        <a:defRPr kern="1200">
          <a:solidFill>
            <a:schemeClr val="tx1"/>
          </a:solidFill>
          <a:latin typeface="+mn-lt"/>
          <a:ea typeface="黑体" pitchFamily="2" charset="-122"/>
          <a:cs typeface="+mn-cs"/>
        </a:defRPr>
      </a:lvl4pPr>
      <a:lvl5pPr marL="2057400" indent="-228600" algn="l" rtl="0" eaLnBrk="0" fontAlgn="base" hangingPunct="0">
        <a:spcBef>
          <a:spcPct val="20000"/>
        </a:spcBef>
        <a:spcAft>
          <a:spcPct val="0"/>
        </a:spcAft>
        <a:buFont typeface="Arial" charset="0"/>
        <a:buChar char="–"/>
        <a:defRPr kern="1200">
          <a:solidFill>
            <a:schemeClr val="tx1"/>
          </a:solidFill>
          <a:latin typeface="+mn-lt"/>
          <a:ea typeface="黑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7.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4.tmp"/><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3.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tags" Target="../tags/tag35.xml"/><Relationship Id="rId26" Type="http://schemas.openxmlformats.org/officeDocument/2006/relationships/tags" Target="../tags/tag43.xml"/><Relationship Id="rId3" Type="http://schemas.openxmlformats.org/officeDocument/2006/relationships/tags" Target="../tags/tag20.xml"/><Relationship Id="rId21" Type="http://schemas.openxmlformats.org/officeDocument/2006/relationships/tags" Target="../tags/tag38.xml"/><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tags" Target="../tags/tag34.xml"/><Relationship Id="rId25" Type="http://schemas.openxmlformats.org/officeDocument/2006/relationships/tags" Target="../tags/tag42.xml"/><Relationship Id="rId2" Type="http://schemas.openxmlformats.org/officeDocument/2006/relationships/tags" Target="../tags/tag19.xml"/><Relationship Id="rId16" Type="http://schemas.openxmlformats.org/officeDocument/2006/relationships/tags" Target="../tags/tag33.xml"/><Relationship Id="rId20" Type="http://schemas.openxmlformats.org/officeDocument/2006/relationships/tags" Target="../tags/tag37.xml"/><Relationship Id="rId29" Type="http://schemas.openxmlformats.org/officeDocument/2006/relationships/image" Target="../media/image4.tmp"/><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24" Type="http://schemas.openxmlformats.org/officeDocument/2006/relationships/tags" Target="../tags/tag41.xml"/><Relationship Id="rId5" Type="http://schemas.openxmlformats.org/officeDocument/2006/relationships/tags" Target="../tags/tag22.xml"/><Relationship Id="rId15" Type="http://schemas.openxmlformats.org/officeDocument/2006/relationships/tags" Target="../tags/tag32.xml"/><Relationship Id="rId23" Type="http://schemas.openxmlformats.org/officeDocument/2006/relationships/tags" Target="../tags/tag40.xml"/><Relationship Id="rId28" Type="http://schemas.openxmlformats.org/officeDocument/2006/relationships/slideLayout" Target="../slideLayouts/slideLayout7.xml"/><Relationship Id="rId10" Type="http://schemas.openxmlformats.org/officeDocument/2006/relationships/tags" Target="../tags/tag27.xml"/><Relationship Id="rId19" Type="http://schemas.openxmlformats.org/officeDocument/2006/relationships/tags" Target="../tags/tag36.xml"/><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 Id="rId22" Type="http://schemas.openxmlformats.org/officeDocument/2006/relationships/tags" Target="../tags/tag39.xml"/><Relationship Id="rId27" Type="http://schemas.openxmlformats.org/officeDocument/2006/relationships/tags" Target="../tags/tag44.xml"/></Relationships>
</file>

<file path=ppt/slides/_rels/slide4.xml.rels><?xml version="1.0" encoding="UTF-8" standalone="yes"?>
<Relationships xmlns="http://schemas.openxmlformats.org/package/2006/relationships"><Relationship Id="rId8" Type="http://schemas.openxmlformats.org/officeDocument/2006/relationships/tags" Target="../tags/tag52.xml"/><Relationship Id="rId13" Type="http://schemas.openxmlformats.org/officeDocument/2006/relationships/tags" Target="../tags/tag57.xml"/><Relationship Id="rId18" Type="http://schemas.openxmlformats.org/officeDocument/2006/relationships/tags" Target="../tags/tag62.xml"/><Relationship Id="rId3" Type="http://schemas.openxmlformats.org/officeDocument/2006/relationships/tags" Target="../tags/tag47.xml"/><Relationship Id="rId21" Type="http://schemas.openxmlformats.org/officeDocument/2006/relationships/slideLayout" Target="../slideLayouts/slideLayout7.xml"/><Relationship Id="rId7" Type="http://schemas.openxmlformats.org/officeDocument/2006/relationships/tags" Target="../tags/tag51.xml"/><Relationship Id="rId12" Type="http://schemas.openxmlformats.org/officeDocument/2006/relationships/tags" Target="../tags/tag56.xml"/><Relationship Id="rId17" Type="http://schemas.openxmlformats.org/officeDocument/2006/relationships/tags" Target="../tags/tag61.xml"/><Relationship Id="rId2" Type="http://schemas.openxmlformats.org/officeDocument/2006/relationships/tags" Target="../tags/tag46.xml"/><Relationship Id="rId16" Type="http://schemas.openxmlformats.org/officeDocument/2006/relationships/tags" Target="../tags/tag60.xml"/><Relationship Id="rId20" Type="http://schemas.openxmlformats.org/officeDocument/2006/relationships/tags" Target="../tags/tag64.xml"/><Relationship Id="rId1" Type="http://schemas.openxmlformats.org/officeDocument/2006/relationships/tags" Target="../tags/tag45.xml"/><Relationship Id="rId6" Type="http://schemas.openxmlformats.org/officeDocument/2006/relationships/tags" Target="../tags/tag50.xml"/><Relationship Id="rId11" Type="http://schemas.openxmlformats.org/officeDocument/2006/relationships/tags" Target="../tags/tag55.xml"/><Relationship Id="rId5" Type="http://schemas.openxmlformats.org/officeDocument/2006/relationships/tags" Target="../tags/tag49.xml"/><Relationship Id="rId15" Type="http://schemas.openxmlformats.org/officeDocument/2006/relationships/tags" Target="../tags/tag59.xml"/><Relationship Id="rId10" Type="http://schemas.openxmlformats.org/officeDocument/2006/relationships/tags" Target="../tags/tag54.xml"/><Relationship Id="rId19" Type="http://schemas.openxmlformats.org/officeDocument/2006/relationships/tags" Target="../tags/tag63.xml"/><Relationship Id="rId4" Type="http://schemas.openxmlformats.org/officeDocument/2006/relationships/tags" Target="../tags/tag48.xml"/><Relationship Id="rId9" Type="http://schemas.openxmlformats.org/officeDocument/2006/relationships/tags" Target="../tags/tag53.xml"/><Relationship Id="rId14" Type="http://schemas.openxmlformats.org/officeDocument/2006/relationships/tags" Target="../tags/tag58.xml"/><Relationship Id="rId22" Type="http://schemas.openxmlformats.org/officeDocument/2006/relationships/image" Target="../media/image4.tmp"/></Relationships>
</file>

<file path=ppt/slides/_rels/slide5.xml.rels><?xml version="1.0" encoding="UTF-8" standalone="yes"?>
<Relationships xmlns="http://schemas.openxmlformats.org/package/2006/relationships"><Relationship Id="rId8" Type="http://schemas.openxmlformats.org/officeDocument/2006/relationships/tags" Target="../tags/tag72.xml"/><Relationship Id="rId13" Type="http://schemas.openxmlformats.org/officeDocument/2006/relationships/tags" Target="../tags/tag77.xml"/><Relationship Id="rId18" Type="http://schemas.openxmlformats.org/officeDocument/2006/relationships/tags" Target="../tags/tag82.xml"/><Relationship Id="rId3" Type="http://schemas.openxmlformats.org/officeDocument/2006/relationships/tags" Target="../tags/tag67.xml"/><Relationship Id="rId21" Type="http://schemas.openxmlformats.org/officeDocument/2006/relationships/slideLayout" Target="../slideLayouts/slideLayout7.xml"/><Relationship Id="rId7" Type="http://schemas.openxmlformats.org/officeDocument/2006/relationships/tags" Target="../tags/tag71.xml"/><Relationship Id="rId12" Type="http://schemas.openxmlformats.org/officeDocument/2006/relationships/tags" Target="../tags/tag76.xml"/><Relationship Id="rId17" Type="http://schemas.openxmlformats.org/officeDocument/2006/relationships/tags" Target="../tags/tag81.xml"/><Relationship Id="rId2" Type="http://schemas.openxmlformats.org/officeDocument/2006/relationships/tags" Target="../tags/tag66.xml"/><Relationship Id="rId16" Type="http://schemas.openxmlformats.org/officeDocument/2006/relationships/tags" Target="../tags/tag80.xml"/><Relationship Id="rId20" Type="http://schemas.openxmlformats.org/officeDocument/2006/relationships/tags" Target="../tags/tag84.xml"/><Relationship Id="rId1" Type="http://schemas.openxmlformats.org/officeDocument/2006/relationships/tags" Target="../tags/tag65.xml"/><Relationship Id="rId6" Type="http://schemas.openxmlformats.org/officeDocument/2006/relationships/tags" Target="../tags/tag70.xml"/><Relationship Id="rId11" Type="http://schemas.openxmlformats.org/officeDocument/2006/relationships/tags" Target="../tags/tag75.xml"/><Relationship Id="rId5" Type="http://schemas.openxmlformats.org/officeDocument/2006/relationships/tags" Target="../tags/tag69.xml"/><Relationship Id="rId15" Type="http://schemas.openxmlformats.org/officeDocument/2006/relationships/tags" Target="../tags/tag79.xml"/><Relationship Id="rId10" Type="http://schemas.openxmlformats.org/officeDocument/2006/relationships/tags" Target="../tags/tag74.xml"/><Relationship Id="rId19" Type="http://schemas.openxmlformats.org/officeDocument/2006/relationships/tags" Target="../tags/tag83.xml"/><Relationship Id="rId4" Type="http://schemas.openxmlformats.org/officeDocument/2006/relationships/tags" Target="../tags/tag68.xml"/><Relationship Id="rId9" Type="http://schemas.openxmlformats.org/officeDocument/2006/relationships/tags" Target="../tags/tag73.xml"/><Relationship Id="rId14" Type="http://schemas.openxmlformats.org/officeDocument/2006/relationships/tags" Target="../tags/tag78.xml"/><Relationship Id="rId22" Type="http://schemas.openxmlformats.org/officeDocument/2006/relationships/image" Target="../media/image4.tmp"/></Relationships>
</file>

<file path=ppt/slides/_rels/slide6.xml.rels><?xml version="1.0" encoding="UTF-8" standalone="yes"?>
<Relationships xmlns="http://schemas.openxmlformats.org/package/2006/relationships"><Relationship Id="rId8" Type="http://schemas.openxmlformats.org/officeDocument/2006/relationships/tags" Target="../tags/tag92.xml"/><Relationship Id="rId13" Type="http://schemas.openxmlformats.org/officeDocument/2006/relationships/tags" Target="../tags/tag97.xml"/><Relationship Id="rId18" Type="http://schemas.openxmlformats.org/officeDocument/2006/relationships/tags" Target="../tags/tag102.xml"/><Relationship Id="rId26" Type="http://schemas.openxmlformats.org/officeDocument/2006/relationships/slideLayout" Target="../slideLayouts/slideLayout7.xml"/><Relationship Id="rId3" Type="http://schemas.openxmlformats.org/officeDocument/2006/relationships/tags" Target="../tags/tag87.xml"/><Relationship Id="rId21" Type="http://schemas.openxmlformats.org/officeDocument/2006/relationships/tags" Target="../tags/tag105.xml"/><Relationship Id="rId7" Type="http://schemas.openxmlformats.org/officeDocument/2006/relationships/tags" Target="../tags/tag91.xml"/><Relationship Id="rId12" Type="http://schemas.openxmlformats.org/officeDocument/2006/relationships/tags" Target="../tags/tag96.xml"/><Relationship Id="rId17" Type="http://schemas.openxmlformats.org/officeDocument/2006/relationships/tags" Target="../tags/tag101.xml"/><Relationship Id="rId25" Type="http://schemas.openxmlformats.org/officeDocument/2006/relationships/tags" Target="../tags/tag109.xml"/><Relationship Id="rId2" Type="http://schemas.openxmlformats.org/officeDocument/2006/relationships/tags" Target="../tags/tag86.xml"/><Relationship Id="rId16" Type="http://schemas.openxmlformats.org/officeDocument/2006/relationships/tags" Target="../tags/tag100.xml"/><Relationship Id="rId20" Type="http://schemas.openxmlformats.org/officeDocument/2006/relationships/tags" Target="../tags/tag104.xml"/><Relationship Id="rId1" Type="http://schemas.openxmlformats.org/officeDocument/2006/relationships/tags" Target="../tags/tag85.xml"/><Relationship Id="rId6" Type="http://schemas.openxmlformats.org/officeDocument/2006/relationships/tags" Target="../tags/tag90.xml"/><Relationship Id="rId11" Type="http://schemas.openxmlformats.org/officeDocument/2006/relationships/tags" Target="../tags/tag95.xml"/><Relationship Id="rId24" Type="http://schemas.openxmlformats.org/officeDocument/2006/relationships/tags" Target="../tags/tag108.xml"/><Relationship Id="rId5" Type="http://schemas.openxmlformats.org/officeDocument/2006/relationships/tags" Target="../tags/tag89.xml"/><Relationship Id="rId15" Type="http://schemas.openxmlformats.org/officeDocument/2006/relationships/tags" Target="../tags/tag99.xml"/><Relationship Id="rId23" Type="http://schemas.openxmlformats.org/officeDocument/2006/relationships/tags" Target="../tags/tag107.xml"/><Relationship Id="rId10" Type="http://schemas.openxmlformats.org/officeDocument/2006/relationships/tags" Target="../tags/tag94.xml"/><Relationship Id="rId19" Type="http://schemas.openxmlformats.org/officeDocument/2006/relationships/tags" Target="../tags/tag103.xml"/><Relationship Id="rId4" Type="http://schemas.openxmlformats.org/officeDocument/2006/relationships/tags" Target="../tags/tag88.xml"/><Relationship Id="rId9" Type="http://schemas.openxmlformats.org/officeDocument/2006/relationships/tags" Target="../tags/tag93.xml"/><Relationship Id="rId14" Type="http://schemas.openxmlformats.org/officeDocument/2006/relationships/tags" Target="../tags/tag98.xml"/><Relationship Id="rId22" Type="http://schemas.openxmlformats.org/officeDocument/2006/relationships/tags" Target="../tags/tag106.xml"/><Relationship Id="rId27" Type="http://schemas.openxmlformats.org/officeDocument/2006/relationships/image" Target="../media/image4.tmp"/></Relationships>
</file>

<file path=ppt/slides/_rels/slide7.xml.rels><?xml version="1.0" encoding="UTF-8" standalone="yes"?>
<Relationships xmlns="http://schemas.openxmlformats.org/package/2006/relationships"><Relationship Id="rId8" Type="http://schemas.openxmlformats.org/officeDocument/2006/relationships/tags" Target="../tags/tag117.xml"/><Relationship Id="rId13" Type="http://schemas.openxmlformats.org/officeDocument/2006/relationships/tags" Target="../tags/tag122.xml"/><Relationship Id="rId18" Type="http://schemas.openxmlformats.org/officeDocument/2006/relationships/tags" Target="../tags/tag127.xml"/><Relationship Id="rId26" Type="http://schemas.openxmlformats.org/officeDocument/2006/relationships/slideLayout" Target="../slideLayouts/slideLayout7.xml"/><Relationship Id="rId3" Type="http://schemas.openxmlformats.org/officeDocument/2006/relationships/tags" Target="../tags/tag112.xml"/><Relationship Id="rId21" Type="http://schemas.openxmlformats.org/officeDocument/2006/relationships/tags" Target="../tags/tag130.xml"/><Relationship Id="rId7" Type="http://schemas.openxmlformats.org/officeDocument/2006/relationships/tags" Target="../tags/tag116.xml"/><Relationship Id="rId12" Type="http://schemas.openxmlformats.org/officeDocument/2006/relationships/tags" Target="../tags/tag121.xml"/><Relationship Id="rId17" Type="http://schemas.openxmlformats.org/officeDocument/2006/relationships/tags" Target="../tags/tag126.xml"/><Relationship Id="rId25" Type="http://schemas.openxmlformats.org/officeDocument/2006/relationships/tags" Target="../tags/tag134.xml"/><Relationship Id="rId2" Type="http://schemas.openxmlformats.org/officeDocument/2006/relationships/tags" Target="../tags/tag111.xml"/><Relationship Id="rId16" Type="http://schemas.openxmlformats.org/officeDocument/2006/relationships/tags" Target="../tags/tag125.xml"/><Relationship Id="rId20" Type="http://schemas.openxmlformats.org/officeDocument/2006/relationships/tags" Target="../tags/tag129.xml"/><Relationship Id="rId1" Type="http://schemas.openxmlformats.org/officeDocument/2006/relationships/tags" Target="../tags/tag110.xml"/><Relationship Id="rId6" Type="http://schemas.openxmlformats.org/officeDocument/2006/relationships/tags" Target="../tags/tag115.xml"/><Relationship Id="rId11" Type="http://schemas.openxmlformats.org/officeDocument/2006/relationships/tags" Target="../tags/tag120.xml"/><Relationship Id="rId24" Type="http://schemas.openxmlformats.org/officeDocument/2006/relationships/tags" Target="../tags/tag133.xml"/><Relationship Id="rId5" Type="http://schemas.openxmlformats.org/officeDocument/2006/relationships/tags" Target="../tags/tag114.xml"/><Relationship Id="rId15" Type="http://schemas.openxmlformats.org/officeDocument/2006/relationships/tags" Target="../tags/tag124.xml"/><Relationship Id="rId23" Type="http://schemas.openxmlformats.org/officeDocument/2006/relationships/tags" Target="../tags/tag132.xml"/><Relationship Id="rId10" Type="http://schemas.openxmlformats.org/officeDocument/2006/relationships/tags" Target="../tags/tag119.xml"/><Relationship Id="rId19" Type="http://schemas.openxmlformats.org/officeDocument/2006/relationships/tags" Target="../tags/tag128.xml"/><Relationship Id="rId4" Type="http://schemas.openxmlformats.org/officeDocument/2006/relationships/tags" Target="../tags/tag113.xml"/><Relationship Id="rId9" Type="http://schemas.openxmlformats.org/officeDocument/2006/relationships/tags" Target="../tags/tag118.xml"/><Relationship Id="rId14" Type="http://schemas.openxmlformats.org/officeDocument/2006/relationships/tags" Target="../tags/tag123.xml"/><Relationship Id="rId22" Type="http://schemas.openxmlformats.org/officeDocument/2006/relationships/tags" Target="../tags/tag131.xml"/><Relationship Id="rId27" Type="http://schemas.openxmlformats.org/officeDocument/2006/relationships/image" Target="../media/image4.tmp"/></Relationships>
</file>

<file path=ppt/slides/_rels/slide8.xml.rels><?xml version="1.0" encoding="UTF-8" standalone="yes"?>
<Relationships xmlns="http://schemas.openxmlformats.org/package/2006/relationships"><Relationship Id="rId8" Type="http://schemas.openxmlformats.org/officeDocument/2006/relationships/tags" Target="../tags/tag142.xml"/><Relationship Id="rId13" Type="http://schemas.openxmlformats.org/officeDocument/2006/relationships/tags" Target="../tags/tag147.xml"/><Relationship Id="rId18" Type="http://schemas.openxmlformats.org/officeDocument/2006/relationships/tags" Target="../tags/tag152.xml"/><Relationship Id="rId26" Type="http://schemas.openxmlformats.org/officeDocument/2006/relationships/tags" Target="../tags/tag160.xml"/><Relationship Id="rId3" Type="http://schemas.openxmlformats.org/officeDocument/2006/relationships/tags" Target="../tags/tag137.xml"/><Relationship Id="rId21" Type="http://schemas.openxmlformats.org/officeDocument/2006/relationships/tags" Target="../tags/tag155.xml"/><Relationship Id="rId7" Type="http://schemas.openxmlformats.org/officeDocument/2006/relationships/tags" Target="../tags/tag141.xml"/><Relationship Id="rId12" Type="http://schemas.openxmlformats.org/officeDocument/2006/relationships/tags" Target="../tags/tag146.xml"/><Relationship Id="rId17" Type="http://schemas.openxmlformats.org/officeDocument/2006/relationships/tags" Target="../tags/tag151.xml"/><Relationship Id="rId25" Type="http://schemas.openxmlformats.org/officeDocument/2006/relationships/tags" Target="../tags/tag159.xml"/><Relationship Id="rId2" Type="http://schemas.openxmlformats.org/officeDocument/2006/relationships/tags" Target="../tags/tag136.xml"/><Relationship Id="rId16" Type="http://schemas.openxmlformats.org/officeDocument/2006/relationships/tags" Target="../tags/tag150.xml"/><Relationship Id="rId20" Type="http://schemas.openxmlformats.org/officeDocument/2006/relationships/tags" Target="../tags/tag154.xml"/><Relationship Id="rId29" Type="http://schemas.openxmlformats.org/officeDocument/2006/relationships/image" Target="../media/image4.tmp"/><Relationship Id="rId1" Type="http://schemas.openxmlformats.org/officeDocument/2006/relationships/tags" Target="../tags/tag135.xml"/><Relationship Id="rId6" Type="http://schemas.openxmlformats.org/officeDocument/2006/relationships/tags" Target="../tags/tag140.xml"/><Relationship Id="rId11" Type="http://schemas.openxmlformats.org/officeDocument/2006/relationships/tags" Target="../tags/tag145.xml"/><Relationship Id="rId24" Type="http://schemas.openxmlformats.org/officeDocument/2006/relationships/tags" Target="../tags/tag158.xml"/><Relationship Id="rId5" Type="http://schemas.openxmlformats.org/officeDocument/2006/relationships/tags" Target="../tags/tag139.xml"/><Relationship Id="rId15" Type="http://schemas.openxmlformats.org/officeDocument/2006/relationships/tags" Target="../tags/tag149.xml"/><Relationship Id="rId23" Type="http://schemas.openxmlformats.org/officeDocument/2006/relationships/tags" Target="../tags/tag157.xml"/><Relationship Id="rId28" Type="http://schemas.openxmlformats.org/officeDocument/2006/relationships/slideLayout" Target="../slideLayouts/slideLayout7.xml"/><Relationship Id="rId10" Type="http://schemas.openxmlformats.org/officeDocument/2006/relationships/tags" Target="../tags/tag144.xml"/><Relationship Id="rId19" Type="http://schemas.openxmlformats.org/officeDocument/2006/relationships/tags" Target="../tags/tag153.xml"/><Relationship Id="rId4" Type="http://schemas.openxmlformats.org/officeDocument/2006/relationships/tags" Target="../tags/tag138.xml"/><Relationship Id="rId9" Type="http://schemas.openxmlformats.org/officeDocument/2006/relationships/tags" Target="../tags/tag143.xml"/><Relationship Id="rId14" Type="http://schemas.openxmlformats.org/officeDocument/2006/relationships/tags" Target="../tags/tag148.xml"/><Relationship Id="rId22" Type="http://schemas.openxmlformats.org/officeDocument/2006/relationships/tags" Target="../tags/tag156.xml"/><Relationship Id="rId27" Type="http://schemas.openxmlformats.org/officeDocument/2006/relationships/tags" Target="../tags/tag161.xml"/></Relationships>
</file>

<file path=ppt/slides/_rels/slide9.xml.rels><?xml version="1.0" encoding="UTF-8" standalone="yes"?>
<Relationships xmlns="http://schemas.openxmlformats.org/package/2006/relationships"><Relationship Id="rId8" Type="http://schemas.openxmlformats.org/officeDocument/2006/relationships/tags" Target="../tags/tag169.xml"/><Relationship Id="rId13" Type="http://schemas.openxmlformats.org/officeDocument/2006/relationships/tags" Target="../tags/tag174.xml"/><Relationship Id="rId18" Type="http://schemas.openxmlformats.org/officeDocument/2006/relationships/tags" Target="../tags/tag179.xml"/><Relationship Id="rId26" Type="http://schemas.openxmlformats.org/officeDocument/2006/relationships/tags" Target="../tags/tag187.xml"/><Relationship Id="rId3" Type="http://schemas.openxmlformats.org/officeDocument/2006/relationships/tags" Target="../tags/tag164.xml"/><Relationship Id="rId21" Type="http://schemas.openxmlformats.org/officeDocument/2006/relationships/tags" Target="../tags/tag182.xml"/><Relationship Id="rId7" Type="http://schemas.openxmlformats.org/officeDocument/2006/relationships/tags" Target="../tags/tag168.xml"/><Relationship Id="rId12" Type="http://schemas.openxmlformats.org/officeDocument/2006/relationships/tags" Target="../tags/tag173.xml"/><Relationship Id="rId17" Type="http://schemas.openxmlformats.org/officeDocument/2006/relationships/tags" Target="../tags/tag178.xml"/><Relationship Id="rId25" Type="http://schemas.openxmlformats.org/officeDocument/2006/relationships/tags" Target="../tags/tag186.xml"/><Relationship Id="rId2" Type="http://schemas.openxmlformats.org/officeDocument/2006/relationships/tags" Target="../tags/tag163.xml"/><Relationship Id="rId16" Type="http://schemas.openxmlformats.org/officeDocument/2006/relationships/tags" Target="../tags/tag177.xml"/><Relationship Id="rId20" Type="http://schemas.openxmlformats.org/officeDocument/2006/relationships/tags" Target="../tags/tag181.xml"/><Relationship Id="rId29" Type="http://schemas.openxmlformats.org/officeDocument/2006/relationships/image" Target="../media/image4.tmp"/><Relationship Id="rId1" Type="http://schemas.openxmlformats.org/officeDocument/2006/relationships/tags" Target="../tags/tag162.xml"/><Relationship Id="rId6" Type="http://schemas.openxmlformats.org/officeDocument/2006/relationships/tags" Target="../tags/tag167.xml"/><Relationship Id="rId11" Type="http://schemas.openxmlformats.org/officeDocument/2006/relationships/tags" Target="../tags/tag172.xml"/><Relationship Id="rId24" Type="http://schemas.openxmlformats.org/officeDocument/2006/relationships/tags" Target="../tags/tag185.xml"/><Relationship Id="rId5" Type="http://schemas.openxmlformats.org/officeDocument/2006/relationships/tags" Target="../tags/tag166.xml"/><Relationship Id="rId15" Type="http://schemas.openxmlformats.org/officeDocument/2006/relationships/tags" Target="../tags/tag176.xml"/><Relationship Id="rId23" Type="http://schemas.openxmlformats.org/officeDocument/2006/relationships/tags" Target="../tags/tag184.xml"/><Relationship Id="rId28" Type="http://schemas.openxmlformats.org/officeDocument/2006/relationships/slideLayout" Target="../slideLayouts/slideLayout7.xml"/><Relationship Id="rId10" Type="http://schemas.openxmlformats.org/officeDocument/2006/relationships/tags" Target="../tags/tag171.xml"/><Relationship Id="rId19" Type="http://schemas.openxmlformats.org/officeDocument/2006/relationships/tags" Target="../tags/tag180.xml"/><Relationship Id="rId4" Type="http://schemas.openxmlformats.org/officeDocument/2006/relationships/tags" Target="../tags/tag165.xml"/><Relationship Id="rId9" Type="http://schemas.openxmlformats.org/officeDocument/2006/relationships/tags" Target="../tags/tag170.xml"/><Relationship Id="rId14" Type="http://schemas.openxmlformats.org/officeDocument/2006/relationships/tags" Target="../tags/tag175.xml"/><Relationship Id="rId22" Type="http://schemas.openxmlformats.org/officeDocument/2006/relationships/tags" Target="../tags/tag183.xml"/><Relationship Id="rId27" Type="http://schemas.openxmlformats.org/officeDocument/2006/relationships/tags" Target="../tags/tag188.xml"/></Relationships>
</file>

<file path=ppt/slides/_rels/slide10.xml.rels><?xml version="1.0" encoding="UTF-8" standalone="yes"?>
<Relationships xmlns="http://schemas.openxmlformats.org/package/2006/relationships"><Relationship Id="rId8" Type="http://schemas.openxmlformats.org/officeDocument/2006/relationships/tags" Target="../tags/tag196.xml"/><Relationship Id="rId13" Type="http://schemas.openxmlformats.org/officeDocument/2006/relationships/tags" Target="../tags/tag201.xml"/><Relationship Id="rId18" Type="http://schemas.openxmlformats.org/officeDocument/2006/relationships/tags" Target="../tags/tag206.xml"/><Relationship Id="rId26" Type="http://schemas.openxmlformats.org/officeDocument/2006/relationships/image" Target="../media/image4.tmp"/><Relationship Id="rId3" Type="http://schemas.openxmlformats.org/officeDocument/2006/relationships/tags" Target="../tags/tag191.xml"/><Relationship Id="rId21" Type="http://schemas.openxmlformats.org/officeDocument/2006/relationships/tags" Target="../tags/tag209.xml"/><Relationship Id="rId7" Type="http://schemas.openxmlformats.org/officeDocument/2006/relationships/tags" Target="../tags/tag195.xml"/><Relationship Id="rId12" Type="http://schemas.openxmlformats.org/officeDocument/2006/relationships/tags" Target="../tags/tag200.xml"/><Relationship Id="rId17" Type="http://schemas.openxmlformats.org/officeDocument/2006/relationships/tags" Target="../tags/tag205.xml"/><Relationship Id="rId25" Type="http://schemas.openxmlformats.org/officeDocument/2006/relationships/slideLayout" Target="../slideLayouts/slideLayout7.xml"/><Relationship Id="rId2" Type="http://schemas.openxmlformats.org/officeDocument/2006/relationships/tags" Target="../tags/tag190.xml"/><Relationship Id="rId16" Type="http://schemas.openxmlformats.org/officeDocument/2006/relationships/tags" Target="../tags/tag204.xml"/><Relationship Id="rId20" Type="http://schemas.openxmlformats.org/officeDocument/2006/relationships/tags" Target="../tags/tag208.xml"/><Relationship Id="rId1" Type="http://schemas.openxmlformats.org/officeDocument/2006/relationships/tags" Target="../tags/tag189.xml"/><Relationship Id="rId6" Type="http://schemas.openxmlformats.org/officeDocument/2006/relationships/tags" Target="../tags/tag194.xml"/><Relationship Id="rId11" Type="http://schemas.openxmlformats.org/officeDocument/2006/relationships/tags" Target="../tags/tag199.xml"/><Relationship Id="rId24" Type="http://schemas.openxmlformats.org/officeDocument/2006/relationships/tags" Target="../tags/tag212.xml"/><Relationship Id="rId5" Type="http://schemas.openxmlformats.org/officeDocument/2006/relationships/tags" Target="../tags/tag193.xml"/><Relationship Id="rId15" Type="http://schemas.openxmlformats.org/officeDocument/2006/relationships/tags" Target="../tags/tag203.xml"/><Relationship Id="rId23" Type="http://schemas.openxmlformats.org/officeDocument/2006/relationships/tags" Target="../tags/tag211.xml"/><Relationship Id="rId10" Type="http://schemas.openxmlformats.org/officeDocument/2006/relationships/tags" Target="../tags/tag198.xml"/><Relationship Id="rId19" Type="http://schemas.openxmlformats.org/officeDocument/2006/relationships/tags" Target="../tags/tag207.xml"/><Relationship Id="rId4" Type="http://schemas.openxmlformats.org/officeDocument/2006/relationships/tags" Target="../tags/tag192.xml"/><Relationship Id="rId9" Type="http://schemas.openxmlformats.org/officeDocument/2006/relationships/tags" Target="../tags/tag197.xml"/><Relationship Id="rId14" Type="http://schemas.openxmlformats.org/officeDocument/2006/relationships/tags" Target="../tags/tag202.xml"/><Relationship Id="rId22" Type="http://schemas.openxmlformats.org/officeDocument/2006/relationships/tags" Target="../tags/tag210.xml"/></Relationships>
</file>

<file path=ppt/slides/_rels/slide11.xml.rels><?xml version="1.0" encoding="UTF-8" standalone="yes"?>
<Relationships xmlns="http://schemas.openxmlformats.org/package/2006/relationships"><Relationship Id="rId8" Type="http://schemas.openxmlformats.org/officeDocument/2006/relationships/tags" Target="../tags/tag220.xml"/><Relationship Id="rId13" Type="http://schemas.openxmlformats.org/officeDocument/2006/relationships/tags" Target="../tags/tag225.xml"/><Relationship Id="rId18" Type="http://schemas.openxmlformats.org/officeDocument/2006/relationships/tags" Target="../tags/tag230.xml"/><Relationship Id="rId3" Type="http://schemas.openxmlformats.org/officeDocument/2006/relationships/tags" Target="../tags/tag215.xml"/><Relationship Id="rId21" Type="http://schemas.openxmlformats.org/officeDocument/2006/relationships/slideLayout" Target="../slideLayouts/slideLayout7.xml"/><Relationship Id="rId7" Type="http://schemas.openxmlformats.org/officeDocument/2006/relationships/tags" Target="../tags/tag219.xml"/><Relationship Id="rId12" Type="http://schemas.openxmlformats.org/officeDocument/2006/relationships/tags" Target="../tags/tag224.xml"/><Relationship Id="rId17" Type="http://schemas.openxmlformats.org/officeDocument/2006/relationships/tags" Target="../tags/tag229.xml"/><Relationship Id="rId2" Type="http://schemas.openxmlformats.org/officeDocument/2006/relationships/tags" Target="../tags/tag214.xml"/><Relationship Id="rId16" Type="http://schemas.openxmlformats.org/officeDocument/2006/relationships/tags" Target="../tags/tag228.xml"/><Relationship Id="rId20" Type="http://schemas.openxmlformats.org/officeDocument/2006/relationships/tags" Target="../tags/tag232.xml"/><Relationship Id="rId1" Type="http://schemas.openxmlformats.org/officeDocument/2006/relationships/tags" Target="../tags/tag213.xml"/><Relationship Id="rId6" Type="http://schemas.openxmlformats.org/officeDocument/2006/relationships/tags" Target="../tags/tag218.xml"/><Relationship Id="rId11" Type="http://schemas.openxmlformats.org/officeDocument/2006/relationships/tags" Target="../tags/tag223.xml"/><Relationship Id="rId5" Type="http://schemas.openxmlformats.org/officeDocument/2006/relationships/tags" Target="../tags/tag217.xml"/><Relationship Id="rId15" Type="http://schemas.openxmlformats.org/officeDocument/2006/relationships/tags" Target="../tags/tag227.xml"/><Relationship Id="rId10" Type="http://schemas.openxmlformats.org/officeDocument/2006/relationships/tags" Target="../tags/tag222.xml"/><Relationship Id="rId19" Type="http://schemas.openxmlformats.org/officeDocument/2006/relationships/tags" Target="../tags/tag231.xml"/><Relationship Id="rId4" Type="http://schemas.openxmlformats.org/officeDocument/2006/relationships/tags" Target="../tags/tag216.xml"/><Relationship Id="rId9" Type="http://schemas.openxmlformats.org/officeDocument/2006/relationships/tags" Target="../tags/tag221.xml"/><Relationship Id="rId14" Type="http://schemas.openxmlformats.org/officeDocument/2006/relationships/tags" Target="../tags/tag226.xml"/><Relationship Id="rId22" Type="http://schemas.openxmlformats.org/officeDocument/2006/relationships/image" Target="../media/image4.tmp"/></Relationships>
</file>

<file path=ppt/slides/_rels/slide12.xml.rels><?xml version="1.0" encoding="UTF-8" standalone="yes"?>
<Relationships xmlns="http://schemas.openxmlformats.org/package/2006/relationships"><Relationship Id="rId8" Type="http://schemas.openxmlformats.org/officeDocument/2006/relationships/tags" Target="../tags/tag240.xml"/><Relationship Id="rId13" Type="http://schemas.openxmlformats.org/officeDocument/2006/relationships/tags" Target="../tags/tag245.xml"/><Relationship Id="rId18" Type="http://schemas.openxmlformats.org/officeDocument/2006/relationships/slideLayout" Target="../slideLayouts/slideLayout7.xml"/><Relationship Id="rId3" Type="http://schemas.openxmlformats.org/officeDocument/2006/relationships/tags" Target="../tags/tag235.xml"/><Relationship Id="rId7" Type="http://schemas.openxmlformats.org/officeDocument/2006/relationships/tags" Target="../tags/tag239.xml"/><Relationship Id="rId12" Type="http://schemas.openxmlformats.org/officeDocument/2006/relationships/tags" Target="../tags/tag244.xml"/><Relationship Id="rId17" Type="http://schemas.openxmlformats.org/officeDocument/2006/relationships/tags" Target="../tags/tag249.xml"/><Relationship Id="rId2" Type="http://schemas.openxmlformats.org/officeDocument/2006/relationships/tags" Target="../tags/tag234.xml"/><Relationship Id="rId16" Type="http://schemas.openxmlformats.org/officeDocument/2006/relationships/tags" Target="../tags/tag248.xml"/><Relationship Id="rId1" Type="http://schemas.openxmlformats.org/officeDocument/2006/relationships/tags" Target="../tags/tag233.xml"/><Relationship Id="rId6" Type="http://schemas.openxmlformats.org/officeDocument/2006/relationships/tags" Target="../tags/tag238.xml"/><Relationship Id="rId11" Type="http://schemas.openxmlformats.org/officeDocument/2006/relationships/tags" Target="../tags/tag243.xml"/><Relationship Id="rId5" Type="http://schemas.openxmlformats.org/officeDocument/2006/relationships/tags" Target="../tags/tag237.xml"/><Relationship Id="rId15" Type="http://schemas.openxmlformats.org/officeDocument/2006/relationships/tags" Target="../tags/tag247.xml"/><Relationship Id="rId10" Type="http://schemas.openxmlformats.org/officeDocument/2006/relationships/tags" Target="../tags/tag242.xml"/><Relationship Id="rId19" Type="http://schemas.openxmlformats.org/officeDocument/2006/relationships/image" Target="../media/image4.tmp"/><Relationship Id="rId4" Type="http://schemas.openxmlformats.org/officeDocument/2006/relationships/tags" Target="../tags/tag236.xml"/><Relationship Id="rId9" Type="http://schemas.openxmlformats.org/officeDocument/2006/relationships/tags" Target="../tags/tag241.xml"/><Relationship Id="rId14" Type="http://schemas.openxmlformats.org/officeDocument/2006/relationships/tags" Target="../tags/tag246.xml"/></Relationships>
</file>

<file path=ppt/slides/_rels/slide13.xml.rels><?xml version="1.0" encoding="UTF-8" standalone="yes"?>
<Relationships xmlns="http://schemas.openxmlformats.org/package/2006/relationships"><Relationship Id="rId8" Type="http://schemas.openxmlformats.org/officeDocument/2006/relationships/tags" Target="../tags/tag257.xml"/><Relationship Id="rId13" Type="http://schemas.openxmlformats.org/officeDocument/2006/relationships/tags" Target="../tags/tag262.xml"/><Relationship Id="rId18" Type="http://schemas.openxmlformats.org/officeDocument/2006/relationships/slideLayout" Target="../slideLayouts/slideLayout7.xml"/><Relationship Id="rId3" Type="http://schemas.openxmlformats.org/officeDocument/2006/relationships/tags" Target="../tags/tag252.xml"/><Relationship Id="rId7" Type="http://schemas.openxmlformats.org/officeDocument/2006/relationships/tags" Target="../tags/tag256.xml"/><Relationship Id="rId12" Type="http://schemas.openxmlformats.org/officeDocument/2006/relationships/tags" Target="../tags/tag261.xml"/><Relationship Id="rId17" Type="http://schemas.openxmlformats.org/officeDocument/2006/relationships/tags" Target="../tags/tag266.xml"/><Relationship Id="rId2" Type="http://schemas.openxmlformats.org/officeDocument/2006/relationships/tags" Target="../tags/tag251.xml"/><Relationship Id="rId16" Type="http://schemas.openxmlformats.org/officeDocument/2006/relationships/tags" Target="../tags/tag265.xml"/><Relationship Id="rId1" Type="http://schemas.openxmlformats.org/officeDocument/2006/relationships/tags" Target="../tags/tag250.xml"/><Relationship Id="rId6" Type="http://schemas.openxmlformats.org/officeDocument/2006/relationships/tags" Target="../tags/tag255.xml"/><Relationship Id="rId11" Type="http://schemas.openxmlformats.org/officeDocument/2006/relationships/tags" Target="../tags/tag260.xml"/><Relationship Id="rId5" Type="http://schemas.openxmlformats.org/officeDocument/2006/relationships/tags" Target="../tags/tag254.xml"/><Relationship Id="rId15" Type="http://schemas.openxmlformats.org/officeDocument/2006/relationships/tags" Target="../tags/tag264.xml"/><Relationship Id="rId10" Type="http://schemas.openxmlformats.org/officeDocument/2006/relationships/tags" Target="../tags/tag259.xml"/><Relationship Id="rId19" Type="http://schemas.openxmlformats.org/officeDocument/2006/relationships/image" Target="../media/image4.tmp"/><Relationship Id="rId4" Type="http://schemas.openxmlformats.org/officeDocument/2006/relationships/tags" Target="../tags/tag253.xml"/><Relationship Id="rId9" Type="http://schemas.openxmlformats.org/officeDocument/2006/relationships/tags" Target="../tags/tag258.xml"/><Relationship Id="rId14" Type="http://schemas.openxmlformats.org/officeDocument/2006/relationships/tags" Target="../tags/tag263.xml"/></Relationships>
</file>

<file path=ppt/slides/_rels/slide14.xml.rels><?xml version="1.0" encoding="UTF-8" standalone="yes"?>
<Relationships xmlns="http://schemas.openxmlformats.org/package/2006/relationships"><Relationship Id="rId8" Type="http://schemas.openxmlformats.org/officeDocument/2006/relationships/tags" Target="../tags/tag274.xml"/><Relationship Id="rId13" Type="http://schemas.openxmlformats.org/officeDocument/2006/relationships/tags" Target="../tags/tag279.xml"/><Relationship Id="rId18" Type="http://schemas.openxmlformats.org/officeDocument/2006/relationships/slideLayout" Target="../slideLayouts/slideLayout7.xml"/><Relationship Id="rId3" Type="http://schemas.openxmlformats.org/officeDocument/2006/relationships/tags" Target="../tags/tag269.xml"/><Relationship Id="rId7" Type="http://schemas.openxmlformats.org/officeDocument/2006/relationships/tags" Target="../tags/tag273.xml"/><Relationship Id="rId12" Type="http://schemas.openxmlformats.org/officeDocument/2006/relationships/tags" Target="../tags/tag278.xml"/><Relationship Id="rId17" Type="http://schemas.openxmlformats.org/officeDocument/2006/relationships/tags" Target="../tags/tag283.xml"/><Relationship Id="rId2" Type="http://schemas.openxmlformats.org/officeDocument/2006/relationships/tags" Target="../tags/tag268.xml"/><Relationship Id="rId16" Type="http://schemas.openxmlformats.org/officeDocument/2006/relationships/tags" Target="../tags/tag282.xml"/><Relationship Id="rId1" Type="http://schemas.openxmlformats.org/officeDocument/2006/relationships/tags" Target="../tags/tag267.xml"/><Relationship Id="rId6" Type="http://schemas.openxmlformats.org/officeDocument/2006/relationships/tags" Target="../tags/tag272.xml"/><Relationship Id="rId11" Type="http://schemas.openxmlformats.org/officeDocument/2006/relationships/tags" Target="../tags/tag277.xml"/><Relationship Id="rId5" Type="http://schemas.openxmlformats.org/officeDocument/2006/relationships/tags" Target="../tags/tag271.xml"/><Relationship Id="rId15" Type="http://schemas.openxmlformats.org/officeDocument/2006/relationships/tags" Target="../tags/tag281.xml"/><Relationship Id="rId10" Type="http://schemas.openxmlformats.org/officeDocument/2006/relationships/tags" Target="../tags/tag276.xml"/><Relationship Id="rId19" Type="http://schemas.openxmlformats.org/officeDocument/2006/relationships/image" Target="../media/image4.tmp"/><Relationship Id="rId4" Type="http://schemas.openxmlformats.org/officeDocument/2006/relationships/tags" Target="../tags/tag270.xml"/><Relationship Id="rId9" Type="http://schemas.openxmlformats.org/officeDocument/2006/relationships/tags" Target="../tags/tag275.xml"/><Relationship Id="rId14" Type="http://schemas.openxmlformats.org/officeDocument/2006/relationships/tags" Target="../tags/tag280.xml"/></Relationships>
</file>

<file path=ppt/slides/_rels/slide15.xml.rels><?xml version="1.0" encoding="UTF-8" standalone="yes"?>
<Relationships xmlns="http://schemas.openxmlformats.org/package/2006/relationships"><Relationship Id="rId8" Type="http://schemas.openxmlformats.org/officeDocument/2006/relationships/tags" Target="../tags/tag291.xml"/><Relationship Id="rId13" Type="http://schemas.openxmlformats.org/officeDocument/2006/relationships/tags" Target="../tags/tag296.xml"/><Relationship Id="rId18" Type="http://schemas.openxmlformats.org/officeDocument/2006/relationships/slideLayout" Target="../slideLayouts/slideLayout7.xml"/><Relationship Id="rId3" Type="http://schemas.openxmlformats.org/officeDocument/2006/relationships/tags" Target="../tags/tag286.xml"/><Relationship Id="rId7" Type="http://schemas.openxmlformats.org/officeDocument/2006/relationships/tags" Target="../tags/tag290.xml"/><Relationship Id="rId12" Type="http://schemas.openxmlformats.org/officeDocument/2006/relationships/tags" Target="../tags/tag295.xml"/><Relationship Id="rId17" Type="http://schemas.openxmlformats.org/officeDocument/2006/relationships/tags" Target="../tags/tag300.xml"/><Relationship Id="rId2" Type="http://schemas.openxmlformats.org/officeDocument/2006/relationships/tags" Target="../tags/tag285.xml"/><Relationship Id="rId16" Type="http://schemas.openxmlformats.org/officeDocument/2006/relationships/tags" Target="../tags/tag299.xml"/><Relationship Id="rId1" Type="http://schemas.openxmlformats.org/officeDocument/2006/relationships/tags" Target="../tags/tag284.xml"/><Relationship Id="rId6" Type="http://schemas.openxmlformats.org/officeDocument/2006/relationships/tags" Target="../tags/tag289.xml"/><Relationship Id="rId11" Type="http://schemas.openxmlformats.org/officeDocument/2006/relationships/tags" Target="../tags/tag294.xml"/><Relationship Id="rId5" Type="http://schemas.openxmlformats.org/officeDocument/2006/relationships/tags" Target="../tags/tag288.xml"/><Relationship Id="rId15" Type="http://schemas.openxmlformats.org/officeDocument/2006/relationships/tags" Target="../tags/tag298.xml"/><Relationship Id="rId10" Type="http://schemas.openxmlformats.org/officeDocument/2006/relationships/tags" Target="../tags/tag293.xml"/><Relationship Id="rId19" Type="http://schemas.openxmlformats.org/officeDocument/2006/relationships/image" Target="../media/image4.tmp"/><Relationship Id="rId4" Type="http://schemas.openxmlformats.org/officeDocument/2006/relationships/tags" Target="../tags/tag287.xml"/><Relationship Id="rId9" Type="http://schemas.openxmlformats.org/officeDocument/2006/relationships/tags" Target="../tags/tag292.xml"/><Relationship Id="rId14" Type="http://schemas.openxmlformats.org/officeDocument/2006/relationships/tags" Target="../tags/tag297.xml"/></Relationships>
</file>

<file path=ppt/slides/_rels/slide16.xml.rels><?xml version="1.0" encoding="UTF-8" standalone="yes"?>
<Relationships xmlns="http://schemas.openxmlformats.org/package/2006/relationships"><Relationship Id="rId8" Type="http://schemas.openxmlformats.org/officeDocument/2006/relationships/tags" Target="../tags/tag308.xml"/><Relationship Id="rId13" Type="http://schemas.openxmlformats.org/officeDocument/2006/relationships/tags" Target="../tags/tag313.xml"/><Relationship Id="rId18" Type="http://schemas.openxmlformats.org/officeDocument/2006/relationships/slideLayout" Target="../slideLayouts/slideLayout7.xml"/><Relationship Id="rId3" Type="http://schemas.openxmlformats.org/officeDocument/2006/relationships/tags" Target="../tags/tag303.xml"/><Relationship Id="rId7" Type="http://schemas.openxmlformats.org/officeDocument/2006/relationships/tags" Target="../tags/tag307.xml"/><Relationship Id="rId12" Type="http://schemas.openxmlformats.org/officeDocument/2006/relationships/tags" Target="../tags/tag312.xml"/><Relationship Id="rId17" Type="http://schemas.openxmlformats.org/officeDocument/2006/relationships/tags" Target="../tags/tag317.xml"/><Relationship Id="rId2" Type="http://schemas.openxmlformats.org/officeDocument/2006/relationships/tags" Target="../tags/tag302.xml"/><Relationship Id="rId16" Type="http://schemas.openxmlformats.org/officeDocument/2006/relationships/tags" Target="../tags/tag316.xml"/><Relationship Id="rId1" Type="http://schemas.openxmlformats.org/officeDocument/2006/relationships/tags" Target="../tags/tag301.xml"/><Relationship Id="rId6" Type="http://schemas.openxmlformats.org/officeDocument/2006/relationships/tags" Target="../tags/tag306.xml"/><Relationship Id="rId11" Type="http://schemas.openxmlformats.org/officeDocument/2006/relationships/tags" Target="../tags/tag311.xml"/><Relationship Id="rId5" Type="http://schemas.openxmlformats.org/officeDocument/2006/relationships/tags" Target="../tags/tag305.xml"/><Relationship Id="rId15" Type="http://schemas.openxmlformats.org/officeDocument/2006/relationships/tags" Target="../tags/tag315.xml"/><Relationship Id="rId10" Type="http://schemas.openxmlformats.org/officeDocument/2006/relationships/tags" Target="../tags/tag310.xml"/><Relationship Id="rId19" Type="http://schemas.openxmlformats.org/officeDocument/2006/relationships/image" Target="../media/image4.tmp"/><Relationship Id="rId4" Type="http://schemas.openxmlformats.org/officeDocument/2006/relationships/tags" Target="../tags/tag304.xml"/><Relationship Id="rId9" Type="http://schemas.openxmlformats.org/officeDocument/2006/relationships/tags" Target="../tags/tag309.xml"/><Relationship Id="rId14" Type="http://schemas.openxmlformats.org/officeDocument/2006/relationships/tags" Target="../tags/tag3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063DD2-05E8-47FA-A3D2-1DFEE43FC5F3}"/>
              </a:ext>
            </a:extLst>
          </p:cNvPr>
          <p:cNvSpPr>
            <a:spLocks noGrp="1"/>
          </p:cNvSpPr>
          <p:nvPr>
            <p:ph type="ctrTitle"/>
          </p:nvPr>
        </p:nvSpPr>
        <p:spPr/>
        <p:txBody>
          <a:bodyPr/>
          <a:lstStyle/>
          <a:p>
            <a:r>
              <a:rPr lang="zh-CN" altLang="en-US" dirty="0">
                <a:solidFill>
                  <a:srgbClr val="000000"/>
                </a:solidFill>
              </a:rPr>
              <a:t>高级语言程序设计</a:t>
            </a:r>
            <a:r>
              <a:rPr lang="en-US" altLang="zh-CN" dirty="0">
                <a:solidFill>
                  <a:srgbClr val="000000"/>
                </a:solidFill>
              </a:rPr>
              <a:t>2-2</a:t>
            </a:r>
            <a:endParaRPr lang="zh-CN" altLang="en-US" dirty="0">
              <a:solidFill>
                <a:srgbClr val="000000"/>
              </a:solidFill>
            </a:endParaRPr>
          </a:p>
        </p:txBody>
      </p:sp>
      <p:sp>
        <p:nvSpPr>
          <p:cNvPr id="3" name="副标题 2">
            <a:extLst>
              <a:ext uri="{FF2B5EF4-FFF2-40B4-BE49-F238E27FC236}">
                <a16:creationId xmlns:a16="http://schemas.microsoft.com/office/drawing/2014/main" id="{33F16802-A37C-4D9C-97C0-04F6A95BC1DA}"/>
              </a:ext>
            </a:extLst>
          </p:cNvPr>
          <p:cNvSpPr>
            <a:spLocks noGrp="1"/>
          </p:cNvSpPr>
          <p:nvPr>
            <p:ph type="subTitle" idx="1"/>
          </p:nvPr>
        </p:nvSpPr>
        <p:spPr/>
        <p:txBody>
          <a:bodyPr/>
          <a:lstStyle/>
          <a:p>
            <a:r>
              <a:rPr lang="zh-CN" altLang="en-US" dirty="0"/>
              <a:t>第八章课后练习</a:t>
            </a:r>
            <a:r>
              <a:rPr lang="en-US" altLang="zh-CN" dirty="0"/>
              <a:t>1</a:t>
            </a:r>
            <a:endParaRPr lang="zh-CN" altLang="en-US" dirty="0"/>
          </a:p>
        </p:txBody>
      </p:sp>
    </p:spTree>
    <p:extLst>
      <p:ext uri="{BB962C8B-B14F-4D97-AF65-F5344CB8AC3E}">
        <p14:creationId xmlns:p14="http://schemas.microsoft.com/office/powerpoint/2010/main" val="254071967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CD9FE0BE-6BB8-406A-BADC-63D664CF37E7}"/>
              </a:ext>
            </a:extLst>
          </p:cNvPr>
          <p:cNvSpPr txBox="1"/>
          <p:nvPr>
            <p:custDataLst>
              <p:tags r:id="rId2"/>
            </p:custDataLst>
          </p:nvPr>
        </p:nvSpPr>
        <p:spPr>
          <a:xfrm>
            <a:off x="990600" y="1029811"/>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在公有继承方式下，派生类成员函数中不可以直接访问派生类从基类继承过来的（  ）成员</a:t>
            </a:r>
          </a:p>
        </p:txBody>
      </p:sp>
      <p:sp>
        <p:nvSpPr>
          <p:cNvPr id="7" name="文本框 6">
            <a:extLst>
              <a:ext uri="{FF2B5EF4-FFF2-40B4-BE49-F238E27FC236}">
                <a16:creationId xmlns:a16="http://schemas.microsoft.com/office/drawing/2014/main" id="{10EDC479-241F-435E-A715-855BA44B98F0}"/>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公有</a:t>
            </a:r>
          </a:p>
        </p:txBody>
      </p:sp>
      <p:sp>
        <p:nvSpPr>
          <p:cNvPr id="8" name="文本框 7">
            <a:extLst>
              <a:ext uri="{FF2B5EF4-FFF2-40B4-BE49-F238E27FC236}">
                <a16:creationId xmlns:a16="http://schemas.microsoft.com/office/drawing/2014/main" id="{838E9597-264F-45F4-A4E4-B0BA01DB057C}"/>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保护</a:t>
            </a:r>
          </a:p>
        </p:txBody>
      </p:sp>
      <p:sp>
        <p:nvSpPr>
          <p:cNvPr id="9" name="文本框 8">
            <a:extLst>
              <a:ext uri="{FF2B5EF4-FFF2-40B4-BE49-F238E27FC236}">
                <a16:creationId xmlns:a16="http://schemas.microsoft.com/office/drawing/2014/main" id="{50619C96-A034-441D-9AE7-4E759727EC9A}"/>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私有</a:t>
            </a:r>
          </a:p>
        </p:txBody>
      </p:sp>
      <p:sp>
        <p:nvSpPr>
          <p:cNvPr id="10" name="文本框 9">
            <a:extLst>
              <a:ext uri="{FF2B5EF4-FFF2-40B4-BE49-F238E27FC236}">
                <a16:creationId xmlns:a16="http://schemas.microsoft.com/office/drawing/2014/main" id="{BD5C8625-26D4-4262-86CD-EEF319650667}"/>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所有</a:t>
            </a:r>
          </a:p>
        </p:txBody>
      </p:sp>
      <p:sp>
        <p:nvSpPr>
          <p:cNvPr id="11" name="矩形 10">
            <a:extLst>
              <a:ext uri="{FF2B5EF4-FFF2-40B4-BE49-F238E27FC236}">
                <a16:creationId xmlns:a16="http://schemas.microsoft.com/office/drawing/2014/main" id="{B7AF6790-5CB5-4936-B7B1-45E079FBFC16}"/>
              </a:ext>
            </a:extLst>
          </p:cNvPr>
          <p:cNvSpPr>
            <a:spLocks noChangeAspect="1"/>
          </p:cNvSpPr>
          <p:nvPr>
            <p:custDataLst>
              <p:tags r:id="rId7"/>
            </p:custDataLst>
          </p:nvPr>
        </p:nvSpPr>
        <p:spPr>
          <a:xfrm>
            <a:off x="1114425" y="2850356"/>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矩形 11">
            <a:extLst>
              <a:ext uri="{FF2B5EF4-FFF2-40B4-BE49-F238E27FC236}">
                <a16:creationId xmlns:a16="http://schemas.microsoft.com/office/drawing/2014/main" id="{01A12D72-7DB9-4551-80D3-0F43016E0CB5}"/>
              </a:ext>
            </a:extLst>
          </p:cNvPr>
          <p:cNvSpPr>
            <a:spLocks noChangeAspect="1"/>
          </p:cNvSpPr>
          <p:nvPr>
            <p:custDataLst>
              <p:tags r:id="rId8"/>
            </p:custDataLst>
          </p:nvPr>
        </p:nvSpPr>
        <p:spPr>
          <a:xfrm>
            <a:off x="1114425" y="3707606"/>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12">
            <a:extLst>
              <a:ext uri="{FF2B5EF4-FFF2-40B4-BE49-F238E27FC236}">
                <a16:creationId xmlns:a16="http://schemas.microsoft.com/office/drawing/2014/main" id="{08F95B66-387C-4456-8281-B59E186EC623}"/>
              </a:ext>
            </a:extLst>
          </p:cNvPr>
          <p:cNvSpPr>
            <a:spLocks noChangeAspect="1"/>
          </p:cNvSpPr>
          <p:nvPr>
            <p:custDataLst>
              <p:tags r:id="rId9"/>
            </p:custDataLst>
          </p:nvPr>
        </p:nvSpPr>
        <p:spPr>
          <a:xfrm>
            <a:off x="1114425" y="456485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矩形 13">
            <a:extLst>
              <a:ext uri="{FF2B5EF4-FFF2-40B4-BE49-F238E27FC236}">
                <a16:creationId xmlns:a16="http://schemas.microsoft.com/office/drawing/2014/main" id="{3E648E13-1167-40E6-B2B3-5ACA95942B47}"/>
              </a:ext>
            </a:extLst>
          </p:cNvPr>
          <p:cNvSpPr>
            <a:spLocks noChangeAspect="1"/>
          </p:cNvSpPr>
          <p:nvPr>
            <p:custDataLst>
              <p:tags r:id="rId10"/>
            </p:custDataLst>
          </p:nvPr>
        </p:nvSpPr>
        <p:spPr>
          <a:xfrm>
            <a:off x="1114425" y="5422106"/>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245D913F-EB6A-4C2B-A1B3-87BEBC4F3187}"/>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sp>
        <p:nvSpPr>
          <p:cNvPr id="22" name="文本框 21">
            <a:extLst>
              <a:ext uri="{FF2B5EF4-FFF2-40B4-BE49-F238E27FC236}">
                <a16:creationId xmlns:a16="http://schemas.microsoft.com/office/drawing/2014/main" id="{A6D38805-1458-4BDA-BCEB-F91A78B897EA}"/>
              </a:ext>
            </a:extLst>
          </p:cNvPr>
          <p:cNvSpPr txBox="1"/>
          <p:nvPr/>
        </p:nvSpPr>
        <p:spPr>
          <a:xfrm>
            <a:off x="3543300" y="923141"/>
            <a:ext cx="2971800" cy="523220"/>
          </a:xfrm>
          <a:prstGeom prst="rect">
            <a:avLst/>
          </a:prstGeom>
          <a:noFill/>
        </p:spPr>
        <p:txBody>
          <a:bodyPr wrap="square" rtlCol="0">
            <a:spAutoFit/>
          </a:bodyPr>
          <a:lstStyle/>
          <a:p>
            <a:r>
              <a:rPr lang="zh-CN" altLang="en-US" sz="2800" dirty="0"/>
              <a:t>不定项选择</a:t>
            </a:r>
          </a:p>
        </p:txBody>
      </p:sp>
      <p:grpSp>
        <p:nvGrpSpPr>
          <p:cNvPr id="20" name="组合 19">
            <a:extLst>
              <a:ext uri="{FF2B5EF4-FFF2-40B4-BE49-F238E27FC236}">
                <a16:creationId xmlns:a16="http://schemas.microsoft.com/office/drawing/2014/main" id="{091DBBA3-3E0F-4A18-A5D8-4E33E11B0CC7}"/>
              </a:ext>
            </a:extLst>
          </p:cNvPr>
          <p:cNvGrpSpPr/>
          <p:nvPr>
            <p:custDataLst>
              <p:tags r:id="rId12"/>
            </p:custDataLst>
          </p:nvPr>
        </p:nvGrpSpPr>
        <p:grpSpPr>
          <a:xfrm>
            <a:off x="0" y="0"/>
            <a:ext cx="9144000" cy="635000"/>
            <a:chOff x="0" y="0"/>
            <a:chExt cx="9144000" cy="635000"/>
          </a:xfrm>
        </p:grpSpPr>
        <p:sp>
          <p:nvSpPr>
            <p:cNvPr id="16" name="TitleBackground">
              <a:extLst>
                <a:ext uri="{FF2B5EF4-FFF2-40B4-BE49-F238E27FC236}">
                  <a16:creationId xmlns:a16="http://schemas.microsoft.com/office/drawing/2014/main" id="{C51CCE32-6A42-442D-B903-2C3DCE019557}"/>
                </a:ext>
              </a:extLst>
            </p:cNvPr>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a:extLst>
                <a:ext uri="{FF2B5EF4-FFF2-40B4-BE49-F238E27FC236}">
                  <a16:creationId xmlns:a16="http://schemas.microsoft.com/office/drawing/2014/main" id="{E977DDD6-8775-4A5B-B368-0C8F9B6905CA}"/>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a:extLst>
                <a:ext uri="{FF2B5EF4-FFF2-40B4-BE49-F238E27FC236}">
                  <a16:creationId xmlns:a16="http://schemas.microsoft.com/office/drawing/2014/main" id="{8581F38B-A5EA-4EB7-922F-078546E24D00}"/>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9" name="TipText">
              <a:extLst>
                <a:ext uri="{FF2B5EF4-FFF2-40B4-BE49-F238E27FC236}">
                  <a16:creationId xmlns:a16="http://schemas.microsoft.com/office/drawing/2014/main" id="{B025FAE3-18DA-4833-831B-555B698CB960}"/>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8C6D38EF-EE10-44CF-96A0-24540B3C6DEA}"/>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7761214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F824D66-B739-44C7-8B1D-13A44B575163}"/>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下列关于继承的描述中，错误的是</a:t>
            </a:r>
          </a:p>
        </p:txBody>
      </p:sp>
      <p:sp>
        <p:nvSpPr>
          <p:cNvPr id="5" name="文本框 4">
            <a:extLst>
              <a:ext uri="{FF2B5EF4-FFF2-40B4-BE49-F238E27FC236}">
                <a16:creationId xmlns:a16="http://schemas.microsoft.com/office/drawing/2014/main" id="{4FFDD43E-2BB9-4B81-AC2F-79111F998317}"/>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派生类继承了基类中除构造函数和析构函数外的所有成员变量和成员函数</a:t>
            </a:r>
          </a:p>
        </p:txBody>
      </p:sp>
      <p:sp>
        <p:nvSpPr>
          <p:cNvPr id="6" name="文本框 5">
            <a:extLst>
              <a:ext uri="{FF2B5EF4-FFF2-40B4-BE49-F238E27FC236}">
                <a16:creationId xmlns:a16="http://schemas.microsoft.com/office/drawing/2014/main" id="{D0C3B871-A475-40B7-945A-15220BB0AAE3}"/>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基类成员的访问权限到派生类中可能会发生变化</a:t>
            </a:r>
          </a:p>
        </p:txBody>
      </p:sp>
      <p:sp>
        <p:nvSpPr>
          <p:cNvPr id="7" name="文本框 6">
            <a:extLst>
              <a:ext uri="{FF2B5EF4-FFF2-40B4-BE49-F238E27FC236}">
                <a16:creationId xmlns:a16="http://schemas.microsoft.com/office/drawing/2014/main" id="{D8AAFE57-32ED-45EB-95D4-FA0396B048F3}"/>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派生类除了继承基类的成员，还可以根据需要添加新的成员</a:t>
            </a:r>
          </a:p>
        </p:txBody>
      </p:sp>
      <p:sp>
        <p:nvSpPr>
          <p:cNvPr id="8" name="文本框 7">
            <a:extLst>
              <a:ext uri="{FF2B5EF4-FFF2-40B4-BE49-F238E27FC236}">
                <a16:creationId xmlns:a16="http://schemas.microsoft.com/office/drawing/2014/main" id="{FC9B80CE-88DC-4A99-B4AF-FAD99605CC6D}"/>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在定义派生类时，如果没有指定继承方式，则默认采用公有继承方式</a:t>
            </a:r>
          </a:p>
        </p:txBody>
      </p:sp>
      <p:sp>
        <p:nvSpPr>
          <p:cNvPr id="9" name="矩形 8">
            <a:extLst>
              <a:ext uri="{FF2B5EF4-FFF2-40B4-BE49-F238E27FC236}">
                <a16:creationId xmlns:a16="http://schemas.microsoft.com/office/drawing/2014/main" id="{ECF0A19D-62B5-49FB-B5F6-EC29981A369D}"/>
              </a:ext>
            </a:extLst>
          </p:cNvPr>
          <p:cNvSpPr>
            <a:spLocks noChangeAspect="1"/>
          </p:cNvSpPr>
          <p:nvPr>
            <p:custDataLst>
              <p:tags r:id="rId7"/>
            </p:custDataLst>
          </p:nvPr>
        </p:nvSpPr>
        <p:spPr>
          <a:xfrm>
            <a:off x="1114425" y="2850356"/>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a:extLst>
              <a:ext uri="{FF2B5EF4-FFF2-40B4-BE49-F238E27FC236}">
                <a16:creationId xmlns:a16="http://schemas.microsoft.com/office/drawing/2014/main" id="{D09F72D5-F21F-4176-A444-58CB38104FE7}"/>
              </a:ext>
            </a:extLst>
          </p:cNvPr>
          <p:cNvSpPr>
            <a:spLocks noChangeAspect="1"/>
          </p:cNvSpPr>
          <p:nvPr>
            <p:custDataLst>
              <p:tags r:id="rId8"/>
            </p:custDataLst>
          </p:nvPr>
        </p:nvSpPr>
        <p:spPr>
          <a:xfrm>
            <a:off x="1114425" y="3707606"/>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a:extLst>
              <a:ext uri="{FF2B5EF4-FFF2-40B4-BE49-F238E27FC236}">
                <a16:creationId xmlns:a16="http://schemas.microsoft.com/office/drawing/2014/main" id="{A60EF8E8-1377-4EC9-86D6-59088706B898}"/>
              </a:ext>
            </a:extLst>
          </p:cNvPr>
          <p:cNvSpPr>
            <a:spLocks noChangeAspect="1"/>
          </p:cNvSpPr>
          <p:nvPr>
            <p:custDataLst>
              <p:tags r:id="rId9"/>
            </p:custDataLst>
          </p:nvPr>
        </p:nvSpPr>
        <p:spPr>
          <a:xfrm>
            <a:off x="1114425" y="4564856"/>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矩形 11">
            <a:extLst>
              <a:ext uri="{FF2B5EF4-FFF2-40B4-BE49-F238E27FC236}">
                <a16:creationId xmlns:a16="http://schemas.microsoft.com/office/drawing/2014/main" id="{86EADC44-9AA5-446D-84A9-7A945F72635A}"/>
              </a:ext>
            </a:extLst>
          </p:cNvPr>
          <p:cNvSpPr>
            <a:spLocks noChangeAspect="1"/>
          </p:cNvSpPr>
          <p:nvPr>
            <p:custDataLst>
              <p:tags r:id="rId10"/>
            </p:custDataLst>
          </p:nvPr>
        </p:nvSpPr>
        <p:spPr>
          <a:xfrm>
            <a:off x="1114425" y="542210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302D3AF1-5F09-43C0-831D-5DAFEFDAB417}"/>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sp>
        <p:nvSpPr>
          <p:cNvPr id="20" name="矩形 19">
            <a:extLst>
              <a:ext uri="{FF2B5EF4-FFF2-40B4-BE49-F238E27FC236}">
                <a16:creationId xmlns:a16="http://schemas.microsoft.com/office/drawing/2014/main" id="{86B59158-137F-4A5E-81E5-1C42BF43E797}"/>
              </a:ext>
            </a:extLst>
          </p:cNvPr>
          <p:cNvSpPr/>
          <p:nvPr>
            <p:custDataLst>
              <p:tags r:id="rId12"/>
            </p:custDataLst>
          </p:nvPr>
        </p:nvSpPr>
        <p:spPr>
          <a:xfrm>
            <a:off x="9525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25" name="文本框 24">
            <a:extLst>
              <a:ext uri="{FF2B5EF4-FFF2-40B4-BE49-F238E27FC236}">
                <a16:creationId xmlns:a16="http://schemas.microsoft.com/office/drawing/2014/main" id="{03D80D0C-36A1-445C-B4E7-1808EA27733D}"/>
              </a:ext>
            </a:extLst>
          </p:cNvPr>
          <p:cNvSpPr txBox="1"/>
          <p:nvPr>
            <p:custDataLst>
              <p:tags r:id="rId13"/>
            </p:custDataLst>
          </p:nvPr>
        </p:nvSpPr>
        <p:spPr>
          <a:xfrm>
            <a:off x="9613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可为此题添加文本、图片、公式等解析，且需将内容全部放在本区域内。正常使用需</a:t>
            </a:r>
            <a:r>
              <a:rPr lang="en-US" altLang="zh-CN"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3.0</a:t>
            </a: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a:t>
            </a:r>
          </a:p>
        </p:txBody>
      </p:sp>
      <p:sp>
        <p:nvSpPr>
          <p:cNvPr id="26" name="文本框 25">
            <a:extLst>
              <a:ext uri="{FF2B5EF4-FFF2-40B4-BE49-F238E27FC236}">
                <a16:creationId xmlns:a16="http://schemas.microsoft.com/office/drawing/2014/main" id="{88703EC5-7AD7-4D09-8EF5-46EFDC225E8C}"/>
              </a:ext>
            </a:extLst>
          </p:cNvPr>
          <p:cNvSpPr txBox="1"/>
          <p:nvPr>
            <p:custDataLst>
              <p:tags r:id="rId14"/>
            </p:custDataLst>
          </p:nvPr>
        </p:nvSpPr>
        <p:spPr>
          <a:xfrm>
            <a:off x="9779000" y="1270000"/>
            <a:ext cx="3332480" cy="1015663"/>
          </a:xfrm>
          <a:prstGeom prst="rect">
            <a:avLst/>
          </a:prstGeom>
          <a:noFill/>
        </p:spPr>
        <p:txBody>
          <a:bodyPr vert="horz" rtlCol="0" anchor="t" anchorCtr="0">
            <a:spAutoFit/>
          </a:bodyPr>
          <a:lstStyle/>
          <a:p>
            <a:pPr lvl="0"/>
            <a:r>
              <a:rPr lang="en-US" altLang="zh-CN"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a:t>
            </a:r>
            <a:r>
              <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选项中，在定义派生类时，如果没有指定继承方式，则默认采用私有继承方式</a:t>
            </a:r>
            <a:endPar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24" name="组合 23">
            <a:extLst>
              <a:ext uri="{FF2B5EF4-FFF2-40B4-BE49-F238E27FC236}">
                <a16:creationId xmlns:a16="http://schemas.microsoft.com/office/drawing/2014/main" id="{CFD2EBCC-FB0F-4650-BADC-90DE3D9DE875}"/>
              </a:ext>
            </a:extLst>
          </p:cNvPr>
          <p:cNvGrpSpPr/>
          <p:nvPr>
            <p:custDataLst>
              <p:tags r:id="rId15"/>
            </p:custDataLst>
          </p:nvPr>
        </p:nvGrpSpPr>
        <p:grpSpPr>
          <a:xfrm>
            <a:off x="9537700" y="0"/>
            <a:ext cx="3815080" cy="647700"/>
            <a:chOff x="9537700" y="0"/>
            <a:chExt cx="3815080" cy="647700"/>
          </a:xfrm>
        </p:grpSpPr>
        <p:sp>
          <p:nvSpPr>
            <p:cNvPr id="21" name="RemarkBack">
              <a:extLst>
                <a:ext uri="{FF2B5EF4-FFF2-40B4-BE49-F238E27FC236}">
                  <a16:creationId xmlns:a16="http://schemas.microsoft.com/office/drawing/2014/main" id="{5C038F7B-ADDF-45DF-BE7F-791A849F53C8}"/>
                </a:ext>
              </a:extLst>
            </p:cNvPr>
            <p:cNvSpPr/>
            <p:nvPr>
              <p:custDataLst>
                <p:tags r:id="rId25"/>
              </p:custDataLst>
            </p:nvPr>
          </p:nvSpPr>
          <p:spPr>
            <a:xfrm>
              <a:off x="9537700" y="12700"/>
              <a:ext cx="381508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RemarkBlock">
              <a:extLst>
                <a:ext uri="{FF2B5EF4-FFF2-40B4-BE49-F238E27FC236}">
                  <a16:creationId xmlns:a16="http://schemas.microsoft.com/office/drawing/2014/main" id="{451E6A27-7D47-4D89-A955-7D9BC6316785}"/>
                </a:ext>
              </a:extLst>
            </p:cNvPr>
            <p:cNvSpPr/>
            <p:nvPr>
              <p:custDataLst>
                <p:tags r:id="rId26"/>
              </p:custDataLst>
            </p:nvPr>
          </p:nvSpPr>
          <p:spPr>
            <a:xfrm>
              <a:off x="9537700" y="1270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RemarkTitleText">
              <a:extLst>
                <a:ext uri="{FF2B5EF4-FFF2-40B4-BE49-F238E27FC236}">
                  <a16:creationId xmlns:a16="http://schemas.microsoft.com/office/drawing/2014/main" id="{9040B360-D59C-418F-BB0C-26CB4D0D46B8}"/>
                </a:ext>
              </a:extLst>
            </p:cNvPr>
            <p:cNvSpPr txBox="1"/>
            <p:nvPr>
              <p:custDataLst>
                <p:tags r:id="rId27"/>
              </p:custDataLst>
            </p:nvPr>
          </p:nvSpPr>
          <p:spPr>
            <a:xfrm>
              <a:off x="9779000" y="0"/>
              <a:ext cx="1905000" cy="635000"/>
            </a:xfrm>
            <a:prstGeom prst="rect">
              <a:avLst/>
            </a:prstGeom>
            <a:noFill/>
          </p:spPr>
          <p:txBody>
            <a:bodyPr vert="horz" wrap="none" rtlCol="0" anchor="ctr" anchorCtr="0">
              <a:noAutofit/>
            </a:bodyPr>
            <a:lstStyle/>
            <a:p>
              <a:r>
                <a:rPr lang="zh-CN" altLang="en-US">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grpSp>
      <p:grpSp>
        <p:nvGrpSpPr>
          <p:cNvPr id="18" name="组合 17">
            <a:extLst>
              <a:ext uri="{FF2B5EF4-FFF2-40B4-BE49-F238E27FC236}">
                <a16:creationId xmlns:a16="http://schemas.microsoft.com/office/drawing/2014/main" id="{9815AFCB-C78C-4E36-B22C-BB3605D84B81}"/>
              </a:ext>
            </a:extLst>
          </p:cNvPr>
          <p:cNvGrpSpPr/>
          <p:nvPr>
            <p:custDataLst>
              <p:tags r:id="rId16"/>
            </p:custDataLst>
          </p:nvPr>
        </p:nvGrpSpPr>
        <p:grpSpPr>
          <a:xfrm>
            <a:off x="0" y="0"/>
            <a:ext cx="9144000" cy="635000"/>
            <a:chOff x="0" y="0"/>
            <a:chExt cx="9144000" cy="635000"/>
          </a:xfrm>
        </p:grpSpPr>
        <p:sp>
          <p:nvSpPr>
            <p:cNvPr id="14" name="TitleBackground">
              <a:extLst>
                <a:ext uri="{FF2B5EF4-FFF2-40B4-BE49-F238E27FC236}">
                  <a16:creationId xmlns:a16="http://schemas.microsoft.com/office/drawing/2014/main" id="{D77CDF15-4A45-4D72-92FC-31C4E4DADA5D}"/>
                </a:ext>
              </a:extLst>
            </p:cNvPr>
            <p:cNvSpPr/>
            <p:nvPr>
              <p:custDataLst>
                <p:tags r:id="rId21"/>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4007C286-24D9-430C-BB7A-A1A21260B200}"/>
                </a:ext>
              </a:extLst>
            </p:cNvPr>
            <p:cNvSpPr/>
            <p:nvPr>
              <p:custDataLst>
                <p:tags r:id="rId22"/>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D4B93D82-BF59-44E0-B6F7-B3D3E1618867}"/>
                </a:ext>
              </a:extLst>
            </p:cNvPr>
            <p:cNvSpPr txBox="1"/>
            <p:nvPr>
              <p:custDataLst>
                <p:tags r:id="rId23"/>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7" name="TipText">
              <a:extLst>
                <a:ext uri="{FF2B5EF4-FFF2-40B4-BE49-F238E27FC236}">
                  <a16:creationId xmlns:a16="http://schemas.microsoft.com/office/drawing/2014/main" id="{C7E49262-1802-4DE1-B636-5F955CB250FE}"/>
                </a:ext>
              </a:extLst>
            </p:cNvPr>
            <p:cNvSpPr txBox="1"/>
            <p:nvPr>
              <p:custDataLst>
                <p:tags r:id="rId24"/>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900F2A8B-E940-4C0A-B81F-FE75D789C418}"/>
              </a:ext>
            </a:extLst>
          </p:cNvPr>
          <p:cNvPicPr>
            <a:picLocks/>
          </p:cNvPicPr>
          <p:nvPr>
            <p:custDataLst>
              <p:tags r:id="rId17"/>
            </p:custDataLst>
          </p:nvPr>
        </p:nvPicPr>
        <p:blipFill>
          <a:blip r:embed="rId2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
        <p:nvSpPr>
          <p:cNvPr id="2" name="RemarkBack"/>
          <p:cNvSpPr/>
          <p:nvPr>
            <p:custDataLst>
              <p:tags r:id="rId18"/>
            </p:custDataLst>
          </p:nvPr>
        </p:nvSpPr>
        <p:spPr>
          <a:xfrm>
            <a:off x="9537700" y="12700"/>
            <a:ext cx="381508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RemarkBlock"/>
          <p:cNvSpPr/>
          <p:nvPr>
            <p:custDataLst>
              <p:tags r:id="rId19"/>
            </p:custDataLst>
          </p:nvPr>
        </p:nvSpPr>
        <p:spPr>
          <a:xfrm>
            <a:off x="9537700" y="1270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RemarkTitleText"/>
          <p:cNvSpPr txBox="1"/>
          <p:nvPr>
            <p:custDataLst>
              <p:tags r:id="rId20"/>
            </p:custDataLst>
          </p:nvPr>
        </p:nvSpPr>
        <p:spPr>
          <a:xfrm>
            <a:off x="9779000" y="0"/>
            <a:ext cx="1905000" cy="635000"/>
          </a:xfrm>
          <a:prstGeom prst="rect">
            <a:avLst/>
          </a:prstGeom>
          <a:noFill/>
        </p:spPr>
        <p:txBody>
          <a:bodyPr vert="horz" wrap="none" rtlCol="0" anchor="ctr" anchorCtr="0">
            <a:noAutofit/>
          </a:bodyPr>
          <a:lstStyle/>
          <a:p>
            <a:r>
              <a:rPr lang="zh-CN" altLang="en-US"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endParaRPr lang="zh-CN" altLang="en-US">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Tree>
    <p:custDataLst>
      <p:tags r:id="rId1"/>
    </p:custDataLst>
    <p:extLst>
      <p:ext uri="{BB962C8B-B14F-4D97-AF65-F5344CB8AC3E}">
        <p14:creationId xmlns:p14="http://schemas.microsoft.com/office/powerpoint/2010/main" val="21501450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DDB1F4-8093-4ABF-A303-7A4E541898D7}"/>
              </a:ext>
            </a:extLst>
          </p:cNvPr>
          <p:cNvSpPr txBox="1"/>
          <p:nvPr>
            <p:custDataLst>
              <p:tags r:id="rId2"/>
            </p:custDataLst>
          </p:nvPr>
        </p:nvSpPr>
        <p:spPr>
          <a:xfrm>
            <a:off x="457200" y="2817496"/>
            <a:ext cx="7574280" cy="2143125"/>
          </a:xfrm>
          <a:prstGeom prst="rect">
            <a:avLst/>
          </a:prstGeom>
          <a:noFill/>
        </p:spPr>
        <p:txBody>
          <a:bodyPr vert="horz" wrap="square"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下面程序输出结果为“</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5,10</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”，请将程序填写完整</a:t>
            </a:r>
            <a:endPar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endPar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dirty="0"/>
              <a:t>#include &lt;iostream&gt;</a:t>
            </a:r>
            <a:endParaRPr lang="zh-CN" altLang="zh-CN" dirty="0"/>
          </a:p>
          <a:p>
            <a:r>
              <a:rPr lang="en-US" altLang="zh-CN" dirty="0"/>
              <a:t>using namespace std;</a:t>
            </a:r>
            <a:endParaRPr lang="zh-CN" altLang="zh-CN" dirty="0"/>
          </a:p>
          <a:p>
            <a:r>
              <a:rPr lang="en-US" altLang="zh-CN" dirty="0"/>
              <a:t>class </a:t>
            </a:r>
            <a:r>
              <a:rPr lang="en-US" altLang="zh-CN" dirty="0" err="1"/>
              <a:t>BaseClass</a:t>
            </a:r>
            <a:endParaRPr lang="zh-CN" altLang="zh-CN" dirty="0"/>
          </a:p>
          <a:p>
            <a:r>
              <a:rPr lang="en-US" altLang="zh-CN" dirty="0"/>
              <a:t>{</a:t>
            </a:r>
            <a:endParaRPr lang="zh-CN" altLang="zh-CN" dirty="0"/>
          </a:p>
          <a:p>
            <a:r>
              <a:rPr lang="en-US" altLang="zh-CN" dirty="0"/>
              <a:t>    int </a:t>
            </a:r>
            <a:r>
              <a:rPr lang="en-US" altLang="zh-CN" dirty="0" err="1"/>
              <a:t>m_x</a:t>
            </a:r>
            <a:r>
              <a:rPr lang="en-US" altLang="zh-CN" dirty="0"/>
              <a:t>;</a:t>
            </a:r>
            <a:endParaRPr lang="zh-CN" altLang="zh-CN" dirty="0"/>
          </a:p>
          <a:p>
            <a:r>
              <a:rPr lang="en-US" altLang="zh-CN" dirty="0"/>
              <a:t>public:</a:t>
            </a:r>
            <a:endParaRPr lang="zh-CN" altLang="zh-CN" dirty="0"/>
          </a:p>
          <a:p>
            <a:r>
              <a:rPr lang="en-US" altLang="zh-CN" dirty="0"/>
              <a:t>    int </a:t>
            </a:r>
            <a:r>
              <a:rPr lang="en-US" altLang="zh-CN" dirty="0" err="1"/>
              <a:t>GetX</a:t>
            </a:r>
            <a:r>
              <a:rPr lang="en-US" altLang="zh-CN" dirty="0"/>
              <a:t>() {return </a:t>
            </a:r>
            <a:r>
              <a:rPr lang="en-US" altLang="zh-CN" dirty="0" err="1"/>
              <a:t>m_x</a:t>
            </a:r>
            <a:r>
              <a:rPr lang="en-US" altLang="zh-CN" dirty="0"/>
              <a:t>;}</a:t>
            </a:r>
            <a:endParaRPr lang="zh-CN" altLang="zh-CN" dirty="0"/>
          </a:p>
          <a:p>
            <a:r>
              <a:rPr lang="en-US" altLang="zh-CN" dirty="0"/>
              <a:t>    void </a:t>
            </a:r>
            <a:r>
              <a:rPr lang="en-US" altLang="zh-CN" dirty="0" err="1"/>
              <a:t>SetX</a:t>
            </a:r>
            <a:r>
              <a:rPr lang="en-US" altLang="zh-CN" dirty="0"/>
              <a:t>(int x) {</a:t>
            </a:r>
            <a:r>
              <a:rPr lang="en-US" altLang="zh-CN" dirty="0" err="1"/>
              <a:t>m_x</a:t>
            </a:r>
            <a:r>
              <a:rPr lang="en-US" altLang="zh-CN" dirty="0"/>
              <a:t>=x;}</a:t>
            </a:r>
            <a:endParaRPr lang="zh-CN" altLang="zh-CN" dirty="0"/>
          </a:p>
          <a:p>
            <a:r>
              <a:rPr lang="en-US" altLang="zh-CN" dirty="0"/>
              <a:t>};</a:t>
            </a:r>
            <a:endParaRPr lang="zh-CN" altLang="zh-CN" dirty="0"/>
          </a:p>
          <a:p>
            <a:r>
              <a:rPr lang="en-US" altLang="zh-CN" dirty="0"/>
              <a:t>class </a:t>
            </a:r>
            <a:r>
              <a:rPr lang="en-US" altLang="zh-CN" dirty="0" err="1"/>
              <a:t>DerivedClass</a:t>
            </a:r>
            <a:r>
              <a:rPr lang="en-US" altLang="zh-CN" dirty="0"/>
              <a:t>:</a:t>
            </a:r>
            <a:r>
              <a:rPr lang="en-US" altLang="zh-CN" u="sng" dirty="0"/>
              <a:t>      </a:t>
            </a:r>
            <a:r>
              <a:rPr lang="zh-CN" altLang="zh-CN" u="sng" dirty="0"/>
              <a:t>（</a:t>
            </a:r>
            <a:r>
              <a:rPr lang="en-US" altLang="zh-CN" u="sng" dirty="0"/>
              <a:t>1</a:t>
            </a:r>
            <a:r>
              <a:rPr lang="zh-CN" altLang="zh-CN" u="sng" dirty="0"/>
              <a:t>）</a:t>
            </a:r>
            <a:r>
              <a:rPr lang="en-US" altLang="zh-CN" u="sng" dirty="0"/>
              <a:t>        </a:t>
            </a:r>
            <a:endParaRPr lang="zh-CN" altLang="zh-CN" dirty="0"/>
          </a:p>
          <a:p>
            <a:r>
              <a:rPr lang="en-US" altLang="zh-CN" dirty="0"/>
              <a:t>{</a:t>
            </a:r>
            <a:endParaRPr lang="zh-CN" altLang="zh-CN" dirty="0"/>
          </a:p>
          <a:p>
            <a:r>
              <a:rPr lang="en-US" altLang="zh-CN" dirty="0"/>
              <a:t>    int </a:t>
            </a:r>
            <a:r>
              <a:rPr lang="en-US" altLang="zh-CN" dirty="0" err="1"/>
              <a:t>m_y</a:t>
            </a:r>
            <a:r>
              <a:rPr lang="en-US" altLang="zh-CN" dirty="0"/>
              <a:t>;</a:t>
            </a:r>
            <a:endParaRPr lang="zh-CN" altLang="zh-CN" dirty="0"/>
          </a:p>
          <a:p>
            <a:r>
              <a:rPr lang="en-US" altLang="zh-CN" dirty="0"/>
              <a:t>public:</a:t>
            </a:r>
            <a:endParaRPr lang="zh-CN" altLang="zh-CN" dirty="0"/>
          </a:p>
          <a:p>
            <a:r>
              <a:rPr lang="en-US" altLang="zh-CN" dirty="0"/>
              <a:t>    void </a:t>
            </a:r>
            <a:r>
              <a:rPr lang="en-US" altLang="zh-CN" dirty="0" err="1"/>
              <a:t>DisplayXY</a:t>
            </a:r>
            <a:r>
              <a:rPr lang="en-US" altLang="zh-CN" dirty="0"/>
              <a:t>() </a:t>
            </a:r>
            <a:endParaRPr lang="zh-CN" altLang="zh-CN" dirty="0"/>
          </a:p>
          <a:p>
            <a:r>
              <a:rPr lang="en-US" altLang="zh-CN" dirty="0"/>
              <a:t>    {</a:t>
            </a:r>
            <a:r>
              <a:rPr lang="en-US" altLang="zh-CN" dirty="0" err="1"/>
              <a:t>cout</a:t>
            </a:r>
            <a:r>
              <a:rPr lang="en-US" altLang="zh-CN" dirty="0"/>
              <a:t>&lt;&lt;</a:t>
            </a:r>
            <a:r>
              <a:rPr lang="en-US" altLang="zh-CN" u="sng" dirty="0"/>
              <a:t>     </a:t>
            </a:r>
            <a:r>
              <a:rPr lang="zh-CN" altLang="zh-CN" u="sng" dirty="0"/>
              <a:t>（</a:t>
            </a:r>
            <a:r>
              <a:rPr lang="en-US" altLang="zh-CN" u="sng" dirty="0"/>
              <a:t>2</a:t>
            </a:r>
            <a:r>
              <a:rPr lang="zh-CN" altLang="zh-CN" u="sng" dirty="0"/>
              <a:t>） </a:t>
            </a:r>
            <a:r>
              <a:rPr lang="en-US" altLang="zh-CN" u="sng" dirty="0"/>
              <a:t>     </a:t>
            </a:r>
            <a:r>
              <a:rPr lang="en-US" altLang="zh-CN" dirty="0"/>
              <a:t>&lt;&lt;','&lt;&lt;</a:t>
            </a:r>
            <a:r>
              <a:rPr lang="en-US" altLang="zh-CN" dirty="0" err="1"/>
              <a:t>m_y</a:t>
            </a:r>
            <a:r>
              <a:rPr lang="en-US" altLang="zh-CN" dirty="0"/>
              <a:t>&lt;&lt;</a:t>
            </a:r>
            <a:r>
              <a:rPr lang="en-US" altLang="zh-CN" dirty="0" err="1"/>
              <a:t>endl</a:t>
            </a:r>
            <a:r>
              <a:rPr lang="en-US" altLang="zh-CN" dirty="0"/>
              <a:t>;}</a:t>
            </a:r>
            <a:endParaRPr lang="zh-CN" altLang="zh-CN" dirty="0"/>
          </a:p>
          <a:p>
            <a:r>
              <a:rPr lang="en-US" altLang="zh-CN" dirty="0"/>
              <a:t>    void </a:t>
            </a:r>
            <a:r>
              <a:rPr lang="en-US" altLang="zh-CN" dirty="0" err="1"/>
              <a:t>SetY</a:t>
            </a:r>
            <a:r>
              <a:rPr lang="en-US" altLang="zh-CN" dirty="0"/>
              <a:t>(int y) {</a:t>
            </a:r>
            <a:r>
              <a:rPr lang="en-US" altLang="zh-CN" dirty="0" err="1"/>
              <a:t>m_y</a:t>
            </a:r>
            <a:r>
              <a:rPr lang="en-US" altLang="zh-CN" dirty="0"/>
              <a:t>=y;}</a:t>
            </a:r>
            <a:endParaRPr lang="zh-CN" altLang="zh-CN" dirty="0"/>
          </a:p>
          <a:p>
            <a:r>
              <a:rPr lang="en-US" altLang="zh-CN" dirty="0"/>
              <a:t>};</a:t>
            </a:r>
            <a:endParaRPr lang="zh-CN" altLang="zh-CN" dirty="0"/>
          </a:p>
          <a:p>
            <a:endPar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矩形: 圆角 4">
            <a:extLst>
              <a:ext uri="{FF2B5EF4-FFF2-40B4-BE49-F238E27FC236}">
                <a16:creationId xmlns:a16="http://schemas.microsoft.com/office/drawing/2014/main" id="{64C355CD-5C4C-4FBA-9692-1525D1832713}"/>
              </a:ext>
            </a:extLst>
          </p:cNvPr>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1" name="矩形 10">
            <a:extLst>
              <a:ext uri="{FF2B5EF4-FFF2-40B4-BE49-F238E27FC236}">
                <a16:creationId xmlns:a16="http://schemas.microsoft.com/office/drawing/2014/main" id="{D0C5E49C-7373-4E61-B3E6-95CCE9E58240}"/>
              </a:ext>
            </a:extLst>
          </p:cNvPr>
          <p:cNvSpPr/>
          <p:nvPr>
            <p:custDataLst>
              <p:tags r:id="rId4"/>
            </p:custDataLst>
          </p:nvPr>
        </p:nvSpPr>
        <p:spPr>
          <a:xfrm>
            <a:off x="0" y="6611620"/>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dirty="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200" dirty="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200" dirty="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sp>
        <p:nvSpPr>
          <p:cNvPr id="12" name="文本框 11">
            <a:extLst>
              <a:ext uri="{FF2B5EF4-FFF2-40B4-BE49-F238E27FC236}">
                <a16:creationId xmlns:a16="http://schemas.microsoft.com/office/drawing/2014/main" id="{450D45FA-27E4-41CC-97E8-86C7B8E0C41E}"/>
              </a:ext>
            </a:extLst>
          </p:cNvPr>
          <p:cNvSpPr txBox="1"/>
          <p:nvPr/>
        </p:nvSpPr>
        <p:spPr>
          <a:xfrm>
            <a:off x="5463540" y="1722240"/>
            <a:ext cx="4262120" cy="2585323"/>
          </a:xfrm>
          <a:prstGeom prst="rect">
            <a:avLst/>
          </a:prstGeom>
          <a:noFill/>
        </p:spPr>
        <p:txBody>
          <a:bodyPr wrap="square" rtlCol="0">
            <a:spAutoFit/>
          </a:bodyPr>
          <a:lstStyle/>
          <a:p>
            <a:pPr lvl="0"/>
            <a:r>
              <a:rPr lang="en-US" altLang="zh-CN">
                <a:solidFill>
                  <a:prstClr val="black"/>
                </a:solidFill>
              </a:rPr>
              <a:t>int main()</a:t>
            </a:r>
            <a:endParaRPr lang="zh-CN" altLang="zh-CN">
              <a:solidFill>
                <a:prstClr val="black"/>
              </a:solidFill>
            </a:endParaRPr>
          </a:p>
          <a:p>
            <a:pPr lvl="0"/>
            <a:r>
              <a:rPr lang="en-US" altLang="zh-CN">
                <a:solidFill>
                  <a:prstClr val="black"/>
                </a:solidFill>
              </a:rPr>
              <a:t>{</a:t>
            </a:r>
            <a:endParaRPr lang="zh-CN" altLang="zh-CN">
              <a:solidFill>
                <a:prstClr val="black"/>
              </a:solidFill>
            </a:endParaRPr>
          </a:p>
          <a:p>
            <a:pPr lvl="0"/>
            <a:r>
              <a:rPr lang="en-US" altLang="zh-CN">
                <a:solidFill>
                  <a:prstClr val="black"/>
                </a:solidFill>
              </a:rPr>
              <a:t>    DerivedClass d;</a:t>
            </a:r>
            <a:endParaRPr lang="zh-CN" altLang="zh-CN">
              <a:solidFill>
                <a:prstClr val="black"/>
              </a:solidFill>
            </a:endParaRPr>
          </a:p>
          <a:p>
            <a:pPr lvl="0"/>
            <a:r>
              <a:rPr lang="en-US" altLang="zh-CN">
                <a:solidFill>
                  <a:prstClr val="black"/>
                </a:solidFill>
              </a:rPr>
              <a:t>    </a:t>
            </a:r>
            <a:r>
              <a:rPr lang="en-US" altLang="zh-CN" u="sng">
                <a:solidFill>
                  <a:prstClr val="black"/>
                </a:solidFill>
              </a:rPr>
              <a:t>       </a:t>
            </a:r>
            <a:r>
              <a:rPr lang="zh-CN" altLang="zh-CN" u="sng">
                <a:solidFill>
                  <a:prstClr val="black"/>
                </a:solidFill>
              </a:rPr>
              <a:t>（</a:t>
            </a:r>
            <a:r>
              <a:rPr lang="en-US" altLang="zh-CN" u="sng">
                <a:solidFill>
                  <a:prstClr val="black"/>
                </a:solidFill>
              </a:rPr>
              <a:t>3</a:t>
            </a:r>
            <a:r>
              <a:rPr lang="zh-CN" altLang="zh-CN" u="sng">
                <a:solidFill>
                  <a:prstClr val="black"/>
                </a:solidFill>
              </a:rPr>
              <a:t>） </a:t>
            </a:r>
            <a:r>
              <a:rPr lang="en-US" altLang="zh-CN" u="sng">
                <a:solidFill>
                  <a:prstClr val="black"/>
                </a:solidFill>
              </a:rPr>
              <a:t>         </a:t>
            </a:r>
            <a:endParaRPr lang="zh-CN" altLang="zh-CN">
              <a:solidFill>
                <a:prstClr val="black"/>
              </a:solidFill>
            </a:endParaRPr>
          </a:p>
          <a:p>
            <a:pPr lvl="0"/>
            <a:r>
              <a:rPr lang="en-US" altLang="zh-CN">
                <a:solidFill>
                  <a:prstClr val="black"/>
                </a:solidFill>
              </a:rPr>
              <a:t>    d.SetY(10);</a:t>
            </a:r>
            <a:endParaRPr lang="zh-CN" altLang="zh-CN">
              <a:solidFill>
                <a:prstClr val="black"/>
              </a:solidFill>
            </a:endParaRPr>
          </a:p>
          <a:p>
            <a:pPr lvl="0"/>
            <a:r>
              <a:rPr lang="en-US" altLang="zh-CN">
                <a:solidFill>
                  <a:prstClr val="black"/>
                </a:solidFill>
              </a:rPr>
              <a:t>    d.DisplayXY();</a:t>
            </a:r>
            <a:endParaRPr lang="zh-CN" altLang="zh-CN">
              <a:solidFill>
                <a:prstClr val="black"/>
              </a:solidFill>
            </a:endParaRPr>
          </a:p>
          <a:p>
            <a:pPr lvl="0"/>
            <a:r>
              <a:rPr lang="en-US" altLang="zh-CN">
                <a:solidFill>
                  <a:prstClr val="black"/>
                </a:solidFill>
              </a:rPr>
              <a:t>    return 0;</a:t>
            </a:r>
            <a:endParaRPr lang="zh-CN" altLang="zh-CN">
              <a:solidFill>
                <a:prstClr val="black"/>
              </a:solidFill>
            </a:endParaRPr>
          </a:p>
          <a:p>
            <a:pPr lvl="0"/>
            <a:r>
              <a:rPr lang="en-US" altLang="zh-CN">
                <a:solidFill>
                  <a:prstClr val="black"/>
                </a:solidFill>
              </a:rPr>
              <a:t>}</a:t>
            </a:r>
            <a:endParaRPr lang="zh-CN" altLang="zh-CN">
              <a:solidFill>
                <a:prstClr val="black"/>
              </a:solidFill>
            </a:endParaRPr>
          </a:p>
          <a:p>
            <a:pPr lvl="0"/>
            <a:endParaRPr lang="zh-CN" altLang="en-US" dirty="0">
              <a:solidFill>
                <a:prstClr val="black"/>
              </a:solidFill>
            </a:endParaRPr>
          </a:p>
        </p:txBody>
      </p:sp>
      <p:sp>
        <p:nvSpPr>
          <p:cNvPr id="13" name="矩形 12">
            <a:extLst>
              <a:ext uri="{FF2B5EF4-FFF2-40B4-BE49-F238E27FC236}">
                <a16:creationId xmlns:a16="http://schemas.microsoft.com/office/drawing/2014/main" id="{7A46DA3F-0B10-4453-9611-4B612EFB50DC}"/>
              </a:ext>
            </a:extLst>
          </p:cNvPr>
          <p:cNvSpPr/>
          <p:nvPr>
            <p:custDataLst>
              <p:tags r:id="rId5"/>
            </p:custDataLst>
          </p:nvPr>
        </p:nvSpPr>
        <p:spPr>
          <a:xfrm>
            <a:off x="9525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18" name="文本框 17">
            <a:extLst>
              <a:ext uri="{FF2B5EF4-FFF2-40B4-BE49-F238E27FC236}">
                <a16:creationId xmlns:a16="http://schemas.microsoft.com/office/drawing/2014/main" id="{10D75F52-F8C1-4146-A27C-F248BFF1424B}"/>
              </a:ext>
            </a:extLst>
          </p:cNvPr>
          <p:cNvSpPr txBox="1"/>
          <p:nvPr>
            <p:custDataLst>
              <p:tags r:id="rId6"/>
            </p:custDataLst>
          </p:nvPr>
        </p:nvSpPr>
        <p:spPr>
          <a:xfrm>
            <a:off x="9613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可为此题添加文本、图片、公式等解析，且需将内容全部放在本区域内。正常使用需</a:t>
            </a:r>
            <a:r>
              <a:rPr lang="en-US" altLang="zh-CN"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3.0</a:t>
            </a: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a:t>
            </a:r>
          </a:p>
        </p:txBody>
      </p:sp>
      <p:sp>
        <p:nvSpPr>
          <p:cNvPr id="19" name="文本框 18">
            <a:extLst>
              <a:ext uri="{FF2B5EF4-FFF2-40B4-BE49-F238E27FC236}">
                <a16:creationId xmlns:a16="http://schemas.microsoft.com/office/drawing/2014/main" id="{49E6D6F7-F0FD-4291-980C-EEF2B65EE098}"/>
              </a:ext>
            </a:extLst>
          </p:cNvPr>
          <p:cNvSpPr txBox="1"/>
          <p:nvPr>
            <p:custDataLst>
              <p:tags r:id="rId7"/>
            </p:custDataLst>
          </p:nvPr>
        </p:nvSpPr>
        <p:spPr>
          <a:xfrm>
            <a:off x="9779000" y="1270000"/>
            <a:ext cx="3332480" cy="2862322"/>
          </a:xfrm>
          <a:prstGeom prst="rect">
            <a:avLst/>
          </a:prstGeom>
          <a:noFill/>
        </p:spPr>
        <p:txBody>
          <a:bodyPr vert="horz" rtlCol="0" anchor="t" anchorCtr="0">
            <a:spAutoFit/>
          </a:bodyPr>
          <a:lstStyle/>
          <a:p>
            <a:pPr lvl="0"/>
            <a:r>
              <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public BaseClass</a:t>
            </a:r>
          </a:p>
          <a:p>
            <a:pPr lvl="0"/>
            <a:r>
              <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GetX()</a:t>
            </a:r>
          </a:p>
          <a:p>
            <a:pPr lvl="0"/>
            <a:r>
              <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a:t>
            </a:r>
            <a:r>
              <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d.SetX(5);</a:t>
            </a:r>
          </a:p>
          <a:p>
            <a:pPr lvl="0"/>
            <a:endParaRPr lang="en-US" altLang="zh-CN"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pPr lvl="0"/>
            <a:r>
              <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在主函数中需要通过对象</a:t>
            </a:r>
            <a:r>
              <a:rPr lang="en-US" altLang="zh-CN"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a:t>
            </a:r>
            <a:r>
              <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调用基类</a:t>
            </a:r>
            <a:r>
              <a:rPr lang="en-US" altLang="zh-CN"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SetX</a:t>
            </a:r>
            <a:r>
              <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函数，因此继承方式应为</a:t>
            </a:r>
            <a:r>
              <a:rPr lang="en-US" altLang="zh-CN"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public</a:t>
            </a:r>
            <a:r>
              <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，才能在类外对基类中的公有成员函数进行访问。</a:t>
            </a:r>
            <a:endPar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7" name="组合 16">
            <a:extLst>
              <a:ext uri="{FF2B5EF4-FFF2-40B4-BE49-F238E27FC236}">
                <a16:creationId xmlns:a16="http://schemas.microsoft.com/office/drawing/2014/main" id="{B147CE64-3C21-4885-9462-4FAB640D6DE2}"/>
              </a:ext>
            </a:extLst>
          </p:cNvPr>
          <p:cNvGrpSpPr/>
          <p:nvPr>
            <p:custDataLst>
              <p:tags r:id="rId8"/>
            </p:custDataLst>
          </p:nvPr>
        </p:nvGrpSpPr>
        <p:grpSpPr>
          <a:xfrm>
            <a:off x="9537700" y="0"/>
            <a:ext cx="3815080" cy="647700"/>
            <a:chOff x="9537700" y="0"/>
            <a:chExt cx="3815080" cy="647700"/>
          </a:xfrm>
        </p:grpSpPr>
        <p:sp>
          <p:nvSpPr>
            <p:cNvPr id="14" name="RemarkBack">
              <a:extLst>
                <a:ext uri="{FF2B5EF4-FFF2-40B4-BE49-F238E27FC236}">
                  <a16:creationId xmlns:a16="http://schemas.microsoft.com/office/drawing/2014/main" id="{782340A0-0D73-40B8-9743-8E1E933FF836}"/>
                </a:ext>
              </a:extLst>
            </p:cNvPr>
            <p:cNvSpPr/>
            <p:nvPr>
              <p:custDataLst>
                <p:tags r:id="rId18"/>
              </p:custDataLst>
            </p:nvPr>
          </p:nvSpPr>
          <p:spPr>
            <a:xfrm>
              <a:off x="9537700" y="12700"/>
              <a:ext cx="381508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RemarkBlock">
              <a:extLst>
                <a:ext uri="{FF2B5EF4-FFF2-40B4-BE49-F238E27FC236}">
                  <a16:creationId xmlns:a16="http://schemas.microsoft.com/office/drawing/2014/main" id="{67459803-F083-45A3-9BB0-E525FF1081F8}"/>
                </a:ext>
              </a:extLst>
            </p:cNvPr>
            <p:cNvSpPr/>
            <p:nvPr>
              <p:custDataLst>
                <p:tags r:id="rId19"/>
              </p:custDataLst>
            </p:nvPr>
          </p:nvSpPr>
          <p:spPr>
            <a:xfrm>
              <a:off x="9537700" y="1270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RemarkTitleText">
              <a:extLst>
                <a:ext uri="{FF2B5EF4-FFF2-40B4-BE49-F238E27FC236}">
                  <a16:creationId xmlns:a16="http://schemas.microsoft.com/office/drawing/2014/main" id="{AA2914B6-937B-4280-BE30-C3C6942A1686}"/>
                </a:ext>
              </a:extLst>
            </p:cNvPr>
            <p:cNvSpPr txBox="1"/>
            <p:nvPr>
              <p:custDataLst>
                <p:tags r:id="rId20"/>
              </p:custDataLst>
            </p:nvPr>
          </p:nvSpPr>
          <p:spPr>
            <a:xfrm>
              <a:off x="9779000" y="0"/>
              <a:ext cx="1905000" cy="635000"/>
            </a:xfrm>
            <a:prstGeom prst="rect">
              <a:avLst/>
            </a:prstGeom>
            <a:noFill/>
          </p:spPr>
          <p:txBody>
            <a:bodyPr vert="horz" wrap="none" rtlCol="0" anchor="ctr" anchorCtr="0">
              <a:noAutofit/>
            </a:bodyPr>
            <a:lstStyle/>
            <a:p>
              <a:r>
                <a:rPr lang="zh-CN" altLang="en-US">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grpSp>
      <p:sp>
        <p:nvSpPr>
          <p:cNvPr id="2" name="RemarkBack"/>
          <p:cNvSpPr/>
          <p:nvPr>
            <p:custDataLst>
              <p:tags r:id="rId9"/>
            </p:custDataLst>
          </p:nvPr>
        </p:nvSpPr>
        <p:spPr>
          <a:xfrm>
            <a:off x="9537700" y="12700"/>
            <a:ext cx="381508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RemarkBlock"/>
          <p:cNvSpPr/>
          <p:nvPr>
            <p:custDataLst>
              <p:tags r:id="rId10"/>
            </p:custDataLst>
          </p:nvPr>
        </p:nvSpPr>
        <p:spPr>
          <a:xfrm>
            <a:off x="9537700" y="1270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RemarkTitleText"/>
          <p:cNvSpPr txBox="1"/>
          <p:nvPr>
            <p:custDataLst>
              <p:tags r:id="rId11"/>
            </p:custDataLst>
          </p:nvPr>
        </p:nvSpPr>
        <p:spPr>
          <a:xfrm>
            <a:off x="9779000" y="0"/>
            <a:ext cx="1905000" cy="635000"/>
          </a:xfrm>
          <a:prstGeom prst="rect">
            <a:avLst/>
          </a:prstGeom>
          <a:noFill/>
        </p:spPr>
        <p:txBody>
          <a:bodyPr vert="horz" wrap="none" rtlCol="0" anchor="ctr" anchorCtr="0">
            <a:noAutofit/>
          </a:bodyPr>
          <a:lstStyle/>
          <a:p>
            <a:r>
              <a:rPr lang="zh-CN" altLang="en-US"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endParaRPr lang="zh-CN" altLang="en-US">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0" name="组合 9">
            <a:extLst>
              <a:ext uri="{FF2B5EF4-FFF2-40B4-BE49-F238E27FC236}">
                <a16:creationId xmlns:a16="http://schemas.microsoft.com/office/drawing/2014/main" id="{A9A89076-CFF7-4B93-AAFB-0A762F8DA428}"/>
              </a:ext>
            </a:extLst>
          </p:cNvPr>
          <p:cNvGrpSpPr/>
          <p:nvPr>
            <p:custDataLst>
              <p:tags r:id="rId12"/>
            </p:custDataLst>
          </p:nvPr>
        </p:nvGrpSpPr>
        <p:grpSpPr>
          <a:xfrm>
            <a:off x="0" y="0"/>
            <a:ext cx="9144000" cy="635000"/>
            <a:chOff x="0" y="0"/>
            <a:chExt cx="9144000" cy="635000"/>
          </a:xfrm>
        </p:grpSpPr>
        <p:sp>
          <p:nvSpPr>
            <p:cNvPr id="6" name="TitleBackground">
              <a:extLst>
                <a:ext uri="{FF2B5EF4-FFF2-40B4-BE49-F238E27FC236}">
                  <a16:creationId xmlns:a16="http://schemas.microsoft.com/office/drawing/2014/main" id="{110E1AD3-80AC-414F-B754-C71FD9943CBA}"/>
                </a:ext>
              </a:extLst>
            </p:cNvPr>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a:extLst>
                <a:ext uri="{FF2B5EF4-FFF2-40B4-BE49-F238E27FC236}">
                  <a16:creationId xmlns:a16="http://schemas.microsoft.com/office/drawing/2014/main" id="{93A7CA32-B24D-482F-89FE-6D5E81A565DC}"/>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a:extLst>
                <a:ext uri="{FF2B5EF4-FFF2-40B4-BE49-F238E27FC236}">
                  <a16:creationId xmlns:a16="http://schemas.microsoft.com/office/drawing/2014/main" id="{886E0178-E152-4C5D-BA5A-12790D0DCB21}"/>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9" name="TipText">
              <a:extLst>
                <a:ext uri="{FF2B5EF4-FFF2-40B4-BE49-F238E27FC236}">
                  <a16:creationId xmlns:a16="http://schemas.microsoft.com/office/drawing/2014/main" id="{8AA91ED5-B939-4595-B186-C522E40D8892}"/>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DE8A75AE-BFFC-47A1-AC85-1E3EA39B715D}"/>
              </a:ext>
            </a:extLst>
          </p:cNvPr>
          <p:cNvPicPr>
            <a:picLocks/>
          </p:cNvPicPr>
          <p:nvPr>
            <p:custDataLst>
              <p:tags r:id="rId13"/>
            </p:custDataLst>
          </p:nvPr>
        </p:nvPicPr>
        <p:blipFill>
          <a:blip r:embed="rId2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27630245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DDB1F4-8093-4ABF-A303-7A4E541898D7}"/>
              </a:ext>
            </a:extLst>
          </p:cNvPr>
          <p:cNvSpPr txBox="1"/>
          <p:nvPr>
            <p:custDataLst>
              <p:tags r:id="rId2"/>
            </p:custDataLst>
          </p:nvPr>
        </p:nvSpPr>
        <p:spPr>
          <a:xfrm>
            <a:off x="457200" y="2701161"/>
            <a:ext cx="7574280" cy="2143125"/>
          </a:xfrm>
          <a:prstGeom prst="rect">
            <a:avLst/>
          </a:prstGeom>
          <a:noFill/>
        </p:spPr>
        <p:txBody>
          <a:bodyPr vert="horz" wrap="square"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下面程序输出结果为</a:t>
            </a:r>
            <a:endPar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 is called!</a:t>
            </a:r>
          </a:p>
          <a:p>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D1() is called!</a:t>
            </a:r>
          </a:p>
          <a:p>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D2() is called!</a:t>
            </a:r>
          </a:p>
          <a:p>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D12() is called!</a:t>
            </a:r>
          </a:p>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请将程序填写完整</a:t>
            </a:r>
            <a:endPar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endPar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dirty="0"/>
              <a:t>#include &lt;iostream&gt;</a:t>
            </a:r>
            <a:endParaRPr lang="zh-CN" altLang="zh-CN" dirty="0"/>
          </a:p>
          <a:p>
            <a:r>
              <a:rPr lang="en-US" altLang="zh-CN" dirty="0"/>
              <a:t>using namespace std;</a:t>
            </a:r>
            <a:endParaRPr lang="zh-CN" altLang="zh-CN" dirty="0"/>
          </a:p>
          <a:p>
            <a:r>
              <a:rPr lang="en-US" altLang="zh-CN" dirty="0"/>
              <a:t>class B</a:t>
            </a:r>
            <a:endParaRPr lang="zh-CN" altLang="zh-CN" dirty="0"/>
          </a:p>
          <a:p>
            <a:r>
              <a:rPr lang="en-US" altLang="zh-CN" dirty="0"/>
              <a:t>{</a:t>
            </a:r>
            <a:endParaRPr lang="zh-CN" altLang="zh-CN" dirty="0"/>
          </a:p>
          <a:p>
            <a:r>
              <a:rPr lang="en-US" altLang="zh-CN" dirty="0"/>
              <a:t>public:</a:t>
            </a:r>
            <a:endParaRPr lang="zh-CN" altLang="zh-CN" dirty="0"/>
          </a:p>
          <a:p>
            <a:r>
              <a:rPr lang="en-US" altLang="zh-CN" dirty="0"/>
              <a:t>    B(){</a:t>
            </a:r>
            <a:r>
              <a:rPr lang="en-US" altLang="zh-CN" dirty="0" err="1"/>
              <a:t>cout</a:t>
            </a:r>
            <a:r>
              <a:rPr lang="en-US" altLang="zh-CN" dirty="0"/>
              <a:t>&lt;&lt;"B() is called!"&lt;&lt;</a:t>
            </a:r>
            <a:r>
              <a:rPr lang="en-US" altLang="zh-CN" dirty="0" err="1"/>
              <a:t>endl</a:t>
            </a:r>
            <a:r>
              <a:rPr lang="en-US" altLang="zh-CN" dirty="0"/>
              <a:t>;}</a:t>
            </a:r>
            <a:endParaRPr lang="zh-CN" altLang="zh-CN" dirty="0"/>
          </a:p>
          <a:p>
            <a:r>
              <a:rPr lang="en-US" altLang="zh-CN" dirty="0"/>
              <a:t>};</a:t>
            </a:r>
            <a:endParaRPr lang="zh-CN" altLang="zh-CN" dirty="0"/>
          </a:p>
          <a:p>
            <a:r>
              <a:rPr lang="en-US" altLang="zh-CN" dirty="0"/>
              <a:t>class D1: </a:t>
            </a:r>
            <a:r>
              <a:rPr lang="en-US" altLang="zh-CN" u="sng" dirty="0"/>
              <a:t>    (1)     </a:t>
            </a:r>
            <a:r>
              <a:rPr lang="en-US" altLang="zh-CN" dirty="0"/>
              <a:t>  </a:t>
            </a:r>
            <a:endParaRPr lang="zh-CN" altLang="zh-CN" dirty="0"/>
          </a:p>
          <a:p>
            <a:r>
              <a:rPr lang="en-US" altLang="zh-CN" dirty="0"/>
              <a:t>{</a:t>
            </a:r>
            <a:endParaRPr lang="zh-CN" altLang="zh-CN" dirty="0"/>
          </a:p>
          <a:p>
            <a:r>
              <a:rPr lang="en-US" altLang="zh-CN" dirty="0"/>
              <a:t>public:</a:t>
            </a:r>
            <a:endParaRPr lang="zh-CN" altLang="zh-CN" dirty="0"/>
          </a:p>
          <a:p>
            <a:r>
              <a:rPr lang="en-US" altLang="zh-CN" dirty="0"/>
              <a:t>    D1(){</a:t>
            </a:r>
            <a:r>
              <a:rPr lang="en-US" altLang="zh-CN" dirty="0" err="1"/>
              <a:t>cout</a:t>
            </a:r>
            <a:r>
              <a:rPr lang="en-US" altLang="zh-CN" dirty="0"/>
              <a:t>&lt;&lt;"D1() is called!"&lt;&lt;</a:t>
            </a:r>
            <a:r>
              <a:rPr lang="en-US" altLang="zh-CN" dirty="0" err="1"/>
              <a:t>endl</a:t>
            </a:r>
            <a:r>
              <a:rPr lang="en-US" altLang="zh-CN" dirty="0"/>
              <a:t>;}</a:t>
            </a:r>
            <a:endParaRPr lang="zh-CN" altLang="zh-CN" dirty="0"/>
          </a:p>
          <a:p>
            <a:r>
              <a:rPr lang="en-US" altLang="zh-CN" dirty="0"/>
              <a:t>};</a:t>
            </a:r>
            <a:endParaRPr lang="zh-CN" altLang="zh-CN" dirty="0"/>
          </a:p>
          <a:p>
            <a:endPar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矩形: 圆角 4">
            <a:extLst>
              <a:ext uri="{FF2B5EF4-FFF2-40B4-BE49-F238E27FC236}">
                <a16:creationId xmlns:a16="http://schemas.microsoft.com/office/drawing/2014/main" id="{64C355CD-5C4C-4FBA-9692-1525D1832713}"/>
              </a:ext>
            </a:extLst>
          </p:cNvPr>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1" name="矩形 10">
            <a:extLst>
              <a:ext uri="{FF2B5EF4-FFF2-40B4-BE49-F238E27FC236}">
                <a16:creationId xmlns:a16="http://schemas.microsoft.com/office/drawing/2014/main" id="{D0C5E49C-7373-4E61-B3E6-95CCE9E58240}"/>
              </a:ext>
            </a:extLst>
          </p:cNvPr>
          <p:cNvSpPr/>
          <p:nvPr>
            <p:custDataLst>
              <p:tags r:id="rId4"/>
            </p:custDataLst>
          </p:nvPr>
        </p:nvSpPr>
        <p:spPr>
          <a:xfrm>
            <a:off x="0" y="6611620"/>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dirty="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200" dirty="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200" dirty="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sp>
        <p:nvSpPr>
          <p:cNvPr id="12" name="文本框 11">
            <a:extLst>
              <a:ext uri="{FF2B5EF4-FFF2-40B4-BE49-F238E27FC236}">
                <a16:creationId xmlns:a16="http://schemas.microsoft.com/office/drawing/2014/main" id="{450D45FA-27E4-41CC-97E8-86C7B8E0C41E}"/>
              </a:ext>
            </a:extLst>
          </p:cNvPr>
          <p:cNvSpPr txBox="1"/>
          <p:nvPr/>
        </p:nvSpPr>
        <p:spPr>
          <a:xfrm>
            <a:off x="4572000" y="1031557"/>
            <a:ext cx="4262120" cy="4247317"/>
          </a:xfrm>
          <a:prstGeom prst="rect">
            <a:avLst/>
          </a:prstGeom>
          <a:noFill/>
        </p:spPr>
        <p:txBody>
          <a:bodyPr wrap="square" rtlCol="0">
            <a:spAutoFit/>
          </a:bodyPr>
          <a:lstStyle/>
          <a:p>
            <a:r>
              <a:rPr lang="en-US" altLang="zh-CN" dirty="0"/>
              <a:t>class D2: </a:t>
            </a:r>
            <a:r>
              <a:rPr lang="en-US" altLang="zh-CN" u="sng" dirty="0"/>
              <a:t>    (2)     </a:t>
            </a:r>
            <a:endParaRPr lang="zh-CN" altLang="zh-CN" dirty="0"/>
          </a:p>
          <a:p>
            <a:r>
              <a:rPr lang="en-US" altLang="zh-CN" dirty="0"/>
              <a:t>{</a:t>
            </a:r>
            <a:endParaRPr lang="zh-CN" altLang="zh-CN" dirty="0"/>
          </a:p>
          <a:p>
            <a:r>
              <a:rPr lang="en-US" altLang="zh-CN" dirty="0"/>
              <a:t>public:</a:t>
            </a:r>
            <a:endParaRPr lang="zh-CN" altLang="zh-CN" dirty="0"/>
          </a:p>
          <a:p>
            <a:r>
              <a:rPr lang="en-US" altLang="zh-CN" dirty="0"/>
              <a:t>    D2(){</a:t>
            </a:r>
            <a:r>
              <a:rPr lang="en-US" altLang="zh-CN" dirty="0" err="1"/>
              <a:t>cout</a:t>
            </a:r>
            <a:r>
              <a:rPr lang="en-US" altLang="zh-CN" dirty="0"/>
              <a:t>&lt;&lt;"D2() is called!"&lt;&lt;</a:t>
            </a:r>
            <a:r>
              <a:rPr lang="en-US" altLang="zh-CN" dirty="0" err="1"/>
              <a:t>endl</a:t>
            </a:r>
            <a:r>
              <a:rPr lang="en-US" altLang="zh-CN" dirty="0"/>
              <a:t>;}</a:t>
            </a:r>
            <a:endParaRPr lang="zh-CN" altLang="zh-CN" dirty="0"/>
          </a:p>
          <a:p>
            <a:r>
              <a:rPr lang="en-US" altLang="zh-CN" dirty="0"/>
              <a:t>};</a:t>
            </a:r>
            <a:endParaRPr lang="zh-CN" altLang="zh-CN" dirty="0"/>
          </a:p>
          <a:p>
            <a:r>
              <a:rPr lang="en-US" altLang="zh-CN" dirty="0"/>
              <a:t>class D12:</a:t>
            </a:r>
            <a:r>
              <a:rPr lang="en-US" altLang="zh-CN" u="sng" dirty="0"/>
              <a:t>    (3)      </a:t>
            </a:r>
            <a:endParaRPr lang="zh-CN" altLang="zh-CN" dirty="0"/>
          </a:p>
          <a:p>
            <a:r>
              <a:rPr lang="en-US" altLang="zh-CN" dirty="0"/>
              <a:t>{</a:t>
            </a:r>
            <a:endParaRPr lang="zh-CN" altLang="zh-CN" dirty="0"/>
          </a:p>
          <a:p>
            <a:r>
              <a:rPr lang="en-US" altLang="zh-CN" dirty="0"/>
              <a:t>public:</a:t>
            </a:r>
            <a:endParaRPr lang="zh-CN" altLang="zh-CN" dirty="0"/>
          </a:p>
          <a:p>
            <a:r>
              <a:rPr lang="en-US" altLang="zh-CN" dirty="0"/>
              <a:t>    D12(){</a:t>
            </a:r>
            <a:r>
              <a:rPr lang="en-US" altLang="zh-CN" dirty="0" err="1"/>
              <a:t>cout</a:t>
            </a:r>
            <a:r>
              <a:rPr lang="en-US" altLang="zh-CN" dirty="0"/>
              <a:t>&lt;&lt;"D12() is called!"&lt;&lt;</a:t>
            </a:r>
            <a:r>
              <a:rPr lang="en-US" altLang="zh-CN" dirty="0" err="1"/>
              <a:t>endl</a:t>
            </a:r>
            <a:r>
              <a:rPr lang="en-US" altLang="zh-CN" dirty="0"/>
              <a:t>;}</a:t>
            </a:r>
            <a:endParaRPr lang="zh-CN" altLang="zh-CN" dirty="0"/>
          </a:p>
          <a:p>
            <a:r>
              <a:rPr lang="en-US" altLang="zh-CN" dirty="0"/>
              <a:t>};</a:t>
            </a:r>
            <a:endParaRPr lang="zh-CN" altLang="zh-CN" dirty="0"/>
          </a:p>
          <a:p>
            <a:r>
              <a:rPr lang="en-US" altLang="zh-CN" dirty="0"/>
              <a:t>int main()</a:t>
            </a:r>
            <a:endParaRPr lang="zh-CN" altLang="zh-CN" dirty="0"/>
          </a:p>
          <a:p>
            <a:r>
              <a:rPr lang="en-US" altLang="zh-CN" dirty="0"/>
              <a:t>{</a:t>
            </a:r>
            <a:endParaRPr lang="zh-CN" altLang="zh-CN" dirty="0"/>
          </a:p>
          <a:p>
            <a:r>
              <a:rPr lang="en-US" altLang="zh-CN" dirty="0"/>
              <a:t>    D12 </a:t>
            </a:r>
            <a:r>
              <a:rPr lang="en-US" altLang="zh-CN" dirty="0" err="1"/>
              <a:t>d12</a:t>
            </a:r>
            <a:r>
              <a:rPr lang="en-US" altLang="zh-CN" dirty="0"/>
              <a:t>;</a:t>
            </a:r>
            <a:endParaRPr lang="zh-CN" altLang="zh-CN" dirty="0"/>
          </a:p>
          <a:p>
            <a:r>
              <a:rPr lang="en-US" altLang="zh-CN" dirty="0"/>
              <a:t>    return 0;</a:t>
            </a:r>
            <a:endParaRPr lang="zh-CN" altLang="zh-CN" dirty="0"/>
          </a:p>
          <a:p>
            <a:r>
              <a:rPr lang="en-US" altLang="zh-CN" dirty="0"/>
              <a:t>}</a:t>
            </a:r>
            <a:endParaRPr lang="zh-CN" altLang="zh-CN" dirty="0"/>
          </a:p>
        </p:txBody>
      </p:sp>
      <p:sp>
        <p:nvSpPr>
          <p:cNvPr id="13" name="矩形 12">
            <a:extLst>
              <a:ext uri="{FF2B5EF4-FFF2-40B4-BE49-F238E27FC236}">
                <a16:creationId xmlns:a16="http://schemas.microsoft.com/office/drawing/2014/main" id="{7A46DA3F-0B10-4453-9611-4B612EFB50DC}"/>
              </a:ext>
            </a:extLst>
          </p:cNvPr>
          <p:cNvSpPr/>
          <p:nvPr>
            <p:custDataLst>
              <p:tags r:id="rId5"/>
            </p:custDataLst>
          </p:nvPr>
        </p:nvSpPr>
        <p:spPr>
          <a:xfrm>
            <a:off x="9525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18" name="文本框 17">
            <a:extLst>
              <a:ext uri="{FF2B5EF4-FFF2-40B4-BE49-F238E27FC236}">
                <a16:creationId xmlns:a16="http://schemas.microsoft.com/office/drawing/2014/main" id="{10D75F52-F8C1-4146-A27C-F248BFF1424B}"/>
              </a:ext>
            </a:extLst>
          </p:cNvPr>
          <p:cNvSpPr txBox="1"/>
          <p:nvPr>
            <p:custDataLst>
              <p:tags r:id="rId6"/>
            </p:custDataLst>
          </p:nvPr>
        </p:nvSpPr>
        <p:spPr>
          <a:xfrm>
            <a:off x="9613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可为此题添加文本、图片、公式等解析，且需将内容全部放在本区域内。正常使用需</a:t>
            </a:r>
            <a:r>
              <a:rPr lang="en-US" altLang="zh-CN"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3.0</a:t>
            </a: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a:t>
            </a:r>
          </a:p>
        </p:txBody>
      </p:sp>
      <p:sp>
        <p:nvSpPr>
          <p:cNvPr id="19" name="文本框 18">
            <a:extLst>
              <a:ext uri="{FF2B5EF4-FFF2-40B4-BE49-F238E27FC236}">
                <a16:creationId xmlns:a16="http://schemas.microsoft.com/office/drawing/2014/main" id="{49E6D6F7-F0FD-4291-980C-EEF2B65EE098}"/>
              </a:ext>
            </a:extLst>
          </p:cNvPr>
          <p:cNvSpPr txBox="1"/>
          <p:nvPr>
            <p:custDataLst>
              <p:tags r:id="rId7"/>
            </p:custDataLst>
          </p:nvPr>
        </p:nvSpPr>
        <p:spPr>
          <a:xfrm>
            <a:off x="9779000" y="1270000"/>
            <a:ext cx="3332480" cy="3170099"/>
          </a:xfrm>
          <a:prstGeom prst="rect">
            <a:avLst/>
          </a:prstGeom>
          <a:noFill/>
        </p:spPr>
        <p:txBody>
          <a:bodyPr vert="horz" rtlCol="0" anchor="t" anchorCtr="0">
            <a:spAutoFit/>
          </a:bodyPr>
          <a:lstStyle/>
          <a:p>
            <a:pPr lvl="0"/>
            <a:r>
              <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public B</a:t>
            </a:r>
          </a:p>
          <a:p>
            <a:pPr lvl="0"/>
            <a:r>
              <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public D1</a:t>
            </a:r>
          </a:p>
          <a:p>
            <a:pPr lvl="0"/>
            <a:r>
              <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a:t>
            </a:r>
            <a:r>
              <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public D2</a:t>
            </a:r>
          </a:p>
          <a:p>
            <a:pPr lvl="0"/>
            <a:endParaRPr lang="en-US" altLang="zh-CN"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pPr lvl="0"/>
            <a:r>
              <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实例化派生类对象，逐层调用基类构造函数，再返回派生类构造函数</a:t>
            </a:r>
            <a:endParaRPr lang="en-US" altLang="zh-CN"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pPr lvl="0"/>
            <a:endParaRPr lang="en-US" altLang="zh-CN"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pPr lvl="0"/>
            <a:r>
              <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学习虚拟继承后有新的方式可以获得同样输出</a:t>
            </a:r>
            <a:endPar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7" name="组合 16">
            <a:extLst>
              <a:ext uri="{FF2B5EF4-FFF2-40B4-BE49-F238E27FC236}">
                <a16:creationId xmlns:a16="http://schemas.microsoft.com/office/drawing/2014/main" id="{B147CE64-3C21-4885-9462-4FAB640D6DE2}"/>
              </a:ext>
            </a:extLst>
          </p:cNvPr>
          <p:cNvGrpSpPr/>
          <p:nvPr>
            <p:custDataLst>
              <p:tags r:id="rId8"/>
            </p:custDataLst>
          </p:nvPr>
        </p:nvGrpSpPr>
        <p:grpSpPr>
          <a:xfrm>
            <a:off x="9537700" y="0"/>
            <a:ext cx="3815080" cy="647700"/>
            <a:chOff x="9537700" y="0"/>
            <a:chExt cx="3815080" cy="647700"/>
          </a:xfrm>
        </p:grpSpPr>
        <p:sp>
          <p:nvSpPr>
            <p:cNvPr id="14" name="RemarkBack">
              <a:extLst>
                <a:ext uri="{FF2B5EF4-FFF2-40B4-BE49-F238E27FC236}">
                  <a16:creationId xmlns:a16="http://schemas.microsoft.com/office/drawing/2014/main" id="{782340A0-0D73-40B8-9743-8E1E933FF836}"/>
                </a:ext>
              </a:extLst>
            </p:cNvPr>
            <p:cNvSpPr/>
            <p:nvPr>
              <p:custDataLst>
                <p:tags r:id="rId18"/>
              </p:custDataLst>
            </p:nvPr>
          </p:nvSpPr>
          <p:spPr>
            <a:xfrm>
              <a:off x="9537700" y="12700"/>
              <a:ext cx="381508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RemarkBlock">
              <a:extLst>
                <a:ext uri="{FF2B5EF4-FFF2-40B4-BE49-F238E27FC236}">
                  <a16:creationId xmlns:a16="http://schemas.microsoft.com/office/drawing/2014/main" id="{67459803-F083-45A3-9BB0-E525FF1081F8}"/>
                </a:ext>
              </a:extLst>
            </p:cNvPr>
            <p:cNvSpPr/>
            <p:nvPr>
              <p:custDataLst>
                <p:tags r:id="rId19"/>
              </p:custDataLst>
            </p:nvPr>
          </p:nvSpPr>
          <p:spPr>
            <a:xfrm>
              <a:off x="9537700" y="1270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RemarkTitleText">
              <a:extLst>
                <a:ext uri="{FF2B5EF4-FFF2-40B4-BE49-F238E27FC236}">
                  <a16:creationId xmlns:a16="http://schemas.microsoft.com/office/drawing/2014/main" id="{AA2914B6-937B-4280-BE30-C3C6942A1686}"/>
                </a:ext>
              </a:extLst>
            </p:cNvPr>
            <p:cNvSpPr txBox="1"/>
            <p:nvPr>
              <p:custDataLst>
                <p:tags r:id="rId20"/>
              </p:custDataLst>
            </p:nvPr>
          </p:nvSpPr>
          <p:spPr>
            <a:xfrm>
              <a:off x="9779000" y="0"/>
              <a:ext cx="1905000" cy="635000"/>
            </a:xfrm>
            <a:prstGeom prst="rect">
              <a:avLst/>
            </a:prstGeom>
            <a:noFill/>
          </p:spPr>
          <p:txBody>
            <a:bodyPr vert="horz" wrap="none" rtlCol="0" anchor="ctr" anchorCtr="0">
              <a:noAutofit/>
            </a:bodyPr>
            <a:lstStyle/>
            <a:p>
              <a:r>
                <a:rPr lang="zh-CN" altLang="en-US">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grpSp>
      <p:sp>
        <p:nvSpPr>
          <p:cNvPr id="2" name="RemarkBack">
            <a:extLst>
              <a:ext uri="{FF2B5EF4-FFF2-40B4-BE49-F238E27FC236}">
                <a16:creationId xmlns:a16="http://schemas.microsoft.com/office/drawing/2014/main" id="{9201CD55-D23A-4E01-9844-BC0F9B5C9313}"/>
              </a:ext>
            </a:extLst>
          </p:cNvPr>
          <p:cNvSpPr/>
          <p:nvPr>
            <p:custDataLst>
              <p:tags r:id="rId9"/>
            </p:custDataLst>
          </p:nvPr>
        </p:nvSpPr>
        <p:spPr>
          <a:xfrm>
            <a:off x="9537700" y="12700"/>
            <a:ext cx="381508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RemarkBlock">
            <a:extLst>
              <a:ext uri="{FF2B5EF4-FFF2-40B4-BE49-F238E27FC236}">
                <a16:creationId xmlns:a16="http://schemas.microsoft.com/office/drawing/2014/main" id="{F732AAB3-97E2-44EC-8BD0-FF58DED44A1A}"/>
              </a:ext>
            </a:extLst>
          </p:cNvPr>
          <p:cNvSpPr/>
          <p:nvPr>
            <p:custDataLst>
              <p:tags r:id="rId10"/>
            </p:custDataLst>
          </p:nvPr>
        </p:nvSpPr>
        <p:spPr>
          <a:xfrm>
            <a:off x="9537700" y="1270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RemarkTitleText">
            <a:extLst>
              <a:ext uri="{FF2B5EF4-FFF2-40B4-BE49-F238E27FC236}">
                <a16:creationId xmlns:a16="http://schemas.microsoft.com/office/drawing/2014/main" id="{F6100775-27D9-4872-88C8-01D7318BD64C}"/>
              </a:ext>
            </a:extLst>
          </p:cNvPr>
          <p:cNvSpPr txBox="1"/>
          <p:nvPr>
            <p:custDataLst>
              <p:tags r:id="rId11"/>
            </p:custDataLst>
          </p:nvPr>
        </p:nvSpPr>
        <p:spPr>
          <a:xfrm>
            <a:off x="9779000" y="0"/>
            <a:ext cx="1905000" cy="635000"/>
          </a:xfrm>
          <a:prstGeom prst="rect">
            <a:avLst/>
          </a:prstGeom>
          <a:noFill/>
        </p:spPr>
        <p:txBody>
          <a:bodyPr vert="horz" wrap="none" rtlCol="0" anchor="ctr" anchorCtr="0">
            <a:noAutofit/>
          </a:bodyPr>
          <a:lstStyle/>
          <a:p>
            <a:r>
              <a:rPr lang="zh-CN" altLang="en-US"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endParaRPr lang="zh-CN" altLang="en-US">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0" name="组合 9">
            <a:extLst>
              <a:ext uri="{FF2B5EF4-FFF2-40B4-BE49-F238E27FC236}">
                <a16:creationId xmlns:a16="http://schemas.microsoft.com/office/drawing/2014/main" id="{A9A89076-CFF7-4B93-AAFB-0A762F8DA428}"/>
              </a:ext>
            </a:extLst>
          </p:cNvPr>
          <p:cNvGrpSpPr/>
          <p:nvPr>
            <p:custDataLst>
              <p:tags r:id="rId12"/>
            </p:custDataLst>
          </p:nvPr>
        </p:nvGrpSpPr>
        <p:grpSpPr>
          <a:xfrm>
            <a:off x="0" y="0"/>
            <a:ext cx="9144000" cy="635000"/>
            <a:chOff x="0" y="0"/>
            <a:chExt cx="9144000" cy="635000"/>
          </a:xfrm>
        </p:grpSpPr>
        <p:sp>
          <p:nvSpPr>
            <p:cNvPr id="6" name="TitleBackground">
              <a:extLst>
                <a:ext uri="{FF2B5EF4-FFF2-40B4-BE49-F238E27FC236}">
                  <a16:creationId xmlns:a16="http://schemas.microsoft.com/office/drawing/2014/main" id="{110E1AD3-80AC-414F-B754-C71FD9943CBA}"/>
                </a:ext>
              </a:extLst>
            </p:cNvPr>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a:extLst>
                <a:ext uri="{FF2B5EF4-FFF2-40B4-BE49-F238E27FC236}">
                  <a16:creationId xmlns:a16="http://schemas.microsoft.com/office/drawing/2014/main" id="{93A7CA32-B24D-482F-89FE-6D5E81A565DC}"/>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a:extLst>
                <a:ext uri="{FF2B5EF4-FFF2-40B4-BE49-F238E27FC236}">
                  <a16:creationId xmlns:a16="http://schemas.microsoft.com/office/drawing/2014/main" id="{886E0178-E152-4C5D-BA5A-12790D0DCB21}"/>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9" name="TipText">
              <a:extLst>
                <a:ext uri="{FF2B5EF4-FFF2-40B4-BE49-F238E27FC236}">
                  <a16:creationId xmlns:a16="http://schemas.microsoft.com/office/drawing/2014/main" id="{8AA91ED5-B939-4595-B186-C522E40D8892}"/>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DE8A75AE-BFFC-47A1-AC85-1E3EA39B715D}"/>
              </a:ext>
            </a:extLst>
          </p:cNvPr>
          <p:cNvPicPr>
            <a:picLocks/>
          </p:cNvPicPr>
          <p:nvPr>
            <p:custDataLst>
              <p:tags r:id="rId13"/>
            </p:custDataLst>
          </p:nvPr>
        </p:nvPicPr>
        <p:blipFill>
          <a:blip r:embed="rId2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249334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DDB1F4-8093-4ABF-A303-7A4E541898D7}"/>
              </a:ext>
            </a:extLst>
          </p:cNvPr>
          <p:cNvSpPr txBox="1"/>
          <p:nvPr>
            <p:custDataLst>
              <p:tags r:id="rId2"/>
            </p:custDataLst>
          </p:nvPr>
        </p:nvSpPr>
        <p:spPr>
          <a:xfrm>
            <a:off x="284481" y="1884769"/>
            <a:ext cx="7574280" cy="2143125"/>
          </a:xfrm>
          <a:prstGeom prst="rect">
            <a:avLst/>
          </a:prstGeom>
          <a:noFill/>
        </p:spPr>
        <p:txBody>
          <a:bodyPr vert="horz" wrap="square" rtlCol="0" anchor="ctr" anchorCtr="0">
            <a:noAutofit/>
          </a:bodyPr>
          <a:lstStyle/>
          <a:p>
            <a:r>
              <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下面程序的运行结果是：</a:t>
            </a:r>
            <a:endPar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#include &lt;iostream&gt;</a:t>
            </a:r>
          </a:p>
          <a:p>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using namespace std;</a:t>
            </a:r>
          </a:p>
          <a:p>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class B</a:t>
            </a:r>
          </a:p>
          <a:p>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public:</a:t>
            </a:r>
          </a:p>
          <a:p>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B(){</a:t>
            </a:r>
            <a:r>
              <a:rPr lang="en-US" altLang="zh-CN"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cout</a:t>
            </a:r>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&lt;&lt;"B() is called!"&lt;&lt;</a:t>
            </a:r>
            <a:r>
              <a:rPr lang="en-US" altLang="zh-CN"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endl</a:t>
            </a:r>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class D1:public B</a:t>
            </a:r>
          </a:p>
          <a:p>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public:</a:t>
            </a:r>
          </a:p>
          <a:p>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D1(){</a:t>
            </a:r>
            <a:r>
              <a:rPr lang="en-US" altLang="zh-CN"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cout</a:t>
            </a:r>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&lt;&lt;"D1() is called!"&lt;&lt;</a:t>
            </a:r>
            <a:r>
              <a:rPr lang="en-US" altLang="zh-CN"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endl</a:t>
            </a:r>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endPar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矩形: 圆角 4">
            <a:extLst>
              <a:ext uri="{FF2B5EF4-FFF2-40B4-BE49-F238E27FC236}">
                <a16:creationId xmlns:a16="http://schemas.microsoft.com/office/drawing/2014/main" id="{64C355CD-5C4C-4FBA-9692-1525D1832713}"/>
              </a:ext>
            </a:extLst>
          </p:cNvPr>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1" name="矩形 10">
            <a:extLst>
              <a:ext uri="{FF2B5EF4-FFF2-40B4-BE49-F238E27FC236}">
                <a16:creationId xmlns:a16="http://schemas.microsoft.com/office/drawing/2014/main" id="{D0C5E49C-7373-4E61-B3E6-95CCE9E58240}"/>
              </a:ext>
            </a:extLst>
          </p:cNvPr>
          <p:cNvSpPr/>
          <p:nvPr>
            <p:custDataLst>
              <p:tags r:id="rId4"/>
            </p:custDataLst>
          </p:nvPr>
        </p:nvSpPr>
        <p:spPr>
          <a:xfrm>
            <a:off x="0" y="6611620"/>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dirty="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200" dirty="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200" dirty="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sp>
        <p:nvSpPr>
          <p:cNvPr id="12" name="文本框 11">
            <a:extLst>
              <a:ext uri="{FF2B5EF4-FFF2-40B4-BE49-F238E27FC236}">
                <a16:creationId xmlns:a16="http://schemas.microsoft.com/office/drawing/2014/main" id="{450D45FA-27E4-41CC-97E8-86C7B8E0C41E}"/>
              </a:ext>
            </a:extLst>
          </p:cNvPr>
          <p:cNvSpPr txBox="1"/>
          <p:nvPr/>
        </p:nvSpPr>
        <p:spPr>
          <a:xfrm>
            <a:off x="4904741" y="1031557"/>
            <a:ext cx="4262120" cy="4524315"/>
          </a:xfrm>
          <a:prstGeom prst="rect">
            <a:avLst/>
          </a:prstGeom>
          <a:noFill/>
        </p:spPr>
        <p:txBody>
          <a:bodyPr wrap="square" rtlCol="0">
            <a:spAutoFit/>
          </a:bodyPr>
          <a:lstStyle/>
          <a:p>
            <a:r>
              <a:rPr lang="en-US" altLang="zh-CN" dirty="0"/>
              <a:t>class D2:public B</a:t>
            </a:r>
          </a:p>
          <a:p>
            <a:r>
              <a:rPr lang="en-US" altLang="zh-CN" dirty="0"/>
              <a:t>{</a:t>
            </a:r>
          </a:p>
          <a:p>
            <a:r>
              <a:rPr lang="en-US" altLang="zh-CN" dirty="0"/>
              <a:t>public:</a:t>
            </a:r>
          </a:p>
          <a:p>
            <a:r>
              <a:rPr lang="en-US" altLang="zh-CN" dirty="0"/>
              <a:t>    D2(){</a:t>
            </a:r>
            <a:r>
              <a:rPr lang="en-US" altLang="zh-CN" dirty="0" err="1"/>
              <a:t>cout</a:t>
            </a:r>
            <a:r>
              <a:rPr lang="en-US" altLang="zh-CN" dirty="0"/>
              <a:t>&lt;&lt;"D2() is called!"&lt;&lt;</a:t>
            </a:r>
            <a:r>
              <a:rPr lang="en-US" altLang="zh-CN" dirty="0" err="1"/>
              <a:t>endl</a:t>
            </a:r>
            <a:r>
              <a:rPr lang="en-US" altLang="zh-CN" dirty="0"/>
              <a:t>;}</a:t>
            </a:r>
          </a:p>
          <a:p>
            <a:r>
              <a:rPr lang="en-US" altLang="zh-CN" dirty="0"/>
              <a:t>};</a:t>
            </a:r>
          </a:p>
          <a:p>
            <a:r>
              <a:rPr lang="en-US" altLang="zh-CN" dirty="0"/>
              <a:t>class </a:t>
            </a:r>
            <a:r>
              <a:rPr lang="en-US" altLang="zh-CN" dirty="0" err="1"/>
              <a:t>DD:public</a:t>
            </a:r>
            <a:r>
              <a:rPr lang="en-US" altLang="zh-CN" dirty="0"/>
              <a:t> D2,public D1</a:t>
            </a:r>
          </a:p>
          <a:p>
            <a:r>
              <a:rPr lang="en-US" altLang="zh-CN" dirty="0"/>
              <a:t>{</a:t>
            </a:r>
          </a:p>
          <a:p>
            <a:r>
              <a:rPr lang="en-US" altLang="zh-CN" dirty="0"/>
              <a:t>public:</a:t>
            </a:r>
          </a:p>
          <a:p>
            <a:r>
              <a:rPr lang="en-US" altLang="zh-CN" dirty="0"/>
              <a:t>    DD():D1(),D2(){</a:t>
            </a:r>
            <a:r>
              <a:rPr lang="en-US" altLang="zh-CN" dirty="0" err="1"/>
              <a:t>cout</a:t>
            </a:r>
            <a:r>
              <a:rPr lang="en-US" altLang="zh-CN" dirty="0"/>
              <a:t>&lt;&lt;"DD() is called!"&lt;&lt;</a:t>
            </a:r>
            <a:r>
              <a:rPr lang="en-US" altLang="zh-CN" dirty="0" err="1"/>
              <a:t>endl</a:t>
            </a:r>
            <a:r>
              <a:rPr lang="en-US" altLang="zh-CN" dirty="0"/>
              <a:t>;}</a:t>
            </a:r>
          </a:p>
          <a:p>
            <a:r>
              <a:rPr lang="en-US" altLang="zh-CN" dirty="0"/>
              <a:t>};</a:t>
            </a:r>
          </a:p>
          <a:p>
            <a:r>
              <a:rPr lang="en-US" altLang="zh-CN" dirty="0"/>
              <a:t>int main()</a:t>
            </a:r>
          </a:p>
          <a:p>
            <a:r>
              <a:rPr lang="en-US" altLang="zh-CN" dirty="0"/>
              <a:t>{</a:t>
            </a:r>
          </a:p>
          <a:p>
            <a:r>
              <a:rPr lang="en-US" altLang="zh-CN" dirty="0"/>
              <a:t>    DD </a:t>
            </a:r>
            <a:r>
              <a:rPr lang="en-US" altLang="zh-CN" dirty="0" err="1"/>
              <a:t>dd</a:t>
            </a:r>
            <a:r>
              <a:rPr lang="en-US" altLang="zh-CN" dirty="0"/>
              <a:t>;</a:t>
            </a:r>
          </a:p>
          <a:p>
            <a:r>
              <a:rPr lang="en-US" altLang="zh-CN" dirty="0"/>
              <a:t>    return 0;</a:t>
            </a:r>
          </a:p>
          <a:p>
            <a:r>
              <a:rPr lang="en-US" altLang="zh-CN" dirty="0"/>
              <a:t>}</a:t>
            </a:r>
            <a:endParaRPr lang="zh-CN" altLang="en-US" dirty="0"/>
          </a:p>
        </p:txBody>
      </p:sp>
      <p:sp>
        <p:nvSpPr>
          <p:cNvPr id="13" name="矩形 12">
            <a:extLst>
              <a:ext uri="{FF2B5EF4-FFF2-40B4-BE49-F238E27FC236}">
                <a16:creationId xmlns:a16="http://schemas.microsoft.com/office/drawing/2014/main" id="{7A46DA3F-0B10-4453-9611-4B612EFB50DC}"/>
              </a:ext>
            </a:extLst>
          </p:cNvPr>
          <p:cNvSpPr/>
          <p:nvPr>
            <p:custDataLst>
              <p:tags r:id="rId5"/>
            </p:custDataLst>
          </p:nvPr>
        </p:nvSpPr>
        <p:spPr>
          <a:xfrm>
            <a:off x="9525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18" name="文本框 17">
            <a:extLst>
              <a:ext uri="{FF2B5EF4-FFF2-40B4-BE49-F238E27FC236}">
                <a16:creationId xmlns:a16="http://schemas.microsoft.com/office/drawing/2014/main" id="{10D75F52-F8C1-4146-A27C-F248BFF1424B}"/>
              </a:ext>
            </a:extLst>
          </p:cNvPr>
          <p:cNvSpPr txBox="1"/>
          <p:nvPr>
            <p:custDataLst>
              <p:tags r:id="rId6"/>
            </p:custDataLst>
          </p:nvPr>
        </p:nvSpPr>
        <p:spPr>
          <a:xfrm>
            <a:off x="9613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可为此题添加文本、图片、公式等解析，且需将内容全部放在本区域内。正常使用需</a:t>
            </a:r>
            <a:r>
              <a:rPr lang="en-US" altLang="zh-CN"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3.0</a:t>
            </a: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a:t>
            </a:r>
          </a:p>
        </p:txBody>
      </p:sp>
      <p:sp>
        <p:nvSpPr>
          <p:cNvPr id="19" name="文本框 18">
            <a:extLst>
              <a:ext uri="{FF2B5EF4-FFF2-40B4-BE49-F238E27FC236}">
                <a16:creationId xmlns:a16="http://schemas.microsoft.com/office/drawing/2014/main" id="{49E6D6F7-F0FD-4291-980C-EEF2B65EE098}"/>
              </a:ext>
            </a:extLst>
          </p:cNvPr>
          <p:cNvSpPr txBox="1"/>
          <p:nvPr>
            <p:custDataLst>
              <p:tags r:id="rId7"/>
            </p:custDataLst>
          </p:nvPr>
        </p:nvSpPr>
        <p:spPr>
          <a:xfrm>
            <a:off x="9626600" y="635000"/>
            <a:ext cx="3332480" cy="3170099"/>
          </a:xfrm>
          <a:prstGeom prst="rect">
            <a:avLst/>
          </a:prstGeom>
          <a:noFill/>
        </p:spPr>
        <p:txBody>
          <a:bodyPr vert="horz" rtlCol="0" anchor="t" anchorCtr="0">
            <a:spAutoFit/>
          </a:bodyPr>
          <a:lstStyle/>
          <a:p>
            <a:pPr lvl="0"/>
            <a:r>
              <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public B</a:t>
            </a:r>
          </a:p>
          <a:p>
            <a:pPr lvl="0"/>
            <a:r>
              <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public D1</a:t>
            </a:r>
          </a:p>
          <a:p>
            <a:pPr lvl="0"/>
            <a:r>
              <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a:t>
            </a:r>
            <a:r>
              <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public D2</a:t>
            </a:r>
          </a:p>
          <a:p>
            <a:pPr lvl="0"/>
            <a:endParaRPr lang="en-US" altLang="zh-CN"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pPr lvl="0"/>
            <a:r>
              <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通过派生类逐层调用基类构造函数，再返回继续执行派生类构造函数</a:t>
            </a:r>
            <a:endParaRPr lang="en-US" altLang="zh-CN"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pPr lvl="0"/>
            <a:endParaRPr lang="en-US" altLang="zh-CN"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pPr lvl="0"/>
            <a:r>
              <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学习虚拟继承后有其他的方式获得同样输出。</a:t>
            </a:r>
            <a:endPar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7" name="组合 16">
            <a:extLst>
              <a:ext uri="{FF2B5EF4-FFF2-40B4-BE49-F238E27FC236}">
                <a16:creationId xmlns:a16="http://schemas.microsoft.com/office/drawing/2014/main" id="{B147CE64-3C21-4885-9462-4FAB640D6DE2}"/>
              </a:ext>
            </a:extLst>
          </p:cNvPr>
          <p:cNvGrpSpPr/>
          <p:nvPr>
            <p:custDataLst>
              <p:tags r:id="rId8"/>
            </p:custDataLst>
          </p:nvPr>
        </p:nvGrpSpPr>
        <p:grpSpPr>
          <a:xfrm>
            <a:off x="9537700" y="0"/>
            <a:ext cx="3815080" cy="647700"/>
            <a:chOff x="9537700" y="0"/>
            <a:chExt cx="3815080" cy="647700"/>
          </a:xfrm>
        </p:grpSpPr>
        <p:sp>
          <p:nvSpPr>
            <p:cNvPr id="14" name="RemarkBack">
              <a:extLst>
                <a:ext uri="{FF2B5EF4-FFF2-40B4-BE49-F238E27FC236}">
                  <a16:creationId xmlns:a16="http://schemas.microsoft.com/office/drawing/2014/main" id="{782340A0-0D73-40B8-9743-8E1E933FF836}"/>
                </a:ext>
              </a:extLst>
            </p:cNvPr>
            <p:cNvSpPr/>
            <p:nvPr>
              <p:custDataLst>
                <p:tags r:id="rId23"/>
              </p:custDataLst>
            </p:nvPr>
          </p:nvSpPr>
          <p:spPr>
            <a:xfrm>
              <a:off x="9537700" y="12700"/>
              <a:ext cx="381508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RemarkBlock">
              <a:extLst>
                <a:ext uri="{FF2B5EF4-FFF2-40B4-BE49-F238E27FC236}">
                  <a16:creationId xmlns:a16="http://schemas.microsoft.com/office/drawing/2014/main" id="{67459803-F083-45A3-9BB0-E525FF1081F8}"/>
                </a:ext>
              </a:extLst>
            </p:cNvPr>
            <p:cNvSpPr/>
            <p:nvPr>
              <p:custDataLst>
                <p:tags r:id="rId24"/>
              </p:custDataLst>
            </p:nvPr>
          </p:nvSpPr>
          <p:spPr>
            <a:xfrm>
              <a:off x="9537700" y="1270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RemarkTitleText">
              <a:extLst>
                <a:ext uri="{FF2B5EF4-FFF2-40B4-BE49-F238E27FC236}">
                  <a16:creationId xmlns:a16="http://schemas.microsoft.com/office/drawing/2014/main" id="{AA2914B6-937B-4280-BE30-C3C6942A1686}"/>
                </a:ext>
              </a:extLst>
            </p:cNvPr>
            <p:cNvSpPr txBox="1"/>
            <p:nvPr>
              <p:custDataLst>
                <p:tags r:id="rId25"/>
              </p:custDataLst>
            </p:nvPr>
          </p:nvSpPr>
          <p:spPr>
            <a:xfrm>
              <a:off x="9779000" y="0"/>
              <a:ext cx="1905000" cy="635000"/>
            </a:xfrm>
            <a:prstGeom prst="rect">
              <a:avLst/>
            </a:prstGeom>
            <a:noFill/>
          </p:spPr>
          <p:txBody>
            <a:bodyPr vert="horz" wrap="none" rtlCol="0" anchor="ctr" anchorCtr="0">
              <a:noAutofit/>
            </a:bodyPr>
            <a:lstStyle/>
            <a:p>
              <a:r>
                <a:rPr lang="zh-CN" altLang="en-US">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grpSp>
      <p:sp>
        <p:nvSpPr>
          <p:cNvPr id="2" name="RemarkBack">
            <a:extLst>
              <a:ext uri="{FF2B5EF4-FFF2-40B4-BE49-F238E27FC236}">
                <a16:creationId xmlns:a16="http://schemas.microsoft.com/office/drawing/2014/main" id="{B2B4D521-3900-43A0-AD1F-8631BDA89C02}"/>
              </a:ext>
            </a:extLst>
          </p:cNvPr>
          <p:cNvSpPr/>
          <p:nvPr>
            <p:custDataLst>
              <p:tags r:id="rId9"/>
            </p:custDataLst>
          </p:nvPr>
        </p:nvSpPr>
        <p:spPr>
          <a:xfrm>
            <a:off x="9537700" y="12700"/>
            <a:ext cx="381508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RemarkBlock">
            <a:extLst>
              <a:ext uri="{FF2B5EF4-FFF2-40B4-BE49-F238E27FC236}">
                <a16:creationId xmlns:a16="http://schemas.microsoft.com/office/drawing/2014/main" id="{28AB3146-CF80-4FB8-B91E-75337EC855D0}"/>
              </a:ext>
            </a:extLst>
          </p:cNvPr>
          <p:cNvSpPr/>
          <p:nvPr>
            <p:custDataLst>
              <p:tags r:id="rId10"/>
            </p:custDataLst>
          </p:nvPr>
        </p:nvSpPr>
        <p:spPr>
          <a:xfrm>
            <a:off x="9537700" y="1270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RemarkTitleText">
            <a:extLst>
              <a:ext uri="{FF2B5EF4-FFF2-40B4-BE49-F238E27FC236}">
                <a16:creationId xmlns:a16="http://schemas.microsoft.com/office/drawing/2014/main" id="{9F489E8B-5486-41E2-A309-CD0619744780}"/>
              </a:ext>
            </a:extLst>
          </p:cNvPr>
          <p:cNvSpPr txBox="1"/>
          <p:nvPr>
            <p:custDataLst>
              <p:tags r:id="rId11"/>
            </p:custDataLst>
          </p:nvPr>
        </p:nvSpPr>
        <p:spPr>
          <a:xfrm>
            <a:off x="9779000" y="0"/>
            <a:ext cx="1905000" cy="635000"/>
          </a:xfrm>
          <a:prstGeom prst="rect">
            <a:avLst/>
          </a:prstGeom>
          <a:noFill/>
        </p:spPr>
        <p:txBody>
          <a:bodyPr vert="horz" wrap="none" rtlCol="0" anchor="ctr" anchorCtr="0">
            <a:noAutofit/>
          </a:bodyPr>
          <a:lstStyle/>
          <a:p>
            <a:r>
              <a:rPr lang="zh-CN" altLang="en-US"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endParaRPr lang="zh-CN" altLang="en-US">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2" name="矩形 21">
            <a:extLst>
              <a:ext uri="{FF2B5EF4-FFF2-40B4-BE49-F238E27FC236}">
                <a16:creationId xmlns:a16="http://schemas.microsoft.com/office/drawing/2014/main" id="{4628142B-8279-44C9-9ADB-E90B160482F6}"/>
              </a:ext>
            </a:extLst>
          </p:cNvPr>
          <p:cNvSpPr/>
          <p:nvPr>
            <p:custDataLst>
              <p:tags r:id="rId12"/>
            </p:custDataLst>
          </p:nvPr>
        </p:nvSpPr>
        <p:spPr>
          <a:xfrm>
            <a:off x="9525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rgbClr val="FFFFFF"/>
              </a:solidFill>
            </a:endParaRPr>
          </a:p>
        </p:txBody>
      </p:sp>
      <p:grpSp>
        <p:nvGrpSpPr>
          <p:cNvPr id="23" name="组合 22">
            <a:extLst>
              <a:ext uri="{FF2B5EF4-FFF2-40B4-BE49-F238E27FC236}">
                <a16:creationId xmlns:a16="http://schemas.microsoft.com/office/drawing/2014/main" id="{1037F601-BC05-43BB-B171-686636F6F7F3}"/>
              </a:ext>
            </a:extLst>
          </p:cNvPr>
          <p:cNvGrpSpPr/>
          <p:nvPr>
            <p:custDataLst>
              <p:tags r:id="rId13"/>
            </p:custDataLst>
          </p:nvPr>
        </p:nvGrpSpPr>
        <p:grpSpPr>
          <a:xfrm>
            <a:off x="9537700" y="0"/>
            <a:ext cx="3815080" cy="647700"/>
            <a:chOff x="9537700" y="0"/>
            <a:chExt cx="3815080" cy="647700"/>
          </a:xfrm>
        </p:grpSpPr>
        <p:sp>
          <p:nvSpPr>
            <p:cNvPr id="24" name="RemarkBack">
              <a:extLst>
                <a:ext uri="{FF2B5EF4-FFF2-40B4-BE49-F238E27FC236}">
                  <a16:creationId xmlns:a16="http://schemas.microsoft.com/office/drawing/2014/main" id="{451F6682-99E0-4F24-BF92-9CC9E3B806B5}"/>
                </a:ext>
              </a:extLst>
            </p:cNvPr>
            <p:cNvSpPr/>
            <p:nvPr>
              <p:custDataLst>
                <p:tags r:id="rId20"/>
              </p:custDataLst>
            </p:nvPr>
          </p:nvSpPr>
          <p:spPr>
            <a:xfrm>
              <a:off x="9537700" y="12700"/>
              <a:ext cx="381508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RemarkBlock">
              <a:extLst>
                <a:ext uri="{FF2B5EF4-FFF2-40B4-BE49-F238E27FC236}">
                  <a16:creationId xmlns:a16="http://schemas.microsoft.com/office/drawing/2014/main" id="{9D627212-27B7-4DDA-B92E-CE9F926F66C3}"/>
                </a:ext>
              </a:extLst>
            </p:cNvPr>
            <p:cNvSpPr/>
            <p:nvPr>
              <p:custDataLst>
                <p:tags r:id="rId21"/>
              </p:custDataLst>
            </p:nvPr>
          </p:nvSpPr>
          <p:spPr>
            <a:xfrm>
              <a:off x="9537700" y="1270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RemarkTitleText">
              <a:extLst>
                <a:ext uri="{FF2B5EF4-FFF2-40B4-BE49-F238E27FC236}">
                  <a16:creationId xmlns:a16="http://schemas.microsoft.com/office/drawing/2014/main" id="{1FAA641E-6079-4229-99C3-98EAC2F1B7FF}"/>
                </a:ext>
              </a:extLst>
            </p:cNvPr>
            <p:cNvSpPr txBox="1"/>
            <p:nvPr>
              <p:custDataLst>
                <p:tags r:id="rId22"/>
              </p:custDataLst>
            </p:nvPr>
          </p:nvSpPr>
          <p:spPr>
            <a:xfrm>
              <a:off x="9779000" y="0"/>
              <a:ext cx="1905000" cy="635000"/>
            </a:xfrm>
            <a:prstGeom prst="rect">
              <a:avLst/>
            </a:prstGeom>
            <a:noFill/>
          </p:spPr>
          <p:txBody>
            <a:bodyPr vert="horz" wrap="none" rtlCol="0" anchor="ctr" anchorCtr="0">
              <a:noAutofit/>
            </a:bodyPr>
            <a:lstStyle/>
            <a:p>
              <a:r>
                <a:rPr lang="zh-CN" altLang="en-US">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grpSp>
      <p:sp>
        <p:nvSpPr>
          <p:cNvPr id="27" name="文本框 26">
            <a:extLst>
              <a:ext uri="{FF2B5EF4-FFF2-40B4-BE49-F238E27FC236}">
                <a16:creationId xmlns:a16="http://schemas.microsoft.com/office/drawing/2014/main" id="{E23EDAF7-162C-42EB-A7A2-2FDABDFDF7A2}"/>
              </a:ext>
            </a:extLst>
          </p:cNvPr>
          <p:cNvSpPr txBox="1"/>
          <p:nvPr/>
        </p:nvSpPr>
        <p:spPr>
          <a:xfrm>
            <a:off x="9779000" y="802445"/>
            <a:ext cx="3332480" cy="4247317"/>
          </a:xfrm>
          <a:prstGeom prst="rect">
            <a:avLst/>
          </a:prstGeom>
          <a:noFill/>
        </p:spPr>
        <p:txBody>
          <a:bodyPr wrap="square" rtlCol="0">
            <a:spAutoFit/>
          </a:bodyPr>
          <a:lstStyle/>
          <a:p>
            <a:pPr lvl="0"/>
            <a:r>
              <a:rPr lang="en-US" altLang="zh-CN">
                <a:solidFill>
                  <a:prstClr val="black"/>
                </a:solidFill>
              </a:rPr>
              <a:t>B()</a:t>
            </a:r>
            <a:r>
              <a:rPr lang="zh-CN" altLang="en-US">
                <a:solidFill>
                  <a:prstClr val="black"/>
                </a:solidFill>
              </a:rPr>
              <a:t> </a:t>
            </a:r>
            <a:r>
              <a:rPr lang="en-US" altLang="zh-CN">
                <a:solidFill>
                  <a:prstClr val="black"/>
                </a:solidFill>
              </a:rPr>
              <a:t>is</a:t>
            </a:r>
            <a:r>
              <a:rPr lang="zh-CN" altLang="en-US">
                <a:solidFill>
                  <a:prstClr val="black"/>
                </a:solidFill>
              </a:rPr>
              <a:t> </a:t>
            </a:r>
            <a:r>
              <a:rPr lang="en-US" altLang="zh-CN">
                <a:solidFill>
                  <a:prstClr val="black"/>
                </a:solidFill>
              </a:rPr>
              <a:t>called!</a:t>
            </a:r>
          </a:p>
          <a:p>
            <a:pPr lvl="0"/>
            <a:r>
              <a:rPr lang="en-US" altLang="zh-CN">
                <a:solidFill>
                  <a:prstClr val="black"/>
                </a:solidFill>
              </a:rPr>
              <a:t>D2() is called!</a:t>
            </a:r>
          </a:p>
          <a:p>
            <a:pPr lvl="0"/>
            <a:r>
              <a:rPr lang="en-US" altLang="zh-CN">
                <a:solidFill>
                  <a:prstClr val="black"/>
                </a:solidFill>
              </a:rPr>
              <a:t>B() is called!</a:t>
            </a:r>
          </a:p>
          <a:p>
            <a:pPr lvl="0"/>
            <a:r>
              <a:rPr lang="en-US" altLang="zh-CN">
                <a:solidFill>
                  <a:prstClr val="black"/>
                </a:solidFill>
              </a:rPr>
              <a:t>D1() is called!</a:t>
            </a:r>
          </a:p>
          <a:p>
            <a:pPr lvl="0"/>
            <a:r>
              <a:rPr lang="en-US" altLang="zh-CN">
                <a:solidFill>
                  <a:prstClr val="black"/>
                </a:solidFill>
              </a:rPr>
              <a:t>DD() is called!</a:t>
            </a:r>
          </a:p>
          <a:p>
            <a:pPr lvl="0"/>
            <a:endParaRPr lang="en-US" altLang="zh-CN">
              <a:solidFill>
                <a:prstClr val="black"/>
              </a:solidFill>
            </a:endParaRPr>
          </a:p>
          <a:p>
            <a:pPr lvl="0"/>
            <a:endParaRPr lang="en-US" altLang="zh-CN">
              <a:solidFill>
                <a:prstClr val="black"/>
              </a:solidFill>
            </a:endParaRPr>
          </a:p>
          <a:p>
            <a:pPr lvl="0"/>
            <a:r>
              <a:rPr lang="en-US" altLang="zh-CN">
                <a:solidFill>
                  <a:prstClr val="black"/>
                </a:solidFill>
              </a:rPr>
              <a:t>DD</a:t>
            </a:r>
            <a:r>
              <a:rPr lang="zh-CN" altLang="en-US">
                <a:solidFill>
                  <a:prstClr val="black"/>
                </a:solidFill>
              </a:rPr>
              <a:t>继承</a:t>
            </a:r>
            <a:r>
              <a:rPr lang="en-US" altLang="zh-CN">
                <a:solidFill>
                  <a:prstClr val="black"/>
                </a:solidFill>
              </a:rPr>
              <a:t>D2, D1,</a:t>
            </a:r>
            <a:r>
              <a:rPr lang="zh-CN" altLang="en-US">
                <a:solidFill>
                  <a:prstClr val="black"/>
                </a:solidFill>
              </a:rPr>
              <a:t>按照继承顺序先调用</a:t>
            </a:r>
            <a:r>
              <a:rPr lang="en-US" altLang="zh-CN">
                <a:solidFill>
                  <a:prstClr val="black"/>
                </a:solidFill>
              </a:rPr>
              <a:t>D2</a:t>
            </a:r>
            <a:r>
              <a:rPr lang="zh-CN" altLang="en-US">
                <a:solidFill>
                  <a:prstClr val="black"/>
                </a:solidFill>
              </a:rPr>
              <a:t>构造函数，再调用</a:t>
            </a:r>
            <a:r>
              <a:rPr lang="en-US" altLang="zh-CN">
                <a:solidFill>
                  <a:prstClr val="black"/>
                </a:solidFill>
              </a:rPr>
              <a:t>D1</a:t>
            </a:r>
            <a:r>
              <a:rPr lang="zh-CN" altLang="en-US">
                <a:solidFill>
                  <a:prstClr val="black"/>
                </a:solidFill>
              </a:rPr>
              <a:t>构造函数，执行</a:t>
            </a:r>
            <a:r>
              <a:rPr lang="en-US" altLang="zh-CN">
                <a:solidFill>
                  <a:prstClr val="black"/>
                </a:solidFill>
              </a:rPr>
              <a:t>D2</a:t>
            </a:r>
            <a:r>
              <a:rPr lang="zh-CN" altLang="en-US">
                <a:solidFill>
                  <a:prstClr val="black"/>
                </a:solidFill>
              </a:rPr>
              <a:t>构造函数时，先调用基类</a:t>
            </a:r>
            <a:r>
              <a:rPr lang="en-US" altLang="zh-CN">
                <a:solidFill>
                  <a:prstClr val="black"/>
                </a:solidFill>
              </a:rPr>
              <a:t>B</a:t>
            </a:r>
            <a:r>
              <a:rPr lang="zh-CN" altLang="en-US">
                <a:solidFill>
                  <a:prstClr val="black"/>
                </a:solidFill>
              </a:rPr>
              <a:t>构造函数，再执行</a:t>
            </a:r>
            <a:r>
              <a:rPr lang="en-US" altLang="zh-CN">
                <a:solidFill>
                  <a:prstClr val="black"/>
                </a:solidFill>
              </a:rPr>
              <a:t>D2</a:t>
            </a:r>
            <a:r>
              <a:rPr lang="zh-CN" altLang="en-US">
                <a:solidFill>
                  <a:prstClr val="black"/>
                </a:solidFill>
              </a:rPr>
              <a:t>构造函数；执行</a:t>
            </a:r>
            <a:r>
              <a:rPr lang="en-US" altLang="zh-CN">
                <a:solidFill>
                  <a:prstClr val="black"/>
                </a:solidFill>
              </a:rPr>
              <a:t>D1</a:t>
            </a:r>
            <a:r>
              <a:rPr lang="zh-CN" altLang="en-US">
                <a:solidFill>
                  <a:prstClr val="black"/>
                </a:solidFill>
              </a:rPr>
              <a:t>构造函数时，先调用基类</a:t>
            </a:r>
            <a:r>
              <a:rPr lang="en-US" altLang="zh-CN">
                <a:solidFill>
                  <a:prstClr val="black"/>
                </a:solidFill>
              </a:rPr>
              <a:t>B</a:t>
            </a:r>
            <a:r>
              <a:rPr lang="zh-CN" altLang="en-US">
                <a:solidFill>
                  <a:prstClr val="black"/>
                </a:solidFill>
              </a:rPr>
              <a:t>构造函数，再执行</a:t>
            </a:r>
            <a:r>
              <a:rPr lang="en-US" altLang="zh-CN">
                <a:solidFill>
                  <a:prstClr val="black"/>
                </a:solidFill>
              </a:rPr>
              <a:t>D1</a:t>
            </a:r>
            <a:r>
              <a:rPr lang="zh-CN" altLang="en-US">
                <a:solidFill>
                  <a:prstClr val="black"/>
                </a:solidFill>
              </a:rPr>
              <a:t>构造函数，</a:t>
            </a:r>
            <a:r>
              <a:rPr lang="en-US" altLang="zh-CN">
                <a:solidFill>
                  <a:prstClr val="black"/>
                </a:solidFill>
              </a:rPr>
              <a:t>DD</a:t>
            </a:r>
            <a:r>
              <a:rPr lang="zh-CN" altLang="en-US">
                <a:solidFill>
                  <a:prstClr val="black"/>
                </a:solidFill>
              </a:rPr>
              <a:t>基类的构造函数</a:t>
            </a:r>
            <a:endParaRPr lang="zh-CN" altLang="en-US" dirty="0">
              <a:solidFill>
                <a:prstClr val="black"/>
              </a:solidFill>
            </a:endParaRPr>
          </a:p>
        </p:txBody>
      </p:sp>
      <p:grpSp>
        <p:nvGrpSpPr>
          <p:cNvPr id="10" name="组合 9">
            <a:extLst>
              <a:ext uri="{FF2B5EF4-FFF2-40B4-BE49-F238E27FC236}">
                <a16:creationId xmlns:a16="http://schemas.microsoft.com/office/drawing/2014/main" id="{A9A89076-CFF7-4B93-AAFB-0A762F8DA428}"/>
              </a:ext>
            </a:extLst>
          </p:cNvPr>
          <p:cNvGrpSpPr/>
          <p:nvPr>
            <p:custDataLst>
              <p:tags r:id="rId14"/>
            </p:custDataLst>
          </p:nvPr>
        </p:nvGrpSpPr>
        <p:grpSpPr>
          <a:xfrm>
            <a:off x="0" y="0"/>
            <a:ext cx="9144000" cy="635000"/>
            <a:chOff x="0" y="0"/>
            <a:chExt cx="9144000" cy="635000"/>
          </a:xfrm>
        </p:grpSpPr>
        <p:sp>
          <p:nvSpPr>
            <p:cNvPr id="6" name="TitleBackground">
              <a:extLst>
                <a:ext uri="{FF2B5EF4-FFF2-40B4-BE49-F238E27FC236}">
                  <a16:creationId xmlns:a16="http://schemas.microsoft.com/office/drawing/2014/main" id="{110E1AD3-80AC-414F-B754-C71FD9943CBA}"/>
                </a:ext>
              </a:extLst>
            </p:cNvPr>
            <p:cNvSpPr/>
            <p:nvPr>
              <p:custDataLst>
                <p:tags r:id="rId1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a:extLst>
                <a:ext uri="{FF2B5EF4-FFF2-40B4-BE49-F238E27FC236}">
                  <a16:creationId xmlns:a16="http://schemas.microsoft.com/office/drawing/2014/main" id="{93A7CA32-B24D-482F-89FE-6D5E81A565DC}"/>
                </a:ext>
              </a:extLst>
            </p:cNvPr>
            <p:cNvSpPr/>
            <p:nvPr>
              <p:custDataLst>
                <p:tags r:id="rId1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a:extLst>
                <a:ext uri="{FF2B5EF4-FFF2-40B4-BE49-F238E27FC236}">
                  <a16:creationId xmlns:a16="http://schemas.microsoft.com/office/drawing/2014/main" id="{886E0178-E152-4C5D-BA5A-12790D0DCB21}"/>
                </a:ext>
              </a:extLst>
            </p:cNvPr>
            <p:cNvSpPr txBox="1"/>
            <p:nvPr>
              <p:custDataLst>
                <p:tags r:id="rId1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9" name="TipText">
              <a:extLst>
                <a:ext uri="{FF2B5EF4-FFF2-40B4-BE49-F238E27FC236}">
                  <a16:creationId xmlns:a16="http://schemas.microsoft.com/office/drawing/2014/main" id="{8AA91ED5-B939-4595-B186-C522E40D8892}"/>
                </a:ext>
              </a:extLst>
            </p:cNvPr>
            <p:cNvSpPr txBox="1"/>
            <p:nvPr>
              <p:custDataLst>
                <p:tags r:id="rId1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DE8A75AE-BFFC-47A1-AC85-1E3EA39B715D}"/>
              </a:ext>
            </a:extLst>
          </p:cNvPr>
          <p:cNvPicPr>
            <a:picLocks/>
          </p:cNvPicPr>
          <p:nvPr>
            <p:custDataLst>
              <p:tags r:id="rId15"/>
            </p:custDataLst>
          </p:nvPr>
        </p:nvPicPr>
        <p:blipFill>
          <a:blip r:embed="rId2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6861459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DDB1F4-8093-4ABF-A303-7A4E541898D7}"/>
              </a:ext>
            </a:extLst>
          </p:cNvPr>
          <p:cNvSpPr txBox="1"/>
          <p:nvPr>
            <p:custDataLst>
              <p:tags r:id="rId2"/>
            </p:custDataLst>
          </p:nvPr>
        </p:nvSpPr>
        <p:spPr>
          <a:xfrm>
            <a:off x="543561" y="2551747"/>
            <a:ext cx="7574280" cy="2143125"/>
          </a:xfrm>
          <a:prstGeom prst="rect">
            <a:avLst/>
          </a:prstGeom>
          <a:noFill/>
        </p:spPr>
        <p:txBody>
          <a:bodyPr vert="horz" wrap="square" rtlCol="0" anchor="ctr" anchorCtr="0">
            <a:noAutofit/>
          </a:bodyPr>
          <a:lstStyle/>
          <a:p>
            <a:r>
              <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下面程序的运行结果是：</a:t>
            </a:r>
            <a:endPar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#include &lt;iostream&gt;</a:t>
            </a:r>
          </a:p>
          <a:p>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using namespace std;</a:t>
            </a:r>
          </a:p>
          <a:p>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class </a:t>
            </a:r>
            <a:r>
              <a:rPr lang="en-US" altLang="zh-CN"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BaseClass</a:t>
            </a:r>
            <a:endPar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public:</a:t>
            </a:r>
          </a:p>
          <a:p>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BaseClass</a:t>
            </a:r>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cout</a:t>
            </a:r>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&lt;&lt;"~</a:t>
            </a:r>
            <a:r>
              <a:rPr lang="en-US" altLang="zh-CN"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BaseClass</a:t>
            </a:r>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is called!"&lt;&lt;</a:t>
            </a:r>
            <a:r>
              <a:rPr lang="en-US" altLang="zh-CN"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endl</a:t>
            </a:r>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class </a:t>
            </a:r>
            <a:r>
              <a:rPr lang="en-US" altLang="zh-CN"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DerivedClass:public</a:t>
            </a:r>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BaseClass</a:t>
            </a:r>
            <a:endPar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public:</a:t>
            </a:r>
          </a:p>
          <a:p>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DerivedClass</a:t>
            </a:r>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cout</a:t>
            </a:r>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&lt;&lt;"~</a:t>
            </a:r>
            <a:r>
              <a:rPr lang="en-US" altLang="zh-CN"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DerivedClass</a:t>
            </a:r>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is called!"&lt;&lt;</a:t>
            </a:r>
            <a:r>
              <a:rPr lang="en-US" altLang="zh-CN"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endl</a:t>
            </a:r>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int main()</a:t>
            </a:r>
          </a:p>
          <a:p>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DerivedClass</a:t>
            </a:r>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d;</a:t>
            </a:r>
          </a:p>
          <a:p>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return 0;</a:t>
            </a:r>
          </a:p>
          <a:p>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endPar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矩形: 圆角 4">
            <a:extLst>
              <a:ext uri="{FF2B5EF4-FFF2-40B4-BE49-F238E27FC236}">
                <a16:creationId xmlns:a16="http://schemas.microsoft.com/office/drawing/2014/main" id="{64C355CD-5C4C-4FBA-9692-1525D1832713}"/>
              </a:ext>
            </a:extLst>
          </p:cNvPr>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1" name="矩形 10">
            <a:extLst>
              <a:ext uri="{FF2B5EF4-FFF2-40B4-BE49-F238E27FC236}">
                <a16:creationId xmlns:a16="http://schemas.microsoft.com/office/drawing/2014/main" id="{D0C5E49C-7373-4E61-B3E6-95CCE9E58240}"/>
              </a:ext>
            </a:extLst>
          </p:cNvPr>
          <p:cNvSpPr/>
          <p:nvPr>
            <p:custDataLst>
              <p:tags r:id="rId4"/>
            </p:custDataLst>
          </p:nvPr>
        </p:nvSpPr>
        <p:spPr>
          <a:xfrm>
            <a:off x="0" y="6611620"/>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dirty="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200" dirty="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200" dirty="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sp>
        <p:nvSpPr>
          <p:cNvPr id="13" name="矩形 12">
            <a:extLst>
              <a:ext uri="{FF2B5EF4-FFF2-40B4-BE49-F238E27FC236}">
                <a16:creationId xmlns:a16="http://schemas.microsoft.com/office/drawing/2014/main" id="{7A46DA3F-0B10-4453-9611-4B612EFB50DC}"/>
              </a:ext>
            </a:extLst>
          </p:cNvPr>
          <p:cNvSpPr/>
          <p:nvPr>
            <p:custDataLst>
              <p:tags r:id="rId5"/>
            </p:custDataLst>
          </p:nvPr>
        </p:nvSpPr>
        <p:spPr>
          <a:xfrm>
            <a:off x="9525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18" name="文本框 17">
            <a:extLst>
              <a:ext uri="{FF2B5EF4-FFF2-40B4-BE49-F238E27FC236}">
                <a16:creationId xmlns:a16="http://schemas.microsoft.com/office/drawing/2014/main" id="{10D75F52-F8C1-4146-A27C-F248BFF1424B}"/>
              </a:ext>
            </a:extLst>
          </p:cNvPr>
          <p:cNvSpPr txBox="1"/>
          <p:nvPr>
            <p:custDataLst>
              <p:tags r:id="rId6"/>
            </p:custDataLst>
          </p:nvPr>
        </p:nvSpPr>
        <p:spPr>
          <a:xfrm>
            <a:off x="9613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可为此题添加文本、图片、公式等解析，且需将内容全部放在本区域内。正常使用需</a:t>
            </a:r>
            <a:r>
              <a:rPr lang="en-US" altLang="zh-CN"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3.0</a:t>
            </a: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a:t>
            </a:r>
          </a:p>
        </p:txBody>
      </p:sp>
      <p:sp>
        <p:nvSpPr>
          <p:cNvPr id="19" name="文本框 18">
            <a:extLst>
              <a:ext uri="{FF2B5EF4-FFF2-40B4-BE49-F238E27FC236}">
                <a16:creationId xmlns:a16="http://schemas.microsoft.com/office/drawing/2014/main" id="{49E6D6F7-F0FD-4291-980C-EEF2B65EE098}"/>
              </a:ext>
            </a:extLst>
          </p:cNvPr>
          <p:cNvSpPr txBox="1"/>
          <p:nvPr>
            <p:custDataLst>
              <p:tags r:id="rId7"/>
            </p:custDataLst>
          </p:nvPr>
        </p:nvSpPr>
        <p:spPr>
          <a:xfrm>
            <a:off x="9626600" y="635000"/>
            <a:ext cx="3332480" cy="3170099"/>
          </a:xfrm>
          <a:prstGeom prst="rect">
            <a:avLst/>
          </a:prstGeom>
          <a:noFill/>
        </p:spPr>
        <p:txBody>
          <a:bodyPr vert="horz" rtlCol="0" anchor="t" anchorCtr="0">
            <a:spAutoFit/>
          </a:bodyPr>
          <a:lstStyle/>
          <a:p>
            <a:pPr lvl="0"/>
            <a:r>
              <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public B</a:t>
            </a:r>
          </a:p>
          <a:p>
            <a:pPr lvl="0"/>
            <a:r>
              <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public D1</a:t>
            </a:r>
          </a:p>
          <a:p>
            <a:pPr lvl="0"/>
            <a:r>
              <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a:t>
            </a:r>
            <a:r>
              <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public D2</a:t>
            </a:r>
          </a:p>
          <a:p>
            <a:pPr lvl="0"/>
            <a:endParaRPr lang="en-US" altLang="zh-CN"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pPr lvl="0"/>
            <a:r>
              <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通过派生类逐层调用基类构造函数，再返回继续执行派生类构造函数</a:t>
            </a:r>
            <a:endParaRPr lang="en-US" altLang="zh-CN"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pPr lvl="0"/>
            <a:endParaRPr lang="en-US" altLang="zh-CN"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pPr lvl="0"/>
            <a:r>
              <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学习虚拟继承后有其他的方式获得同样输出。</a:t>
            </a:r>
            <a:endPar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7" name="组合 16">
            <a:extLst>
              <a:ext uri="{FF2B5EF4-FFF2-40B4-BE49-F238E27FC236}">
                <a16:creationId xmlns:a16="http://schemas.microsoft.com/office/drawing/2014/main" id="{B147CE64-3C21-4885-9462-4FAB640D6DE2}"/>
              </a:ext>
            </a:extLst>
          </p:cNvPr>
          <p:cNvGrpSpPr/>
          <p:nvPr>
            <p:custDataLst>
              <p:tags r:id="rId8"/>
            </p:custDataLst>
          </p:nvPr>
        </p:nvGrpSpPr>
        <p:grpSpPr>
          <a:xfrm>
            <a:off x="9537700" y="0"/>
            <a:ext cx="3815080" cy="647700"/>
            <a:chOff x="9537700" y="0"/>
            <a:chExt cx="3815080" cy="647700"/>
          </a:xfrm>
        </p:grpSpPr>
        <p:sp>
          <p:nvSpPr>
            <p:cNvPr id="14" name="RemarkBack">
              <a:extLst>
                <a:ext uri="{FF2B5EF4-FFF2-40B4-BE49-F238E27FC236}">
                  <a16:creationId xmlns:a16="http://schemas.microsoft.com/office/drawing/2014/main" id="{782340A0-0D73-40B8-9743-8E1E933FF836}"/>
                </a:ext>
              </a:extLst>
            </p:cNvPr>
            <p:cNvSpPr/>
            <p:nvPr>
              <p:custDataLst>
                <p:tags r:id="rId23"/>
              </p:custDataLst>
            </p:nvPr>
          </p:nvSpPr>
          <p:spPr>
            <a:xfrm>
              <a:off x="9537700" y="12700"/>
              <a:ext cx="381508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RemarkBlock">
              <a:extLst>
                <a:ext uri="{FF2B5EF4-FFF2-40B4-BE49-F238E27FC236}">
                  <a16:creationId xmlns:a16="http://schemas.microsoft.com/office/drawing/2014/main" id="{67459803-F083-45A3-9BB0-E525FF1081F8}"/>
                </a:ext>
              </a:extLst>
            </p:cNvPr>
            <p:cNvSpPr/>
            <p:nvPr>
              <p:custDataLst>
                <p:tags r:id="rId24"/>
              </p:custDataLst>
            </p:nvPr>
          </p:nvSpPr>
          <p:spPr>
            <a:xfrm>
              <a:off x="9537700" y="1270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RemarkTitleText">
              <a:extLst>
                <a:ext uri="{FF2B5EF4-FFF2-40B4-BE49-F238E27FC236}">
                  <a16:creationId xmlns:a16="http://schemas.microsoft.com/office/drawing/2014/main" id="{AA2914B6-937B-4280-BE30-C3C6942A1686}"/>
                </a:ext>
              </a:extLst>
            </p:cNvPr>
            <p:cNvSpPr txBox="1"/>
            <p:nvPr>
              <p:custDataLst>
                <p:tags r:id="rId25"/>
              </p:custDataLst>
            </p:nvPr>
          </p:nvSpPr>
          <p:spPr>
            <a:xfrm>
              <a:off x="9779000" y="0"/>
              <a:ext cx="1905000" cy="635000"/>
            </a:xfrm>
            <a:prstGeom prst="rect">
              <a:avLst/>
            </a:prstGeom>
            <a:noFill/>
          </p:spPr>
          <p:txBody>
            <a:bodyPr vert="horz" wrap="none" rtlCol="0" anchor="ctr" anchorCtr="0">
              <a:noAutofit/>
            </a:bodyPr>
            <a:lstStyle/>
            <a:p>
              <a:r>
                <a:rPr lang="zh-CN" altLang="en-US">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grpSp>
      <p:sp>
        <p:nvSpPr>
          <p:cNvPr id="2" name="RemarkBack">
            <a:extLst>
              <a:ext uri="{FF2B5EF4-FFF2-40B4-BE49-F238E27FC236}">
                <a16:creationId xmlns:a16="http://schemas.microsoft.com/office/drawing/2014/main" id="{B2B4D521-3900-43A0-AD1F-8631BDA89C02}"/>
              </a:ext>
            </a:extLst>
          </p:cNvPr>
          <p:cNvSpPr/>
          <p:nvPr>
            <p:custDataLst>
              <p:tags r:id="rId9"/>
            </p:custDataLst>
          </p:nvPr>
        </p:nvSpPr>
        <p:spPr>
          <a:xfrm>
            <a:off x="9537700" y="12700"/>
            <a:ext cx="381508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RemarkBlock">
            <a:extLst>
              <a:ext uri="{FF2B5EF4-FFF2-40B4-BE49-F238E27FC236}">
                <a16:creationId xmlns:a16="http://schemas.microsoft.com/office/drawing/2014/main" id="{28AB3146-CF80-4FB8-B91E-75337EC855D0}"/>
              </a:ext>
            </a:extLst>
          </p:cNvPr>
          <p:cNvSpPr/>
          <p:nvPr>
            <p:custDataLst>
              <p:tags r:id="rId10"/>
            </p:custDataLst>
          </p:nvPr>
        </p:nvSpPr>
        <p:spPr>
          <a:xfrm>
            <a:off x="9537700" y="1270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RemarkTitleText">
            <a:extLst>
              <a:ext uri="{FF2B5EF4-FFF2-40B4-BE49-F238E27FC236}">
                <a16:creationId xmlns:a16="http://schemas.microsoft.com/office/drawing/2014/main" id="{9F489E8B-5486-41E2-A309-CD0619744780}"/>
              </a:ext>
            </a:extLst>
          </p:cNvPr>
          <p:cNvSpPr txBox="1"/>
          <p:nvPr>
            <p:custDataLst>
              <p:tags r:id="rId11"/>
            </p:custDataLst>
          </p:nvPr>
        </p:nvSpPr>
        <p:spPr>
          <a:xfrm>
            <a:off x="9779000" y="0"/>
            <a:ext cx="1905000" cy="635000"/>
          </a:xfrm>
          <a:prstGeom prst="rect">
            <a:avLst/>
          </a:prstGeom>
          <a:noFill/>
        </p:spPr>
        <p:txBody>
          <a:bodyPr vert="horz" wrap="none" rtlCol="0" anchor="ctr" anchorCtr="0">
            <a:noAutofit/>
          </a:bodyPr>
          <a:lstStyle/>
          <a:p>
            <a:r>
              <a:rPr lang="zh-CN" altLang="en-US"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endParaRPr lang="zh-CN" altLang="en-US">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2" name="矩形 21">
            <a:extLst>
              <a:ext uri="{FF2B5EF4-FFF2-40B4-BE49-F238E27FC236}">
                <a16:creationId xmlns:a16="http://schemas.microsoft.com/office/drawing/2014/main" id="{4628142B-8279-44C9-9ADB-E90B160482F6}"/>
              </a:ext>
            </a:extLst>
          </p:cNvPr>
          <p:cNvSpPr/>
          <p:nvPr>
            <p:custDataLst>
              <p:tags r:id="rId12"/>
            </p:custDataLst>
          </p:nvPr>
        </p:nvSpPr>
        <p:spPr>
          <a:xfrm>
            <a:off x="9525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rgbClr val="FFFFFF"/>
              </a:solidFill>
            </a:endParaRPr>
          </a:p>
        </p:txBody>
      </p:sp>
      <p:grpSp>
        <p:nvGrpSpPr>
          <p:cNvPr id="23" name="组合 22">
            <a:extLst>
              <a:ext uri="{FF2B5EF4-FFF2-40B4-BE49-F238E27FC236}">
                <a16:creationId xmlns:a16="http://schemas.microsoft.com/office/drawing/2014/main" id="{1037F601-BC05-43BB-B171-686636F6F7F3}"/>
              </a:ext>
            </a:extLst>
          </p:cNvPr>
          <p:cNvGrpSpPr/>
          <p:nvPr>
            <p:custDataLst>
              <p:tags r:id="rId13"/>
            </p:custDataLst>
          </p:nvPr>
        </p:nvGrpSpPr>
        <p:grpSpPr>
          <a:xfrm>
            <a:off x="9537700" y="0"/>
            <a:ext cx="3815080" cy="647700"/>
            <a:chOff x="9537700" y="0"/>
            <a:chExt cx="3815080" cy="647700"/>
          </a:xfrm>
        </p:grpSpPr>
        <p:sp>
          <p:nvSpPr>
            <p:cNvPr id="24" name="RemarkBack">
              <a:extLst>
                <a:ext uri="{FF2B5EF4-FFF2-40B4-BE49-F238E27FC236}">
                  <a16:creationId xmlns:a16="http://schemas.microsoft.com/office/drawing/2014/main" id="{451F6682-99E0-4F24-BF92-9CC9E3B806B5}"/>
                </a:ext>
              </a:extLst>
            </p:cNvPr>
            <p:cNvSpPr/>
            <p:nvPr>
              <p:custDataLst>
                <p:tags r:id="rId20"/>
              </p:custDataLst>
            </p:nvPr>
          </p:nvSpPr>
          <p:spPr>
            <a:xfrm>
              <a:off x="9537700" y="12700"/>
              <a:ext cx="381508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RemarkBlock">
              <a:extLst>
                <a:ext uri="{FF2B5EF4-FFF2-40B4-BE49-F238E27FC236}">
                  <a16:creationId xmlns:a16="http://schemas.microsoft.com/office/drawing/2014/main" id="{9D627212-27B7-4DDA-B92E-CE9F926F66C3}"/>
                </a:ext>
              </a:extLst>
            </p:cNvPr>
            <p:cNvSpPr/>
            <p:nvPr>
              <p:custDataLst>
                <p:tags r:id="rId21"/>
              </p:custDataLst>
            </p:nvPr>
          </p:nvSpPr>
          <p:spPr>
            <a:xfrm>
              <a:off x="9537700" y="1270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RemarkTitleText">
              <a:extLst>
                <a:ext uri="{FF2B5EF4-FFF2-40B4-BE49-F238E27FC236}">
                  <a16:creationId xmlns:a16="http://schemas.microsoft.com/office/drawing/2014/main" id="{1FAA641E-6079-4229-99C3-98EAC2F1B7FF}"/>
                </a:ext>
              </a:extLst>
            </p:cNvPr>
            <p:cNvSpPr txBox="1"/>
            <p:nvPr>
              <p:custDataLst>
                <p:tags r:id="rId22"/>
              </p:custDataLst>
            </p:nvPr>
          </p:nvSpPr>
          <p:spPr>
            <a:xfrm>
              <a:off x="9779000" y="0"/>
              <a:ext cx="1905000" cy="635000"/>
            </a:xfrm>
            <a:prstGeom prst="rect">
              <a:avLst/>
            </a:prstGeom>
            <a:noFill/>
          </p:spPr>
          <p:txBody>
            <a:bodyPr vert="horz" wrap="none" rtlCol="0" anchor="ctr" anchorCtr="0">
              <a:noAutofit/>
            </a:bodyPr>
            <a:lstStyle/>
            <a:p>
              <a:r>
                <a:rPr lang="zh-CN" altLang="en-US">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grpSp>
      <p:sp>
        <p:nvSpPr>
          <p:cNvPr id="27" name="文本框 26">
            <a:extLst>
              <a:ext uri="{FF2B5EF4-FFF2-40B4-BE49-F238E27FC236}">
                <a16:creationId xmlns:a16="http://schemas.microsoft.com/office/drawing/2014/main" id="{E23EDAF7-162C-42EB-A7A2-2FDABDFDF7A2}"/>
              </a:ext>
            </a:extLst>
          </p:cNvPr>
          <p:cNvSpPr txBox="1"/>
          <p:nvPr/>
        </p:nvSpPr>
        <p:spPr>
          <a:xfrm>
            <a:off x="9779000" y="802445"/>
            <a:ext cx="3332480" cy="2585323"/>
          </a:xfrm>
          <a:prstGeom prst="rect">
            <a:avLst/>
          </a:prstGeom>
          <a:noFill/>
        </p:spPr>
        <p:txBody>
          <a:bodyPr wrap="square" rtlCol="0">
            <a:spAutoFit/>
          </a:bodyPr>
          <a:lstStyle/>
          <a:p>
            <a:pPr lvl="0"/>
            <a:r>
              <a:rPr lang="en-US" altLang="zh-CN">
                <a:solidFill>
                  <a:prstClr val="black"/>
                </a:solidFill>
              </a:rPr>
              <a:t>~DerivedClass() is called!</a:t>
            </a:r>
          </a:p>
          <a:p>
            <a:pPr lvl="0"/>
            <a:r>
              <a:rPr lang="en-US" altLang="zh-CN">
                <a:solidFill>
                  <a:prstClr val="black"/>
                </a:solidFill>
              </a:rPr>
              <a:t>~BaseClass() is called!</a:t>
            </a:r>
          </a:p>
          <a:p>
            <a:pPr lvl="0"/>
            <a:endParaRPr lang="en-US" altLang="zh-CN">
              <a:solidFill>
                <a:prstClr val="black"/>
              </a:solidFill>
            </a:endParaRPr>
          </a:p>
          <a:p>
            <a:pPr lvl="0"/>
            <a:r>
              <a:rPr lang="zh-CN" altLang="en-US">
                <a:solidFill>
                  <a:prstClr val="black"/>
                </a:solidFill>
              </a:rPr>
              <a:t>实例化派生类对象时先执行基类构造函数，再执行派生类构造函数。析构函数执行顺序与构造函数执行顺序相反，即先执行派生类析构函数，再执行基类析构函数。</a:t>
            </a:r>
            <a:endParaRPr lang="zh-CN" altLang="en-US" dirty="0">
              <a:solidFill>
                <a:prstClr val="black"/>
              </a:solidFill>
            </a:endParaRPr>
          </a:p>
        </p:txBody>
      </p:sp>
      <p:grpSp>
        <p:nvGrpSpPr>
          <p:cNvPr id="10" name="组合 9">
            <a:extLst>
              <a:ext uri="{FF2B5EF4-FFF2-40B4-BE49-F238E27FC236}">
                <a16:creationId xmlns:a16="http://schemas.microsoft.com/office/drawing/2014/main" id="{A9A89076-CFF7-4B93-AAFB-0A762F8DA428}"/>
              </a:ext>
            </a:extLst>
          </p:cNvPr>
          <p:cNvGrpSpPr/>
          <p:nvPr>
            <p:custDataLst>
              <p:tags r:id="rId14"/>
            </p:custDataLst>
          </p:nvPr>
        </p:nvGrpSpPr>
        <p:grpSpPr>
          <a:xfrm>
            <a:off x="0" y="0"/>
            <a:ext cx="9144000" cy="635000"/>
            <a:chOff x="0" y="0"/>
            <a:chExt cx="9144000" cy="635000"/>
          </a:xfrm>
        </p:grpSpPr>
        <p:sp>
          <p:nvSpPr>
            <p:cNvPr id="6" name="TitleBackground">
              <a:extLst>
                <a:ext uri="{FF2B5EF4-FFF2-40B4-BE49-F238E27FC236}">
                  <a16:creationId xmlns:a16="http://schemas.microsoft.com/office/drawing/2014/main" id="{110E1AD3-80AC-414F-B754-C71FD9943CBA}"/>
                </a:ext>
              </a:extLst>
            </p:cNvPr>
            <p:cNvSpPr/>
            <p:nvPr>
              <p:custDataLst>
                <p:tags r:id="rId1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a:extLst>
                <a:ext uri="{FF2B5EF4-FFF2-40B4-BE49-F238E27FC236}">
                  <a16:creationId xmlns:a16="http://schemas.microsoft.com/office/drawing/2014/main" id="{93A7CA32-B24D-482F-89FE-6D5E81A565DC}"/>
                </a:ext>
              </a:extLst>
            </p:cNvPr>
            <p:cNvSpPr/>
            <p:nvPr>
              <p:custDataLst>
                <p:tags r:id="rId1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a:extLst>
                <a:ext uri="{FF2B5EF4-FFF2-40B4-BE49-F238E27FC236}">
                  <a16:creationId xmlns:a16="http://schemas.microsoft.com/office/drawing/2014/main" id="{886E0178-E152-4C5D-BA5A-12790D0DCB21}"/>
                </a:ext>
              </a:extLst>
            </p:cNvPr>
            <p:cNvSpPr txBox="1"/>
            <p:nvPr>
              <p:custDataLst>
                <p:tags r:id="rId1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9" name="TipText">
              <a:extLst>
                <a:ext uri="{FF2B5EF4-FFF2-40B4-BE49-F238E27FC236}">
                  <a16:creationId xmlns:a16="http://schemas.microsoft.com/office/drawing/2014/main" id="{8AA91ED5-B939-4595-B186-C522E40D8892}"/>
                </a:ext>
              </a:extLst>
            </p:cNvPr>
            <p:cNvSpPr txBox="1"/>
            <p:nvPr>
              <p:custDataLst>
                <p:tags r:id="rId1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DE8A75AE-BFFC-47A1-AC85-1E3EA39B715D}"/>
              </a:ext>
            </a:extLst>
          </p:cNvPr>
          <p:cNvPicPr>
            <a:picLocks/>
          </p:cNvPicPr>
          <p:nvPr>
            <p:custDataLst>
              <p:tags r:id="rId15"/>
            </p:custDataLst>
          </p:nvPr>
        </p:nvPicPr>
        <p:blipFill>
          <a:blip r:embed="rId2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230300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908951F6-D578-4D78-9A18-7BEDC966C46E}"/>
              </a:ext>
            </a:extLst>
          </p:cNvPr>
          <p:cNvSpPr txBox="1"/>
          <p:nvPr>
            <p:custDataLst>
              <p:tags r:id="rId2"/>
            </p:custDataLst>
          </p:nvPr>
        </p:nvSpPr>
        <p:spPr>
          <a:xfrm>
            <a:off x="914400" y="1000760"/>
            <a:ext cx="7315200" cy="2143125"/>
          </a:xfrm>
          <a:prstGeom prst="rect">
            <a:avLst/>
          </a:prstGeom>
          <a:noFill/>
        </p:spPr>
        <p:txBody>
          <a:bodyPr vert="horz" wrap="squar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在一个公有继承关系中，</a:t>
            </a:r>
            <a:r>
              <a:rPr kumimoji="0" lang="en-US" altLang="zh-CN"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r>
              <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是基类，</a:t>
            </a:r>
            <a:r>
              <a:rPr kumimoji="0" lang="en-US" altLang="zh-CN"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a:t>
            </a:r>
            <a:r>
              <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是派生类，则下列语句错误的是</a:t>
            </a:r>
          </a:p>
        </p:txBody>
      </p:sp>
      <p:sp>
        <p:nvSpPr>
          <p:cNvPr id="7" name="文本框 6">
            <a:extLst>
              <a:ext uri="{FF2B5EF4-FFF2-40B4-BE49-F238E27FC236}">
                <a16:creationId xmlns:a16="http://schemas.microsoft.com/office/drawing/2014/main" id="{B4D4D0A1-62EE-4624-A478-810EF0FDCBFB}"/>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 </a:t>
            </a:r>
            <a:r>
              <a:rPr kumimoji="0" lang="en-US" altLang="zh-CN" sz="26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a:t>
            </a:r>
            <a:r>
              <a:rPr kumimoji="0" lang="en-US" altLang="zh-CN"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B *pb=&amp;d;</a:t>
            </a:r>
            <a:endPar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8" name="文本框 7">
            <a:extLst>
              <a:ext uri="{FF2B5EF4-FFF2-40B4-BE49-F238E27FC236}">
                <a16:creationId xmlns:a16="http://schemas.microsoft.com/office/drawing/2014/main" id="{A3BF0393-3C0C-43CC-9831-89D6D7D806A9}"/>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 </a:t>
            </a:r>
            <a:r>
              <a:rPr kumimoji="0" lang="en-US" altLang="zh-CN" sz="26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r>
              <a:rPr kumimoji="0" lang="en-US" altLang="zh-CN"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D *pb=&amp;b;</a:t>
            </a:r>
            <a:endPar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9" name="文本框 8">
            <a:extLst>
              <a:ext uri="{FF2B5EF4-FFF2-40B4-BE49-F238E27FC236}">
                <a16:creationId xmlns:a16="http://schemas.microsoft.com/office/drawing/2014/main" id="{4B7B43EA-53F3-426D-98D0-924171A42207}"/>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 </a:t>
            </a:r>
            <a:r>
              <a:rPr kumimoji="0" lang="en-US" altLang="zh-CN" sz="26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a:t>
            </a:r>
            <a:r>
              <a:rPr kumimoji="0" lang="en-US" altLang="zh-CN"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B &amp;</a:t>
            </a:r>
            <a:r>
              <a:rPr kumimoji="0" lang="en-US" altLang="zh-CN" sz="26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rb</a:t>
            </a:r>
            <a:r>
              <a:rPr kumimoji="0" lang="en-US" altLang="zh-CN"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a:t>
            </a:r>
            <a:endPar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0" name="文本框 9">
            <a:extLst>
              <a:ext uri="{FF2B5EF4-FFF2-40B4-BE49-F238E27FC236}">
                <a16:creationId xmlns:a16="http://schemas.microsoft.com/office/drawing/2014/main" id="{FF6A0A07-D1C8-4FE4-B3D7-947E04CA6696}"/>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 </a:t>
            </a:r>
            <a:r>
              <a:rPr kumimoji="0" lang="en-US" altLang="zh-CN" sz="26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a:t>
            </a:r>
            <a:r>
              <a:rPr kumimoji="0" lang="en-US" altLang="zh-CN"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B b=d;</a:t>
            </a:r>
            <a:endPar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1" name="矩形 10">
            <a:extLst>
              <a:ext uri="{FF2B5EF4-FFF2-40B4-BE49-F238E27FC236}">
                <a16:creationId xmlns:a16="http://schemas.microsoft.com/office/drawing/2014/main" id="{F9389CCC-C2F6-4FB2-B85B-ACB4776C77A4}"/>
              </a:ext>
            </a:extLst>
          </p:cNvPr>
          <p:cNvSpPr>
            <a:spLocks noChangeAspect="1"/>
          </p:cNvSpPr>
          <p:nvPr>
            <p:custDataLst>
              <p:tags r:id="rId7"/>
            </p:custDataLst>
          </p:nvPr>
        </p:nvSpPr>
        <p:spPr>
          <a:xfrm>
            <a:off x="1114425" y="2850356"/>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a:t>
            </a:r>
            <a:endPar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2" name="矩形 11">
            <a:extLst>
              <a:ext uri="{FF2B5EF4-FFF2-40B4-BE49-F238E27FC236}">
                <a16:creationId xmlns:a16="http://schemas.microsoft.com/office/drawing/2014/main" id="{D9441B38-08BC-4D11-A385-1F97FB904A9B}"/>
              </a:ext>
            </a:extLst>
          </p:cNvPr>
          <p:cNvSpPr>
            <a:spLocks noChangeAspect="1"/>
          </p:cNvSpPr>
          <p:nvPr>
            <p:custDataLst>
              <p:tags r:id="rId8"/>
            </p:custDataLst>
          </p:nvPr>
        </p:nvSpPr>
        <p:spPr>
          <a:xfrm>
            <a:off x="1114425" y="370760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endPar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3" name="矩形 12">
            <a:extLst>
              <a:ext uri="{FF2B5EF4-FFF2-40B4-BE49-F238E27FC236}">
                <a16:creationId xmlns:a16="http://schemas.microsoft.com/office/drawing/2014/main" id="{BAD479FC-977F-4D6D-AAF3-BE8830ADB51F}"/>
              </a:ext>
            </a:extLst>
          </p:cNvPr>
          <p:cNvSpPr>
            <a:spLocks noChangeAspect="1"/>
          </p:cNvSpPr>
          <p:nvPr>
            <p:custDataLst>
              <p:tags r:id="rId9"/>
            </p:custDataLst>
          </p:nvPr>
        </p:nvSpPr>
        <p:spPr>
          <a:xfrm>
            <a:off x="1114425" y="4564856"/>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a:t>
            </a:r>
            <a:endPar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4" name="矩形 13">
            <a:extLst>
              <a:ext uri="{FF2B5EF4-FFF2-40B4-BE49-F238E27FC236}">
                <a16:creationId xmlns:a16="http://schemas.microsoft.com/office/drawing/2014/main" id="{4B87BCC1-097C-4168-B3A4-B54045A7646A}"/>
              </a:ext>
            </a:extLst>
          </p:cNvPr>
          <p:cNvSpPr>
            <a:spLocks noChangeAspect="1"/>
          </p:cNvSpPr>
          <p:nvPr>
            <p:custDataLst>
              <p:tags r:id="rId10"/>
            </p:custDataLst>
          </p:nvPr>
        </p:nvSpPr>
        <p:spPr>
          <a:xfrm>
            <a:off x="1114425" y="5422106"/>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a:t>
            </a:r>
            <a:endPar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5" name="矩形: 圆角 14">
            <a:extLst>
              <a:ext uri="{FF2B5EF4-FFF2-40B4-BE49-F238E27FC236}">
                <a16:creationId xmlns:a16="http://schemas.microsoft.com/office/drawing/2014/main" id="{676D0AB8-AEEB-49D7-AE2F-CB0B06473777}"/>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提交</a:t>
            </a:r>
          </a:p>
        </p:txBody>
      </p:sp>
      <p:sp>
        <p:nvSpPr>
          <p:cNvPr id="22" name="文本框 21">
            <a:extLst>
              <a:ext uri="{FF2B5EF4-FFF2-40B4-BE49-F238E27FC236}">
                <a16:creationId xmlns:a16="http://schemas.microsoft.com/office/drawing/2014/main" id="{E4F74A68-5707-4A41-BE64-BB07F2BED784}"/>
              </a:ext>
            </a:extLst>
          </p:cNvPr>
          <p:cNvSpPr txBox="1"/>
          <p:nvPr/>
        </p:nvSpPr>
        <p:spPr>
          <a:xfrm>
            <a:off x="3333750" y="884813"/>
            <a:ext cx="4972050"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不定项选择</a:t>
            </a:r>
          </a:p>
        </p:txBody>
      </p:sp>
      <p:sp>
        <p:nvSpPr>
          <p:cNvPr id="23" name="矩形 22">
            <a:extLst>
              <a:ext uri="{FF2B5EF4-FFF2-40B4-BE49-F238E27FC236}">
                <a16:creationId xmlns:a16="http://schemas.microsoft.com/office/drawing/2014/main" id="{4588AECD-B3B1-43C6-A61C-33D4F87FB7EB}"/>
              </a:ext>
            </a:extLst>
          </p:cNvPr>
          <p:cNvSpPr/>
          <p:nvPr>
            <p:custDataLst>
              <p:tags r:id="rId12"/>
            </p:custDataLst>
          </p:nvPr>
        </p:nvSpPr>
        <p:spPr>
          <a:xfrm>
            <a:off x="9525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黑体" panose="02010609060101010101" pitchFamily="49" charset="-122"/>
              <a:cs typeface="+mn-cs"/>
            </a:endParaRPr>
          </a:p>
        </p:txBody>
      </p:sp>
      <p:sp>
        <p:nvSpPr>
          <p:cNvPr id="28" name="文本框 27">
            <a:extLst>
              <a:ext uri="{FF2B5EF4-FFF2-40B4-BE49-F238E27FC236}">
                <a16:creationId xmlns:a16="http://schemas.microsoft.com/office/drawing/2014/main" id="{E304B585-77A4-43E4-A49A-03739C566E49}"/>
              </a:ext>
            </a:extLst>
          </p:cNvPr>
          <p:cNvSpPr txBox="1"/>
          <p:nvPr>
            <p:custDataLst>
              <p:tags r:id="rId13"/>
            </p:custDataLst>
          </p:nvPr>
        </p:nvSpPr>
        <p:spPr>
          <a:xfrm>
            <a:off x="9613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可为此题添加文本、图片、公式等解析，且需将内容全部放在本区域内。正常使用需</a:t>
            </a:r>
            <a:r>
              <a:rPr kumimoji="0" lang="en-US" altLang="zh-CN"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3.0</a:t>
            </a:r>
            <a:r>
              <a:rPr kumimoji="0" lang="zh-CN" altLang="en-US"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以上版本</a:t>
            </a:r>
          </a:p>
        </p:txBody>
      </p:sp>
      <p:sp>
        <p:nvSpPr>
          <p:cNvPr id="29" name="文本框 28">
            <a:extLst>
              <a:ext uri="{FF2B5EF4-FFF2-40B4-BE49-F238E27FC236}">
                <a16:creationId xmlns:a16="http://schemas.microsoft.com/office/drawing/2014/main" id="{BCFFB332-8CC3-4BB2-A305-09BF77B3E8E6}"/>
              </a:ext>
            </a:extLst>
          </p:cNvPr>
          <p:cNvSpPr txBox="1"/>
          <p:nvPr>
            <p:custDataLst>
              <p:tags r:id="rId14"/>
            </p:custDataLst>
          </p:nvPr>
        </p:nvSpPr>
        <p:spPr>
          <a:xfrm>
            <a:off x="9779000" y="1270000"/>
            <a:ext cx="3332480" cy="3170099"/>
          </a:xfrm>
          <a:prstGeom prst="rect">
            <a:avLst/>
          </a:prstGeom>
          <a:noFill/>
        </p:spPr>
        <p:txBody>
          <a:bodyPr vert="horz"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可以将派生类对象当做基类对象使用。</a:t>
            </a:r>
            <a:endPar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即可以用派生类对象为基类对象赋值 （</a:t>
            </a:r>
            <a:r>
              <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a:t>
            </a:r>
            <a:r>
              <a:rPr kumimoji="0" lang="zh-CN" altLang="en-US"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endPar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可以用派生类对象初始化基类引用</a:t>
            </a:r>
            <a:r>
              <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a:t>
            </a:r>
            <a:r>
              <a:rPr kumimoji="0" lang="zh-CN" altLang="en-US"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r>
              <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a:t>
            </a:r>
            <a:r>
              <a:rPr kumimoji="0" lang="zh-CN" altLang="en-US"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endPar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可以用派生类对象初始化基类指针（</a:t>
            </a:r>
            <a:r>
              <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a:t>
            </a:r>
            <a:r>
              <a:rPr kumimoji="0" lang="zh-CN" altLang="en-US"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endPar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不可以用基类对象初始化派生类指针</a:t>
            </a:r>
            <a:endParaRPr kumimoji="0" lang="zh-CN" altLang="en-US"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grpSp>
        <p:nvGrpSpPr>
          <p:cNvPr id="27" name="组合 26">
            <a:extLst>
              <a:ext uri="{FF2B5EF4-FFF2-40B4-BE49-F238E27FC236}">
                <a16:creationId xmlns:a16="http://schemas.microsoft.com/office/drawing/2014/main" id="{959299F7-A0DF-4E34-B976-276BC1BBEE08}"/>
              </a:ext>
            </a:extLst>
          </p:cNvPr>
          <p:cNvGrpSpPr/>
          <p:nvPr>
            <p:custDataLst>
              <p:tags r:id="rId15"/>
            </p:custDataLst>
          </p:nvPr>
        </p:nvGrpSpPr>
        <p:grpSpPr>
          <a:xfrm>
            <a:off x="9537700" y="0"/>
            <a:ext cx="3815080" cy="647700"/>
            <a:chOff x="9537700" y="0"/>
            <a:chExt cx="3815080" cy="647700"/>
          </a:xfrm>
        </p:grpSpPr>
        <p:sp>
          <p:nvSpPr>
            <p:cNvPr id="24" name="RemarkBack">
              <a:extLst>
                <a:ext uri="{FF2B5EF4-FFF2-40B4-BE49-F238E27FC236}">
                  <a16:creationId xmlns:a16="http://schemas.microsoft.com/office/drawing/2014/main" id="{2A7C0143-0817-4A2C-9360-E009D6F7B1AB}"/>
                </a:ext>
              </a:extLst>
            </p:cNvPr>
            <p:cNvSpPr/>
            <p:nvPr>
              <p:custDataLst>
                <p:tags r:id="rId25"/>
              </p:custDataLst>
            </p:nvPr>
          </p:nvSpPr>
          <p:spPr>
            <a:xfrm>
              <a:off x="9537700" y="12700"/>
              <a:ext cx="381508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25" name="RemarkBlock">
              <a:extLst>
                <a:ext uri="{FF2B5EF4-FFF2-40B4-BE49-F238E27FC236}">
                  <a16:creationId xmlns:a16="http://schemas.microsoft.com/office/drawing/2014/main" id="{EC1EA4AD-003E-41B7-8961-A9B254D8DAA0}"/>
                </a:ext>
              </a:extLst>
            </p:cNvPr>
            <p:cNvSpPr/>
            <p:nvPr>
              <p:custDataLst>
                <p:tags r:id="rId26"/>
              </p:custDataLst>
            </p:nvPr>
          </p:nvSpPr>
          <p:spPr>
            <a:xfrm>
              <a:off x="9537700" y="1270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26" name="RemarkTitleText">
              <a:extLst>
                <a:ext uri="{FF2B5EF4-FFF2-40B4-BE49-F238E27FC236}">
                  <a16:creationId xmlns:a16="http://schemas.microsoft.com/office/drawing/2014/main" id="{0BF672DA-5304-4A8B-A602-EF03F1A5A981}"/>
                </a:ext>
              </a:extLst>
            </p:cNvPr>
            <p:cNvSpPr txBox="1"/>
            <p:nvPr>
              <p:custDataLst>
                <p:tags r:id="rId27"/>
              </p:custDataLst>
            </p:nvPr>
          </p:nvSpPr>
          <p:spPr>
            <a:xfrm>
              <a:off x="9779000" y="0"/>
              <a:ext cx="1905000" cy="635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答案解析</a:t>
              </a:r>
            </a:p>
          </p:txBody>
        </p:sp>
      </p:grpSp>
      <p:sp>
        <p:nvSpPr>
          <p:cNvPr id="2" name="RemarkBack"/>
          <p:cNvSpPr/>
          <p:nvPr>
            <p:custDataLst>
              <p:tags r:id="rId16"/>
            </p:custDataLst>
          </p:nvPr>
        </p:nvSpPr>
        <p:spPr>
          <a:xfrm>
            <a:off x="9537700" y="12700"/>
            <a:ext cx="381508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3" name="RemarkBlock"/>
          <p:cNvSpPr/>
          <p:nvPr>
            <p:custDataLst>
              <p:tags r:id="rId17"/>
            </p:custDataLst>
          </p:nvPr>
        </p:nvSpPr>
        <p:spPr>
          <a:xfrm>
            <a:off x="9537700" y="1270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4" name="RemarkTitleText"/>
          <p:cNvSpPr txBox="1"/>
          <p:nvPr>
            <p:custDataLst>
              <p:tags r:id="rId18"/>
            </p:custDataLst>
          </p:nvPr>
        </p:nvSpPr>
        <p:spPr>
          <a:xfrm>
            <a:off x="9779000" y="0"/>
            <a:ext cx="1905000" cy="635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smtClean="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答案解析</a:t>
            </a:r>
            <a:endParaRPr kumimoji="0" lang="zh-CN" altLang="en-US" sz="18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grpSp>
        <p:nvGrpSpPr>
          <p:cNvPr id="20" name="组合 19">
            <a:extLst>
              <a:ext uri="{FF2B5EF4-FFF2-40B4-BE49-F238E27FC236}">
                <a16:creationId xmlns:a16="http://schemas.microsoft.com/office/drawing/2014/main" id="{E5A6FBCE-A352-46EE-A9C4-949DF466DCB3}"/>
              </a:ext>
            </a:extLst>
          </p:cNvPr>
          <p:cNvGrpSpPr/>
          <p:nvPr>
            <p:custDataLst>
              <p:tags r:id="rId19"/>
            </p:custDataLst>
          </p:nvPr>
        </p:nvGrpSpPr>
        <p:grpSpPr>
          <a:xfrm>
            <a:off x="0" y="0"/>
            <a:ext cx="9144000" cy="635000"/>
            <a:chOff x="0" y="0"/>
            <a:chExt cx="9144000" cy="635000"/>
          </a:xfrm>
        </p:grpSpPr>
        <p:sp>
          <p:nvSpPr>
            <p:cNvPr id="16" name="TitleBackground">
              <a:extLst>
                <a:ext uri="{FF2B5EF4-FFF2-40B4-BE49-F238E27FC236}">
                  <a16:creationId xmlns:a16="http://schemas.microsoft.com/office/drawing/2014/main" id="{F267A51E-D87B-42ED-994E-13031ABBF6DC}"/>
                </a:ext>
              </a:extLst>
            </p:cNvPr>
            <p:cNvSpPr/>
            <p:nvPr>
              <p:custDataLst>
                <p:tags r:id="rId21"/>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17" name="ColorBlock">
              <a:extLst>
                <a:ext uri="{FF2B5EF4-FFF2-40B4-BE49-F238E27FC236}">
                  <a16:creationId xmlns:a16="http://schemas.microsoft.com/office/drawing/2014/main" id="{3B54A2B0-E987-475E-BF8A-578CCF07BB2A}"/>
                </a:ext>
              </a:extLst>
            </p:cNvPr>
            <p:cNvSpPr/>
            <p:nvPr>
              <p:custDataLst>
                <p:tags r:id="rId22"/>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18" name="TypeText">
              <a:extLst>
                <a:ext uri="{FF2B5EF4-FFF2-40B4-BE49-F238E27FC236}">
                  <a16:creationId xmlns:a16="http://schemas.microsoft.com/office/drawing/2014/main" id="{612B6CEF-C2F9-4826-B7D6-E077AF1A7084}"/>
                </a:ext>
              </a:extLst>
            </p:cNvPr>
            <p:cNvSpPr txBox="1"/>
            <p:nvPr>
              <p:custDataLst>
                <p:tags r:id="rId23"/>
              </p:custDataLst>
            </p:nvPr>
          </p:nvSpPr>
          <p:spPr>
            <a:xfrm>
              <a:off x="254000" y="0"/>
              <a:ext cx="1905000" cy="635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多选题</a:t>
              </a:r>
            </a:p>
          </p:txBody>
        </p:sp>
        <p:sp>
          <p:nvSpPr>
            <p:cNvPr id="19" name="TipText">
              <a:extLst>
                <a:ext uri="{FF2B5EF4-FFF2-40B4-BE49-F238E27FC236}">
                  <a16:creationId xmlns:a16="http://schemas.microsoft.com/office/drawing/2014/main" id="{226E6E48-1614-4061-809B-218755781B77}"/>
                </a:ext>
              </a:extLst>
            </p:cNvPr>
            <p:cNvSpPr txBox="1"/>
            <p:nvPr>
              <p:custDataLst>
                <p:tags r:id="rId24"/>
              </p:custDataLst>
            </p:nvPr>
          </p:nvSpPr>
          <p:spPr>
            <a:xfrm>
              <a:off x="1525905" y="109220"/>
              <a:ext cx="2286000" cy="508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1</a:t>
              </a:r>
              <a:r>
                <a:rPr kumimoji="0" lang="zh-CN" altLang="en-US" sz="2000" b="0"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分</a:t>
              </a:r>
            </a:p>
          </p:txBody>
        </p:sp>
      </p:grpSp>
      <p:pic>
        <p:nvPicPr>
          <p:cNvPr id="5" name="图片 4">
            <a:extLst>
              <a:ext uri="{FF2B5EF4-FFF2-40B4-BE49-F238E27FC236}">
                <a16:creationId xmlns:a16="http://schemas.microsoft.com/office/drawing/2014/main" id="{8170EC87-8AA6-40C6-A1BC-4AF4D04CDD5C}"/>
              </a:ext>
            </a:extLst>
          </p:cNvPr>
          <p:cNvPicPr>
            <a:picLocks/>
          </p:cNvPicPr>
          <p:nvPr>
            <p:custDataLst>
              <p:tags r:id="rId20"/>
            </p:custDataLst>
          </p:nvPr>
        </p:nvPicPr>
        <p:blipFill>
          <a:blip r:embed="rId2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8597138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BD30C3C-BE2A-44A2-8EB1-4760C41C5858}"/>
              </a:ext>
            </a:extLst>
          </p:cNvPr>
          <p:cNvSpPr txBox="1"/>
          <p:nvPr>
            <p:custDataLst>
              <p:tags r:id="rId2"/>
            </p:custDataLst>
          </p:nvPr>
        </p:nvSpPr>
        <p:spPr>
          <a:xfrm>
            <a:off x="990600" y="921544"/>
            <a:ext cx="7315200" cy="2143125"/>
          </a:xfrm>
          <a:prstGeom prst="rect">
            <a:avLst/>
          </a:prstGeom>
          <a:noFill/>
        </p:spPr>
        <p:txBody>
          <a:bodyPr vert="horz" wrap="squar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下列关于多重继承的描述中，正确的是</a:t>
            </a:r>
          </a:p>
        </p:txBody>
      </p:sp>
      <p:sp>
        <p:nvSpPr>
          <p:cNvPr id="5" name="文本框 4">
            <a:extLst>
              <a:ext uri="{FF2B5EF4-FFF2-40B4-BE49-F238E27FC236}">
                <a16:creationId xmlns:a16="http://schemas.microsoft.com/office/drawing/2014/main" id="{F154F9BF-4288-482C-9AB4-59495C9D04A9}"/>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所有基类可以使用不同的继承方式。</a:t>
            </a:r>
          </a:p>
        </p:txBody>
      </p:sp>
      <p:sp>
        <p:nvSpPr>
          <p:cNvPr id="6" name="文本框 5">
            <a:extLst>
              <a:ext uri="{FF2B5EF4-FFF2-40B4-BE49-F238E27FC236}">
                <a16:creationId xmlns:a16="http://schemas.microsoft.com/office/drawing/2014/main" id="{355A3B5D-0A07-461A-9AF9-43473AC1EA74}"/>
              </a:ext>
            </a:extLst>
          </p:cNvPr>
          <p:cNvSpPr txBox="1"/>
          <p:nvPr>
            <p:custDataLst>
              <p:tags r:id="rId4"/>
            </p:custDataLst>
          </p:nvPr>
        </p:nvSpPr>
        <p:spPr>
          <a:xfrm>
            <a:off x="1828800" y="3643313"/>
            <a:ext cx="71882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使用虚拟继承是为了解决多重继承中的二义性问题。</a:t>
            </a:r>
          </a:p>
        </p:txBody>
      </p:sp>
      <p:sp>
        <p:nvSpPr>
          <p:cNvPr id="7" name="文本框 6">
            <a:extLst>
              <a:ext uri="{FF2B5EF4-FFF2-40B4-BE49-F238E27FC236}">
                <a16:creationId xmlns:a16="http://schemas.microsoft.com/office/drawing/2014/main" id="{80D51D78-953C-4AFD-AFC3-E53C6EB484D6}"/>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派生类构造函数对基类构造函数的调用顺序就是基类构造函数的执行顺序。</a:t>
            </a:r>
          </a:p>
        </p:txBody>
      </p:sp>
      <p:sp>
        <p:nvSpPr>
          <p:cNvPr id="8" name="文本框 7">
            <a:extLst>
              <a:ext uri="{FF2B5EF4-FFF2-40B4-BE49-F238E27FC236}">
                <a16:creationId xmlns:a16="http://schemas.microsoft.com/office/drawing/2014/main" id="{7C2066AE-DE46-4A00-A67A-35718371DC37}"/>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如果直接基类中不存在同名成员，则在派生类中不存在二义性问题。</a:t>
            </a:r>
          </a:p>
        </p:txBody>
      </p:sp>
      <p:sp>
        <p:nvSpPr>
          <p:cNvPr id="9" name="矩形 8">
            <a:extLst>
              <a:ext uri="{FF2B5EF4-FFF2-40B4-BE49-F238E27FC236}">
                <a16:creationId xmlns:a16="http://schemas.microsoft.com/office/drawing/2014/main" id="{8EF2B39D-B117-4A4B-8FFD-B23BC63A33B2}"/>
              </a:ext>
            </a:extLst>
          </p:cNvPr>
          <p:cNvSpPr>
            <a:spLocks noChangeAspect="1"/>
          </p:cNvSpPr>
          <p:nvPr>
            <p:custDataLst>
              <p:tags r:id="rId7"/>
            </p:custDataLst>
          </p:nvPr>
        </p:nvSpPr>
        <p:spPr>
          <a:xfrm>
            <a:off x="1114425" y="285035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a:t>
            </a:r>
            <a:endPar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0" name="矩形 9">
            <a:extLst>
              <a:ext uri="{FF2B5EF4-FFF2-40B4-BE49-F238E27FC236}">
                <a16:creationId xmlns:a16="http://schemas.microsoft.com/office/drawing/2014/main" id="{A9C2226A-CC3C-412F-92F4-87457C67283D}"/>
              </a:ext>
            </a:extLst>
          </p:cNvPr>
          <p:cNvSpPr>
            <a:spLocks noChangeAspect="1"/>
          </p:cNvSpPr>
          <p:nvPr>
            <p:custDataLst>
              <p:tags r:id="rId8"/>
            </p:custDataLst>
          </p:nvPr>
        </p:nvSpPr>
        <p:spPr>
          <a:xfrm>
            <a:off x="1114425" y="370760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endPar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1" name="矩形 10">
            <a:extLst>
              <a:ext uri="{FF2B5EF4-FFF2-40B4-BE49-F238E27FC236}">
                <a16:creationId xmlns:a16="http://schemas.microsoft.com/office/drawing/2014/main" id="{7A407111-8BE2-4E40-A3E2-B9AD79E68A74}"/>
              </a:ext>
            </a:extLst>
          </p:cNvPr>
          <p:cNvSpPr>
            <a:spLocks noChangeAspect="1"/>
          </p:cNvSpPr>
          <p:nvPr>
            <p:custDataLst>
              <p:tags r:id="rId9"/>
            </p:custDataLst>
          </p:nvPr>
        </p:nvSpPr>
        <p:spPr>
          <a:xfrm>
            <a:off x="1114425" y="4564856"/>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a:t>
            </a:r>
            <a:endPar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2" name="矩形 11">
            <a:extLst>
              <a:ext uri="{FF2B5EF4-FFF2-40B4-BE49-F238E27FC236}">
                <a16:creationId xmlns:a16="http://schemas.microsoft.com/office/drawing/2014/main" id="{CC0F8306-B57A-48B9-8EE6-3E63CF9BAF92}"/>
              </a:ext>
            </a:extLst>
          </p:cNvPr>
          <p:cNvSpPr>
            <a:spLocks noChangeAspect="1"/>
          </p:cNvSpPr>
          <p:nvPr>
            <p:custDataLst>
              <p:tags r:id="rId10"/>
            </p:custDataLst>
          </p:nvPr>
        </p:nvSpPr>
        <p:spPr>
          <a:xfrm>
            <a:off x="1114425" y="542210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a:t>
            </a:r>
            <a:endPar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3" name="矩形: 圆角 12">
            <a:extLst>
              <a:ext uri="{FF2B5EF4-FFF2-40B4-BE49-F238E27FC236}">
                <a16:creationId xmlns:a16="http://schemas.microsoft.com/office/drawing/2014/main" id="{AF97D514-CD70-4AD6-A171-C19C180B7F35}"/>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提交</a:t>
            </a:r>
          </a:p>
        </p:txBody>
      </p:sp>
      <p:sp>
        <p:nvSpPr>
          <p:cNvPr id="20" name="文本框 19">
            <a:extLst>
              <a:ext uri="{FF2B5EF4-FFF2-40B4-BE49-F238E27FC236}">
                <a16:creationId xmlns:a16="http://schemas.microsoft.com/office/drawing/2014/main" id="{E3C873A8-B8D0-4A6D-800F-EB67688F4B13}"/>
              </a:ext>
            </a:extLst>
          </p:cNvPr>
          <p:cNvSpPr txBox="1"/>
          <p:nvPr/>
        </p:nvSpPr>
        <p:spPr>
          <a:xfrm>
            <a:off x="3333750" y="884813"/>
            <a:ext cx="4972050"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不定项选择</a:t>
            </a:r>
          </a:p>
        </p:txBody>
      </p:sp>
      <p:sp>
        <p:nvSpPr>
          <p:cNvPr id="21" name="矩形 20">
            <a:extLst>
              <a:ext uri="{FF2B5EF4-FFF2-40B4-BE49-F238E27FC236}">
                <a16:creationId xmlns:a16="http://schemas.microsoft.com/office/drawing/2014/main" id="{3FC55207-A158-45B6-BE2A-84D702C73A8E}"/>
              </a:ext>
            </a:extLst>
          </p:cNvPr>
          <p:cNvSpPr/>
          <p:nvPr>
            <p:custDataLst>
              <p:tags r:id="rId12"/>
            </p:custDataLst>
          </p:nvPr>
        </p:nvSpPr>
        <p:spPr>
          <a:xfrm>
            <a:off x="9525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黑体" panose="02010609060101010101" pitchFamily="49" charset="-122"/>
              <a:cs typeface="+mn-cs"/>
            </a:endParaRPr>
          </a:p>
        </p:txBody>
      </p:sp>
      <p:sp>
        <p:nvSpPr>
          <p:cNvPr id="26" name="文本框 25">
            <a:extLst>
              <a:ext uri="{FF2B5EF4-FFF2-40B4-BE49-F238E27FC236}">
                <a16:creationId xmlns:a16="http://schemas.microsoft.com/office/drawing/2014/main" id="{A56F7BC3-3C9C-4AF3-A549-5DC89FAFD670}"/>
              </a:ext>
            </a:extLst>
          </p:cNvPr>
          <p:cNvSpPr txBox="1"/>
          <p:nvPr>
            <p:custDataLst>
              <p:tags r:id="rId13"/>
            </p:custDataLst>
          </p:nvPr>
        </p:nvSpPr>
        <p:spPr>
          <a:xfrm>
            <a:off x="9613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可为此题添加文本、图片、公式等解析，且需将内容全部放在本区域内。正常使用需</a:t>
            </a:r>
            <a:r>
              <a:rPr kumimoji="0" lang="en-US" altLang="zh-CN"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3.0</a:t>
            </a:r>
            <a:r>
              <a:rPr kumimoji="0" lang="zh-CN" altLang="en-US"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以上版本</a:t>
            </a:r>
          </a:p>
        </p:txBody>
      </p:sp>
      <p:sp>
        <p:nvSpPr>
          <p:cNvPr id="27" name="文本框 26">
            <a:extLst>
              <a:ext uri="{FF2B5EF4-FFF2-40B4-BE49-F238E27FC236}">
                <a16:creationId xmlns:a16="http://schemas.microsoft.com/office/drawing/2014/main" id="{109A3658-5AC3-41A1-B4E8-25D809B76860}"/>
              </a:ext>
            </a:extLst>
          </p:cNvPr>
          <p:cNvSpPr txBox="1"/>
          <p:nvPr>
            <p:custDataLst>
              <p:tags r:id="rId14"/>
            </p:custDataLst>
          </p:nvPr>
        </p:nvSpPr>
        <p:spPr>
          <a:xfrm>
            <a:off x="9779000" y="1270000"/>
            <a:ext cx="3332480" cy="3785652"/>
          </a:xfrm>
          <a:prstGeom prst="rect">
            <a:avLst/>
          </a:prstGeom>
          <a:noFill/>
        </p:spPr>
        <p:txBody>
          <a:bodyPr vert="horz"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a:t>
            </a:r>
            <a:r>
              <a:rPr kumimoji="0" lang="zh-CN" altLang="en-US"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选项，基类构造函数的执行顺序取决于派生类的继承顺序，和派生类构造函数中对基类构造函数的调用顺序无关。</a:t>
            </a:r>
            <a:endPar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a:t>
            </a:r>
            <a:r>
              <a:rPr kumimoji="0" lang="zh-CN" altLang="en-US"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选项，直接基类中不存在同名成员，则派生类中不存在二义性问题。若直接基类</a:t>
            </a:r>
            <a:r>
              <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B,C</a:t>
            </a:r>
            <a:r>
              <a:rPr kumimoji="0" lang="zh-CN" altLang="en-US"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继承自同一基类</a:t>
            </a:r>
            <a:r>
              <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a:t>
            </a:r>
            <a:r>
              <a:rPr kumimoji="0" lang="zh-CN" altLang="en-US"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，则直接基类</a:t>
            </a:r>
            <a:r>
              <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B,C</a:t>
            </a:r>
            <a:r>
              <a:rPr kumimoji="0" lang="zh-CN" altLang="en-US"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中会存在继承自</a:t>
            </a:r>
            <a:r>
              <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a:t>
            </a:r>
            <a:r>
              <a:rPr kumimoji="0" lang="zh-CN" altLang="en-US"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的同名成员。</a:t>
            </a:r>
            <a:endParaRPr kumimoji="0" lang="zh-CN" altLang="en-US"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grpSp>
        <p:nvGrpSpPr>
          <p:cNvPr id="25" name="组合 24">
            <a:extLst>
              <a:ext uri="{FF2B5EF4-FFF2-40B4-BE49-F238E27FC236}">
                <a16:creationId xmlns:a16="http://schemas.microsoft.com/office/drawing/2014/main" id="{C72681A0-F7D6-4B02-A69D-E746B699B3AF}"/>
              </a:ext>
            </a:extLst>
          </p:cNvPr>
          <p:cNvGrpSpPr/>
          <p:nvPr>
            <p:custDataLst>
              <p:tags r:id="rId15"/>
            </p:custDataLst>
          </p:nvPr>
        </p:nvGrpSpPr>
        <p:grpSpPr>
          <a:xfrm>
            <a:off x="9537700" y="0"/>
            <a:ext cx="3815080" cy="647700"/>
            <a:chOff x="9537700" y="0"/>
            <a:chExt cx="3815080" cy="647700"/>
          </a:xfrm>
        </p:grpSpPr>
        <p:sp>
          <p:nvSpPr>
            <p:cNvPr id="22" name="RemarkBack">
              <a:extLst>
                <a:ext uri="{FF2B5EF4-FFF2-40B4-BE49-F238E27FC236}">
                  <a16:creationId xmlns:a16="http://schemas.microsoft.com/office/drawing/2014/main" id="{D421FFEA-0D4E-4BEE-A938-76CCC007C769}"/>
                </a:ext>
              </a:extLst>
            </p:cNvPr>
            <p:cNvSpPr/>
            <p:nvPr>
              <p:custDataLst>
                <p:tags r:id="rId25"/>
              </p:custDataLst>
            </p:nvPr>
          </p:nvSpPr>
          <p:spPr>
            <a:xfrm>
              <a:off x="9537700" y="12700"/>
              <a:ext cx="381508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23" name="RemarkBlock">
              <a:extLst>
                <a:ext uri="{FF2B5EF4-FFF2-40B4-BE49-F238E27FC236}">
                  <a16:creationId xmlns:a16="http://schemas.microsoft.com/office/drawing/2014/main" id="{D2854D9A-D225-409B-A40F-0140692A62CA}"/>
                </a:ext>
              </a:extLst>
            </p:cNvPr>
            <p:cNvSpPr/>
            <p:nvPr>
              <p:custDataLst>
                <p:tags r:id="rId26"/>
              </p:custDataLst>
            </p:nvPr>
          </p:nvSpPr>
          <p:spPr>
            <a:xfrm>
              <a:off x="9537700" y="1270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24" name="RemarkTitleText">
              <a:extLst>
                <a:ext uri="{FF2B5EF4-FFF2-40B4-BE49-F238E27FC236}">
                  <a16:creationId xmlns:a16="http://schemas.microsoft.com/office/drawing/2014/main" id="{7052A0DB-E91F-474F-AA89-DB7066619065}"/>
                </a:ext>
              </a:extLst>
            </p:cNvPr>
            <p:cNvSpPr txBox="1"/>
            <p:nvPr>
              <p:custDataLst>
                <p:tags r:id="rId27"/>
              </p:custDataLst>
            </p:nvPr>
          </p:nvSpPr>
          <p:spPr>
            <a:xfrm>
              <a:off x="9779000" y="0"/>
              <a:ext cx="1905000" cy="635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答案解析</a:t>
              </a:r>
            </a:p>
          </p:txBody>
        </p:sp>
      </p:grpSp>
      <p:sp>
        <p:nvSpPr>
          <p:cNvPr id="2" name="RemarkBack"/>
          <p:cNvSpPr/>
          <p:nvPr>
            <p:custDataLst>
              <p:tags r:id="rId16"/>
            </p:custDataLst>
          </p:nvPr>
        </p:nvSpPr>
        <p:spPr>
          <a:xfrm>
            <a:off x="9537700" y="12700"/>
            <a:ext cx="381508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19" name="RemarkBlock"/>
          <p:cNvSpPr/>
          <p:nvPr>
            <p:custDataLst>
              <p:tags r:id="rId17"/>
            </p:custDataLst>
          </p:nvPr>
        </p:nvSpPr>
        <p:spPr>
          <a:xfrm>
            <a:off x="9537700" y="1270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28" name="RemarkTitleText"/>
          <p:cNvSpPr txBox="1"/>
          <p:nvPr>
            <p:custDataLst>
              <p:tags r:id="rId18"/>
            </p:custDataLst>
          </p:nvPr>
        </p:nvSpPr>
        <p:spPr>
          <a:xfrm>
            <a:off x="9779000" y="0"/>
            <a:ext cx="1905000" cy="635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smtClean="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答案解析</a:t>
            </a:r>
            <a:endParaRPr kumimoji="0" lang="zh-CN" altLang="en-US" sz="18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grpSp>
        <p:nvGrpSpPr>
          <p:cNvPr id="18" name="组合 17">
            <a:extLst>
              <a:ext uri="{FF2B5EF4-FFF2-40B4-BE49-F238E27FC236}">
                <a16:creationId xmlns:a16="http://schemas.microsoft.com/office/drawing/2014/main" id="{92A673FB-3DB7-4E3A-BE19-FCD25AC0C32E}"/>
              </a:ext>
            </a:extLst>
          </p:cNvPr>
          <p:cNvGrpSpPr/>
          <p:nvPr>
            <p:custDataLst>
              <p:tags r:id="rId19"/>
            </p:custDataLst>
          </p:nvPr>
        </p:nvGrpSpPr>
        <p:grpSpPr>
          <a:xfrm>
            <a:off x="0" y="0"/>
            <a:ext cx="9144000" cy="635000"/>
            <a:chOff x="0" y="0"/>
            <a:chExt cx="9144000" cy="635000"/>
          </a:xfrm>
        </p:grpSpPr>
        <p:sp>
          <p:nvSpPr>
            <p:cNvPr id="14" name="TitleBackground">
              <a:extLst>
                <a:ext uri="{FF2B5EF4-FFF2-40B4-BE49-F238E27FC236}">
                  <a16:creationId xmlns:a16="http://schemas.microsoft.com/office/drawing/2014/main" id="{202FBDC7-783A-4A79-93E7-C3CC0F5CA272}"/>
                </a:ext>
              </a:extLst>
            </p:cNvPr>
            <p:cNvSpPr/>
            <p:nvPr>
              <p:custDataLst>
                <p:tags r:id="rId21"/>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15" name="ColorBlock">
              <a:extLst>
                <a:ext uri="{FF2B5EF4-FFF2-40B4-BE49-F238E27FC236}">
                  <a16:creationId xmlns:a16="http://schemas.microsoft.com/office/drawing/2014/main" id="{7566297E-FA79-4301-AB24-29BE8F00D0DB}"/>
                </a:ext>
              </a:extLst>
            </p:cNvPr>
            <p:cNvSpPr/>
            <p:nvPr>
              <p:custDataLst>
                <p:tags r:id="rId22"/>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16" name="TypeText">
              <a:extLst>
                <a:ext uri="{FF2B5EF4-FFF2-40B4-BE49-F238E27FC236}">
                  <a16:creationId xmlns:a16="http://schemas.microsoft.com/office/drawing/2014/main" id="{FEFBCE49-603B-4FCF-99E7-6F429F473BE7}"/>
                </a:ext>
              </a:extLst>
            </p:cNvPr>
            <p:cNvSpPr txBox="1"/>
            <p:nvPr>
              <p:custDataLst>
                <p:tags r:id="rId23"/>
              </p:custDataLst>
            </p:nvPr>
          </p:nvSpPr>
          <p:spPr>
            <a:xfrm>
              <a:off x="254000" y="0"/>
              <a:ext cx="1905000" cy="635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多选题</a:t>
              </a:r>
            </a:p>
          </p:txBody>
        </p:sp>
        <p:sp>
          <p:nvSpPr>
            <p:cNvPr id="17" name="TipText">
              <a:extLst>
                <a:ext uri="{FF2B5EF4-FFF2-40B4-BE49-F238E27FC236}">
                  <a16:creationId xmlns:a16="http://schemas.microsoft.com/office/drawing/2014/main" id="{50AA6C6D-C166-4867-80ED-EF62DE9D71F2}"/>
                </a:ext>
              </a:extLst>
            </p:cNvPr>
            <p:cNvSpPr txBox="1"/>
            <p:nvPr>
              <p:custDataLst>
                <p:tags r:id="rId24"/>
              </p:custDataLst>
            </p:nvPr>
          </p:nvSpPr>
          <p:spPr>
            <a:xfrm>
              <a:off x="1525905" y="109220"/>
              <a:ext cx="2286000" cy="508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1</a:t>
              </a:r>
              <a:r>
                <a:rPr kumimoji="0" lang="zh-CN" altLang="en-US" sz="2000" b="0"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分</a:t>
              </a:r>
            </a:p>
          </p:txBody>
        </p:sp>
      </p:grpSp>
      <p:pic>
        <p:nvPicPr>
          <p:cNvPr id="3" name="图片 2">
            <a:extLst>
              <a:ext uri="{FF2B5EF4-FFF2-40B4-BE49-F238E27FC236}">
                <a16:creationId xmlns:a16="http://schemas.microsoft.com/office/drawing/2014/main" id="{1D23CAE1-0685-4815-A4D4-BA491C290D1F}"/>
              </a:ext>
            </a:extLst>
          </p:cNvPr>
          <p:cNvPicPr>
            <a:picLocks/>
          </p:cNvPicPr>
          <p:nvPr>
            <p:custDataLst>
              <p:tags r:id="rId20"/>
            </p:custDataLst>
          </p:nvPr>
        </p:nvPicPr>
        <p:blipFill>
          <a:blip r:embed="rId2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1094288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74C36060-22FA-4E1B-98FD-D97611255B69}"/>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下列关于虚函数的叙述中，错误的是</a:t>
            </a:r>
          </a:p>
        </p:txBody>
      </p:sp>
      <p:sp>
        <p:nvSpPr>
          <p:cNvPr id="5" name="文本框 4">
            <a:extLst>
              <a:ext uri="{FF2B5EF4-FFF2-40B4-BE49-F238E27FC236}">
                <a16:creationId xmlns:a16="http://schemas.microsoft.com/office/drawing/2014/main" id="{EC73A510-9483-4490-A719-D22274D755FA}"/>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使用</a:t>
            </a:r>
            <a:r>
              <a:rPr kumimoji="0" lang="en-US" altLang="zh-CN"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virtual</a:t>
            </a:r>
            <a:r>
              <a:rPr kumimoji="0" lang="zh-CN" altLang="en-US"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可以将一个成员函数声明为虚函数</a:t>
            </a:r>
          </a:p>
        </p:txBody>
      </p:sp>
      <p:sp>
        <p:nvSpPr>
          <p:cNvPr id="6" name="文本框 5">
            <a:extLst>
              <a:ext uri="{FF2B5EF4-FFF2-40B4-BE49-F238E27FC236}">
                <a16:creationId xmlns:a16="http://schemas.microsoft.com/office/drawing/2014/main" id="{61E60519-1201-454E-9F0D-DA4BB0EADC10}"/>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静态成员函数可以声明为虚函数</a:t>
            </a:r>
          </a:p>
        </p:txBody>
      </p:sp>
      <p:sp>
        <p:nvSpPr>
          <p:cNvPr id="7" name="文本框 6">
            <a:extLst>
              <a:ext uri="{FF2B5EF4-FFF2-40B4-BE49-F238E27FC236}">
                <a16:creationId xmlns:a16="http://schemas.microsoft.com/office/drawing/2014/main" id="{20BA1E89-D878-4675-A4C4-3C0CB37B52C9}"/>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在派生类中对基类的虚函数进行重定义时，无论是否使用了</a:t>
            </a:r>
            <a:r>
              <a:rPr kumimoji="0" lang="en-US" altLang="zh-CN"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virtual</a:t>
            </a:r>
            <a:r>
              <a:rPr kumimoji="0" lang="zh-CN" altLang="en-US"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关键字，重定义的函数都是虚函数</a:t>
            </a:r>
          </a:p>
        </p:txBody>
      </p:sp>
      <p:sp>
        <p:nvSpPr>
          <p:cNvPr id="8" name="文本框 7">
            <a:extLst>
              <a:ext uri="{FF2B5EF4-FFF2-40B4-BE49-F238E27FC236}">
                <a16:creationId xmlns:a16="http://schemas.microsoft.com/office/drawing/2014/main" id="{994B8D5C-B246-42CD-A7A8-429555650C18}"/>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只有将一个类作为基类使用时，才有必要将其中的一些函数声明为虚函数</a:t>
            </a:r>
          </a:p>
        </p:txBody>
      </p:sp>
      <p:sp>
        <p:nvSpPr>
          <p:cNvPr id="9" name="矩形 8">
            <a:extLst>
              <a:ext uri="{FF2B5EF4-FFF2-40B4-BE49-F238E27FC236}">
                <a16:creationId xmlns:a16="http://schemas.microsoft.com/office/drawing/2014/main" id="{6072CF7F-C34F-4FD3-80D2-45714335F307}"/>
              </a:ext>
            </a:extLst>
          </p:cNvPr>
          <p:cNvSpPr>
            <a:spLocks noChangeAspect="1"/>
          </p:cNvSpPr>
          <p:nvPr>
            <p:custDataLst>
              <p:tags r:id="rId7"/>
            </p:custDataLst>
          </p:nvPr>
        </p:nvSpPr>
        <p:spPr>
          <a:xfrm>
            <a:off x="1114425" y="2850356"/>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a:t>
            </a:r>
            <a:endPar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0" name="矩形 9">
            <a:extLst>
              <a:ext uri="{FF2B5EF4-FFF2-40B4-BE49-F238E27FC236}">
                <a16:creationId xmlns:a16="http://schemas.microsoft.com/office/drawing/2014/main" id="{9EBFD42A-D864-4195-A14B-5A36381F9560}"/>
              </a:ext>
            </a:extLst>
          </p:cNvPr>
          <p:cNvSpPr>
            <a:spLocks noChangeAspect="1"/>
          </p:cNvSpPr>
          <p:nvPr>
            <p:custDataLst>
              <p:tags r:id="rId8"/>
            </p:custDataLst>
          </p:nvPr>
        </p:nvSpPr>
        <p:spPr>
          <a:xfrm>
            <a:off x="1114425" y="370760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endPar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1" name="矩形 10">
            <a:extLst>
              <a:ext uri="{FF2B5EF4-FFF2-40B4-BE49-F238E27FC236}">
                <a16:creationId xmlns:a16="http://schemas.microsoft.com/office/drawing/2014/main" id="{D53D284E-5CEF-42A8-BDCA-1AE1088BEAC6}"/>
              </a:ext>
            </a:extLst>
          </p:cNvPr>
          <p:cNvSpPr>
            <a:spLocks noChangeAspect="1"/>
          </p:cNvSpPr>
          <p:nvPr>
            <p:custDataLst>
              <p:tags r:id="rId9"/>
            </p:custDataLst>
          </p:nvPr>
        </p:nvSpPr>
        <p:spPr>
          <a:xfrm>
            <a:off x="1114425" y="4564856"/>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a:t>
            </a:r>
            <a:endPar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2" name="矩形 11">
            <a:extLst>
              <a:ext uri="{FF2B5EF4-FFF2-40B4-BE49-F238E27FC236}">
                <a16:creationId xmlns:a16="http://schemas.microsoft.com/office/drawing/2014/main" id="{72B2F488-037E-4B37-9F6D-6BD2D5E8AEB3}"/>
              </a:ext>
            </a:extLst>
          </p:cNvPr>
          <p:cNvSpPr>
            <a:spLocks noChangeAspect="1"/>
          </p:cNvSpPr>
          <p:nvPr>
            <p:custDataLst>
              <p:tags r:id="rId10"/>
            </p:custDataLst>
          </p:nvPr>
        </p:nvSpPr>
        <p:spPr>
          <a:xfrm>
            <a:off x="1114425" y="5422106"/>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a:t>
            </a:r>
            <a:endPar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3" name="矩形: 圆角 12">
            <a:extLst>
              <a:ext uri="{FF2B5EF4-FFF2-40B4-BE49-F238E27FC236}">
                <a16:creationId xmlns:a16="http://schemas.microsoft.com/office/drawing/2014/main" id="{116A4A3F-7CFD-45B5-8EB3-4D23E6828A42}"/>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提交</a:t>
            </a:r>
          </a:p>
        </p:txBody>
      </p:sp>
      <p:sp>
        <p:nvSpPr>
          <p:cNvPr id="20" name="矩形 19">
            <a:extLst>
              <a:ext uri="{FF2B5EF4-FFF2-40B4-BE49-F238E27FC236}">
                <a16:creationId xmlns:a16="http://schemas.microsoft.com/office/drawing/2014/main" id="{016FD8FE-389E-42CB-8751-B6A3228BBF70}"/>
              </a:ext>
            </a:extLst>
          </p:cNvPr>
          <p:cNvSpPr/>
          <p:nvPr>
            <p:custDataLst>
              <p:tags r:id="rId12"/>
            </p:custDataLst>
          </p:nvPr>
        </p:nvSpPr>
        <p:spPr>
          <a:xfrm>
            <a:off x="9525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黑体" panose="02010609060101010101" pitchFamily="49" charset="-122"/>
              <a:cs typeface="+mn-cs"/>
            </a:endParaRPr>
          </a:p>
        </p:txBody>
      </p:sp>
      <p:sp>
        <p:nvSpPr>
          <p:cNvPr id="25" name="文本框 24">
            <a:extLst>
              <a:ext uri="{FF2B5EF4-FFF2-40B4-BE49-F238E27FC236}">
                <a16:creationId xmlns:a16="http://schemas.microsoft.com/office/drawing/2014/main" id="{FA6FCA3B-8920-42A7-B5DC-AE6C4192D959}"/>
              </a:ext>
            </a:extLst>
          </p:cNvPr>
          <p:cNvSpPr txBox="1"/>
          <p:nvPr>
            <p:custDataLst>
              <p:tags r:id="rId13"/>
            </p:custDataLst>
          </p:nvPr>
        </p:nvSpPr>
        <p:spPr>
          <a:xfrm>
            <a:off x="9613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可为此题添加文本、图片、公式等解析，且需将内容全部放在本区域内。正常使用需</a:t>
            </a:r>
            <a:r>
              <a:rPr kumimoji="0" lang="en-US" altLang="zh-CN"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3.0</a:t>
            </a:r>
            <a:r>
              <a:rPr kumimoji="0" lang="zh-CN" altLang="en-US"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以上版本</a:t>
            </a:r>
          </a:p>
        </p:txBody>
      </p:sp>
      <p:sp>
        <p:nvSpPr>
          <p:cNvPr id="26" name="文本框 25">
            <a:extLst>
              <a:ext uri="{FF2B5EF4-FFF2-40B4-BE49-F238E27FC236}">
                <a16:creationId xmlns:a16="http://schemas.microsoft.com/office/drawing/2014/main" id="{39DAD3C2-7EA4-47DB-A164-EE8EAD9B095D}"/>
              </a:ext>
            </a:extLst>
          </p:cNvPr>
          <p:cNvSpPr txBox="1"/>
          <p:nvPr>
            <p:custDataLst>
              <p:tags r:id="rId14"/>
            </p:custDataLst>
          </p:nvPr>
        </p:nvSpPr>
        <p:spPr>
          <a:xfrm>
            <a:off x="9779000" y="635000"/>
            <a:ext cx="3332480" cy="5016758"/>
          </a:xfrm>
          <a:prstGeom prst="rect">
            <a:avLst/>
          </a:prstGeom>
          <a:noFill/>
        </p:spPr>
        <p:txBody>
          <a:bodyPr vert="horz"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r>
              <a:rPr kumimoji="0" lang="zh-CN" altLang="en-US"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选项，静态函数与具体类实例无关，可以被看做是命名空间受限的普通函数，不能有运行时多态，因此不能被声明为虚函数。</a:t>
            </a:r>
            <a:endPar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a:t>
            </a:r>
            <a:r>
              <a:rPr kumimoji="0" lang="zh-CN" altLang="en-US"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选项，函数重定义即派生类和基类函数同名，参数表一致，返回类型一致。基类同名同参数表函数声明为</a:t>
            </a:r>
            <a:r>
              <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virtual</a:t>
            </a:r>
            <a:r>
              <a:rPr kumimoji="0" lang="zh-CN" altLang="en-US"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，则派生类重定义函数也为</a:t>
            </a:r>
            <a:r>
              <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virtual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a:t>
            </a:r>
            <a:r>
              <a:rPr kumimoji="0" lang="zh-CN" altLang="en-US"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选项，只有涉及继承和派生时，才要有运行时多态，才涉及虚函数。</a:t>
            </a:r>
            <a:endParaRPr kumimoji="0" lang="zh-CN" altLang="en-US"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grpSp>
        <p:nvGrpSpPr>
          <p:cNvPr id="18" name="组合 17">
            <a:extLst>
              <a:ext uri="{FF2B5EF4-FFF2-40B4-BE49-F238E27FC236}">
                <a16:creationId xmlns:a16="http://schemas.microsoft.com/office/drawing/2014/main" id="{26DDBB46-5E96-4C4A-8902-E7C45FE2CCA8}"/>
              </a:ext>
            </a:extLst>
          </p:cNvPr>
          <p:cNvGrpSpPr/>
          <p:nvPr>
            <p:custDataLst>
              <p:tags r:id="rId15"/>
            </p:custDataLst>
          </p:nvPr>
        </p:nvGrpSpPr>
        <p:grpSpPr>
          <a:xfrm>
            <a:off x="0" y="0"/>
            <a:ext cx="9144000" cy="635000"/>
            <a:chOff x="0" y="0"/>
            <a:chExt cx="9144000" cy="635000"/>
          </a:xfrm>
        </p:grpSpPr>
        <p:sp>
          <p:nvSpPr>
            <p:cNvPr id="14" name="TitleBackground">
              <a:extLst>
                <a:ext uri="{FF2B5EF4-FFF2-40B4-BE49-F238E27FC236}">
                  <a16:creationId xmlns:a16="http://schemas.microsoft.com/office/drawing/2014/main" id="{9C98C196-1496-4873-B73F-298B013ECECF}"/>
                </a:ext>
              </a:extLst>
            </p:cNvPr>
            <p:cNvSpPr/>
            <p:nvPr>
              <p:custDataLst>
                <p:tags r:id="rId21"/>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15" name="ColorBlock">
              <a:extLst>
                <a:ext uri="{FF2B5EF4-FFF2-40B4-BE49-F238E27FC236}">
                  <a16:creationId xmlns:a16="http://schemas.microsoft.com/office/drawing/2014/main" id="{C2921CAA-C5E9-4EC3-A706-E8513107E25A}"/>
                </a:ext>
              </a:extLst>
            </p:cNvPr>
            <p:cNvSpPr/>
            <p:nvPr>
              <p:custDataLst>
                <p:tags r:id="rId22"/>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16" name="TypeText">
              <a:extLst>
                <a:ext uri="{FF2B5EF4-FFF2-40B4-BE49-F238E27FC236}">
                  <a16:creationId xmlns:a16="http://schemas.microsoft.com/office/drawing/2014/main" id="{F6F30137-A52A-46F9-8F5D-CE41E83C3729}"/>
                </a:ext>
              </a:extLst>
            </p:cNvPr>
            <p:cNvSpPr txBox="1"/>
            <p:nvPr>
              <p:custDataLst>
                <p:tags r:id="rId23"/>
              </p:custDataLst>
            </p:nvPr>
          </p:nvSpPr>
          <p:spPr>
            <a:xfrm>
              <a:off x="254000" y="0"/>
              <a:ext cx="1905000" cy="635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多选题</a:t>
              </a:r>
            </a:p>
          </p:txBody>
        </p:sp>
        <p:sp>
          <p:nvSpPr>
            <p:cNvPr id="17" name="TipText">
              <a:extLst>
                <a:ext uri="{FF2B5EF4-FFF2-40B4-BE49-F238E27FC236}">
                  <a16:creationId xmlns:a16="http://schemas.microsoft.com/office/drawing/2014/main" id="{539EE09F-DC62-4970-9AF5-3FBFA0F11B8F}"/>
                </a:ext>
              </a:extLst>
            </p:cNvPr>
            <p:cNvSpPr txBox="1"/>
            <p:nvPr>
              <p:custDataLst>
                <p:tags r:id="rId24"/>
              </p:custDataLst>
            </p:nvPr>
          </p:nvSpPr>
          <p:spPr>
            <a:xfrm>
              <a:off x="1525905" y="109220"/>
              <a:ext cx="2286000" cy="508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1</a:t>
              </a:r>
              <a:r>
                <a:rPr kumimoji="0" lang="zh-CN" altLang="en-US" sz="2000" b="0"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分</a:t>
              </a:r>
            </a:p>
          </p:txBody>
        </p:sp>
      </p:grpSp>
      <p:grpSp>
        <p:nvGrpSpPr>
          <p:cNvPr id="24" name="组合 23">
            <a:extLst>
              <a:ext uri="{FF2B5EF4-FFF2-40B4-BE49-F238E27FC236}">
                <a16:creationId xmlns:a16="http://schemas.microsoft.com/office/drawing/2014/main" id="{05DCC85E-6050-47A0-BFBF-5CC1D5E08E70}"/>
              </a:ext>
            </a:extLst>
          </p:cNvPr>
          <p:cNvGrpSpPr/>
          <p:nvPr>
            <p:custDataLst>
              <p:tags r:id="rId16"/>
            </p:custDataLst>
          </p:nvPr>
        </p:nvGrpSpPr>
        <p:grpSpPr>
          <a:xfrm>
            <a:off x="9537700" y="0"/>
            <a:ext cx="3815080" cy="647700"/>
            <a:chOff x="9537700" y="0"/>
            <a:chExt cx="3815080" cy="647700"/>
          </a:xfrm>
        </p:grpSpPr>
        <p:sp>
          <p:nvSpPr>
            <p:cNvPr id="21" name="RemarkBack">
              <a:extLst>
                <a:ext uri="{FF2B5EF4-FFF2-40B4-BE49-F238E27FC236}">
                  <a16:creationId xmlns:a16="http://schemas.microsoft.com/office/drawing/2014/main" id="{A41DF442-F18B-4BC3-B50C-46C5C1655913}"/>
                </a:ext>
              </a:extLst>
            </p:cNvPr>
            <p:cNvSpPr/>
            <p:nvPr>
              <p:custDataLst>
                <p:tags r:id="rId18"/>
              </p:custDataLst>
            </p:nvPr>
          </p:nvSpPr>
          <p:spPr>
            <a:xfrm>
              <a:off x="9537700" y="12700"/>
              <a:ext cx="381508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22" name="RemarkBlock">
              <a:extLst>
                <a:ext uri="{FF2B5EF4-FFF2-40B4-BE49-F238E27FC236}">
                  <a16:creationId xmlns:a16="http://schemas.microsoft.com/office/drawing/2014/main" id="{2722C523-0B26-4A0E-9960-47B5FA9EED92}"/>
                </a:ext>
              </a:extLst>
            </p:cNvPr>
            <p:cNvSpPr/>
            <p:nvPr>
              <p:custDataLst>
                <p:tags r:id="rId19"/>
              </p:custDataLst>
            </p:nvPr>
          </p:nvSpPr>
          <p:spPr>
            <a:xfrm>
              <a:off x="9537700" y="1270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23" name="RemarkTitleText">
              <a:extLst>
                <a:ext uri="{FF2B5EF4-FFF2-40B4-BE49-F238E27FC236}">
                  <a16:creationId xmlns:a16="http://schemas.microsoft.com/office/drawing/2014/main" id="{482AAECF-7E26-43FB-90EB-A01B2348B317}"/>
                </a:ext>
              </a:extLst>
            </p:cNvPr>
            <p:cNvSpPr txBox="1"/>
            <p:nvPr>
              <p:custDataLst>
                <p:tags r:id="rId20"/>
              </p:custDataLst>
            </p:nvPr>
          </p:nvSpPr>
          <p:spPr>
            <a:xfrm>
              <a:off x="9779000" y="0"/>
              <a:ext cx="1905000" cy="635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答案解析</a:t>
              </a:r>
            </a:p>
          </p:txBody>
        </p:sp>
      </p:grpSp>
      <p:pic>
        <p:nvPicPr>
          <p:cNvPr id="3" name="图片 2">
            <a:extLst>
              <a:ext uri="{FF2B5EF4-FFF2-40B4-BE49-F238E27FC236}">
                <a16:creationId xmlns:a16="http://schemas.microsoft.com/office/drawing/2014/main" id="{95F18695-3C84-40B6-BB99-E9616C0F29BC}"/>
              </a:ext>
            </a:extLst>
          </p:cNvPr>
          <p:cNvPicPr>
            <a:picLocks/>
          </p:cNvPicPr>
          <p:nvPr>
            <p:custDataLst>
              <p:tags r:id="rId17"/>
            </p:custDataLst>
          </p:nvPr>
        </p:nvPicPr>
        <p:blipFill>
          <a:blip r:embed="rId26">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762039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DDB1F4-8093-4ABF-A303-7A4E541898D7}"/>
              </a:ext>
            </a:extLst>
          </p:cNvPr>
          <p:cNvSpPr txBox="1"/>
          <p:nvPr>
            <p:custDataLst>
              <p:tags r:id="rId2"/>
            </p:custDataLst>
          </p:nvPr>
        </p:nvSpPr>
        <p:spPr>
          <a:xfrm>
            <a:off x="457200" y="2701161"/>
            <a:ext cx="7574280" cy="2143125"/>
          </a:xfrm>
          <a:prstGeom prst="rect">
            <a:avLst/>
          </a:prstGeom>
          <a:noFill/>
        </p:spPr>
        <p:txBody>
          <a:bodyPr vert="horz" wrap="squar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下面程序输出结果为</a:t>
            </a:r>
            <a:endParaRPr kumimoji="0" lang="en-US" altLang="zh-CN"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 is called!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D2() is called!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D1() is called!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D12() is called!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请用虚基类的方式将程序填写完整</a:t>
            </a:r>
            <a:endParaRPr kumimoji="0" lang="en-US" altLang="zh-CN"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#include &lt;iostream&gt;</a:t>
            </a:r>
            <a:endParaRPr kumimoji="0" lang="zh-CN"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using namespace std;</a:t>
            </a:r>
            <a:endParaRPr kumimoji="0" lang="zh-CN"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class B</a:t>
            </a:r>
            <a:endParaRPr kumimoji="0" lang="zh-CN"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endParaRPr kumimoji="0" lang="zh-CN"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public:</a:t>
            </a:r>
            <a:endParaRPr kumimoji="0" lang="zh-CN"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    B(){</a:t>
            </a:r>
            <a:r>
              <a:rPr kumimoji="0" lang="en-US" altLang="zh-CN" sz="1800" b="0" i="0" u="none" strike="noStrike" kern="1200" cap="none" spc="0" normalizeH="0" baseline="0" noProof="0" dirty="0" err="1">
                <a:ln>
                  <a:noFill/>
                </a:ln>
                <a:solidFill>
                  <a:prstClr val="black"/>
                </a:solidFill>
                <a:effectLst/>
                <a:uLnTx/>
                <a:uFillTx/>
                <a:latin typeface="Arial"/>
                <a:ea typeface="黑体" panose="02010609060101010101" pitchFamily="49" charset="-122"/>
                <a:cs typeface="+mn-cs"/>
              </a:rPr>
              <a:t>cout</a:t>
            </a: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&lt;&lt;"B() is called!"&lt;&lt;</a:t>
            </a:r>
            <a:r>
              <a:rPr kumimoji="0" lang="en-US" altLang="zh-CN" sz="1800" b="0" i="0" u="none" strike="noStrike" kern="1200" cap="none" spc="0" normalizeH="0" baseline="0" noProof="0" dirty="0" err="1">
                <a:ln>
                  <a:noFill/>
                </a:ln>
                <a:solidFill>
                  <a:prstClr val="black"/>
                </a:solidFill>
                <a:effectLst/>
                <a:uLnTx/>
                <a:uFillTx/>
                <a:latin typeface="Arial"/>
                <a:ea typeface="黑体" panose="02010609060101010101" pitchFamily="49" charset="-122"/>
                <a:cs typeface="+mn-cs"/>
              </a:rPr>
              <a:t>endl</a:t>
            </a: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endParaRPr kumimoji="0" lang="zh-CN"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endParaRPr kumimoji="0" lang="zh-CN"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class D1: </a:t>
            </a:r>
            <a:r>
              <a:rPr kumimoji="0" lang="en-US" altLang="zh-CN" sz="1800" b="0" i="0" u="sng" strike="noStrike" kern="1200" cap="none" spc="0" normalizeH="0" baseline="0" noProof="0" dirty="0">
                <a:ln>
                  <a:noFill/>
                </a:ln>
                <a:solidFill>
                  <a:prstClr val="black"/>
                </a:solidFill>
                <a:effectLst/>
                <a:uLnTx/>
                <a:uFillTx/>
                <a:latin typeface="Arial"/>
                <a:ea typeface="黑体" panose="02010609060101010101" pitchFamily="49" charset="-122"/>
                <a:cs typeface="+mn-cs"/>
              </a:rPr>
              <a:t>    (1)     </a:t>
            </a: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  </a:t>
            </a:r>
            <a:endParaRPr kumimoji="0" lang="zh-CN"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endParaRPr kumimoji="0" lang="zh-CN"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public:</a:t>
            </a:r>
            <a:endParaRPr kumimoji="0" lang="zh-CN"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    D1(){</a:t>
            </a:r>
            <a:r>
              <a:rPr kumimoji="0" lang="en-US" altLang="zh-CN" sz="1800" b="0" i="0" u="none" strike="noStrike" kern="1200" cap="none" spc="0" normalizeH="0" baseline="0" noProof="0" dirty="0" err="1">
                <a:ln>
                  <a:noFill/>
                </a:ln>
                <a:solidFill>
                  <a:prstClr val="black"/>
                </a:solidFill>
                <a:effectLst/>
                <a:uLnTx/>
                <a:uFillTx/>
                <a:latin typeface="Arial"/>
                <a:ea typeface="黑体" panose="02010609060101010101" pitchFamily="49" charset="-122"/>
                <a:cs typeface="+mn-cs"/>
              </a:rPr>
              <a:t>cout</a:t>
            </a: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&lt;&lt;"D1() is called!"&lt;&lt;</a:t>
            </a:r>
            <a:r>
              <a:rPr kumimoji="0" lang="en-US" altLang="zh-CN" sz="1800" b="0" i="0" u="none" strike="noStrike" kern="1200" cap="none" spc="0" normalizeH="0" baseline="0" noProof="0" dirty="0" err="1">
                <a:ln>
                  <a:noFill/>
                </a:ln>
                <a:solidFill>
                  <a:prstClr val="black"/>
                </a:solidFill>
                <a:effectLst/>
                <a:uLnTx/>
                <a:uFillTx/>
                <a:latin typeface="Arial"/>
                <a:ea typeface="黑体" panose="02010609060101010101" pitchFamily="49" charset="-122"/>
                <a:cs typeface="+mn-cs"/>
              </a:rPr>
              <a:t>endl</a:t>
            </a: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endParaRPr kumimoji="0" lang="zh-CN"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endParaRPr kumimoji="0" lang="zh-CN"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5" name="矩形: 圆角 4">
            <a:extLst>
              <a:ext uri="{FF2B5EF4-FFF2-40B4-BE49-F238E27FC236}">
                <a16:creationId xmlns:a16="http://schemas.microsoft.com/office/drawing/2014/main" id="{64C355CD-5C4C-4FBA-9692-1525D1832713}"/>
              </a:ext>
            </a:extLst>
          </p:cNvPr>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作答</a:t>
            </a:r>
          </a:p>
        </p:txBody>
      </p:sp>
      <p:sp>
        <p:nvSpPr>
          <p:cNvPr id="11" name="矩形 10">
            <a:extLst>
              <a:ext uri="{FF2B5EF4-FFF2-40B4-BE49-F238E27FC236}">
                <a16:creationId xmlns:a16="http://schemas.microsoft.com/office/drawing/2014/main" id="{D0C5E49C-7373-4E61-B3E6-95CCE9E58240}"/>
              </a:ext>
            </a:extLst>
          </p:cNvPr>
          <p:cNvSpPr/>
          <p:nvPr>
            <p:custDataLst>
              <p:tags r:id="rId4"/>
            </p:custDataLst>
          </p:nvPr>
        </p:nvSpPr>
        <p:spPr>
          <a:xfrm>
            <a:off x="0" y="6611620"/>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正常使用主观题需</a:t>
            </a:r>
            <a:r>
              <a:rPr kumimoji="0" lang="en-US" altLang="zh-CN" sz="1200" b="0" i="0" u="none" strike="noStrike" kern="1200" cap="none" spc="0" normalizeH="0" baseline="0" noProof="0" dirty="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2.0</a:t>
            </a:r>
            <a:r>
              <a:rPr kumimoji="0" lang="zh-CN" altLang="en-US" sz="1200" b="0" i="0" u="none" strike="noStrike" kern="1200" cap="none" spc="0" normalizeH="0" baseline="0" noProof="0" dirty="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以上版本雨课堂</a:t>
            </a:r>
          </a:p>
        </p:txBody>
      </p:sp>
      <p:sp>
        <p:nvSpPr>
          <p:cNvPr id="12" name="文本框 11">
            <a:extLst>
              <a:ext uri="{FF2B5EF4-FFF2-40B4-BE49-F238E27FC236}">
                <a16:creationId xmlns:a16="http://schemas.microsoft.com/office/drawing/2014/main" id="{450D45FA-27E4-41CC-97E8-86C7B8E0C41E}"/>
              </a:ext>
            </a:extLst>
          </p:cNvPr>
          <p:cNvSpPr txBox="1"/>
          <p:nvPr/>
        </p:nvSpPr>
        <p:spPr>
          <a:xfrm>
            <a:off x="4572000" y="1031557"/>
            <a:ext cx="4262120" cy="424731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class D2: </a:t>
            </a:r>
            <a:r>
              <a:rPr kumimoji="0" lang="en-US" altLang="zh-CN" sz="1800" b="0" i="0" u="sng" strike="noStrike" kern="1200" cap="none" spc="0" normalizeH="0" baseline="0" noProof="0" dirty="0">
                <a:ln>
                  <a:noFill/>
                </a:ln>
                <a:solidFill>
                  <a:prstClr val="black"/>
                </a:solidFill>
                <a:effectLst/>
                <a:uLnTx/>
                <a:uFillTx/>
                <a:latin typeface="Arial"/>
                <a:ea typeface="黑体" panose="02010609060101010101" pitchFamily="49" charset="-122"/>
                <a:cs typeface="+mn-cs"/>
              </a:rPr>
              <a:t>    (2)     </a:t>
            </a:r>
            <a:endParaRPr kumimoji="0" lang="zh-CN"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endParaRPr kumimoji="0" lang="zh-CN"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public:</a:t>
            </a:r>
            <a:endParaRPr kumimoji="0" lang="zh-CN"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    D2(){</a:t>
            </a:r>
            <a:r>
              <a:rPr kumimoji="0" lang="en-US" altLang="zh-CN" sz="1800" b="0" i="0" u="none" strike="noStrike" kern="1200" cap="none" spc="0" normalizeH="0" baseline="0" noProof="0" dirty="0" err="1">
                <a:ln>
                  <a:noFill/>
                </a:ln>
                <a:solidFill>
                  <a:prstClr val="black"/>
                </a:solidFill>
                <a:effectLst/>
                <a:uLnTx/>
                <a:uFillTx/>
                <a:latin typeface="Arial"/>
                <a:ea typeface="黑体" panose="02010609060101010101" pitchFamily="49" charset="-122"/>
                <a:cs typeface="+mn-cs"/>
              </a:rPr>
              <a:t>cout</a:t>
            </a: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&lt;&lt;"D2() is called!"&lt;&lt;</a:t>
            </a:r>
            <a:r>
              <a:rPr kumimoji="0" lang="en-US" altLang="zh-CN" sz="1800" b="0" i="0" u="none" strike="noStrike" kern="1200" cap="none" spc="0" normalizeH="0" baseline="0" noProof="0" dirty="0" err="1">
                <a:ln>
                  <a:noFill/>
                </a:ln>
                <a:solidFill>
                  <a:prstClr val="black"/>
                </a:solidFill>
                <a:effectLst/>
                <a:uLnTx/>
                <a:uFillTx/>
                <a:latin typeface="Arial"/>
                <a:ea typeface="黑体" panose="02010609060101010101" pitchFamily="49" charset="-122"/>
                <a:cs typeface="+mn-cs"/>
              </a:rPr>
              <a:t>endl</a:t>
            </a: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endParaRPr kumimoji="0" lang="zh-CN"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endParaRPr kumimoji="0" lang="zh-CN"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class D12:</a:t>
            </a:r>
            <a:r>
              <a:rPr kumimoji="0" lang="en-US" altLang="zh-CN" sz="1800" b="0" i="0" u="sng" strike="noStrike" kern="1200" cap="none" spc="0" normalizeH="0" baseline="0" noProof="0" dirty="0">
                <a:ln>
                  <a:noFill/>
                </a:ln>
                <a:solidFill>
                  <a:prstClr val="black"/>
                </a:solidFill>
                <a:effectLst/>
                <a:uLnTx/>
                <a:uFillTx/>
                <a:latin typeface="Arial"/>
                <a:ea typeface="黑体" panose="02010609060101010101" pitchFamily="49" charset="-122"/>
                <a:cs typeface="+mn-cs"/>
              </a:rPr>
              <a:t>    (3)      </a:t>
            </a:r>
            <a:endParaRPr kumimoji="0" lang="zh-CN"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endParaRPr kumimoji="0" lang="zh-CN"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public:</a:t>
            </a:r>
            <a:endParaRPr kumimoji="0" lang="zh-CN"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    D12(){</a:t>
            </a:r>
            <a:r>
              <a:rPr kumimoji="0" lang="en-US" altLang="zh-CN" sz="1800" b="0" i="0" u="none" strike="noStrike" kern="1200" cap="none" spc="0" normalizeH="0" baseline="0" noProof="0" dirty="0" err="1">
                <a:ln>
                  <a:noFill/>
                </a:ln>
                <a:solidFill>
                  <a:prstClr val="black"/>
                </a:solidFill>
                <a:effectLst/>
                <a:uLnTx/>
                <a:uFillTx/>
                <a:latin typeface="Arial"/>
                <a:ea typeface="黑体" panose="02010609060101010101" pitchFamily="49" charset="-122"/>
                <a:cs typeface="+mn-cs"/>
              </a:rPr>
              <a:t>cout</a:t>
            </a: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&lt;&lt;"D12() is called!"&lt;&lt;</a:t>
            </a:r>
            <a:r>
              <a:rPr kumimoji="0" lang="en-US" altLang="zh-CN" sz="1800" b="0" i="0" u="none" strike="noStrike" kern="1200" cap="none" spc="0" normalizeH="0" baseline="0" noProof="0" dirty="0" err="1">
                <a:ln>
                  <a:noFill/>
                </a:ln>
                <a:solidFill>
                  <a:prstClr val="black"/>
                </a:solidFill>
                <a:effectLst/>
                <a:uLnTx/>
                <a:uFillTx/>
                <a:latin typeface="Arial"/>
                <a:ea typeface="黑体" panose="02010609060101010101" pitchFamily="49" charset="-122"/>
                <a:cs typeface="+mn-cs"/>
              </a:rPr>
              <a:t>endl</a:t>
            </a: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endParaRPr kumimoji="0" lang="zh-CN"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endParaRPr kumimoji="0" lang="zh-CN"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int main()</a:t>
            </a:r>
            <a:endParaRPr kumimoji="0" lang="zh-CN"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endParaRPr kumimoji="0" lang="zh-CN"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    D12 </a:t>
            </a:r>
            <a:r>
              <a:rPr kumimoji="0" lang="en-US" altLang="zh-CN" sz="1800" b="0" i="0" u="none" strike="noStrike" kern="1200" cap="none" spc="0" normalizeH="0" baseline="0" noProof="0" dirty="0" err="1">
                <a:ln>
                  <a:noFill/>
                </a:ln>
                <a:solidFill>
                  <a:prstClr val="black"/>
                </a:solidFill>
                <a:effectLst/>
                <a:uLnTx/>
                <a:uFillTx/>
                <a:latin typeface="Arial"/>
                <a:ea typeface="黑体" panose="02010609060101010101" pitchFamily="49" charset="-122"/>
                <a:cs typeface="+mn-cs"/>
              </a:rPr>
              <a:t>d12</a:t>
            </a: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endParaRPr kumimoji="0" lang="zh-CN"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    return 0;</a:t>
            </a:r>
            <a:endParaRPr kumimoji="0" lang="zh-CN"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endParaRPr kumimoji="0" lang="zh-CN"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p:txBody>
      </p:sp>
      <p:sp>
        <p:nvSpPr>
          <p:cNvPr id="13" name="矩形 12">
            <a:extLst>
              <a:ext uri="{FF2B5EF4-FFF2-40B4-BE49-F238E27FC236}">
                <a16:creationId xmlns:a16="http://schemas.microsoft.com/office/drawing/2014/main" id="{7A46DA3F-0B10-4453-9611-4B612EFB50DC}"/>
              </a:ext>
            </a:extLst>
          </p:cNvPr>
          <p:cNvSpPr/>
          <p:nvPr>
            <p:custDataLst>
              <p:tags r:id="rId5"/>
            </p:custDataLst>
          </p:nvPr>
        </p:nvSpPr>
        <p:spPr>
          <a:xfrm>
            <a:off x="9525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黑体" panose="02010609060101010101" pitchFamily="49" charset="-122"/>
              <a:cs typeface="+mn-cs"/>
            </a:endParaRPr>
          </a:p>
        </p:txBody>
      </p:sp>
      <p:sp>
        <p:nvSpPr>
          <p:cNvPr id="18" name="文本框 17">
            <a:extLst>
              <a:ext uri="{FF2B5EF4-FFF2-40B4-BE49-F238E27FC236}">
                <a16:creationId xmlns:a16="http://schemas.microsoft.com/office/drawing/2014/main" id="{10D75F52-F8C1-4146-A27C-F248BFF1424B}"/>
              </a:ext>
            </a:extLst>
          </p:cNvPr>
          <p:cNvSpPr txBox="1"/>
          <p:nvPr>
            <p:custDataLst>
              <p:tags r:id="rId6"/>
            </p:custDataLst>
          </p:nvPr>
        </p:nvSpPr>
        <p:spPr>
          <a:xfrm>
            <a:off x="9613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可为此题添加文本、图片、公式等解析，且需将内容全部放在本区域内。正常使用需</a:t>
            </a:r>
            <a:r>
              <a:rPr kumimoji="0" lang="en-US" altLang="zh-CN"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3.0</a:t>
            </a:r>
            <a:r>
              <a:rPr kumimoji="0" lang="zh-CN" altLang="en-US"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以上版本</a:t>
            </a:r>
          </a:p>
        </p:txBody>
      </p:sp>
      <p:sp>
        <p:nvSpPr>
          <p:cNvPr id="19" name="文本框 18">
            <a:extLst>
              <a:ext uri="{FF2B5EF4-FFF2-40B4-BE49-F238E27FC236}">
                <a16:creationId xmlns:a16="http://schemas.microsoft.com/office/drawing/2014/main" id="{49E6D6F7-F0FD-4291-980C-EEF2B65EE098}"/>
              </a:ext>
            </a:extLst>
          </p:cNvPr>
          <p:cNvSpPr txBox="1"/>
          <p:nvPr>
            <p:custDataLst>
              <p:tags r:id="rId7"/>
            </p:custDataLst>
          </p:nvPr>
        </p:nvSpPr>
        <p:spPr>
          <a:xfrm>
            <a:off x="9525000" y="1270000"/>
            <a:ext cx="3586480" cy="5016758"/>
          </a:xfrm>
          <a:prstGeom prst="rect">
            <a:avLst/>
          </a:prstGeom>
          <a:noFill/>
        </p:spPr>
        <p:txBody>
          <a:bodyPr vert="horz" wrap="square"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r>
              <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1</a:t>
            </a:r>
            <a:r>
              <a:rPr kumimoji="0" lang="zh-CN" altLang="en-US"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r>
              <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virtual public 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r>
              <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2</a:t>
            </a:r>
            <a:r>
              <a:rPr kumimoji="0" lang="zh-CN" altLang="en-US"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r>
              <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virtual public 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r>
              <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3</a:t>
            </a:r>
            <a:r>
              <a:rPr kumimoji="0" lang="zh-CN" altLang="en-US"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r>
              <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public D2, public D1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通过虚拟继承的方式继承，类</a:t>
            </a:r>
            <a:r>
              <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r>
              <a:rPr kumimoji="0" lang="zh-CN" altLang="en-US"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在派生类</a:t>
            </a:r>
            <a:r>
              <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D12</a:t>
            </a:r>
            <a:r>
              <a:rPr kumimoji="0" lang="zh-CN" altLang="en-US"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中只被继承一个实例，构造函数只被调用一次。</a:t>
            </a:r>
            <a:endPar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先调用基类构造函数一次，输出</a:t>
            </a:r>
            <a:r>
              <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B()…,</a:t>
            </a:r>
            <a:r>
              <a:rPr kumimoji="0" lang="zh-CN" altLang="en-US"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再调用派生类</a:t>
            </a:r>
            <a:r>
              <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D2</a:t>
            </a:r>
            <a:r>
              <a:rPr kumimoji="0" lang="zh-CN" altLang="en-US"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构造函数，说明</a:t>
            </a:r>
            <a:r>
              <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D12</a:t>
            </a:r>
            <a:r>
              <a:rPr kumimoji="0" lang="zh-CN" altLang="en-US"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在继承时先继承</a:t>
            </a:r>
            <a:r>
              <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D2,</a:t>
            </a:r>
            <a:r>
              <a:rPr kumimoji="0" lang="zh-CN" altLang="en-US"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再继承</a:t>
            </a:r>
            <a:r>
              <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D1</a:t>
            </a:r>
            <a:r>
              <a:rPr kumimoji="0" lang="zh-CN" altLang="en-US"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，在调用</a:t>
            </a:r>
            <a:r>
              <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D1</a:t>
            </a:r>
            <a:r>
              <a:rPr kumimoji="0" lang="zh-CN" altLang="en-US"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构造函数时由于已经调用过一次</a:t>
            </a:r>
            <a:r>
              <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r>
              <a:rPr kumimoji="0" lang="zh-CN" altLang="en-US"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的构造函数，因此不再调用</a:t>
            </a:r>
            <a:r>
              <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r>
              <a:rPr kumimoji="0" lang="zh-CN" altLang="en-US"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构造函数</a:t>
            </a:r>
            <a:endParaRPr kumimoji="0" lang="zh-CN" altLang="en-US"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grpSp>
        <p:nvGrpSpPr>
          <p:cNvPr id="17" name="组合 16">
            <a:extLst>
              <a:ext uri="{FF2B5EF4-FFF2-40B4-BE49-F238E27FC236}">
                <a16:creationId xmlns:a16="http://schemas.microsoft.com/office/drawing/2014/main" id="{B147CE64-3C21-4885-9462-4FAB640D6DE2}"/>
              </a:ext>
            </a:extLst>
          </p:cNvPr>
          <p:cNvGrpSpPr/>
          <p:nvPr>
            <p:custDataLst>
              <p:tags r:id="rId8"/>
            </p:custDataLst>
          </p:nvPr>
        </p:nvGrpSpPr>
        <p:grpSpPr>
          <a:xfrm>
            <a:off x="9537700" y="0"/>
            <a:ext cx="3815080" cy="647700"/>
            <a:chOff x="9537700" y="0"/>
            <a:chExt cx="3815080" cy="647700"/>
          </a:xfrm>
        </p:grpSpPr>
        <p:sp>
          <p:nvSpPr>
            <p:cNvPr id="14" name="RemarkBack">
              <a:extLst>
                <a:ext uri="{FF2B5EF4-FFF2-40B4-BE49-F238E27FC236}">
                  <a16:creationId xmlns:a16="http://schemas.microsoft.com/office/drawing/2014/main" id="{782340A0-0D73-40B8-9743-8E1E933FF836}"/>
                </a:ext>
              </a:extLst>
            </p:cNvPr>
            <p:cNvSpPr/>
            <p:nvPr>
              <p:custDataLst>
                <p:tags r:id="rId18"/>
              </p:custDataLst>
            </p:nvPr>
          </p:nvSpPr>
          <p:spPr>
            <a:xfrm>
              <a:off x="9537700" y="12700"/>
              <a:ext cx="381508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15" name="RemarkBlock">
              <a:extLst>
                <a:ext uri="{FF2B5EF4-FFF2-40B4-BE49-F238E27FC236}">
                  <a16:creationId xmlns:a16="http://schemas.microsoft.com/office/drawing/2014/main" id="{67459803-F083-45A3-9BB0-E525FF1081F8}"/>
                </a:ext>
              </a:extLst>
            </p:cNvPr>
            <p:cNvSpPr/>
            <p:nvPr>
              <p:custDataLst>
                <p:tags r:id="rId19"/>
              </p:custDataLst>
            </p:nvPr>
          </p:nvSpPr>
          <p:spPr>
            <a:xfrm>
              <a:off x="9537700" y="1270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16" name="RemarkTitleText">
              <a:extLst>
                <a:ext uri="{FF2B5EF4-FFF2-40B4-BE49-F238E27FC236}">
                  <a16:creationId xmlns:a16="http://schemas.microsoft.com/office/drawing/2014/main" id="{AA2914B6-937B-4280-BE30-C3C6942A1686}"/>
                </a:ext>
              </a:extLst>
            </p:cNvPr>
            <p:cNvSpPr txBox="1"/>
            <p:nvPr>
              <p:custDataLst>
                <p:tags r:id="rId20"/>
              </p:custDataLst>
            </p:nvPr>
          </p:nvSpPr>
          <p:spPr>
            <a:xfrm>
              <a:off x="9779000" y="0"/>
              <a:ext cx="1905000" cy="635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答案解析</a:t>
              </a:r>
            </a:p>
          </p:txBody>
        </p:sp>
      </p:grpSp>
      <p:sp>
        <p:nvSpPr>
          <p:cNvPr id="2" name="RemarkBack">
            <a:extLst>
              <a:ext uri="{FF2B5EF4-FFF2-40B4-BE49-F238E27FC236}">
                <a16:creationId xmlns:a16="http://schemas.microsoft.com/office/drawing/2014/main" id="{9201CD55-D23A-4E01-9844-BC0F9B5C9313}"/>
              </a:ext>
            </a:extLst>
          </p:cNvPr>
          <p:cNvSpPr/>
          <p:nvPr>
            <p:custDataLst>
              <p:tags r:id="rId9"/>
            </p:custDataLst>
          </p:nvPr>
        </p:nvSpPr>
        <p:spPr>
          <a:xfrm>
            <a:off x="9537700" y="12700"/>
            <a:ext cx="381508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20" name="RemarkBlock">
            <a:extLst>
              <a:ext uri="{FF2B5EF4-FFF2-40B4-BE49-F238E27FC236}">
                <a16:creationId xmlns:a16="http://schemas.microsoft.com/office/drawing/2014/main" id="{F732AAB3-97E2-44EC-8BD0-FF58DED44A1A}"/>
              </a:ext>
            </a:extLst>
          </p:cNvPr>
          <p:cNvSpPr/>
          <p:nvPr>
            <p:custDataLst>
              <p:tags r:id="rId10"/>
            </p:custDataLst>
          </p:nvPr>
        </p:nvSpPr>
        <p:spPr>
          <a:xfrm>
            <a:off x="9537700" y="1270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21" name="RemarkTitleText">
            <a:extLst>
              <a:ext uri="{FF2B5EF4-FFF2-40B4-BE49-F238E27FC236}">
                <a16:creationId xmlns:a16="http://schemas.microsoft.com/office/drawing/2014/main" id="{F6100775-27D9-4872-88C8-01D7318BD64C}"/>
              </a:ext>
            </a:extLst>
          </p:cNvPr>
          <p:cNvSpPr txBox="1"/>
          <p:nvPr>
            <p:custDataLst>
              <p:tags r:id="rId11"/>
            </p:custDataLst>
          </p:nvPr>
        </p:nvSpPr>
        <p:spPr>
          <a:xfrm>
            <a:off x="9779000" y="0"/>
            <a:ext cx="1905000" cy="635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答案解析</a:t>
            </a:r>
          </a:p>
        </p:txBody>
      </p:sp>
      <p:grpSp>
        <p:nvGrpSpPr>
          <p:cNvPr id="10" name="组合 9">
            <a:extLst>
              <a:ext uri="{FF2B5EF4-FFF2-40B4-BE49-F238E27FC236}">
                <a16:creationId xmlns:a16="http://schemas.microsoft.com/office/drawing/2014/main" id="{A9A89076-CFF7-4B93-AAFB-0A762F8DA428}"/>
              </a:ext>
            </a:extLst>
          </p:cNvPr>
          <p:cNvGrpSpPr/>
          <p:nvPr>
            <p:custDataLst>
              <p:tags r:id="rId12"/>
            </p:custDataLst>
          </p:nvPr>
        </p:nvGrpSpPr>
        <p:grpSpPr>
          <a:xfrm>
            <a:off x="0" y="0"/>
            <a:ext cx="9144000" cy="635000"/>
            <a:chOff x="0" y="0"/>
            <a:chExt cx="9144000" cy="635000"/>
          </a:xfrm>
        </p:grpSpPr>
        <p:sp>
          <p:nvSpPr>
            <p:cNvPr id="6" name="TitleBackground">
              <a:extLst>
                <a:ext uri="{FF2B5EF4-FFF2-40B4-BE49-F238E27FC236}">
                  <a16:creationId xmlns:a16="http://schemas.microsoft.com/office/drawing/2014/main" id="{110E1AD3-80AC-414F-B754-C71FD9943CBA}"/>
                </a:ext>
              </a:extLst>
            </p:cNvPr>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7" name="ColorBlock">
              <a:extLst>
                <a:ext uri="{FF2B5EF4-FFF2-40B4-BE49-F238E27FC236}">
                  <a16:creationId xmlns:a16="http://schemas.microsoft.com/office/drawing/2014/main" id="{93A7CA32-B24D-482F-89FE-6D5E81A565DC}"/>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8" name="TypeText">
              <a:extLst>
                <a:ext uri="{FF2B5EF4-FFF2-40B4-BE49-F238E27FC236}">
                  <a16:creationId xmlns:a16="http://schemas.microsoft.com/office/drawing/2014/main" id="{886E0178-E152-4C5D-BA5A-12790D0DCB21}"/>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主观题</a:t>
              </a:r>
            </a:p>
          </p:txBody>
        </p:sp>
        <p:sp>
          <p:nvSpPr>
            <p:cNvPr id="9" name="TipText">
              <a:extLst>
                <a:ext uri="{FF2B5EF4-FFF2-40B4-BE49-F238E27FC236}">
                  <a16:creationId xmlns:a16="http://schemas.microsoft.com/office/drawing/2014/main" id="{8AA91ED5-B939-4595-B186-C522E40D8892}"/>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10</a:t>
              </a:r>
              <a:r>
                <a:rPr kumimoji="0" lang="zh-CN" altLang="en-US" sz="2000" b="0"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分</a:t>
              </a:r>
            </a:p>
          </p:txBody>
        </p:sp>
      </p:grpSp>
      <p:pic>
        <p:nvPicPr>
          <p:cNvPr id="3" name="图片 2">
            <a:extLst>
              <a:ext uri="{FF2B5EF4-FFF2-40B4-BE49-F238E27FC236}">
                <a16:creationId xmlns:a16="http://schemas.microsoft.com/office/drawing/2014/main" id="{DE8A75AE-BFFC-47A1-AC85-1E3EA39B715D}"/>
              </a:ext>
            </a:extLst>
          </p:cNvPr>
          <p:cNvPicPr>
            <a:picLocks/>
          </p:cNvPicPr>
          <p:nvPr>
            <p:custDataLst>
              <p:tags r:id="rId13"/>
            </p:custDataLst>
          </p:nvPr>
        </p:nvPicPr>
        <p:blipFill>
          <a:blip r:embed="rId2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3897203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FE1BE975-EAC6-4F44-80E1-F3A4BDE9EAC2}"/>
              </a:ext>
            </a:extLst>
          </p:cNvPr>
          <p:cNvSpPr txBox="1"/>
          <p:nvPr>
            <p:custDataLst>
              <p:tags r:id="rId2"/>
            </p:custDataLst>
          </p:nvPr>
        </p:nvSpPr>
        <p:spPr>
          <a:xfrm>
            <a:off x="243840" y="2695576"/>
            <a:ext cx="7315200" cy="2143125"/>
          </a:xfrm>
          <a:prstGeom prst="rect">
            <a:avLst/>
          </a:prstGeom>
          <a:noFill/>
        </p:spPr>
        <p:txBody>
          <a:bodyPr vert="horz" wrap="squar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下面程序输出结果为：</a:t>
            </a:r>
            <a:endPar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Display1() in </a:t>
            </a:r>
            <a:r>
              <a:rPr kumimoji="0" lang="en-US" altLang="zh-CN" sz="16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BaseClass</a:t>
            </a: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is called!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Display1() in </a:t>
            </a:r>
            <a:r>
              <a:rPr kumimoji="0" lang="en-US" altLang="zh-CN" sz="16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DerivedClass</a:t>
            </a: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is called!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Display2() in </a:t>
            </a:r>
            <a:r>
              <a:rPr kumimoji="0" lang="en-US" altLang="zh-CN" sz="16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BaseClass</a:t>
            </a: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is called!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Display2() in </a:t>
            </a:r>
            <a:r>
              <a:rPr kumimoji="0" lang="en-US" altLang="zh-CN" sz="16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BaseClass</a:t>
            </a: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is called!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请将程序填写完整</a:t>
            </a:r>
            <a:endPar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#include &lt;iostream&gt;</a:t>
            </a:r>
            <a:endParaRPr kumimoji="0" lang="zh-CN"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using namespace std;</a:t>
            </a:r>
            <a:endParaRPr kumimoji="0" lang="zh-CN"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class </a:t>
            </a:r>
            <a:r>
              <a:rPr kumimoji="0" lang="en-US" altLang="zh-CN" sz="1600" b="0" i="0" u="none" strike="noStrike" kern="1200" cap="none" spc="0" normalizeH="0" baseline="0" noProof="0" dirty="0" err="1">
                <a:ln>
                  <a:noFill/>
                </a:ln>
                <a:solidFill>
                  <a:prstClr val="black"/>
                </a:solidFill>
                <a:effectLst/>
                <a:uLnTx/>
                <a:uFillTx/>
                <a:latin typeface="Arial"/>
                <a:ea typeface="黑体" panose="02010609060101010101" pitchFamily="49" charset="-122"/>
                <a:cs typeface="+mn-cs"/>
              </a:rPr>
              <a:t>BaseClass</a:t>
            </a:r>
            <a:endParaRPr kumimoji="0" lang="zh-CN"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endParaRPr kumimoji="0" lang="zh-CN"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public:</a:t>
            </a:r>
            <a:endParaRPr kumimoji="0" lang="zh-CN"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   </a:t>
            </a:r>
            <a:r>
              <a:rPr kumimoji="0" lang="en-US" altLang="zh-CN" sz="1600" b="0" i="0" u="sng" strike="noStrike" kern="1200" cap="none" spc="0" normalizeH="0" baseline="0" noProof="0" dirty="0">
                <a:ln>
                  <a:noFill/>
                </a:ln>
                <a:solidFill>
                  <a:prstClr val="black"/>
                </a:solidFill>
                <a:effectLst/>
                <a:uLnTx/>
                <a:uFillTx/>
                <a:latin typeface="Arial"/>
                <a:ea typeface="黑体" panose="02010609060101010101" pitchFamily="49" charset="-122"/>
                <a:cs typeface="+mn-cs"/>
              </a:rPr>
              <a:t>       </a:t>
            </a:r>
            <a:r>
              <a:rPr kumimoji="0" lang="zh-CN" altLang="zh-CN" sz="1600" b="0" i="0" u="sng"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r>
              <a:rPr kumimoji="0" lang="en-US" altLang="zh-CN" sz="1600" b="0" i="0" u="sng" strike="noStrike" kern="1200" cap="none" spc="0" normalizeH="0" baseline="0" noProof="0" dirty="0">
                <a:ln>
                  <a:noFill/>
                </a:ln>
                <a:solidFill>
                  <a:prstClr val="black"/>
                </a:solidFill>
                <a:effectLst/>
                <a:uLnTx/>
                <a:uFillTx/>
                <a:latin typeface="Arial"/>
                <a:ea typeface="黑体" panose="02010609060101010101" pitchFamily="49" charset="-122"/>
                <a:cs typeface="+mn-cs"/>
              </a:rPr>
              <a:t>1</a:t>
            </a:r>
            <a:r>
              <a:rPr kumimoji="0" lang="zh-CN" altLang="zh-CN" sz="1600" b="0" i="0" u="sng" strike="noStrike" kern="1200" cap="none" spc="0" normalizeH="0" baseline="0" noProof="0" dirty="0">
                <a:ln>
                  <a:noFill/>
                </a:ln>
                <a:solidFill>
                  <a:prstClr val="black"/>
                </a:solidFill>
                <a:effectLst/>
                <a:uLnTx/>
                <a:uFillTx/>
                <a:latin typeface="Arial"/>
                <a:ea typeface="黑体" panose="02010609060101010101" pitchFamily="49" charset="-122"/>
                <a:cs typeface="+mn-cs"/>
              </a:rPr>
              <a:t>） </a:t>
            </a:r>
            <a:r>
              <a:rPr kumimoji="0" lang="en-US" altLang="zh-CN" sz="1600" b="0" i="0" u="sng" strike="noStrike" kern="1200" cap="none" spc="0" normalizeH="0" baseline="0" noProof="0" dirty="0">
                <a:ln>
                  <a:noFill/>
                </a:ln>
                <a:solidFill>
                  <a:prstClr val="black"/>
                </a:solidFill>
                <a:effectLst/>
                <a:uLnTx/>
                <a:uFillTx/>
                <a:latin typeface="Arial"/>
                <a:ea typeface="黑体" panose="02010609060101010101" pitchFamily="49" charset="-122"/>
                <a:cs typeface="+mn-cs"/>
              </a:rPr>
              <a:t>     </a:t>
            </a: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r>
              <a:rPr kumimoji="0" lang="en-US" altLang="zh-CN" sz="1600" b="0" i="0" u="none" strike="noStrike" kern="1200" cap="none" spc="0" normalizeH="0" baseline="0" noProof="0" dirty="0" err="1">
                <a:ln>
                  <a:noFill/>
                </a:ln>
                <a:solidFill>
                  <a:prstClr val="black"/>
                </a:solidFill>
                <a:effectLst/>
                <a:uLnTx/>
                <a:uFillTx/>
                <a:latin typeface="Arial"/>
                <a:ea typeface="黑体" panose="02010609060101010101" pitchFamily="49" charset="-122"/>
                <a:cs typeface="+mn-cs"/>
              </a:rPr>
              <a:t>cout</a:t>
            </a: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&lt;&lt;"Display1() in </a:t>
            </a:r>
            <a:r>
              <a:rPr kumimoji="0" lang="en-US" altLang="zh-CN" sz="1600" b="0" i="0" u="none" strike="noStrike" kern="1200" cap="none" spc="0" normalizeH="0" baseline="0" noProof="0" dirty="0" err="1">
                <a:ln>
                  <a:noFill/>
                </a:ln>
                <a:solidFill>
                  <a:prstClr val="black"/>
                </a:solidFill>
                <a:effectLst/>
                <a:uLnTx/>
                <a:uFillTx/>
                <a:latin typeface="Arial"/>
                <a:ea typeface="黑体" panose="02010609060101010101" pitchFamily="49" charset="-122"/>
                <a:cs typeface="+mn-cs"/>
              </a:rPr>
              <a:t>BaseClass</a:t>
            </a: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 is called!"&lt;&lt;</a:t>
            </a:r>
            <a:r>
              <a:rPr kumimoji="0" lang="en-US" altLang="zh-CN" sz="1600" b="0" i="0" u="none" strike="noStrike" kern="1200" cap="none" spc="0" normalizeH="0" baseline="0" noProof="0" dirty="0" err="1">
                <a:ln>
                  <a:noFill/>
                </a:ln>
                <a:solidFill>
                  <a:prstClr val="black"/>
                </a:solidFill>
                <a:effectLst/>
                <a:uLnTx/>
                <a:uFillTx/>
                <a:latin typeface="Arial"/>
                <a:ea typeface="黑体" panose="02010609060101010101" pitchFamily="49" charset="-122"/>
                <a:cs typeface="+mn-cs"/>
              </a:rPr>
              <a:t>endl</a:t>
            </a: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endParaRPr kumimoji="0" lang="zh-CN"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   </a:t>
            </a:r>
            <a:r>
              <a:rPr kumimoji="0" lang="en-US" altLang="zh-CN" sz="1600" b="0" i="0" u="sng" strike="noStrike" kern="1200" cap="none" spc="0" normalizeH="0" baseline="0" noProof="0" dirty="0">
                <a:ln>
                  <a:noFill/>
                </a:ln>
                <a:solidFill>
                  <a:prstClr val="black"/>
                </a:solidFill>
                <a:effectLst/>
                <a:uLnTx/>
                <a:uFillTx/>
                <a:latin typeface="Arial"/>
                <a:ea typeface="黑体" panose="02010609060101010101" pitchFamily="49" charset="-122"/>
                <a:cs typeface="+mn-cs"/>
              </a:rPr>
              <a:t>       </a:t>
            </a:r>
            <a:r>
              <a:rPr kumimoji="0" lang="zh-CN" altLang="zh-CN" sz="1600" b="0" i="0" u="sng"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r>
              <a:rPr kumimoji="0" lang="en-US" altLang="zh-CN" sz="1600" b="0" i="0" u="sng" strike="noStrike" kern="1200" cap="none" spc="0" normalizeH="0" baseline="0" noProof="0" dirty="0">
                <a:ln>
                  <a:noFill/>
                </a:ln>
                <a:solidFill>
                  <a:prstClr val="black"/>
                </a:solidFill>
                <a:effectLst/>
                <a:uLnTx/>
                <a:uFillTx/>
                <a:latin typeface="Arial"/>
                <a:ea typeface="黑体" panose="02010609060101010101" pitchFamily="49" charset="-122"/>
                <a:cs typeface="+mn-cs"/>
              </a:rPr>
              <a:t>2</a:t>
            </a:r>
            <a:r>
              <a:rPr kumimoji="0" lang="zh-CN" altLang="zh-CN" sz="1600" b="0" i="0" u="sng" strike="noStrike" kern="1200" cap="none" spc="0" normalizeH="0" baseline="0" noProof="0" dirty="0">
                <a:ln>
                  <a:noFill/>
                </a:ln>
                <a:solidFill>
                  <a:prstClr val="black"/>
                </a:solidFill>
                <a:effectLst/>
                <a:uLnTx/>
                <a:uFillTx/>
                <a:latin typeface="Arial"/>
                <a:ea typeface="黑体" panose="02010609060101010101" pitchFamily="49" charset="-122"/>
                <a:cs typeface="+mn-cs"/>
              </a:rPr>
              <a:t>） </a:t>
            </a:r>
            <a:r>
              <a:rPr kumimoji="0" lang="en-US" altLang="zh-CN" sz="1600" b="0" i="0" u="sng" strike="noStrike" kern="1200" cap="none" spc="0" normalizeH="0" baseline="0" noProof="0" dirty="0">
                <a:ln>
                  <a:noFill/>
                </a:ln>
                <a:solidFill>
                  <a:prstClr val="black"/>
                </a:solidFill>
                <a:effectLst/>
                <a:uLnTx/>
                <a:uFillTx/>
                <a:latin typeface="Arial"/>
                <a:ea typeface="黑体" panose="02010609060101010101" pitchFamily="49" charset="-122"/>
                <a:cs typeface="+mn-cs"/>
              </a:rPr>
              <a:t>     </a:t>
            </a: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r>
              <a:rPr kumimoji="0" lang="en-US" altLang="zh-CN" sz="1600" b="0" i="0" u="none" strike="noStrike" kern="1200" cap="none" spc="0" normalizeH="0" baseline="0" noProof="0" dirty="0" err="1">
                <a:ln>
                  <a:noFill/>
                </a:ln>
                <a:solidFill>
                  <a:prstClr val="black"/>
                </a:solidFill>
                <a:effectLst/>
                <a:uLnTx/>
                <a:uFillTx/>
                <a:latin typeface="Arial"/>
                <a:ea typeface="黑体" panose="02010609060101010101" pitchFamily="49" charset="-122"/>
                <a:cs typeface="+mn-cs"/>
              </a:rPr>
              <a:t>cout</a:t>
            </a: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&lt;&lt;"Display2() in </a:t>
            </a:r>
            <a:r>
              <a:rPr kumimoji="0" lang="en-US" altLang="zh-CN" sz="1600" b="0" i="0" u="none" strike="noStrike" kern="1200" cap="none" spc="0" normalizeH="0" baseline="0" noProof="0" dirty="0" err="1">
                <a:ln>
                  <a:noFill/>
                </a:ln>
                <a:solidFill>
                  <a:prstClr val="black"/>
                </a:solidFill>
                <a:effectLst/>
                <a:uLnTx/>
                <a:uFillTx/>
                <a:latin typeface="Arial"/>
                <a:ea typeface="黑体" panose="02010609060101010101" pitchFamily="49" charset="-122"/>
                <a:cs typeface="+mn-cs"/>
              </a:rPr>
              <a:t>BaseClass</a:t>
            </a: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 is called!"&lt;&lt;</a:t>
            </a:r>
            <a:r>
              <a:rPr kumimoji="0" lang="en-US" altLang="zh-CN" sz="1600" b="0" i="0" u="none" strike="noStrike" kern="1200" cap="none" spc="0" normalizeH="0" baseline="0" noProof="0" dirty="0" err="1">
                <a:ln>
                  <a:noFill/>
                </a:ln>
                <a:solidFill>
                  <a:prstClr val="black"/>
                </a:solidFill>
                <a:effectLst/>
                <a:uLnTx/>
                <a:uFillTx/>
                <a:latin typeface="Arial"/>
                <a:ea typeface="黑体" panose="02010609060101010101" pitchFamily="49" charset="-122"/>
                <a:cs typeface="+mn-cs"/>
              </a:rPr>
              <a:t>endl</a:t>
            </a: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endParaRPr kumimoji="0" lang="zh-CN"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endParaRPr kumimoji="0" lang="zh-CN"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class </a:t>
            </a:r>
            <a:r>
              <a:rPr kumimoji="0" lang="en-US" altLang="zh-CN" sz="1600" b="0" i="0" u="none" strike="noStrike" kern="1200" cap="none" spc="0" normalizeH="0" baseline="0" noProof="0" dirty="0" err="1">
                <a:ln>
                  <a:noFill/>
                </a:ln>
                <a:solidFill>
                  <a:prstClr val="black"/>
                </a:solidFill>
                <a:effectLst/>
                <a:uLnTx/>
                <a:uFillTx/>
                <a:latin typeface="Arial"/>
                <a:ea typeface="黑体" panose="02010609060101010101" pitchFamily="49" charset="-122"/>
                <a:cs typeface="+mn-cs"/>
              </a:rPr>
              <a:t>DerivedClass:public</a:t>
            </a: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 </a:t>
            </a:r>
            <a:r>
              <a:rPr kumimoji="0" lang="en-US" altLang="zh-CN" sz="1600" b="0" i="0" u="none" strike="noStrike" kern="1200" cap="none" spc="0" normalizeH="0" baseline="0" noProof="0" dirty="0" err="1">
                <a:ln>
                  <a:noFill/>
                </a:ln>
                <a:solidFill>
                  <a:prstClr val="black"/>
                </a:solidFill>
                <a:effectLst/>
                <a:uLnTx/>
                <a:uFillTx/>
                <a:latin typeface="Arial"/>
                <a:ea typeface="黑体" panose="02010609060101010101" pitchFamily="49" charset="-122"/>
                <a:cs typeface="+mn-cs"/>
              </a:rPr>
              <a:t>BaseClass</a:t>
            </a:r>
            <a:endParaRPr kumimoji="0" lang="zh-CN"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endParaRPr kumimoji="0" lang="zh-CN"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public:</a:t>
            </a:r>
            <a:endParaRPr kumimoji="0" lang="zh-CN"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    void Display1(){</a:t>
            </a:r>
            <a:r>
              <a:rPr kumimoji="0" lang="en-US" altLang="zh-CN" sz="1600" b="0" i="0" u="none" strike="noStrike" kern="1200" cap="none" spc="0" normalizeH="0" baseline="0" noProof="0" dirty="0" err="1">
                <a:ln>
                  <a:noFill/>
                </a:ln>
                <a:solidFill>
                  <a:prstClr val="black"/>
                </a:solidFill>
                <a:effectLst/>
                <a:uLnTx/>
                <a:uFillTx/>
                <a:latin typeface="Arial"/>
                <a:ea typeface="黑体" panose="02010609060101010101" pitchFamily="49" charset="-122"/>
                <a:cs typeface="+mn-cs"/>
              </a:rPr>
              <a:t>cout</a:t>
            </a: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&lt;&lt;"Display1() in </a:t>
            </a:r>
            <a:r>
              <a:rPr kumimoji="0" lang="en-US" altLang="zh-CN" sz="1600" b="0" i="0" u="none" strike="noStrike" kern="1200" cap="none" spc="0" normalizeH="0" baseline="0" noProof="0" dirty="0" err="1">
                <a:ln>
                  <a:noFill/>
                </a:ln>
                <a:solidFill>
                  <a:prstClr val="black"/>
                </a:solidFill>
                <a:effectLst/>
                <a:uLnTx/>
                <a:uFillTx/>
                <a:latin typeface="Arial"/>
                <a:ea typeface="黑体" panose="02010609060101010101" pitchFamily="49" charset="-122"/>
                <a:cs typeface="+mn-cs"/>
              </a:rPr>
              <a:t>DerivedClass</a:t>
            </a: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 is called!"&lt;&lt;</a:t>
            </a:r>
            <a:r>
              <a:rPr kumimoji="0" lang="en-US" altLang="zh-CN" sz="1600" b="0" i="0" u="none" strike="noStrike" kern="1200" cap="none" spc="0" normalizeH="0" baseline="0" noProof="0" dirty="0" err="1">
                <a:ln>
                  <a:noFill/>
                </a:ln>
                <a:solidFill>
                  <a:prstClr val="black"/>
                </a:solidFill>
                <a:effectLst/>
                <a:uLnTx/>
                <a:uFillTx/>
                <a:latin typeface="Arial"/>
                <a:ea typeface="黑体" panose="02010609060101010101" pitchFamily="49" charset="-122"/>
                <a:cs typeface="+mn-cs"/>
              </a:rPr>
              <a:t>endl</a:t>
            </a: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endParaRPr kumimoji="0" lang="zh-CN"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    void Display2(){</a:t>
            </a:r>
            <a:r>
              <a:rPr kumimoji="0" lang="en-US" altLang="zh-CN" sz="1600" b="0" i="0" u="none" strike="noStrike" kern="1200" cap="none" spc="0" normalizeH="0" baseline="0" noProof="0" dirty="0" err="1">
                <a:ln>
                  <a:noFill/>
                </a:ln>
                <a:solidFill>
                  <a:prstClr val="black"/>
                </a:solidFill>
                <a:effectLst/>
                <a:uLnTx/>
                <a:uFillTx/>
                <a:latin typeface="Arial"/>
                <a:ea typeface="黑体" panose="02010609060101010101" pitchFamily="49" charset="-122"/>
                <a:cs typeface="+mn-cs"/>
              </a:rPr>
              <a:t>cout</a:t>
            </a: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&lt;&lt;"Display2() in </a:t>
            </a:r>
            <a:r>
              <a:rPr kumimoji="0" lang="en-US" altLang="zh-CN" sz="1600" b="0" i="0" u="none" strike="noStrike" kern="1200" cap="none" spc="0" normalizeH="0" baseline="0" noProof="0" dirty="0" err="1">
                <a:ln>
                  <a:noFill/>
                </a:ln>
                <a:solidFill>
                  <a:prstClr val="black"/>
                </a:solidFill>
                <a:effectLst/>
                <a:uLnTx/>
                <a:uFillTx/>
                <a:latin typeface="Arial"/>
                <a:ea typeface="黑体" panose="02010609060101010101" pitchFamily="49" charset="-122"/>
                <a:cs typeface="+mn-cs"/>
              </a:rPr>
              <a:t>DerivedClass</a:t>
            </a: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 is called!"&lt;&lt;</a:t>
            </a:r>
            <a:r>
              <a:rPr kumimoji="0" lang="en-US" altLang="zh-CN" sz="1600" b="0" i="0" u="none" strike="noStrike" kern="1200" cap="none" spc="0" normalizeH="0" baseline="0" noProof="0" dirty="0" err="1">
                <a:ln>
                  <a:noFill/>
                </a:ln>
                <a:solidFill>
                  <a:prstClr val="black"/>
                </a:solidFill>
                <a:effectLst/>
                <a:uLnTx/>
                <a:uFillTx/>
                <a:latin typeface="Arial"/>
                <a:ea typeface="黑体" panose="02010609060101010101" pitchFamily="49" charset="-122"/>
                <a:cs typeface="+mn-cs"/>
              </a:rPr>
              <a:t>endl</a:t>
            </a: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endParaRPr kumimoji="0" lang="zh-CN"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endParaRPr kumimoji="0" lang="zh-CN"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5" name="矩形: 圆角 4">
            <a:extLst>
              <a:ext uri="{FF2B5EF4-FFF2-40B4-BE49-F238E27FC236}">
                <a16:creationId xmlns:a16="http://schemas.microsoft.com/office/drawing/2014/main" id="{DA6F30E5-930F-4C9A-939E-174D1AEB24B1}"/>
              </a:ext>
            </a:extLst>
          </p:cNvPr>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作答</a:t>
            </a:r>
          </a:p>
        </p:txBody>
      </p:sp>
      <p:sp>
        <p:nvSpPr>
          <p:cNvPr id="11" name="矩形 10">
            <a:extLst>
              <a:ext uri="{FF2B5EF4-FFF2-40B4-BE49-F238E27FC236}">
                <a16:creationId xmlns:a16="http://schemas.microsoft.com/office/drawing/2014/main" id="{F42D3AED-397E-4DCD-B6D4-A546356B9728}"/>
              </a:ext>
            </a:extLst>
          </p:cNvPr>
          <p:cNvSpPr/>
          <p:nvPr>
            <p:custDataLst>
              <p:tags r:id="rId4"/>
            </p:custDataLst>
          </p:nvPr>
        </p:nvSpPr>
        <p:spPr>
          <a:xfrm>
            <a:off x="0" y="6565900"/>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正常使用主观题需</a:t>
            </a:r>
            <a:r>
              <a:rPr kumimoji="0" lang="en-US" altLang="zh-CN"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2.0</a:t>
            </a:r>
            <a:r>
              <a:rPr kumimoji="0" lang="zh-CN" altLang="en-US"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以上版本雨课堂</a:t>
            </a:r>
          </a:p>
        </p:txBody>
      </p:sp>
      <p:sp>
        <p:nvSpPr>
          <p:cNvPr id="12" name="文本框 11">
            <a:extLst>
              <a:ext uri="{FF2B5EF4-FFF2-40B4-BE49-F238E27FC236}">
                <a16:creationId xmlns:a16="http://schemas.microsoft.com/office/drawing/2014/main" id="{3318B112-6FF1-4275-8A2B-3204407FF322}"/>
              </a:ext>
            </a:extLst>
          </p:cNvPr>
          <p:cNvSpPr txBox="1"/>
          <p:nvPr/>
        </p:nvSpPr>
        <p:spPr>
          <a:xfrm>
            <a:off x="6621780" y="985837"/>
            <a:ext cx="3368040" cy="477053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Arial"/>
                <a:ea typeface="黑体" panose="02010609060101010101" pitchFamily="49" charset="-122"/>
                <a:cs typeface="+mn-cs"/>
              </a:rPr>
              <a:t>void fun1(</a:t>
            </a:r>
            <a:r>
              <a:rPr kumimoji="0" lang="en-US" altLang="zh-CN" sz="1600" b="0" i="0" u="sng" strike="noStrike" kern="1200" cap="none" spc="0" normalizeH="0" baseline="0" noProof="0">
                <a:ln>
                  <a:noFill/>
                </a:ln>
                <a:solidFill>
                  <a:prstClr val="black"/>
                </a:solidFill>
                <a:effectLst/>
                <a:uLnTx/>
                <a:uFillTx/>
                <a:latin typeface="Arial"/>
                <a:ea typeface="黑体" panose="02010609060101010101" pitchFamily="49" charset="-122"/>
                <a:cs typeface="+mn-cs"/>
              </a:rPr>
              <a:t>     </a:t>
            </a:r>
            <a:r>
              <a:rPr kumimoji="0" lang="zh-CN" altLang="zh-CN" sz="1600" b="0" i="0" u="sng" strike="noStrike" kern="1200" cap="none" spc="0" normalizeH="0" baseline="0" noProof="0">
                <a:ln>
                  <a:noFill/>
                </a:ln>
                <a:solidFill>
                  <a:prstClr val="black"/>
                </a:solidFill>
                <a:effectLst/>
                <a:uLnTx/>
                <a:uFillTx/>
                <a:latin typeface="Arial"/>
                <a:ea typeface="黑体" panose="02010609060101010101" pitchFamily="49" charset="-122"/>
                <a:cs typeface="+mn-cs"/>
              </a:rPr>
              <a:t>（</a:t>
            </a:r>
            <a:r>
              <a:rPr kumimoji="0" lang="en-US" altLang="zh-CN" sz="1600" b="0" i="0" u="sng" strike="noStrike" kern="1200" cap="none" spc="0" normalizeH="0" baseline="0" noProof="0">
                <a:ln>
                  <a:noFill/>
                </a:ln>
                <a:solidFill>
                  <a:prstClr val="black"/>
                </a:solidFill>
                <a:effectLst/>
                <a:uLnTx/>
                <a:uFillTx/>
                <a:latin typeface="Arial"/>
                <a:ea typeface="黑体" panose="02010609060101010101" pitchFamily="49" charset="-122"/>
                <a:cs typeface="+mn-cs"/>
              </a:rPr>
              <a:t>3</a:t>
            </a:r>
            <a:r>
              <a:rPr kumimoji="0" lang="zh-CN" altLang="zh-CN" sz="1600" b="0" i="0" u="sng" strike="noStrike" kern="1200" cap="none" spc="0" normalizeH="0" baseline="0" noProof="0">
                <a:ln>
                  <a:noFill/>
                </a:ln>
                <a:solidFill>
                  <a:prstClr val="black"/>
                </a:solidFill>
                <a:effectLst/>
                <a:uLnTx/>
                <a:uFillTx/>
                <a:latin typeface="Arial"/>
                <a:ea typeface="黑体" panose="02010609060101010101" pitchFamily="49" charset="-122"/>
                <a:cs typeface="+mn-cs"/>
              </a:rPr>
              <a:t>）</a:t>
            </a:r>
            <a:r>
              <a:rPr kumimoji="0" lang="en-US" altLang="zh-CN" sz="1600" b="0" i="0" u="sng" strike="noStrike" kern="1200" cap="none" spc="0" normalizeH="0" baseline="0" noProof="0">
                <a:ln>
                  <a:noFill/>
                </a:ln>
                <a:solidFill>
                  <a:prstClr val="black"/>
                </a:solidFill>
                <a:effectLst/>
                <a:uLnTx/>
                <a:uFillTx/>
                <a:latin typeface="Arial"/>
                <a:ea typeface="黑体" panose="02010609060101010101" pitchFamily="49" charset="-122"/>
                <a:cs typeface="+mn-cs"/>
              </a:rPr>
              <a:t>     </a:t>
            </a:r>
            <a:r>
              <a:rPr kumimoji="0" lang="en-US" altLang="zh-CN" sz="1600" b="0" i="0" u="none" strike="noStrike" kern="1200" cap="none" spc="0" normalizeH="0" baseline="0" noProof="0">
                <a:ln>
                  <a:noFill/>
                </a:ln>
                <a:solidFill>
                  <a:prstClr val="black"/>
                </a:solidFill>
                <a:effectLst/>
                <a:uLnTx/>
                <a:uFillTx/>
                <a:latin typeface="Arial"/>
                <a:ea typeface="黑体" panose="02010609060101010101" pitchFamily="49" charset="-122"/>
                <a:cs typeface="+mn-cs"/>
              </a:rPr>
              <a:t>)</a:t>
            </a:r>
            <a:endParaRPr kumimoji="0" lang="zh-CN" altLang="zh-CN" sz="1600" b="0" i="0" u="none" strike="noStrike" kern="1200" cap="none" spc="0" normalizeH="0" baseline="0" noProof="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Arial"/>
                <a:ea typeface="黑体" panose="02010609060101010101" pitchFamily="49" charset="-122"/>
                <a:cs typeface="+mn-cs"/>
              </a:rPr>
              <a:t>{</a:t>
            </a:r>
            <a:endParaRPr kumimoji="0" lang="zh-CN" altLang="zh-CN" sz="1600" b="0" i="0" u="none" strike="noStrike" kern="1200" cap="none" spc="0" normalizeH="0" baseline="0" noProof="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Arial"/>
                <a:ea typeface="黑体" panose="02010609060101010101" pitchFamily="49" charset="-122"/>
                <a:cs typeface="+mn-cs"/>
              </a:rPr>
              <a:t>    p-&gt;Display1();</a:t>
            </a:r>
            <a:endParaRPr kumimoji="0" lang="zh-CN" altLang="zh-CN" sz="1600" b="0" i="0" u="none" strike="noStrike" kern="1200" cap="none" spc="0" normalizeH="0" baseline="0" noProof="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Arial"/>
                <a:ea typeface="黑体" panose="02010609060101010101" pitchFamily="49" charset="-122"/>
                <a:cs typeface="+mn-cs"/>
              </a:rPr>
              <a:t>}</a:t>
            </a:r>
            <a:endParaRPr kumimoji="0" lang="zh-CN" altLang="zh-CN" sz="1600" b="0" i="0" u="none" strike="noStrike" kern="1200" cap="none" spc="0" normalizeH="0" baseline="0" noProof="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Arial"/>
                <a:ea typeface="黑体" panose="02010609060101010101" pitchFamily="49" charset="-122"/>
                <a:cs typeface="+mn-cs"/>
              </a:rPr>
              <a:t>void fun2(BaseClass &amp;rb)</a:t>
            </a:r>
            <a:endParaRPr kumimoji="0" lang="zh-CN" altLang="zh-CN" sz="1600" b="0" i="0" u="none" strike="noStrike" kern="1200" cap="none" spc="0" normalizeH="0" baseline="0" noProof="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Arial"/>
                <a:ea typeface="黑体" panose="02010609060101010101" pitchFamily="49" charset="-122"/>
                <a:cs typeface="+mn-cs"/>
              </a:rPr>
              <a:t>{</a:t>
            </a:r>
            <a:endParaRPr kumimoji="0" lang="zh-CN" altLang="zh-CN" sz="1600" b="0" i="0" u="none" strike="noStrike" kern="1200" cap="none" spc="0" normalizeH="0" baseline="0" noProof="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Arial"/>
                <a:ea typeface="黑体" panose="02010609060101010101" pitchFamily="49" charset="-122"/>
                <a:cs typeface="+mn-cs"/>
              </a:rPr>
              <a:t>    rb.Display2();</a:t>
            </a:r>
            <a:endParaRPr kumimoji="0" lang="zh-CN" altLang="zh-CN" sz="1600" b="0" i="0" u="none" strike="noStrike" kern="1200" cap="none" spc="0" normalizeH="0" baseline="0" noProof="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Arial"/>
                <a:ea typeface="黑体" panose="02010609060101010101" pitchFamily="49" charset="-122"/>
                <a:cs typeface="+mn-cs"/>
              </a:rPr>
              <a:t>}</a:t>
            </a:r>
            <a:endParaRPr kumimoji="0" lang="zh-CN" altLang="zh-CN" sz="1600" b="0" i="0" u="none" strike="noStrike" kern="1200" cap="none" spc="0" normalizeH="0" baseline="0" noProof="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Arial"/>
                <a:ea typeface="黑体" panose="02010609060101010101" pitchFamily="49" charset="-122"/>
                <a:cs typeface="+mn-cs"/>
              </a:rPr>
              <a:t>int main()</a:t>
            </a:r>
            <a:endParaRPr kumimoji="0" lang="zh-CN" altLang="zh-CN" sz="1600" b="0" i="0" u="none" strike="noStrike" kern="1200" cap="none" spc="0" normalizeH="0" baseline="0" noProof="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Arial"/>
                <a:ea typeface="黑体" panose="02010609060101010101" pitchFamily="49" charset="-122"/>
                <a:cs typeface="+mn-cs"/>
              </a:rPr>
              <a:t>{</a:t>
            </a:r>
            <a:endParaRPr kumimoji="0" lang="zh-CN" altLang="zh-CN" sz="1600" b="0" i="0" u="none" strike="noStrike" kern="1200" cap="none" spc="0" normalizeH="0" baseline="0" noProof="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Arial"/>
                <a:ea typeface="黑体" panose="02010609060101010101" pitchFamily="49" charset="-122"/>
                <a:cs typeface="+mn-cs"/>
              </a:rPr>
              <a:t>    BaseClass b;</a:t>
            </a:r>
            <a:endParaRPr kumimoji="0" lang="zh-CN" altLang="zh-CN" sz="1600" b="0" i="0" u="none" strike="noStrike" kern="1200" cap="none" spc="0" normalizeH="0" baseline="0" noProof="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Arial"/>
                <a:ea typeface="黑体" panose="02010609060101010101" pitchFamily="49" charset="-122"/>
                <a:cs typeface="+mn-cs"/>
              </a:rPr>
              <a:t>    DerivedClass d;</a:t>
            </a:r>
            <a:endParaRPr kumimoji="0" lang="zh-CN" altLang="zh-CN" sz="1600" b="0" i="0" u="none" strike="noStrike" kern="1200" cap="none" spc="0" normalizeH="0" baseline="0" noProof="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Arial"/>
                <a:ea typeface="黑体" panose="02010609060101010101" pitchFamily="49" charset="-122"/>
                <a:cs typeface="+mn-cs"/>
              </a:rPr>
              <a:t>    fun1(&amp;b);</a:t>
            </a:r>
            <a:endParaRPr kumimoji="0" lang="zh-CN" altLang="zh-CN" sz="1600" b="0" i="0" u="none" strike="noStrike" kern="1200" cap="none" spc="0" normalizeH="0" baseline="0" noProof="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Arial"/>
                <a:ea typeface="黑体" panose="02010609060101010101" pitchFamily="49" charset="-122"/>
                <a:cs typeface="+mn-cs"/>
              </a:rPr>
              <a:t>    fun1(&amp;d);</a:t>
            </a:r>
            <a:endParaRPr kumimoji="0" lang="zh-CN" altLang="zh-CN" sz="1600" b="0" i="0" u="none" strike="noStrike" kern="1200" cap="none" spc="0" normalizeH="0" baseline="0" noProof="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Arial"/>
                <a:ea typeface="黑体" panose="02010609060101010101" pitchFamily="49" charset="-122"/>
                <a:cs typeface="+mn-cs"/>
              </a:rPr>
              <a:t>    fun2(b);</a:t>
            </a:r>
            <a:endParaRPr kumimoji="0" lang="zh-CN" altLang="zh-CN" sz="1600" b="0" i="0" u="none" strike="noStrike" kern="1200" cap="none" spc="0" normalizeH="0" baseline="0" noProof="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Arial"/>
                <a:ea typeface="黑体" panose="02010609060101010101" pitchFamily="49" charset="-122"/>
                <a:cs typeface="+mn-cs"/>
              </a:rPr>
              <a:t>    fun2(d);</a:t>
            </a:r>
            <a:endParaRPr kumimoji="0" lang="zh-CN" altLang="zh-CN" sz="1600" b="0" i="0" u="none" strike="noStrike" kern="1200" cap="none" spc="0" normalizeH="0" baseline="0" noProof="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Arial"/>
                <a:ea typeface="黑体" panose="02010609060101010101" pitchFamily="49" charset="-122"/>
                <a:cs typeface="+mn-cs"/>
              </a:rPr>
              <a:t>    return 0;</a:t>
            </a:r>
            <a:endParaRPr kumimoji="0" lang="zh-CN" altLang="zh-CN" sz="1600" b="0" i="0" u="none" strike="noStrike" kern="1200" cap="none" spc="0" normalizeH="0" baseline="0" noProof="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Arial"/>
                <a:ea typeface="黑体" panose="02010609060101010101" pitchFamily="49" charset="-122"/>
                <a:cs typeface="+mn-cs"/>
              </a:rPr>
              <a:t>}</a:t>
            </a:r>
            <a:endParaRPr kumimoji="0" lang="zh-CN" altLang="zh-CN" sz="1600" b="0" i="0" u="none" strike="noStrike" kern="1200" cap="none" spc="0" normalizeH="0" baseline="0" noProof="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p:txBody>
      </p:sp>
      <p:sp>
        <p:nvSpPr>
          <p:cNvPr id="13" name="矩形 12">
            <a:extLst>
              <a:ext uri="{FF2B5EF4-FFF2-40B4-BE49-F238E27FC236}">
                <a16:creationId xmlns:a16="http://schemas.microsoft.com/office/drawing/2014/main" id="{D4407FBD-087F-475F-A106-89F7CC064849}"/>
              </a:ext>
            </a:extLst>
          </p:cNvPr>
          <p:cNvSpPr/>
          <p:nvPr>
            <p:custDataLst>
              <p:tags r:id="rId5"/>
            </p:custDataLst>
          </p:nvPr>
        </p:nvSpPr>
        <p:spPr>
          <a:xfrm>
            <a:off x="9525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黑体" panose="02010609060101010101" pitchFamily="49" charset="-122"/>
              <a:cs typeface="+mn-cs"/>
            </a:endParaRPr>
          </a:p>
        </p:txBody>
      </p:sp>
      <p:sp>
        <p:nvSpPr>
          <p:cNvPr id="18" name="文本框 17">
            <a:extLst>
              <a:ext uri="{FF2B5EF4-FFF2-40B4-BE49-F238E27FC236}">
                <a16:creationId xmlns:a16="http://schemas.microsoft.com/office/drawing/2014/main" id="{41AC176A-FBA8-4867-B4E3-A406A0547372}"/>
              </a:ext>
            </a:extLst>
          </p:cNvPr>
          <p:cNvSpPr txBox="1"/>
          <p:nvPr>
            <p:custDataLst>
              <p:tags r:id="rId6"/>
            </p:custDataLst>
          </p:nvPr>
        </p:nvSpPr>
        <p:spPr>
          <a:xfrm>
            <a:off x="9613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可为此题添加文本、图片、公式等解析，且需将内容全部放在本区域内。正常使用需</a:t>
            </a:r>
            <a:r>
              <a:rPr kumimoji="0" lang="en-US" altLang="zh-CN"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3.0</a:t>
            </a:r>
            <a:r>
              <a:rPr kumimoji="0" lang="zh-CN" altLang="en-US"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以上版本</a:t>
            </a:r>
          </a:p>
        </p:txBody>
      </p:sp>
      <p:sp>
        <p:nvSpPr>
          <p:cNvPr id="19" name="文本框 18">
            <a:extLst>
              <a:ext uri="{FF2B5EF4-FFF2-40B4-BE49-F238E27FC236}">
                <a16:creationId xmlns:a16="http://schemas.microsoft.com/office/drawing/2014/main" id="{3EE0F01C-BB01-4F4A-8112-BDFD3F7DA273}"/>
              </a:ext>
            </a:extLst>
          </p:cNvPr>
          <p:cNvSpPr txBox="1"/>
          <p:nvPr>
            <p:custDataLst>
              <p:tags r:id="rId7"/>
            </p:custDataLst>
          </p:nvPr>
        </p:nvSpPr>
        <p:spPr>
          <a:xfrm>
            <a:off x="9632950" y="635000"/>
            <a:ext cx="3332480" cy="5509200"/>
          </a:xfrm>
          <a:prstGeom prst="rect">
            <a:avLst/>
          </a:prstGeom>
          <a:noFill/>
        </p:spPr>
        <p:txBody>
          <a:bodyPr vert="horz"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(1): virtual void Display1()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(2): void Display2()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(3): BaseClass *p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主函数中 </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是</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Base</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基类对象，</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是</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Derive</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派生类对象，</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fun1(&amp;b)</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是取</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的地址作为参数传递，</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fun1(&amp;d)</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是取</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的地址作为参数传递，</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fun1</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函数体是</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p-&gt;Display1(); </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说明</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p</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是一个指针，既能指向基类地址，又能指向派生类地址，说明</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p</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是一个基类指针，对应填空（</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3</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）。传递不同参数输出内容不一致，说明发生函数重载，动态联编，因此基类的</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Display1()</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应该是虚函数，需使用</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virtual</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关键字修饰。</a:t>
            </a:r>
            <a:endPar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fun2(b)</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和</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fun2(d)</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直接传递基类对象和派生类对象给基类引用，输出结果一致，说明调用函数一致，未发生动态联编，因此基类的</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Display2()</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函数不是虚函数</a:t>
            </a:r>
            <a:endParaRPr kumimoji="0"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grpSp>
        <p:nvGrpSpPr>
          <p:cNvPr id="10" name="组合 9">
            <a:extLst>
              <a:ext uri="{FF2B5EF4-FFF2-40B4-BE49-F238E27FC236}">
                <a16:creationId xmlns:a16="http://schemas.microsoft.com/office/drawing/2014/main" id="{209ED294-1A12-48AD-9A09-D39F2EB6FB5B}"/>
              </a:ext>
            </a:extLst>
          </p:cNvPr>
          <p:cNvGrpSpPr/>
          <p:nvPr>
            <p:custDataLst>
              <p:tags r:id="rId8"/>
            </p:custDataLst>
          </p:nvPr>
        </p:nvGrpSpPr>
        <p:grpSpPr>
          <a:xfrm>
            <a:off x="0" y="0"/>
            <a:ext cx="9144000" cy="635000"/>
            <a:chOff x="0" y="0"/>
            <a:chExt cx="9144000" cy="635000"/>
          </a:xfrm>
        </p:grpSpPr>
        <p:sp>
          <p:nvSpPr>
            <p:cNvPr id="6" name="TitleBackground">
              <a:extLst>
                <a:ext uri="{FF2B5EF4-FFF2-40B4-BE49-F238E27FC236}">
                  <a16:creationId xmlns:a16="http://schemas.microsoft.com/office/drawing/2014/main" id="{26C72923-253D-459B-BEBC-32843D751FA9}"/>
                </a:ext>
              </a:extLst>
            </p:cNvPr>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7" name="ColorBlock">
              <a:extLst>
                <a:ext uri="{FF2B5EF4-FFF2-40B4-BE49-F238E27FC236}">
                  <a16:creationId xmlns:a16="http://schemas.microsoft.com/office/drawing/2014/main" id="{D8F0FDEB-4976-43DF-BBB2-4ECDB8E55F86}"/>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8" name="TypeText">
              <a:extLst>
                <a:ext uri="{FF2B5EF4-FFF2-40B4-BE49-F238E27FC236}">
                  <a16:creationId xmlns:a16="http://schemas.microsoft.com/office/drawing/2014/main" id="{7F98FFB4-92D1-4C3B-AFDE-C105DA62DEAB}"/>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主观题</a:t>
              </a:r>
            </a:p>
          </p:txBody>
        </p:sp>
        <p:sp>
          <p:nvSpPr>
            <p:cNvPr id="9" name="TipText">
              <a:extLst>
                <a:ext uri="{FF2B5EF4-FFF2-40B4-BE49-F238E27FC236}">
                  <a16:creationId xmlns:a16="http://schemas.microsoft.com/office/drawing/2014/main" id="{5A554C64-F5A3-4A5B-990A-ECCDCD4C7AEF}"/>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10</a:t>
              </a:r>
              <a:r>
                <a:rPr kumimoji="0" lang="zh-CN" altLang="en-US" sz="2000" b="0"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分</a:t>
              </a:r>
            </a:p>
          </p:txBody>
        </p:sp>
      </p:grpSp>
      <p:grpSp>
        <p:nvGrpSpPr>
          <p:cNvPr id="17" name="组合 16">
            <a:extLst>
              <a:ext uri="{FF2B5EF4-FFF2-40B4-BE49-F238E27FC236}">
                <a16:creationId xmlns:a16="http://schemas.microsoft.com/office/drawing/2014/main" id="{9DAB6F6B-42F4-4A9C-8F22-BFDC53167E35}"/>
              </a:ext>
            </a:extLst>
          </p:cNvPr>
          <p:cNvGrpSpPr/>
          <p:nvPr>
            <p:custDataLst>
              <p:tags r:id="rId9"/>
            </p:custDataLst>
          </p:nvPr>
        </p:nvGrpSpPr>
        <p:grpSpPr>
          <a:xfrm>
            <a:off x="9537700" y="0"/>
            <a:ext cx="3815080" cy="647700"/>
            <a:chOff x="9537700" y="0"/>
            <a:chExt cx="3815080" cy="647700"/>
          </a:xfrm>
        </p:grpSpPr>
        <p:sp>
          <p:nvSpPr>
            <p:cNvPr id="14" name="RemarkBack">
              <a:extLst>
                <a:ext uri="{FF2B5EF4-FFF2-40B4-BE49-F238E27FC236}">
                  <a16:creationId xmlns:a16="http://schemas.microsoft.com/office/drawing/2014/main" id="{34F7296B-03F7-4F81-8E26-CB1459C4B068}"/>
                </a:ext>
              </a:extLst>
            </p:cNvPr>
            <p:cNvSpPr/>
            <p:nvPr>
              <p:custDataLst>
                <p:tags r:id="rId11"/>
              </p:custDataLst>
            </p:nvPr>
          </p:nvSpPr>
          <p:spPr>
            <a:xfrm>
              <a:off x="9537700" y="12700"/>
              <a:ext cx="381508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15" name="RemarkBlock">
              <a:extLst>
                <a:ext uri="{FF2B5EF4-FFF2-40B4-BE49-F238E27FC236}">
                  <a16:creationId xmlns:a16="http://schemas.microsoft.com/office/drawing/2014/main" id="{A8C1E7F7-12C9-462E-84E1-30BC63D550B4}"/>
                </a:ext>
              </a:extLst>
            </p:cNvPr>
            <p:cNvSpPr/>
            <p:nvPr>
              <p:custDataLst>
                <p:tags r:id="rId12"/>
              </p:custDataLst>
            </p:nvPr>
          </p:nvSpPr>
          <p:spPr>
            <a:xfrm>
              <a:off x="9537700" y="1270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16" name="RemarkTitleText">
              <a:extLst>
                <a:ext uri="{FF2B5EF4-FFF2-40B4-BE49-F238E27FC236}">
                  <a16:creationId xmlns:a16="http://schemas.microsoft.com/office/drawing/2014/main" id="{E5975A5D-F4FE-4A39-AB46-60D128EBB246}"/>
                </a:ext>
              </a:extLst>
            </p:cNvPr>
            <p:cNvSpPr txBox="1"/>
            <p:nvPr>
              <p:custDataLst>
                <p:tags r:id="rId13"/>
              </p:custDataLst>
            </p:nvPr>
          </p:nvSpPr>
          <p:spPr>
            <a:xfrm>
              <a:off x="9779000" y="0"/>
              <a:ext cx="1905000" cy="635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答案解析</a:t>
              </a:r>
            </a:p>
          </p:txBody>
        </p:sp>
      </p:grpSp>
      <p:pic>
        <p:nvPicPr>
          <p:cNvPr id="3" name="图片 2">
            <a:extLst>
              <a:ext uri="{FF2B5EF4-FFF2-40B4-BE49-F238E27FC236}">
                <a16:creationId xmlns:a16="http://schemas.microsoft.com/office/drawing/2014/main" id="{BA8A0200-65F9-45CA-9B54-B04D2EA33F86}"/>
              </a:ext>
            </a:extLst>
          </p:cNvPr>
          <p:cNvPicPr>
            <a:picLocks/>
          </p:cNvPicPr>
          <p:nvPr>
            <p:custDataLst>
              <p:tags r:id="rId10"/>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4947430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492EBF9-9C89-4D5B-A97A-E65DFFD3C98A}"/>
              </a:ext>
            </a:extLst>
          </p:cNvPr>
          <p:cNvSpPr txBox="1"/>
          <p:nvPr>
            <p:custDataLst>
              <p:tags r:id="rId2"/>
            </p:custDataLst>
          </p:nvPr>
        </p:nvSpPr>
        <p:spPr>
          <a:xfrm>
            <a:off x="518160" y="2451736"/>
            <a:ext cx="7315200" cy="2143125"/>
          </a:xfrm>
          <a:prstGeom prst="rect">
            <a:avLst/>
          </a:prstGeom>
          <a:noFill/>
        </p:spPr>
        <p:txBody>
          <a:bodyPr vert="horz" wrap="squar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为使下面程序正常运行，请将其补充完整</a:t>
            </a:r>
            <a:endPar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#include &lt;iostream&gt;</a:t>
            </a:r>
            <a:endParaRPr kumimoji="0" lang="zh-CN"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using namespace std;</a:t>
            </a:r>
            <a:endParaRPr kumimoji="0" lang="zh-CN"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class </a:t>
            </a:r>
            <a:r>
              <a:rPr kumimoji="0" lang="en-US" altLang="zh-CN" sz="1600" b="0" i="0" u="none" strike="noStrike" kern="1200" cap="none" spc="0" normalizeH="0" baseline="0" noProof="0" dirty="0" err="1">
                <a:ln>
                  <a:noFill/>
                </a:ln>
                <a:solidFill>
                  <a:prstClr val="black"/>
                </a:solidFill>
                <a:effectLst/>
                <a:uLnTx/>
                <a:uFillTx/>
                <a:latin typeface="Arial"/>
                <a:ea typeface="黑体" panose="02010609060101010101" pitchFamily="49" charset="-122"/>
                <a:cs typeface="+mn-cs"/>
              </a:rPr>
              <a:t>BaseClass</a:t>
            </a:r>
            <a:endParaRPr kumimoji="0" lang="zh-CN"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endParaRPr kumimoji="0" lang="zh-CN"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public:</a:t>
            </a:r>
            <a:endParaRPr kumimoji="0" lang="zh-CN"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      </a:t>
            </a:r>
            <a:r>
              <a:rPr kumimoji="0" lang="en-US" altLang="zh-CN" sz="1600" b="0" i="0" u="sng" strike="noStrike" kern="1200" cap="none" spc="0" normalizeH="0" baseline="0" noProof="0" dirty="0">
                <a:ln>
                  <a:noFill/>
                </a:ln>
                <a:solidFill>
                  <a:prstClr val="black"/>
                </a:solidFill>
                <a:effectLst/>
                <a:uLnTx/>
                <a:uFillTx/>
                <a:latin typeface="Arial"/>
                <a:ea typeface="黑体" panose="02010609060101010101" pitchFamily="49" charset="-122"/>
                <a:cs typeface="+mn-cs"/>
              </a:rPr>
              <a:t>     </a:t>
            </a:r>
            <a:r>
              <a:rPr kumimoji="0" lang="zh-CN" altLang="zh-CN" sz="1600" b="0" i="0" u="sng"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r>
              <a:rPr kumimoji="0" lang="en-US" altLang="zh-CN" sz="1600" b="0" i="0" u="sng" strike="noStrike" kern="1200" cap="none" spc="0" normalizeH="0" baseline="0" noProof="0" dirty="0">
                <a:ln>
                  <a:noFill/>
                </a:ln>
                <a:solidFill>
                  <a:prstClr val="black"/>
                </a:solidFill>
                <a:effectLst/>
                <a:uLnTx/>
                <a:uFillTx/>
                <a:latin typeface="Arial"/>
                <a:ea typeface="黑体" panose="02010609060101010101" pitchFamily="49" charset="-122"/>
                <a:cs typeface="+mn-cs"/>
              </a:rPr>
              <a:t>1</a:t>
            </a:r>
            <a:r>
              <a:rPr kumimoji="0" lang="zh-CN" altLang="zh-CN" sz="1600" b="0" i="0" u="sng"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r>
              <a:rPr kumimoji="0" lang="en-US" altLang="zh-CN" sz="1600" b="0" i="0" u="sng" strike="noStrike" kern="1200" cap="none" spc="0" normalizeH="0" baseline="0" noProof="0" dirty="0">
                <a:ln>
                  <a:noFill/>
                </a:ln>
                <a:solidFill>
                  <a:prstClr val="black"/>
                </a:solidFill>
                <a:effectLst/>
                <a:uLnTx/>
                <a:uFillTx/>
                <a:latin typeface="Arial"/>
                <a:ea typeface="黑体" panose="02010609060101010101" pitchFamily="49" charset="-122"/>
                <a:cs typeface="+mn-cs"/>
              </a:rPr>
              <a:t>    </a:t>
            </a: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 {}</a:t>
            </a:r>
            <a:endParaRPr kumimoji="0" lang="zh-CN"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endParaRPr kumimoji="0" lang="zh-CN"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class </a:t>
            </a:r>
            <a:r>
              <a:rPr kumimoji="0" lang="en-US" altLang="zh-CN" sz="1600" b="0" i="0" u="none" strike="noStrike" kern="1200" cap="none" spc="0" normalizeH="0" baseline="0" noProof="0" dirty="0" err="1">
                <a:ln>
                  <a:noFill/>
                </a:ln>
                <a:solidFill>
                  <a:prstClr val="black"/>
                </a:solidFill>
                <a:effectLst/>
                <a:uLnTx/>
                <a:uFillTx/>
                <a:latin typeface="Arial"/>
                <a:ea typeface="黑体" panose="02010609060101010101" pitchFamily="49" charset="-122"/>
                <a:cs typeface="+mn-cs"/>
              </a:rPr>
              <a:t>DerivedClass:public</a:t>
            </a: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 </a:t>
            </a:r>
            <a:r>
              <a:rPr kumimoji="0" lang="en-US" altLang="zh-CN" sz="1600" b="0" i="0" u="none" strike="noStrike" kern="1200" cap="none" spc="0" normalizeH="0" baseline="0" noProof="0" dirty="0" err="1">
                <a:ln>
                  <a:noFill/>
                </a:ln>
                <a:solidFill>
                  <a:prstClr val="black"/>
                </a:solidFill>
                <a:effectLst/>
                <a:uLnTx/>
                <a:uFillTx/>
                <a:latin typeface="Arial"/>
                <a:ea typeface="黑体" panose="02010609060101010101" pitchFamily="49" charset="-122"/>
                <a:cs typeface="+mn-cs"/>
              </a:rPr>
              <a:t>BaseClass</a:t>
            </a:r>
            <a:endParaRPr kumimoji="0" lang="zh-CN"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endParaRPr kumimoji="0" lang="zh-CN"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    int *</a:t>
            </a:r>
            <a:r>
              <a:rPr kumimoji="0" lang="en-US" altLang="zh-CN" sz="1600" b="0" i="0" u="none" strike="noStrike" kern="1200" cap="none" spc="0" normalizeH="0" baseline="0" noProof="0" dirty="0" err="1">
                <a:ln>
                  <a:noFill/>
                </a:ln>
                <a:solidFill>
                  <a:prstClr val="black"/>
                </a:solidFill>
                <a:effectLst/>
                <a:uLnTx/>
                <a:uFillTx/>
                <a:latin typeface="Arial"/>
                <a:ea typeface="黑体" panose="02010609060101010101" pitchFamily="49" charset="-122"/>
                <a:cs typeface="+mn-cs"/>
              </a:rPr>
              <a:t>m_p</a:t>
            </a: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endParaRPr kumimoji="0" lang="zh-CN"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    int </a:t>
            </a:r>
            <a:r>
              <a:rPr kumimoji="0" lang="en-US" altLang="zh-CN" sz="1600" b="0" i="0" u="none" strike="noStrike" kern="1200" cap="none" spc="0" normalizeH="0" baseline="0" noProof="0" dirty="0" err="1">
                <a:ln>
                  <a:noFill/>
                </a:ln>
                <a:solidFill>
                  <a:prstClr val="black"/>
                </a:solidFill>
                <a:effectLst/>
                <a:uLnTx/>
                <a:uFillTx/>
                <a:latin typeface="Arial"/>
                <a:ea typeface="黑体" panose="02010609060101010101" pitchFamily="49" charset="-122"/>
                <a:cs typeface="+mn-cs"/>
              </a:rPr>
              <a:t>m_size</a:t>
            </a: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endParaRPr kumimoji="0" lang="zh-CN"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public:</a:t>
            </a:r>
            <a:endParaRPr kumimoji="0" lang="zh-CN"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    </a:t>
            </a:r>
            <a:r>
              <a:rPr kumimoji="0" lang="en-US" altLang="zh-CN" sz="1600" b="0" i="0" u="none" strike="noStrike" kern="1200" cap="none" spc="0" normalizeH="0" baseline="0" noProof="0" dirty="0" err="1">
                <a:ln>
                  <a:noFill/>
                </a:ln>
                <a:solidFill>
                  <a:prstClr val="black"/>
                </a:solidFill>
                <a:effectLst/>
                <a:uLnTx/>
                <a:uFillTx/>
                <a:latin typeface="Arial"/>
                <a:ea typeface="黑体" panose="02010609060101010101" pitchFamily="49" charset="-122"/>
                <a:cs typeface="+mn-cs"/>
              </a:rPr>
              <a:t>DerivedClass</a:t>
            </a: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(int size){</a:t>
            </a:r>
            <a:r>
              <a:rPr kumimoji="0" lang="en-US" altLang="zh-CN" sz="1600" b="0" i="0" u="none" strike="noStrike" kern="1200" cap="none" spc="0" normalizeH="0" baseline="0" noProof="0" dirty="0" err="1">
                <a:ln>
                  <a:noFill/>
                </a:ln>
                <a:solidFill>
                  <a:prstClr val="black"/>
                </a:solidFill>
                <a:effectLst/>
                <a:uLnTx/>
                <a:uFillTx/>
                <a:latin typeface="Arial"/>
                <a:ea typeface="黑体" panose="02010609060101010101" pitchFamily="49" charset="-122"/>
                <a:cs typeface="+mn-cs"/>
              </a:rPr>
              <a:t>m_size</a:t>
            </a: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r>
              <a:rPr kumimoji="0" lang="en-US" altLang="zh-CN" sz="1600" b="0" i="0" u="none" strike="noStrike" kern="1200" cap="none" spc="0" normalizeH="0" baseline="0" noProof="0" dirty="0" err="1">
                <a:ln>
                  <a:noFill/>
                </a:ln>
                <a:solidFill>
                  <a:prstClr val="black"/>
                </a:solidFill>
                <a:effectLst/>
                <a:uLnTx/>
                <a:uFillTx/>
                <a:latin typeface="Arial"/>
                <a:ea typeface="黑体" panose="02010609060101010101" pitchFamily="49" charset="-122"/>
                <a:cs typeface="+mn-cs"/>
              </a:rPr>
              <a:t>size;m_p</a:t>
            </a: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=new int[</a:t>
            </a:r>
            <a:r>
              <a:rPr kumimoji="0" lang="en-US" altLang="zh-CN" sz="1600" b="0" i="0" u="none" strike="noStrike" kern="1200" cap="none" spc="0" normalizeH="0" baseline="0" noProof="0" dirty="0" err="1">
                <a:ln>
                  <a:noFill/>
                </a:ln>
                <a:solidFill>
                  <a:prstClr val="black"/>
                </a:solidFill>
                <a:effectLst/>
                <a:uLnTx/>
                <a:uFillTx/>
                <a:latin typeface="Arial"/>
                <a:ea typeface="黑体" panose="02010609060101010101" pitchFamily="49" charset="-122"/>
                <a:cs typeface="+mn-cs"/>
              </a:rPr>
              <a:t>m_size</a:t>
            </a: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endParaRPr kumimoji="0" lang="zh-CN"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    ~</a:t>
            </a:r>
            <a:r>
              <a:rPr kumimoji="0" lang="en-US" altLang="zh-CN" sz="1600" b="0" i="0" u="none" strike="noStrike" kern="1200" cap="none" spc="0" normalizeH="0" baseline="0" noProof="0" dirty="0" err="1">
                <a:ln>
                  <a:noFill/>
                </a:ln>
                <a:solidFill>
                  <a:prstClr val="black"/>
                </a:solidFill>
                <a:effectLst/>
                <a:uLnTx/>
                <a:uFillTx/>
                <a:latin typeface="Arial"/>
                <a:ea typeface="黑体" panose="02010609060101010101" pitchFamily="49" charset="-122"/>
                <a:cs typeface="+mn-cs"/>
              </a:rPr>
              <a:t>DerivedClass</a:t>
            </a: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(){delete []</a:t>
            </a:r>
            <a:r>
              <a:rPr kumimoji="0" lang="en-US" altLang="zh-CN" sz="1600" b="0" i="0" u="none" strike="noStrike" kern="1200" cap="none" spc="0" normalizeH="0" baseline="0" noProof="0" dirty="0" err="1">
                <a:ln>
                  <a:noFill/>
                </a:ln>
                <a:solidFill>
                  <a:prstClr val="black"/>
                </a:solidFill>
                <a:effectLst/>
                <a:uLnTx/>
                <a:uFillTx/>
                <a:latin typeface="Arial"/>
                <a:ea typeface="黑体" panose="02010609060101010101" pitchFamily="49" charset="-122"/>
                <a:cs typeface="+mn-cs"/>
              </a:rPr>
              <a:t>m_p</a:t>
            </a: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endParaRPr kumimoji="0" lang="zh-CN"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endParaRPr kumimoji="0" lang="zh-CN" altLang="zh-CN"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5" name="矩形: 圆角 4">
            <a:extLst>
              <a:ext uri="{FF2B5EF4-FFF2-40B4-BE49-F238E27FC236}">
                <a16:creationId xmlns:a16="http://schemas.microsoft.com/office/drawing/2014/main" id="{5E47357E-8A6E-4D65-ABB6-98461C1D2906}"/>
              </a:ext>
            </a:extLst>
          </p:cNvPr>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作答</a:t>
            </a:r>
          </a:p>
        </p:txBody>
      </p:sp>
      <p:sp>
        <p:nvSpPr>
          <p:cNvPr id="11" name="矩形 10">
            <a:extLst>
              <a:ext uri="{FF2B5EF4-FFF2-40B4-BE49-F238E27FC236}">
                <a16:creationId xmlns:a16="http://schemas.microsoft.com/office/drawing/2014/main" id="{80B55ECB-9202-467D-B0BD-1D042E380C44}"/>
              </a:ext>
            </a:extLst>
          </p:cNvPr>
          <p:cNvSpPr/>
          <p:nvPr>
            <p:custDataLst>
              <p:tags r:id="rId4"/>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正常使用主观题需</a:t>
            </a:r>
            <a:r>
              <a:rPr kumimoji="0" lang="en-US" altLang="zh-CN"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2.0</a:t>
            </a:r>
            <a:r>
              <a:rPr kumimoji="0" lang="zh-CN" altLang="en-US"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以上版本雨课堂</a:t>
            </a:r>
          </a:p>
        </p:txBody>
      </p:sp>
      <p:sp>
        <p:nvSpPr>
          <p:cNvPr id="12" name="文本框 11">
            <a:extLst>
              <a:ext uri="{FF2B5EF4-FFF2-40B4-BE49-F238E27FC236}">
                <a16:creationId xmlns:a16="http://schemas.microsoft.com/office/drawing/2014/main" id="{9DF0DA62-F438-4D79-98C8-73423E1AD5F0}"/>
              </a:ext>
            </a:extLst>
          </p:cNvPr>
          <p:cNvSpPr txBox="1"/>
          <p:nvPr/>
        </p:nvSpPr>
        <p:spPr>
          <a:xfrm>
            <a:off x="4699000" y="1753614"/>
            <a:ext cx="4445000" cy="203132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int main()</a:t>
            </a:r>
            <a:endParaRPr kumimoji="0" lang="zh-CN"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endParaRPr kumimoji="0" lang="zh-CN"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    </a:t>
            </a:r>
            <a:r>
              <a:rPr kumimoji="0" lang="en-US" altLang="zh-CN" sz="1800" b="0" i="0" u="none" strike="noStrike" kern="1200" cap="none" spc="0" normalizeH="0" baseline="0" noProof="0" dirty="0" err="1">
                <a:ln>
                  <a:noFill/>
                </a:ln>
                <a:solidFill>
                  <a:prstClr val="black"/>
                </a:solidFill>
                <a:effectLst/>
                <a:uLnTx/>
                <a:uFillTx/>
                <a:latin typeface="Arial"/>
                <a:ea typeface="黑体" panose="02010609060101010101" pitchFamily="49" charset="-122"/>
                <a:cs typeface="+mn-cs"/>
              </a:rPr>
              <a:t>BaseClass</a:t>
            </a: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 *pb=new </a:t>
            </a:r>
            <a:r>
              <a:rPr kumimoji="0" lang="en-US" altLang="zh-CN" sz="1800" b="0" i="0" u="none" strike="noStrike" kern="1200" cap="none" spc="0" normalizeH="0" baseline="0" noProof="0" dirty="0" err="1">
                <a:ln>
                  <a:noFill/>
                </a:ln>
                <a:solidFill>
                  <a:prstClr val="black"/>
                </a:solidFill>
                <a:effectLst/>
                <a:uLnTx/>
                <a:uFillTx/>
                <a:latin typeface="Arial"/>
                <a:ea typeface="黑体" panose="02010609060101010101" pitchFamily="49" charset="-122"/>
                <a:cs typeface="+mn-cs"/>
              </a:rPr>
              <a:t>DerivedClass</a:t>
            </a: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(5);</a:t>
            </a:r>
            <a:endParaRPr kumimoji="0" lang="zh-CN"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    delete pb;</a:t>
            </a:r>
            <a:endParaRPr kumimoji="0" lang="zh-CN"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    return 0;</a:t>
            </a:r>
            <a:endParaRPr kumimoji="0" lang="zh-CN"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endParaRPr kumimoji="0" lang="zh-CN"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p:txBody>
      </p:sp>
      <p:sp>
        <p:nvSpPr>
          <p:cNvPr id="13" name="矩形 12">
            <a:extLst>
              <a:ext uri="{FF2B5EF4-FFF2-40B4-BE49-F238E27FC236}">
                <a16:creationId xmlns:a16="http://schemas.microsoft.com/office/drawing/2014/main" id="{920CA145-BF08-49E4-85E8-A07102214875}"/>
              </a:ext>
            </a:extLst>
          </p:cNvPr>
          <p:cNvSpPr/>
          <p:nvPr>
            <p:custDataLst>
              <p:tags r:id="rId5"/>
            </p:custDataLst>
          </p:nvPr>
        </p:nvSpPr>
        <p:spPr>
          <a:xfrm>
            <a:off x="9525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黑体" panose="02010609060101010101" pitchFamily="49" charset="-122"/>
              <a:cs typeface="+mn-cs"/>
            </a:endParaRPr>
          </a:p>
        </p:txBody>
      </p:sp>
      <p:sp>
        <p:nvSpPr>
          <p:cNvPr id="18" name="文本框 17">
            <a:extLst>
              <a:ext uri="{FF2B5EF4-FFF2-40B4-BE49-F238E27FC236}">
                <a16:creationId xmlns:a16="http://schemas.microsoft.com/office/drawing/2014/main" id="{7BC8CC74-68D9-44FC-98BF-3045DB1C70AF}"/>
              </a:ext>
            </a:extLst>
          </p:cNvPr>
          <p:cNvSpPr txBox="1"/>
          <p:nvPr>
            <p:custDataLst>
              <p:tags r:id="rId6"/>
            </p:custDataLst>
          </p:nvPr>
        </p:nvSpPr>
        <p:spPr>
          <a:xfrm>
            <a:off x="9613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可为此题添加文本、图片、公式等解析，且需将内容全部放在本区域内。正常使用需</a:t>
            </a:r>
            <a:r>
              <a:rPr kumimoji="0" lang="en-US" altLang="zh-CN"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3.0</a:t>
            </a:r>
            <a:r>
              <a:rPr kumimoji="0" lang="zh-CN" altLang="en-US"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以上版本</a:t>
            </a:r>
          </a:p>
        </p:txBody>
      </p:sp>
      <p:sp>
        <p:nvSpPr>
          <p:cNvPr id="19" name="文本框 18">
            <a:extLst>
              <a:ext uri="{FF2B5EF4-FFF2-40B4-BE49-F238E27FC236}">
                <a16:creationId xmlns:a16="http://schemas.microsoft.com/office/drawing/2014/main" id="{C239A246-761C-4537-BEF0-9E3B141236A0}"/>
              </a:ext>
            </a:extLst>
          </p:cNvPr>
          <p:cNvSpPr txBox="1"/>
          <p:nvPr>
            <p:custDataLst>
              <p:tags r:id="rId7"/>
            </p:custDataLst>
          </p:nvPr>
        </p:nvSpPr>
        <p:spPr>
          <a:xfrm>
            <a:off x="9779000" y="1270000"/>
            <a:ext cx="3332480" cy="2862322"/>
          </a:xfrm>
          <a:prstGeom prst="rect">
            <a:avLst/>
          </a:prstGeom>
          <a:noFill/>
        </p:spPr>
        <p:txBody>
          <a:bodyPr vert="horz"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(1): virtual ~BaseClass()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主函数中使用基类指针指向派生类对象，希望能够实现通过</a:t>
            </a:r>
            <a:r>
              <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delete</a:t>
            </a:r>
            <a:r>
              <a:rPr kumimoji="0" lang="zh-CN" altLang="en-US"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指针达到释放派生类对象占用空间的效果，需要使用虚析构函数，使得动态联编在</a:t>
            </a:r>
            <a:r>
              <a:rPr kumimoji="0" lang="en-US" altLang="zh-CN"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delete</a:t>
            </a:r>
            <a:r>
              <a:rPr kumimoji="0" lang="zh-CN" altLang="en-US" sz="20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基类指针时能够调用派生类析构函数</a:t>
            </a:r>
            <a:endParaRPr kumimoji="0" lang="zh-CN" altLang="en-US"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grpSp>
        <p:nvGrpSpPr>
          <p:cNvPr id="10" name="组合 9">
            <a:extLst>
              <a:ext uri="{FF2B5EF4-FFF2-40B4-BE49-F238E27FC236}">
                <a16:creationId xmlns:a16="http://schemas.microsoft.com/office/drawing/2014/main" id="{90F70391-D35F-415E-8FBD-AA0540A4EA7F}"/>
              </a:ext>
            </a:extLst>
          </p:cNvPr>
          <p:cNvGrpSpPr/>
          <p:nvPr>
            <p:custDataLst>
              <p:tags r:id="rId8"/>
            </p:custDataLst>
          </p:nvPr>
        </p:nvGrpSpPr>
        <p:grpSpPr>
          <a:xfrm>
            <a:off x="0" y="0"/>
            <a:ext cx="9144000" cy="635000"/>
            <a:chOff x="0" y="0"/>
            <a:chExt cx="9144000" cy="635000"/>
          </a:xfrm>
        </p:grpSpPr>
        <p:sp>
          <p:nvSpPr>
            <p:cNvPr id="6" name="TitleBackground">
              <a:extLst>
                <a:ext uri="{FF2B5EF4-FFF2-40B4-BE49-F238E27FC236}">
                  <a16:creationId xmlns:a16="http://schemas.microsoft.com/office/drawing/2014/main" id="{470E0ED7-D8E6-4CFC-8075-3FE4ED601E21}"/>
                </a:ext>
              </a:extLst>
            </p:cNvPr>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7" name="ColorBlock">
              <a:extLst>
                <a:ext uri="{FF2B5EF4-FFF2-40B4-BE49-F238E27FC236}">
                  <a16:creationId xmlns:a16="http://schemas.microsoft.com/office/drawing/2014/main" id="{00AD4E9B-7447-494C-B297-80A0E2FEBB92}"/>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8" name="TypeText">
              <a:extLst>
                <a:ext uri="{FF2B5EF4-FFF2-40B4-BE49-F238E27FC236}">
                  <a16:creationId xmlns:a16="http://schemas.microsoft.com/office/drawing/2014/main" id="{3602B343-F9E1-4E68-99B6-EDEDC53B8C7C}"/>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主观题</a:t>
              </a:r>
            </a:p>
          </p:txBody>
        </p:sp>
        <p:sp>
          <p:nvSpPr>
            <p:cNvPr id="9" name="TipText">
              <a:extLst>
                <a:ext uri="{FF2B5EF4-FFF2-40B4-BE49-F238E27FC236}">
                  <a16:creationId xmlns:a16="http://schemas.microsoft.com/office/drawing/2014/main" id="{4D6173C1-7549-4E06-B6D9-5D3AB467E34D}"/>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10</a:t>
              </a:r>
              <a:r>
                <a:rPr kumimoji="0" lang="zh-CN" altLang="en-US" sz="2000" b="0"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分</a:t>
              </a:r>
            </a:p>
          </p:txBody>
        </p:sp>
      </p:grpSp>
      <p:grpSp>
        <p:nvGrpSpPr>
          <p:cNvPr id="17" name="组合 16">
            <a:extLst>
              <a:ext uri="{FF2B5EF4-FFF2-40B4-BE49-F238E27FC236}">
                <a16:creationId xmlns:a16="http://schemas.microsoft.com/office/drawing/2014/main" id="{E98B4939-5FF1-4255-96A9-B7271F18F922}"/>
              </a:ext>
            </a:extLst>
          </p:cNvPr>
          <p:cNvGrpSpPr/>
          <p:nvPr>
            <p:custDataLst>
              <p:tags r:id="rId9"/>
            </p:custDataLst>
          </p:nvPr>
        </p:nvGrpSpPr>
        <p:grpSpPr>
          <a:xfrm>
            <a:off x="9537700" y="0"/>
            <a:ext cx="3815080" cy="647700"/>
            <a:chOff x="9537700" y="0"/>
            <a:chExt cx="3815080" cy="647700"/>
          </a:xfrm>
        </p:grpSpPr>
        <p:sp>
          <p:nvSpPr>
            <p:cNvPr id="14" name="RemarkBack">
              <a:extLst>
                <a:ext uri="{FF2B5EF4-FFF2-40B4-BE49-F238E27FC236}">
                  <a16:creationId xmlns:a16="http://schemas.microsoft.com/office/drawing/2014/main" id="{9762B4BA-13C9-45F3-81A2-C2908BEDE6DD}"/>
                </a:ext>
              </a:extLst>
            </p:cNvPr>
            <p:cNvSpPr/>
            <p:nvPr>
              <p:custDataLst>
                <p:tags r:id="rId11"/>
              </p:custDataLst>
            </p:nvPr>
          </p:nvSpPr>
          <p:spPr>
            <a:xfrm>
              <a:off x="9537700" y="12700"/>
              <a:ext cx="381508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15" name="RemarkBlock">
              <a:extLst>
                <a:ext uri="{FF2B5EF4-FFF2-40B4-BE49-F238E27FC236}">
                  <a16:creationId xmlns:a16="http://schemas.microsoft.com/office/drawing/2014/main" id="{2C9DC8C5-1612-4C1E-A54B-9F306F5FC37F}"/>
                </a:ext>
              </a:extLst>
            </p:cNvPr>
            <p:cNvSpPr/>
            <p:nvPr>
              <p:custDataLst>
                <p:tags r:id="rId12"/>
              </p:custDataLst>
            </p:nvPr>
          </p:nvSpPr>
          <p:spPr>
            <a:xfrm>
              <a:off x="9537700" y="1270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16" name="RemarkTitleText">
              <a:extLst>
                <a:ext uri="{FF2B5EF4-FFF2-40B4-BE49-F238E27FC236}">
                  <a16:creationId xmlns:a16="http://schemas.microsoft.com/office/drawing/2014/main" id="{DCFBFB53-8D52-4423-8A8D-82D74B2A4694}"/>
                </a:ext>
              </a:extLst>
            </p:cNvPr>
            <p:cNvSpPr txBox="1"/>
            <p:nvPr>
              <p:custDataLst>
                <p:tags r:id="rId13"/>
              </p:custDataLst>
            </p:nvPr>
          </p:nvSpPr>
          <p:spPr>
            <a:xfrm>
              <a:off x="9779000" y="0"/>
              <a:ext cx="1905000" cy="635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答案解析</a:t>
              </a:r>
            </a:p>
          </p:txBody>
        </p:sp>
      </p:grpSp>
      <p:pic>
        <p:nvPicPr>
          <p:cNvPr id="3" name="图片 2">
            <a:extLst>
              <a:ext uri="{FF2B5EF4-FFF2-40B4-BE49-F238E27FC236}">
                <a16:creationId xmlns:a16="http://schemas.microsoft.com/office/drawing/2014/main" id="{2BE2223D-DBD1-4FE3-B2AB-404D44CE09C7}"/>
              </a:ext>
            </a:extLst>
          </p:cNvPr>
          <p:cNvPicPr>
            <a:picLocks/>
          </p:cNvPicPr>
          <p:nvPr>
            <p:custDataLst>
              <p:tags r:id="rId10"/>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729106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AF79C24-8C8A-40A7-93FF-85E61741A196}"/>
              </a:ext>
            </a:extLst>
          </p:cNvPr>
          <p:cNvSpPr txBox="1"/>
          <p:nvPr>
            <p:custDataLst>
              <p:tags r:id="rId2"/>
            </p:custDataLst>
          </p:nvPr>
        </p:nvSpPr>
        <p:spPr>
          <a:xfrm>
            <a:off x="304800" y="2357437"/>
            <a:ext cx="7315200" cy="2143125"/>
          </a:xfrm>
          <a:prstGeom prst="rect">
            <a:avLst/>
          </a:prstGeom>
          <a:noFill/>
        </p:spPr>
        <p:txBody>
          <a:bodyPr vert="horz" wrap="squar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下面程序的运行结果是：</a:t>
            </a:r>
            <a:endPar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#include &lt;iostream&gt;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using namespace std;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class 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public: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~B(){</a:t>
            </a:r>
            <a:r>
              <a:rPr kumimoji="0" lang="en-US" altLang="zh-CN" sz="16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cout</a:t>
            </a: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&lt;&lt;"~B() is called!"&lt;&lt;</a:t>
            </a:r>
            <a:r>
              <a:rPr kumimoji="0" lang="en-US" altLang="zh-CN" sz="16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endl</a:t>
            </a: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class D1:virtual public 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public: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~D1(){</a:t>
            </a:r>
            <a:r>
              <a:rPr kumimoji="0" lang="en-US" altLang="zh-CN" sz="16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cout</a:t>
            </a: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&lt;&lt;"~D1() is called"&lt;&lt;</a:t>
            </a:r>
            <a:r>
              <a:rPr kumimoji="0" lang="en-US" altLang="zh-CN" sz="16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endl</a:t>
            </a: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class D2: virtual public 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public: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~D2(){</a:t>
            </a:r>
            <a:r>
              <a:rPr kumimoji="0" lang="en-US" altLang="zh-CN" sz="16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cout</a:t>
            </a: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&lt;&lt;"~D2() is called!"&lt;&lt;</a:t>
            </a:r>
            <a:r>
              <a:rPr kumimoji="0" lang="en-US" altLang="zh-CN" sz="16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endl</a:t>
            </a: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5" name="矩形: 圆角 4">
            <a:extLst>
              <a:ext uri="{FF2B5EF4-FFF2-40B4-BE49-F238E27FC236}">
                <a16:creationId xmlns:a16="http://schemas.microsoft.com/office/drawing/2014/main" id="{E83CE6D2-6860-4F83-9176-AC0755EE2858}"/>
              </a:ext>
            </a:extLst>
          </p:cNvPr>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作答</a:t>
            </a:r>
          </a:p>
        </p:txBody>
      </p:sp>
      <p:sp>
        <p:nvSpPr>
          <p:cNvPr id="11" name="矩形 10">
            <a:extLst>
              <a:ext uri="{FF2B5EF4-FFF2-40B4-BE49-F238E27FC236}">
                <a16:creationId xmlns:a16="http://schemas.microsoft.com/office/drawing/2014/main" id="{A071EC31-B7AB-4DA4-9719-392E1D0D0967}"/>
              </a:ext>
            </a:extLst>
          </p:cNvPr>
          <p:cNvSpPr/>
          <p:nvPr>
            <p:custDataLst>
              <p:tags r:id="rId4"/>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正常使用主观题需</a:t>
            </a:r>
            <a:r>
              <a:rPr kumimoji="0" lang="en-US" altLang="zh-CN"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2.0</a:t>
            </a:r>
            <a:r>
              <a:rPr kumimoji="0" lang="zh-CN" altLang="en-US"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以上版本雨课堂</a:t>
            </a:r>
          </a:p>
        </p:txBody>
      </p:sp>
      <p:sp>
        <p:nvSpPr>
          <p:cNvPr id="12" name="文本框 11">
            <a:extLst>
              <a:ext uri="{FF2B5EF4-FFF2-40B4-BE49-F238E27FC236}">
                <a16:creationId xmlns:a16="http://schemas.microsoft.com/office/drawing/2014/main" id="{37D8CE83-BB41-4FE6-B60E-23B2A6376568}"/>
              </a:ext>
            </a:extLst>
          </p:cNvPr>
          <p:cNvSpPr txBox="1"/>
          <p:nvPr/>
        </p:nvSpPr>
        <p:spPr>
          <a:xfrm>
            <a:off x="4528185" y="1000760"/>
            <a:ext cx="4831080" cy="25545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class DD: public D2, public D1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public: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~DD(){</a:t>
            </a:r>
            <a:r>
              <a:rPr kumimoji="0" lang="en-US" altLang="zh-CN" sz="16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cout</a:t>
            </a: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&lt;&lt;"~DD() is called!"&lt;&lt;</a:t>
            </a:r>
            <a:r>
              <a:rPr kumimoji="0" lang="en-US" altLang="zh-CN" sz="16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endl</a:t>
            </a: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int main()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DD </a:t>
            </a:r>
            <a:r>
              <a:rPr kumimoji="0" lang="en-US" altLang="zh-CN" sz="16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dd</a:t>
            </a: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return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endParaRPr kumimoji="0" lang="zh-CN" altLang="en-US"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p:txBody>
      </p:sp>
      <p:sp>
        <p:nvSpPr>
          <p:cNvPr id="13" name="矩形 12">
            <a:extLst>
              <a:ext uri="{FF2B5EF4-FFF2-40B4-BE49-F238E27FC236}">
                <a16:creationId xmlns:a16="http://schemas.microsoft.com/office/drawing/2014/main" id="{BD0E34C3-7255-4957-BDF4-F5FD10D9681D}"/>
              </a:ext>
            </a:extLst>
          </p:cNvPr>
          <p:cNvSpPr/>
          <p:nvPr>
            <p:custDataLst>
              <p:tags r:id="rId5"/>
            </p:custDataLst>
          </p:nvPr>
        </p:nvSpPr>
        <p:spPr>
          <a:xfrm>
            <a:off x="9525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黑体" panose="02010609060101010101" pitchFamily="49" charset="-122"/>
              <a:cs typeface="+mn-cs"/>
            </a:endParaRPr>
          </a:p>
        </p:txBody>
      </p:sp>
      <p:sp>
        <p:nvSpPr>
          <p:cNvPr id="18" name="文本框 17">
            <a:extLst>
              <a:ext uri="{FF2B5EF4-FFF2-40B4-BE49-F238E27FC236}">
                <a16:creationId xmlns:a16="http://schemas.microsoft.com/office/drawing/2014/main" id="{5DB9E985-5498-414D-8089-58D66511692F}"/>
              </a:ext>
            </a:extLst>
          </p:cNvPr>
          <p:cNvSpPr txBox="1"/>
          <p:nvPr>
            <p:custDataLst>
              <p:tags r:id="rId6"/>
            </p:custDataLst>
          </p:nvPr>
        </p:nvSpPr>
        <p:spPr>
          <a:xfrm>
            <a:off x="9613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可为此题添加文本、图片、公式等解析，且需将内容全部放在本区域内。正常使用需</a:t>
            </a:r>
            <a:r>
              <a:rPr kumimoji="0" lang="en-US" altLang="zh-CN"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3.0</a:t>
            </a:r>
            <a:r>
              <a:rPr kumimoji="0" lang="zh-CN" altLang="en-US"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以上版本</a:t>
            </a:r>
          </a:p>
        </p:txBody>
      </p:sp>
      <p:sp>
        <p:nvSpPr>
          <p:cNvPr id="19" name="文本框 18">
            <a:extLst>
              <a:ext uri="{FF2B5EF4-FFF2-40B4-BE49-F238E27FC236}">
                <a16:creationId xmlns:a16="http://schemas.microsoft.com/office/drawing/2014/main" id="{BCEF125A-58FD-4754-8708-355F574F6A0A}"/>
              </a:ext>
            </a:extLst>
          </p:cNvPr>
          <p:cNvSpPr txBox="1"/>
          <p:nvPr>
            <p:custDataLst>
              <p:tags r:id="rId7"/>
            </p:custDataLst>
          </p:nvPr>
        </p:nvSpPr>
        <p:spPr>
          <a:xfrm>
            <a:off x="9632950" y="635000"/>
            <a:ext cx="3332480" cy="4770537"/>
          </a:xfrm>
          <a:prstGeom prst="rect">
            <a:avLst/>
          </a:prstGeom>
          <a:noFill/>
        </p:spPr>
        <p:txBody>
          <a:bodyPr vert="horz"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~DD() is called!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~D1() is called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~D2() is called!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 is called!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使用类</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DD</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创建对象</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dd</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时，调用</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DD</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构造函数，由于</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DD</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继承自</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D2,D1</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，因此会按照继承顺序先调用</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D2</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构造函数，</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D2</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继承</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，会先调用</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构造函数，因此实际先构造</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，再构造</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D2</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。构造</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D1</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时，虽然</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D1</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继承</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，但由于</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D1</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和</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D2</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继承</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均使用虚拟继承，因此</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是虚基类，在派生时只被调用一次构造函数。因此构造对象</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dd</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时实际构造函数执行顺序是 </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B-&gt;D2-&gt;D1-&gt;DD</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dd</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对象撤销时析构函数执行顺序与构造函数执行顺序相反，因此析构函数执行顺序</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DD-&gt;D1-&gt;D2-&gt;B.</a:t>
            </a:r>
            <a:endParaRPr kumimoji="0"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grpSp>
        <p:nvGrpSpPr>
          <p:cNvPr id="10" name="组合 9">
            <a:extLst>
              <a:ext uri="{FF2B5EF4-FFF2-40B4-BE49-F238E27FC236}">
                <a16:creationId xmlns:a16="http://schemas.microsoft.com/office/drawing/2014/main" id="{30B6E8A2-69B0-409C-A79F-E7D7C1A0AAC4}"/>
              </a:ext>
            </a:extLst>
          </p:cNvPr>
          <p:cNvGrpSpPr/>
          <p:nvPr>
            <p:custDataLst>
              <p:tags r:id="rId8"/>
            </p:custDataLst>
          </p:nvPr>
        </p:nvGrpSpPr>
        <p:grpSpPr>
          <a:xfrm>
            <a:off x="0" y="0"/>
            <a:ext cx="9144000" cy="635000"/>
            <a:chOff x="0" y="0"/>
            <a:chExt cx="9144000" cy="635000"/>
          </a:xfrm>
        </p:grpSpPr>
        <p:sp>
          <p:nvSpPr>
            <p:cNvPr id="6" name="TitleBackground">
              <a:extLst>
                <a:ext uri="{FF2B5EF4-FFF2-40B4-BE49-F238E27FC236}">
                  <a16:creationId xmlns:a16="http://schemas.microsoft.com/office/drawing/2014/main" id="{32FE0701-BEAA-40C6-8F7B-19215801324E}"/>
                </a:ext>
              </a:extLst>
            </p:cNvPr>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7" name="ColorBlock">
              <a:extLst>
                <a:ext uri="{FF2B5EF4-FFF2-40B4-BE49-F238E27FC236}">
                  <a16:creationId xmlns:a16="http://schemas.microsoft.com/office/drawing/2014/main" id="{6A7D29AE-D627-4F2B-960C-FB127ABD9014}"/>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8" name="TypeText">
              <a:extLst>
                <a:ext uri="{FF2B5EF4-FFF2-40B4-BE49-F238E27FC236}">
                  <a16:creationId xmlns:a16="http://schemas.microsoft.com/office/drawing/2014/main" id="{6B3A973A-9CE0-451F-8BD7-71683E374D0E}"/>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主观题</a:t>
              </a:r>
            </a:p>
          </p:txBody>
        </p:sp>
        <p:sp>
          <p:nvSpPr>
            <p:cNvPr id="9" name="TipText">
              <a:extLst>
                <a:ext uri="{FF2B5EF4-FFF2-40B4-BE49-F238E27FC236}">
                  <a16:creationId xmlns:a16="http://schemas.microsoft.com/office/drawing/2014/main" id="{9403CCF3-8D69-44CE-9FF9-9EB221864E11}"/>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10</a:t>
              </a:r>
              <a:r>
                <a:rPr kumimoji="0" lang="zh-CN" altLang="en-US" sz="2000" b="0"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分</a:t>
              </a:r>
            </a:p>
          </p:txBody>
        </p:sp>
      </p:grpSp>
      <p:grpSp>
        <p:nvGrpSpPr>
          <p:cNvPr id="17" name="组合 16">
            <a:extLst>
              <a:ext uri="{FF2B5EF4-FFF2-40B4-BE49-F238E27FC236}">
                <a16:creationId xmlns:a16="http://schemas.microsoft.com/office/drawing/2014/main" id="{56CDDE41-36D2-4F7E-A8EA-8F115B47D5E7}"/>
              </a:ext>
            </a:extLst>
          </p:cNvPr>
          <p:cNvGrpSpPr/>
          <p:nvPr>
            <p:custDataLst>
              <p:tags r:id="rId9"/>
            </p:custDataLst>
          </p:nvPr>
        </p:nvGrpSpPr>
        <p:grpSpPr>
          <a:xfrm>
            <a:off x="9537700" y="0"/>
            <a:ext cx="3815080" cy="647700"/>
            <a:chOff x="9537700" y="0"/>
            <a:chExt cx="3815080" cy="647700"/>
          </a:xfrm>
        </p:grpSpPr>
        <p:sp>
          <p:nvSpPr>
            <p:cNvPr id="14" name="RemarkBack">
              <a:extLst>
                <a:ext uri="{FF2B5EF4-FFF2-40B4-BE49-F238E27FC236}">
                  <a16:creationId xmlns:a16="http://schemas.microsoft.com/office/drawing/2014/main" id="{F08B70D6-2CA0-4805-826E-0EE6BBF53D35}"/>
                </a:ext>
              </a:extLst>
            </p:cNvPr>
            <p:cNvSpPr/>
            <p:nvPr>
              <p:custDataLst>
                <p:tags r:id="rId11"/>
              </p:custDataLst>
            </p:nvPr>
          </p:nvSpPr>
          <p:spPr>
            <a:xfrm>
              <a:off x="9537700" y="12700"/>
              <a:ext cx="381508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15" name="RemarkBlock">
              <a:extLst>
                <a:ext uri="{FF2B5EF4-FFF2-40B4-BE49-F238E27FC236}">
                  <a16:creationId xmlns:a16="http://schemas.microsoft.com/office/drawing/2014/main" id="{CAC30B2A-0C28-4C73-8CFB-9DA2D73B342E}"/>
                </a:ext>
              </a:extLst>
            </p:cNvPr>
            <p:cNvSpPr/>
            <p:nvPr>
              <p:custDataLst>
                <p:tags r:id="rId12"/>
              </p:custDataLst>
            </p:nvPr>
          </p:nvSpPr>
          <p:spPr>
            <a:xfrm>
              <a:off x="9537700" y="1270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16" name="RemarkTitleText">
              <a:extLst>
                <a:ext uri="{FF2B5EF4-FFF2-40B4-BE49-F238E27FC236}">
                  <a16:creationId xmlns:a16="http://schemas.microsoft.com/office/drawing/2014/main" id="{901C4ABB-91BB-46B2-9FC3-3005E274C4CA}"/>
                </a:ext>
              </a:extLst>
            </p:cNvPr>
            <p:cNvSpPr txBox="1"/>
            <p:nvPr>
              <p:custDataLst>
                <p:tags r:id="rId13"/>
              </p:custDataLst>
            </p:nvPr>
          </p:nvSpPr>
          <p:spPr>
            <a:xfrm>
              <a:off x="9779000" y="0"/>
              <a:ext cx="1905000" cy="635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答案解析</a:t>
              </a:r>
            </a:p>
          </p:txBody>
        </p:sp>
      </p:grpSp>
      <p:pic>
        <p:nvPicPr>
          <p:cNvPr id="3" name="图片 2">
            <a:extLst>
              <a:ext uri="{FF2B5EF4-FFF2-40B4-BE49-F238E27FC236}">
                <a16:creationId xmlns:a16="http://schemas.microsoft.com/office/drawing/2014/main" id="{0CAD5AB0-953E-4110-B7BF-F8B4FD33441F}"/>
              </a:ext>
            </a:extLst>
          </p:cNvPr>
          <p:cNvPicPr>
            <a:picLocks/>
          </p:cNvPicPr>
          <p:nvPr>
            <p:custDataLst>
              <p:tags r:id="rId10"/>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7420523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8578745-DDD6-45C2-A211-720E79FEA86C}"/>
              </a:ext>
            </a:extLst>
          </p:cNvPr>
          <p:cNvSpPr txBox="1"/>
          <p:nvPr>
            <p:custDataLst>
              <p:tags r:id="rId2"/>
            </p:custDataLst>
          </p:nvPr>
        </p:nvSpPr>
        <p:spPr>
          <a:xfrm>
            <a:off x="95250" y="2170589"/>
            <a:ext cx="7315200" cy="2143125"/>
          </a:xfrm>
          <a:prstGeom prst="rect">
            <a:avLst/>
          </a:prstGeom>
          <a:noFill/>
        </p:spPr>
        <p:txBody>
          <a:bodyPr vert="horz" wrap="squar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下面程序的运行结果是</a:t>
            </a:r>
            <a:endPar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#include &lt;iostream&gt;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using namespace std;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class </a:t>
            </a:r>
            <a:r>
              <a:rPr kumimoji="0" lang="en-US" altLang="zh-CN" sz="16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BaseClass</a:t>
            </a:r>
            <a:endPar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public: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void Fun1(){</a:t>
            </a:r>
            <a:r>
              <a:rPr kumimoji="0" lang="en-US" altLang="zh-CN" sz="16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cout</a:t>
            </a: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&lt;&lt;"Fun1() in </a:t>
            </a:r>
            <a:r>
              <a:rPr kumimoji="0" lang="en-US" altLang="zh-CN" sz="16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BaseClass</a:t>
            </a: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is called!"&lt;&lt;</a:t>
            </a:r>
            <a:r>
              <a:rPr kumimoji="0" lang="en-US" altLang="zh-CN" sz="16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endl</a:t>
            </a: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virtual void Fun2(){</a:t>
            </a:r>
            <a:r>
              <a:rPr kumimoji="0" lang="en-US" altLang="zh-CN" sz="16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cout</a:t>
            </a: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&lt;&lt;"Fun2() in </a:t>
            </a:r>
            <a:r>
              <a:rPr kumimoji="0" lang="en-US" altLang="zh-CN" sz="16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BaseClass</a:t>
            </a: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is called!"&lt;&lt;</a:t>
            </a:r>
            <a:r>
              <a:rPr kumimoji="0" lang="en-US" altLang="zh-CN" sz="16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endl</a:t>
            </a: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class </a:t>
            </a:r>
            <a:r>
              <a:rPr kumimoji="0" lang="en-US" altLang="zh-CN" sz="16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DerivedClass</a:t>
            </a: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public </a:t>
            </a:r>
            <a:r>
              <a:rPr kumimoji="0" lang="en-US" altLang="zh-CN" sz="16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BaseClass</a:t>
            </a:r>
            <a:endPar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public: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void Fun1(){</a:t>
            </a:r>
            <a:r>
              <a:rPr kumimoji="0" lang="en-US" altLang="zh-CN" sz="16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cout</a:t>
            </a: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&lt;&lt;"Fun1() in </a:t>
            </a:r>
            <a:r>
              <a:rPr kumimoji="0" lang="en-US" altLang="zh-CN" sz="16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DerivedClass</a:t>
            </a: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is called!"&lt;&lt;</a:t>
            </a:r>
            <a:r>
              <a:rPr kumimoji="0" lang="en-US" altLang="zh-CN" sz="16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endl</a:t>
            </a: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void Fun2(){</a:t>
            </a:r>
            <a:r>
              <a:rPr kumimoji="0" lang="en-US" altLang="zh-CN" sz="16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cout</a:t>
            </a: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&lt;&lt;"Fun2() in </a:t>
            </a:r>
            <a:r>
              <a:rPr kumimoji="0" lang="en-US" altLang="zh-CN" sz="16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DerivedClass</a:t>
            </a: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is called!"&lt;&lt;</a:t>
            </a:r>
            <a:r>
              <a:rPr kumimoji="0" lang="en-US" altLang="zh-CN" sz="16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endl</a:t>
            </a: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p>
        </p:txBody>
      </p:sp>
      <p:sp>
        <p:nvSpPr>
          <p:cNvPr id="5" name="矩形: 圆角 4">
            <a:extLst>
              <a:ext uri="{FF2B5EF4-FFF2-40B4-BE49-F238E27FC236}">
                <a16:creationId xmlns:a16="http://schemas.microsoft.com/office/drawing/2014/main" id="{2C996D8D-4A95-46DE-9E41-18D9738A6A09}"/>
              </a:ext>
            </a:extLst>
          </p:cNvPr>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作答</a:t>
            </a:r>
          </a:p>
        </p:txBody>
      </p:sp>
      <p:sp>
        <p:nvSpPr>
          <p:cNvPr id="11" name="矩形 10">
            <a:extLst>
              <a:ext uri="{FF2B5EF4-FFF2-40B4-BE49-F238E27FC236}">
                <a16:creationId xmlns:a16="http://schemas.microsoft.com/office/drawing/2014/main" id="{72FB4833-8622-41CF-B062-CAD6BE4E6A5F}"/>
              </a:ext>
            </a:extLst>
          </p:cNvPr>
          <p:cNvSpPr/>
          <p:nvPr>
            <p:custDataLst>
              <p:tags r:id="rId4"/>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正常使用主观题需</a:t>
            </a:r>
            <a:r>
              <a:rPr kumimoji="0" lang="en-US" altLang="zh-CN"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2.0</a:t>
            </a:r>
            <a:r>
              <a:rPr kumimoji="0" lang="zh-CN" altLang="en-US"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以上版本雨课堂</a:t>
            </a:r>
          </a:p>
        </p:txBody>
      </p:sp>
      <p:sp>
        <p:nvSpPr>
          <p:cNvPr id="12" name="文本框 11">
            <a:extLst>
              <a:ext uri="{FF2B5EF4-FFF2-40B4-BE49-F238E27FC236}">
                <a16:creationId xmlns:a16="http://schemas.microsoft.com/office/drawing/2014/main" id="{BE5ABC66-9A51-4754-8046-269CB5C529C7}"/>
              </a:ext>
            </a:extLst>
          </p:cNvPr>
          <p:cNvSpPr txBox="1"/>
          <p:nvPr/>
        </p:nvSpPr>
        <p:spPr>
          <a:xfrm>
            <a:off x="6913245" y="1115180"/>
            <a:ext cx="2509520" cy="230832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int main()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a:t>
            </a:r>
            <a:r>
              <a:rPr kumimoji="0" lang="en-US" altLang="zh-CN" sz="16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DerivedClass</a:t>
            </a: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a:t>
            </a:r>
            <a:r>
              <a:rPr kumimoji="0" lang="en-US" altLang="zh-CN" sz="16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BaseClass</a:t>
            </a: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*pb=&amp;d;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pb-&gt;Fun1();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pb-&gt;Fun2();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return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endParaRPr kumimoji="0"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p:txBody>
      </p:sp>
      <p:sp>
        <p:nvSpPr>
          <p:cNvPr id="13" name="矩形 12">
            <a:extLst>
              <a:ext uri="{FF2B5EF4-FFF2-40B4-BE49-F238E27FC236}">
                <a16:creationId xmlns:a16="http://schemas.microsoft.com/office/drawing/2014/main" id="{3E99A583-628C-468D-A7E9-CCC6A0696789}"/>
              </a:ext>
            </a:extLst>
          </p:cNvPr>
          <p:cNvSpPr/>
          <p:nvPr>
            <p:custDataLst>
              <p:tags r:id="rId5"/>
            </p:custDataLst>
          </p:nvPr>
        </p:nvSpPr>
        <p:spPr>
          <a:xfrm>
            <a:off x="9525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黑体" panose="02010609060101010101" pitchFamily="49" charset="-122"/>
              <a:cs typeface="+mn-cs"/>
            </a:endParaRPr>
          </a:p>
        </p:txBody>
      </p:sp>
      <p:sp>
        <p:nvSpPr>
          <p:cNvPr id="18" name="文本框 17">
            <a:extLst>
              <a:ext uri="{FF2B5EF4-FFF2-40B4-BE49-F238E27FC236}">
                <a16:creationId xmlns:a16="http://schemas.microsoft.com/office/drawing/2014/main" id="{F4C34829-9BD2-413C-9185-B7EDB797E7FC}"/>
              </a:ext>
            </a:extLst>
          </p:cNvPr>
          <p:cNvSpPr txBox="1"/>
          <p:nvPr>
            <p:custDataLst>
              <p:tags r:id="rId6"/>
            </p:custDataLst>
          </p:nvPr>
        </p:nvSpPr>
        <p:spPr>
          <a:xfrm>
            <a:off x="9613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可为此题添加文本、图片、公式等解析，且需将内容全部放在本区域内。正常使用需</a:t>
            </a:r>
            <a:r>
              <a:rPr kumimoji="0" lang="en-US" altLang="zh-CN"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3.0</a:t>
            </a:r>
            <a:r>
              <a:rPr kumimoji="0" lang="zh-CN" altLang="en-US"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以上版本</a:t>
            </a:r>
          </a:p>
        </p:txBody>
      </p:sp>
      <p:sp>
        <p:nvSpPr>
          <p:cNvPr id="19" name="文本框 18">
            <a:extLst>
              <a:ext uri="{FF2B5EF4-FFF2-40B4-BE49-F238E27FC236}">
                <a16:creationId xmlns:a16="http://schemas.microsoft.com/office/drawing/2014/main" id="{19B9FAE1-FC79-45C2-928F-2F7D2AEE4F22}"/>
              </a:ext>
            </a:extLst>
          </p:cNvPr>
          <p:cNvSpPr txBox="1"/>
          <p:nvPr>
            <p:custDataLst>
              <p:tags r:id="rId7"/>
            </p:custDataLst>
          </p:nvPr>
        </p:nvSpPr>
        <p:spPr>
          <a:xfrm>
            <a:off x="9779000" y="1270000"/>
            <a:ext cx="3332480" cy="2308324"/>
          </a:xfrm>
          <a:prstGeom prst="rect">
            <a:avLst/>
          </a:prstGeom>
          <a:noFill/>
        </p:spPr>
        <p:txBody>
          <a:bodyPr vert="horz"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Fun1() in BaseClass is called!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Fun2() in DerivedClass is called!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主函数中基类</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pb</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指针指向派生类对象</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Fun1()</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不是虚函数，不使用动态联编，使用基类指针调用基类</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Fun1()</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函数。</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Fun2()</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用</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virtual</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关键字说明，是虚函数，使用动态联编，调用派生类</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Fun2()</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函数。</a:t>
            </a:r>
            <a:endParaRPr kumimoji="0"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grpSp>
        <p:nvGrpSpPr>
          <p:cNvPr id="10" name="组合 9">
            <a:extLst>
              <a:ext uri="{FF2B5EF4-FFF2-40B4-BE49-F238E27FC236}">
                <a16:creationId xmlns:a16="http://schemas.microsoft.com/office/drawing/2014/main" id="{AE97D0B1-B70F-4B67-A21E-CABCDD8CF582}"/>
              </a:ext>
            </a:extLst>
          </p:cNvPr>
          <p:cNvGrpSpPr/>
          <p:nvPr>
            <p:custDataLst>
              <p:tags r:id="rId8"/>
            </p:custDataLst>
          </p:nvPr>
        </p:nvGrpSpPr>
        <p:grpSpPr>
          <a:xfrm>
            <a:off x="0" y="0"/>
            <a:ext cx="9144000" cy="635000"/>
            <a:chOff x="0" y="0"/>
            <a:chExt cx="9144000" cy="635000"/>
          </a:xfrm>
        </p:grpSpPr>
        <p:sp>
          <p:nvSpPr>
            <p:cNvPr id="6" name="TitleBackground">
              <a:extLst>
                <a:ext uri="{FF2B5EF4-FFF2-40B4-BE49-F238E27FC236}">
                  <a16:creationId xmlns:a16="http://schemas.microsoft.com/office/drawing/2014/main" id="{392D677F-654F-427C-8EE9-41CBB9536DA5}"/>
                </a:ext>
              </a:extLst>
            </p:cNvPr>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7" name="ColorBlock">
              <a:extLst>
                <a:ext uri="{FF2B5EF4-FFF2-40B4-BE49-F238E27FC236}">
                  <a16:creationId xmlns:a16="http://schemas.microsoft.com/office/drawing/2014/main" id="{CADE8EF6-34AD-4592-ABB5-F1CAE37BFF39}"/>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8" name="TypeText">
              <a:extLst>
                <a:ext uri="{FF2B5EF4-FFF2-40B4-BE49-F238E27FC236}">
                  <a16:creationId xmlns:a16="http://schemas.microsoft.com/office/drawing/2014/main" id="{418FE19F-2E7A-4872-A5D2-3EA69006F243}"/>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主观题</a:t>
              </a:r>
            </a:p>
          </p:txBody>
        </p:sp>
        <p:sp>
          <p:nvSpPr>
            <p:cNvPr id="9" name="TipText">
              <a:extLst>
                <a:ext uri="{FF2B5EF4-FFF2-40B4-BE49-F238E27FC236}">
                  <a16:creationId xmlns:a16="http://schemas.microsoft.com/office/drawing/2014/main" id="{A4B382EB-874E-4537-962D-37270DA6778F}"/>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10</a:t>
              </a:r>
              <a:r>
                <a:rPr kumimoji="0" lang="zh-CN" altLang="en-US" sz="2000" b="0"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分</a:t>
              </a:r>
            </a:p>
          </p:txBody>
        </p:sp>
      </p:grpSp>
      <p:grpSp>
        <p:nvGrpSpPr>
          <p:cNvPr id="17" name="组合 16">
            <a:extLst>
              <a:ext uri="{FF2B5EF4-FFF2-40B4-BE49-F238E27FC236}">
                <a16:creationId xmlns:a16="http://schemas.microsoft.com/office/drawing/2014/main" id="{071A4F13-5713-4D02-AE64-4B48311E2E01}"/>
              </a:ext>
            </a:extLst>
          </p:cNvPr>
          <p:cNvGrpSpPr/>
          <p:nvPr>
            <p:custDataLst>
              <p:tags r:id="rId9"/>
            </p:custDataLst>
          </p:nvPr>
        </p:nvGrpSpPr>
        <p:grpSpPr>
          <a:xfrm>
            <a:off x="9537700" y="0"/>
            <a:ext cx="3815080" cy="647700"/>
            <a:chOff x="9537700" y="0"/>
            <a:chExt cx="3815080" cy="647700"/>
          </a:xfrm>
        </p:grpSpPr>
        <p:sp>
          <p:nvSpPr>
            <p:cNvPr id="14" name="RemarkBack">
              <a:extLst>
                <a:ext uri="{FF2B5EF4-FFF2-40B4-BE49-F238E27FC236}">
                  <a16:creationId xmlns:a16="http://schemas.microsoft.com/office/drawing/2014/main" id="{0A565636-B594-4B5A-BBF1-7B305EDFAF0C}"/>
                </a:ext>
              </a:extLst>
            </p:cNvPr>
            <p:cNvSpPr/>
            <p:nvPr>
              <p:custDataLst>
                <p:tags r:id="rId11"/>
              </p:custDataLst>
            </p:nvPr>
          </p:nvSpPr>
          <p:spPr>
            <a:xfrm>
              <a:off x="9537700" y="12700"/>
              <a:ext cx="381508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15" name="RemarkBlock">
              <a:extLst>
                <a:ext uri="{FF2B5EF4-FFF2-40B4-BE49-F238E27FC236}">
                  <a16:creationId xmlns:a16="http://schemas.microsoft.com/office/drawing/2014/main" id="{285659BF-F264-496E-969B-D96E71D4530C}"/>
                </a:ext>
              </a:extLst>
            </p:cNvPr>
            <p:cNvSpPr/>
            <p:nvPr>
              <p:custDataLst>
                <p:tags r:id="rId12"/>
              </p:custDataLst>
            </p:nvPr>
          </p:nvSpPr>
          <p:spPr>
            <a:xfrm>
              <a:off x="9537700" y="1270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16" name="RemarkTitleText">
              <a:extLst>
                <a:ext uri="{FF2B5EF4-FFF2-40B4-BE49-F238E27FC236}">
                  <a16:creationId xmlns:a16="http://schemas.microsoft.com/office/drawing/2014/main" id="{2CC1A1B6-E4D4-4652-BCCA-3284ACC77C18}"/>
                </a:ext>
              </a:extLst>
            </p:cNvPr>
            <p:cNvSpPr txBox="1"/>
            <p:nvPr>
              <p:custDataLst>
                <p:tags r:id="rId13"/>
              </p:custDataLst>
            </p:nvPr>
          </p:nvSpPr>
          <p:spPr>
            <a:xfrm>
              <a:off x="9779000" y="0"/>
              <a:ext cx="1905000" cy="635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答案解析</a:t>
              </a:r>
            </a:p>
          </p:txBody>
        </p:sp>
      </p:grpSp>
      <p:pic>
        <p:nvPicPr>
          <p:cNvPr id="3" name="图片 2">
            <a:extLst>
              <a:ext uri="{FF2B5EF4-FFF2-40B4-BE49-F238E27FC236}">
                <a16:creationId xmlns:a16="http://schemas.microsoft.com/office/drawing/2014/main" id="{6F31242B-8905-43A8-A07E-B41B5C2CEDC3}"/>
              </a:ext>
            </a:extLst>
          </p:cNvPr>
          <p:cNvPicPr>
            <a:picLocks/>
          </p:cNvPicPr>
          <p:nvPr>
            <p:custDataLst>
              <p:tags r:id="rId10"/>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40256891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F4BFE5E-E5FC-43D6-A88D-70E9402AF412}"/>
              </a:ext>
            </a:extLst>
          </p:cNvPr>
          <p:cNvSpPr txBox="1"/>
          <p:nvPr>
            <p:custDataLst>
              <p:tags r:id="rId2"/>
            </p:custDataLst>
          </p:nvPr>
        </p:nvSpPr>
        <p:spPr>
          <a:xfrm>
            <a:off x="685800" y="2357437"/>
            <a:ext cx="7315200" cy="2143125"/>
          </a:xfrm>
          <a:prstGeom prst="rect">
            <a:avLst/>
          </a:prstGeom>
          <a:noFill/>
        </p:spPr>
        <p:txBody>
          <a:bodyPr vert="horz" wrap="squar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下面程序的运行结果是</a:t>
            </a:r>
            <a:endPar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#include &lt;iostream&gt;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using namespace std;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class 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public: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virtual ~B(){</a:t>
            </a:r>
            <a:r>
              <a:rPr kumimoji="0" lang="en-US" altLang="zh-CN" sz="16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cout</a:t>
            </a: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&lt;&lt;"~B() is called!"&lt;&lt;</a:t>
            </a:r>
            <a:r>
              <a:rPr kumimoji="0" lang="en-US" altLang="zh-CN" sz="16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endl</a:t>
            </a: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class D: public 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public: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~D(){</a:t>
            </a:r>
            <a:r>
              <a:rPr kumimoji="0" lang="en-US" altLang="zh-CN" sz="16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cout</a:t>
            </a: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&lt;&lt;"~D() is called!"&lt;&lt;</a:t>
            </a:r>
            <a:r>
              <a:rPr kumimoji="0" lang="en-US" altLang="zh-CN" sz="16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endl</a:t>
            </a: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int main()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B*pb=new 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delete pb;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return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endParaRPr kumimoji="0"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5" name="矩形: 圆角 4">
            <a:extLst>
              <a:ext uri="{FF2B5EF4-FFF2-40B4-BE49-F238E27FC236}">
                <a16:creationId xmlns:a16="http://schemas.microsoft.com/office/drawing/2014/main" id="{DB784F91-C4EF-467D-80C1-3C77BEE15E2A}"/>
              </a:ext>
            </a:extLst>
          </p:cNvPr>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作答</a:t>
            </a:r>
          </a:p>
        </p:txBody>
      </p:sp>
      <p:sp>
        <p:nvSpPr>
          <p:cNvPr id="11" name="矩形 10">
            <a:extLst>
              <a:ext uri="{FF2B5EF4-FFF2-40B4-BE49-F238E27FC236}">
                <a16:creationId xmlns:a16="http://schemas.microsoft.com/office/drawing/2014/main" id="{A58D82F3-5D91-4E21-8E95-B47FA0C0351D}"/>
              </a:ext>
            </a:extLst>
          </p:cNvPr>
          <p:cNvSpPr/>
          <p:nvPr>
            <p:custDataLst>
              <p:tags r:id="rId4"/>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正常使用主观题需</a:t>
            </a:r>
            <a:r>
              <a:rPr kumimoji="0" lang="en-US" altLang="zh-CN"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2.0</a:t>
            </a:r>
            <a:r>
              <a:rPr kumimoji="0" lang="zh-CN" altLang="en-US"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以上版本雨课堂</a:t>
            </a:r>
          </a:p>
        </p:txBody>
      </p:sp>
      <p:sp>
        <p:nvSpPr>
          <p:cNvPr id="12" name="矩形 11">
            <a:extLst>
              <a:ext uri="{FF2B5EF4-FFF2-40B4-BE49-F238E27FC236}">
                <a16:creationId xmlns:a16="http://schemas.microsoft.com/office/drawing/2014/main" id="{F7CEEFC6-8CAB-4FED-A272-04BE0681F2B9}"/>
              </a:ext>
            </a:extLst>
          </p:cNvPr>
          <p:cNvSpPr/>
          <p:nvPr>
            <p:custDataLst>
              <p:tags r:id="rId5"/>
            </p:custDataLst>
          </p:nvPr>
        </p:nvSpPr>
        <p:spPr>
          <a:xfrm>
            <a:off x="9525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黑体" panose="02010609060101010101" pitchFamily="49" charset="-122"/>
              <a:cs typeface="+mn-cs"/>
            </a:endParaRPr>
          </a:p>
        </p:txBody>
      </p:sp>
      <p:sp>
        <p:nvSpPr>
          <p:cNvPr id="17" name="文本框 16">
            <a:extLst>
              <a:ext uri="{FF2B5EF4-FFF2-40B4-BE49-F238E27FC236}">
                <a16:creationId xmlns:a16="http://schemas.microsoft.com/office/drawing/2014/main" id="{C5395EFF-1E02-4AEE-8406-A11196A75CFC}"/>
              </a:ext>
            </a:extLst>
          </p:cNvPr>
          <p:cNvSpPr txBox="1"/>
          <p:nvPr>
            <p:custDataLst>
              <p:tags r:id="rId6"/>
            </p:custDataLst>
          </p:nvPr>
        </p:nvSpPr>
        <p:spPr>
          <a:xfrm>
            <a:off x="9613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可为此题添加文本、图片、公式等解析，且需将内容全部放在本区域内。正常使用需</a:t>
            </a:r>
            <a:r>
              <a:rPr kumimoji="0" lang="en-US" altLang="zh-CN"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3.0</a:t>
            </a:r>
            <a:r>
              <a:rPr kumimoji="0" lang="zh-CN" altLang="en-US" sz="12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以上版本</a:t>
            </a:r>
          </a:p>
        </p:txBody>
      </p:sp>
      <p:sp>
        <p:nvSpPr>
          <p:cNvPr id="18" name="文本框 17">
            <a:extLst>
              <a:ext uri="{FF2B5EF4-FFF2-40B4-BE49-F238E27FC236}">
                <a16:creationId xmlns:a16="http://schemas.microsoft.com/office/drawing/2014/main" id="{079854DF-E5FA-491E-B34E-49BD484EE7F5}"/>
              </a:ext>
            </a:extLst>
          </p:cNvPr>
          <p:cNvSpPr txBox="1"/>
          <p:nvPr>
            <p:custDataLst>
              <p:tags r:id="rId7"/>
            </p:custDataLst>
          </p:nvPr>
        </p:nvSpPr>
        <p:spPr>
          <a:xfrm>
            <a:off x="9728200" y="635000"/>
            <a:ext cx="3332480" cy="4278094"/>
          </a:xfrm>
          <a:prstGeom prst="rect">
            <a:avLst/>
          </a:prstGeom>
          <a:noFill/>
        </p:spPr>
        <p:txBody>
          <a:bodyPr vert="horz"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 is called!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 is called!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主函数中使用基类指针指向派生类对象。创建派生类对象时先执行基类构造函数，再执行派生类构造函数。因为基类的析构函数为虚函数，因此</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delete</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基类指针时，可以实际执行派生类析构函数。析构函数执行顺序与构造函数执行顺序相反，因此先执行派生类析构函数，再执行基类析构函数。</a:t>
            </a:r>
            <a:endPar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若基类析构函数不使用</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virtual</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关键字修饰，则</a:t>
            </a: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delete pb</a:t>
            </a:r>
            <a:r>
              <a:rPr kumimoji="0" lang="zh-CN" altLang="en-US"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时只执行基类析构函数，即只输出</a:t>
            </a:r>
            <a:endPar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 is called!</a:t>
            </a:r>
            <a:endParaRPr kumimoji="0"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grpSp>
        <p:nvGrpSpPr>
          <p:cNvPr id="10" name="组合 9">
            <a:extLst>
              <a:ext uri="{FF2B5EF4-FFF2-40B4-BE49-F238E27FC236}">
                <a16:creationId xmlns:a16="http://schemas.microsoft.com/office/drawing/2014/main" id="{E9EC429F-F7E3-460D-A19C-E195054D54E1}"/>
              </a:ext>
            </a:extLst>
          </p:cNvPr>
          <p:cNvGrpSpPr/>
          <p:nvPr>
            <p:custDataLst>
              <p:tags r:id="rId8"/>
            </p:custDataLst>
          </p:nvPr>
        </p:nvGrpSpPr>
        <p:grpSpPr>
          <a:xfrm>
            <a:off x="0" y="0"/>
            <a:ext cx="9144000" cy="635000"/>
            <a:chOff x="0" y="0"/>
            <a:chExt cx="9144000" cy="635000"/>
          </a:xfrm>
        </p:grpSpPr>
        <p:sp>
          <p:nvSpPr>
            <p:cNvPr id="6" name="TitleBackground">
              <a:extLst>
                <a:ext uri="{FF2B5EF4-FFF2-40B4-BE49-F238E27FC236}">
                  <a16:creationId xmlns:a16="http://schemas.microsoft.com/office/drawing/2014/main" id="{AC3C123E-BFF5-4E48-A826-E410036A6998}"/>
                </a:ext>
              </a:extLst>
            </p:cNvPr>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7" name="ColorBlock">
              <a:extLst>
                <a:ext uri="{FF2B5EF4-FFF2-40B4-BE49-F238E27FC236}">
                  <a16:creationId xmlns:a16="http://schemas.microsoft.com/office/drawing/2014/main" id="{A2F8C75D-C238-4243-AA10-D754CAC1C28B}"/>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8" name="TypeText">
              <a:extLst>
                <a:ext uri="{FF2B5EF4-FFF2-40B4-BE49-F238E27FC236}">
                  <a16:creationId xmlns:a16="http://schemas.microsoft.com/office/drawing/2014/main" id="{EDC869EB-E9F1-4AF7-A90E-974024A6C35A}"/>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主观题</a:t>
              </a:r>
            </a:p>
          </p:txBody>
        </p:sp>
        <p:sp>
          <p:nvSpPr>
            <p:cNvPr id="9" name="TipText">
              <a:extLst>
                <a:ext uri="{FF2B5EF4-FFF2-40B4-BE49-F238E27FC236}">
                  <a16:creationId xmlns:a16="http://schemas.microsoft.com/office/drawing/2014/main" id="{825C873C-6E91-4BF8-9F20-C47288B28072}"/>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10</a:t>
              </a:r>
              <a:r>
                <a:rPr kumimoji="0" lang="zh-CN" altLang="en-US" sz="2000" b="0"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分</a:t>
              </a:r>
            </a:p>
          </p:txBody>
        </p:sp>
      </p:grpSp>
      <p:grpSp>
        <p:nvGrpSpPr>
          <p:cNvPr id="16" name="组合 15">
            <a:extLst>
              <a:ext uri="{FF2B5EF4-FFF2-40B4-BE49-F238E27FC236}">
                <a16:creationId xmlns:a16="http://schemas.microsoft.com/office/drawing/2014/main" id="{7F456211-F5AF-4E30-9FD4-EB7E82FF6BF8}"/>
              </a:ext>
            </a:extLst>
          </p:cNvPr>
          <p:cNvGrpSpPr/>
          <p:nvPr>
            <p:custDataLst>
              <p:tags r:id="rId9"/>
            </p:custDataLst>
          </p:nvPr>
        </p:nvGrpSpPr>
        <p:grpSpPr>
          <a:xfrm>
            <a:off x="9537700" y="0"/>
            <a:ext cx="3815080" cy="647700"/>
            <a:chOff x="9537700" y="0"/>
            <a:chExt cx="3815080" cy="647700"/>
          </a:xfrm>
        </p:grpSpPr>
        <p:sp>
          <p:nvSpPr>
            <p:cNvPr id="13" name="RemarkBack">
              <a:extLst>
                <a:ext uri="{FF2B5EF4-FFF2-40B4-BE49-F238E27FC236}">
                  <a16:creationId xmlns:a16="http://schemas.microsoft.com/office/drawing/2014/main" id="{86639EF1-9EDE-4DB7-876E-D22A9941F7C3}"/>
                </a:ext>
              </a:extLst>
            </p:cNvPr>
            <p:cNvSpPr/>
            <p:nvPr>
              <p:custDataLst>
                <p:tags r:id="rId11"/>
              </p:custDataLst>
            </p:nvPr>
          </p:nvSpPr>
          <p:spPr>
            <a:xfrm>
              <a:off x="9537700" y="12700"/>
              <a:ext cx="381508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14" name="RemarkBlock">
              <a:extLst>
                <a:ext uri="{FF2B5EF4-FFF2-40B4-BE49-F238E27FC236}">
                  <a16:creationId xmlns:a16="http://schemas.microsoft.com/office/drawing/2014/main" id="{6AFB9AEC-1D35-4008-9B55-9229FE623B96}"/>
                </a:ext>
              </a:extLst>
            </p:cNvPr>
            <p:cNvSpPr/>
            <p:nvPr>
              <p:custDataLst>
                <p:tags r:id="rId12"/>
              </p:custDataLst>
            </p:nvPr>
          </p:nvSpPr>
          <p:spPr>
            <a:xfrm>
              <a:off x="9537700" y="1270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15" name="RemarkTitleText">
              <a:extLst>
                <a:ext uri="{FF2B5EF4-FFF2-40B4-BE49-F238E27FC236}">
                  <a16:creationId xmlns:a16="http://schemas.microsoft.com/office/drawing/2014/main" id="{E39A3DA2-4057-49E4-8C16-D18466A62784}"/>
                </a:ext>
              </a:extLst>
            </p:cNvPr>
            <p:cNvSpPr txBox="1"/>
            <p:nvPr>
              <p:custDataLst>
                <p:tags r:id="rId13"/>
              </p:custDataLst>
            </p:nvPr>
          </p:nvSpPr>
          <p:spPr>
            <a:xfrm>
              <a:off x="9779000" y="0"/>
              <a:ext cx="1905000" cy="635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答案解析</a:t>
              </a:r>
            </a:p>
          </p:txBody>
        </p:sp>
      </p:grpSp>
      <p:pic>
        <p:nvPicPr>
          <p:cNvPr id="3" name="图片 2">
            <a:extLst>
              <a:ext uri="{FF2B5EF4-FFF2-40B4-BE49-F238E27FC236}">
                <a16:creationId xmlns:a16="http://schemas.microsoft.com/office/drawing/2014/main" id="{9118ECAA-45F5-4F1D-A8A1-598A45E9987A}"/>
              </a:ext>
            </a:extLst>
          </p:cNvPr>
          <p:cNvPicPr>
            <a:picLocks/>
          </p:cNvPicPr>
          <p:nvPr>
            <p:custDataLst>
              <p:tags r:id="rId10"/>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406634634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 name="PROBLEMHASREMARK" val="True"/>
  <p:tag name="PROBLEMREMARK" val="D选项中，在定义派生类时，如果没有指定继承方式，则默认采用私有继承方式"/>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9.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30.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31.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3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3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4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4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45.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HASREMARK" val="True"/>
  <p:tag name="PROBLEMREMARK" val="（1）：public BaseClass&#10;（2）：GetX()&#10;（3）：d.SetX(5);&#10;&#10;在主函数中需要通过对象d调用基类SetX函数，因此继承方式应为public，才能在类外对基类中的公有成员函数进行访问。"/>
  <p:tag name="PROBLEMVOICEALLOWED" val="False"/>
</p:tagLst>
</file>

<file path=ppt/tags/tag4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48.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49.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50.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51.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5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5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5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5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6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6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65.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HASREMARK" val="True"/>
  <p:tag name="PROBLEMREMARK" val="（1）：public B&#10;（2）：public D1&#10;（3）：public D2&#10;&#10;实例化派生类对象，逐层调用基类构造函数，再返回派生类构造函数&#10;&#10;学习虚拟继承后有新的方式可以获得同样输出"/>
  <p:tag name="PROBLEMVOICEALLOWED" val="False"/>
</p:tagLst>
</file>

<file path=ppt/tags/tag6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68.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69.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70.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71.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7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7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7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7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7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8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8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85.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HASREMARK" val="True"/>
  <p:tag name="PROBLEMREMARK" val="（1）：public B&#10;（2）：public D1&#10;（3）：public D2&#10;&#10;通过派生类逐层调用基类构造函数，再返回继续执行派生类构造函数&#10;&#10;学习虚拟继承后有其他的方式获得同样输出。"/>
  <p:tag name="PROBLEMVOICEALLOWED" val="False"/>
</p:tagLst>
</file>

<file path=ppt/tags/tag8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8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88.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89.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90.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91.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9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9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9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9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96.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9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9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0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0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0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0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0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0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10.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HASREMARK" val="True"/>
  <p:tag name="PROBLEMREMARK" val="（1）：public B&#10;（2）：public D1&#10;（3）：public D2&#10;&#10;通过派生类逐层调用基类构造函数，再返回继续执行派生类构造函数&#10;&#10;学习虚拟继承后有其他的方式获得同样输出。"/>
  <p:tag name="PROBLEMVOICEALLOWED" val="False"/>
</p:tagLst>
</file>

<file path=ppt/tags/tag11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1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13.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114.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115.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116.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11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1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1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2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21.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12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3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31.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3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3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3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35.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 name="PROBLEMHASREMARK" val="True"/>
  <p:tag name="PROBLEMREMARK" val="可以将派生类对象当做基类对象使用。&#10;即可以用派生类对象为基类对象赋值 （D）&#10;可以用派生类对象初始化基类引用 （C）&#10;可以用派生类对象初始化基类指针（A）&#10;不可以用基类对象初始化派生类指针"/>
</p:tagLst>
</file>

<file path=ppt/tags/tag13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4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4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4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46.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147.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148.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14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5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51.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5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6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61.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62.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 name="PROBLEMHASREMARK" val="True"/>
  <p:tag name="PROBLEMREMARK" val="C选项，基类构造函数的执行顺序取决于派生类的继承顺序，和派生类构造函数中对基类构造函数的调用顺序无关。&#10;&#10;D选项，直接基类中不存在同名成员，则派生类中不存在二义性问题。若直接基类B,C继承自同一基类A，则直接基类B,C中会存在继承自A的同名成员。"/>
</p:tagLst>
</file>

<file path=ppt/tags/tag16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6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6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7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7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7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73.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174.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175.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17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7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7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7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8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8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8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89.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 name="PROBLEMHASREMARK" val="True"/>
  <p:tag name="PROBLEMREMARK" val="B选项，静态函数与具体类实例无关，可以被看做是命名空间受限的普通函数，不能有运行时多态，因此不能被声明为虚函数。&#10;&#10;C选项，函数重定义即派生类和基类函数同名，参数表一致，返回类型一致。基类同名同参数表函数声明为virtual，则派生类重定义函数也为virtual&#10;&#10;D选项，只有涉及继承和派生时，才要有运行时多态，才涉及虚函数。"/>
</p:tagLst>
</file>

<file path=ppt/tags/tag19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9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9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9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9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9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00.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201.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202.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20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0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0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0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0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0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3.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HASREMARK" val="True"/>
  <p:tag name="PROBLEMREMARK" val="（1）：virtual public B&#10;（2）：virtual public B&#10;（3）：public D2, public D1 &#10;&#10;通过虚拟继承的方式继承，类B在派生类D12中只被继承一个实例，构造函数只被调用一次。&#10;&#10;先调用基类构造函数一次，输出 B()…,再调用派生类D2构造函数，说明D12在继承时先继承D2,再继承D1，在调用D1构造函数时由于已经调用过一次B的构造函数，因此不再调用B构造函数"/>
  <p:tag name="PROBLEMVOICEALLOWED" val="False"/>
</p:tagLst>
</file>

<file path=ppt/tags/tag21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1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216.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217.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218.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219.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22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21.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2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2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2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31.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3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33.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HASREMARK" val="True"/>
  <p:tag name="PROBLEMREMARK" val="(1): virtual void Display1()&#10;(2): void Display2()&#10;(3): BaseClass *p&#10;&#10;主函数中 b是Base基类对象，d是Derive派生类对象，fun1(&amp;b)是取b的地址作为参数传递，fun1(&amp;d)是取d的地址作为参数传递，fun1函数体是p-&gt;Display1(); 说明p是一个指针，既能指向基类地址，又能指向派生类地址，说明p是一个基类指针，对应填空（3）。传递不同参数输出内容不一致，说明发生函数重载，动态联编，因此基类的Display1()应该是虚函数，需使用virtual关键字修饰。&#10;&#10;fun2(b)和fun2(d)直接传递基类对象和派生类对象给基类引用，输出结果一致，说明调用函数一致，未发生动态联编，因此基类的Display2()函数不是虚函数"/>
  <p:tag name="PROBLEMVOICEALLOWED" val="False"/>
</p:tagLst>
</file>

<file path=ppt/tags/tag23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3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236.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237.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238.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239.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2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1.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4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24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4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4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0.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HASREMARK" val="True"/>
  <p:tag name="PROBLEMREMARK" val="(1): virtual ~BaseClass()&#10;&#10;主函数中使用基类指针指向派生类对象，希望能够实现通过delete指针达到释放派生类对象占用空间的效果，需要使用虚析构函数，使得动态联编在delete基类指针时能够调用派生类析构函数"/>
  <p:tag name="PROBLEMVOICEALLOWED" val="False"/>
</p:tagLst>
</file>

<file path=ppt/tags/tag25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5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253.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254.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255.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256.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2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5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26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61.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6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7.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HASREMARK" val="True"/>
  <p:tag name="PROBLEMREMARK" val="~DD() is called!&#10;~D1() is called&#10;~D2() is called!&#10;~B() is called!&#10;&#10;使用类DD创建对象dd时，调用DD构造函数，由于DD继承自D2,D1，因此会按照继承顺序先调用D2构造函数，D2继承B，会先调用B构造函数，因此实际先构造B，再构造D2。构造D1时，虽然D1继承B，但由于D1和D2继承B均使用虚拟继承，因此B是虚基类，在派生时只被调用一次构造函数。因此构造对象dd时实际构造函数执行顺序是 B-&gt;D2-&gt;D1-&gt;DD。dd对象撤销时析构函数执行顺序与构造函数执行顺序相反，因此析构函数执行顺序DD-&gt;D1-&gt;D2-&gt;B."/>
  <p:tag name="PROBLEMVOICEALLOWED" val="False"/>
</p:tagLst>
</file>

<file path=ppt/tags/tag26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6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270.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271.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272.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273.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27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7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27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7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7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4.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HASREMARK" val="True"/>
  <p:tag name="PROBLEMREMARK" val="Fun1() in BaseClass is called!&#10;Fun2() in DerivedClass is called!&#10;&#10;主函数中基类pb指针指向派生类对象d。Fun1()不是虚函数，不使用动态联编，使用基类指针调用基类Fun1()函数。Fun2()用virtual关键字说明，是虚函数，使用动态联编，调用派生类Fun2()函数。"/>
  <p:tag name="PROBLEMVOICEALLOWED" val="False"/>
</p:tagLst>
</file>

<file path=ppt/tags/tag28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8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287.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288.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289.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290.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29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9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29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9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9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9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1.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HASREMARK" val="True"/>
  <p:tag name="PROBLEMREMARK" val="~D() is called!&#10;~B() is called!&#10;&#10;主函数中使用基类指针指向派生类对象。创建派生类对象时先执行基类构造函数，再执行派生类构造函数。因为基类的析构函数为虚函数，因此delete基类指针时，可以实际执行派生类析构函数。析构函数执行顺序与构造函数执行顺序相反，因此先执行派生类析构函数，再执行基类析构函数。&#10;&#10;若基类析构函数不使用virtual关键字修饰，则delete pb时只执行基类析构函数，即只输出&#10;~B() is called!"/>
  <p:tag name="PROBLEMVOICEALLOWED" val="False"/>
</p:tagLst>
</file>

<file path=ppt/tags/tag30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0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304.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305.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306.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307.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30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1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311.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1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1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自定义 2">
      <a:dk1>
        <a:sysClr val="windowText" lastClr="000000"/>
      </a:dk1>
      <a:lt1>
        <a:sysClr val="window" lastClr="FFFFFF"/>
      </a:lt1>
      <a:dk2>
        <a:srgbClr val="880068"/>
      </a:dk2>
      <a:lt2>
        <a:srgbClr val="F4E7ED"/>
      </a:lt2>
      <a:accent1>
        <a:srgbClr val="880068"/>
      </a:accent1>
      <a:accent2>
        <a:srgbClr val="AC66BB"/>
      </a:accent2>
      <a:accent3>
        <a:srgbClr val="DE6C36"/>
      </a:accent3>
      <a:accent4>
        <a:srgbClr val="F9B639"/>
      </a:accent4>
      <a:accent5>
        <a:srgbClr val="CF6DA4"/>
      </a:accent5>
      <a:accent6>
        <a:srgbClr val="FA8D3D"/>
      </a:accent6>
      <a:hlink>
        <a:srgbClr val="880068"/>
      </a:hlink>
      <a:folHlink>
        <a:srgbClr val="B83D68"/>
      </a:folHlink>
    </a:clrScheme>
    <a:fontScheme name="Office 经典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700</TotalTime>
  <Words>3431</Words>
  <Application>Microsoft Office PowerPoint</Application>
  <PresentationFormat>全屏显示(4:3)</PresentationFormat>
  <Paragraphs>504</Paragraphs>
  <Slides>16</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16</vt:i4>
      </vt:variant>
    </vt:vector>
  </HeadingPairs>
  <TitlesOfParts>
    <vt:vector size="25" baseType="lpstr">
      <vt:lpstr>Microsoft Yahei</vt:lpstr>
      <vt:lpstr>等线</vt:lpstr>
      <vt:lpstr>方正姚体</vt:lpstr>
      <vt:lpstr>黑体</vt:lpstr>
      <vt:lpstr>宋体</vt:lpstr>
      <vt:lpstr>Arial</vt:lpstr>
      <vt:lpstr>Calibri</vt:lpstr>
      <vt:lpstr>Courier New</vt:lpstr>
      <vt:lpstr>Office 主题</vt:lpstr>
      <vt:lpstr>高级语言程序设计2-2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Song</dc:creator>
  <cp:lastModifiedBy>liyusen</cp:lastModifiedBy>
  <cp:revision>96</cp:revision>
  <dcterms:created xsi:type="dcterms:W3CDTF">2021-03-16T05:08:49Z</dcterms:created>
  <dcterms:modified xsi:type="dcterms:W3CDTF">2021-05-29T06:58:41Z</dcterms:modified>
</cp:coreProperties>
</file>