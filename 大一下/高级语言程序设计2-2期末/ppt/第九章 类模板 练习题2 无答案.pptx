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539" r:id="rId6"/>
    <p:sldId id="834" r:id="rId7"/>
    <p:sldId id="835" r:id="rId8"/>
    <p:sldId id="839" r:id="rId9"/>
    <p:sldId id="264" r:id="rId10"/>
    <p:sldId id="838" r:id="rId11"/>
    <p:sldId id="844" r:id="rId12"/>
    <p:sldId id="829" r:id="rId13"/>
    <p:sldId id="840" r:id="rId14"/>
    <p:sldId id="830" r:id="rId15"/>
    <p:sldId id="841" r:id="rId16"/>
  </p:sldIdLst>
  <p:sldSz cx="9144000" cy="6858000" type="screen4x3"/>
  <p:notesSz cx="6858000" cy="9144000"/>
  <p:custDataLst>
    <p:tags r:id="rId2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1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56" y="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gs" Target="tags/tag170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E3039-703D-497D-8712-7C61BB75A8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B5EF36-BE4B-4335-B5A4-5B65C3F4350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5EF36-BE4B-4335-B5A4-5B65C3F435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C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5EF36-BE4B-4335-B5A4-5B65C3F435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5EF36-BE4B-4335-B5A4-5B65C3F435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5EF36-BE4B-4335-B5A4-5B65C3F435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C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5EF36-BE4B-4335-B5A4-5B65C3F435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5EF36-BE4B-4335-B5A4-5B65C3F435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</a:t>
            </a:r>
            <a:endParaRPr lang="zh-CN" altLang="en-US"/>
          </a:p>
          <a:p>
            <a:r>
              <a:rPr lang="zh-CN" altLang="en-US"/>
              <a:t>模板类是类模板实例化后的一个产物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5EF36-BE4B-4335-B5A4-5B65C3F435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5EF36-BE4B-4335-B5A4-5B65C3F435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5EF36-BE4B-4335-B5A4-5B65C3F435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(a)(b)(c)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5EF36-BE4B-4335-B5A4-5B65C3F435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59FF7-2A57-4FB5-A98B-0C21817D52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6E45-5650-4FCC-93E8-F046300F8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59FF7-2A57-4FB5-A98B-0C21817D52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6E45-5650-4FCC-93E8-F046300F8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59FF7-2A57-4FB5-A98B-0C21817D52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6E45-5650-4FCC-93E8-F046300F8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59FF7-2A57-4FB5-A98B-0C21817D52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6E45-5650-4FCC-93E8-F046300F8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59FF7-2A57-4FB5-A98B-0C21817D52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6E45-5650-4FCC-93E8-F046300F8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59FF7-2A57-4FB5-A98B-0C21817D52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6E45-5650-4FCC-93E8-F046300F8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59FF7-2A57-4FB5-A98B-0C21817D52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6E45-5650-4FCC-93E8-F046300F8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59FF7-2A57-4FB5-A98B-0C21817D52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6E45-5650-4FCC-93E8-F046300F8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59FF7-2A57-4FB5-A98B-0C21817D52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6E45-5650-4FCC-93E8-F046300F8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59FF7-2A57-4FB5-A98B-0C21817D52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6E45-5650-4FCC-93E8-F046300F8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59FF7-2A57-4FB5-A98B-0C21817D52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6E45-5650-4FCC-93E8-F046300F8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72250" y="179388"/>
            <a:ext cx="1447800" cy="646112"/>
          </a:xfrm>
          <a:prstGeom prst="rect">
            <a:avLst/>
          </a:prstGeom>
          <a:effectLst>
            <a:outerShdw blurRad="25400" dist="12700" dir="2700000" algn="tl" rotWithShape="0">
              <a:schemeClr val="bg1">
                <a:alpha val="60000"/>
              </a:schemeClr>
            </a:outerShdw>
          </a:effec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4348" y="2000240"/>
            <a:ext cx="7715304" cy="1928826"/>
          </a:xfrm>
        </p:spPr>
        <p:txBody>
          <a:bodyPr/>
          <a:lstStyle>
            <a:lvl1pPr algn="ctr">
              <a:defRPr sz="480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14348" y="4000504"/>
            <a:ext cx="7715304" cy="1928826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6500813" y="6551613"/>
            <a:ext cx="1500187" cy="3063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97875" y="6551613"/>
            <a:ext cx="746125" cy="3063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C10EB3-7514-438F-ABED-3A5C1E597916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57200" y="1000125"/>
            <a:ext cx="8229600" cy="85725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6500813" y="6551613"/>
            <a:ext cx="1500187" cy="3063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zh-CN" altLang="en-US" dirty="0"/>
              <a:t>高级语言</a:t>
            </a:r>
            <a:r>
              <a:rPr lang="en-US" altLang="zh-CN" dirty="0"/>
              <a:t>C++</a:t>
            </a:r>
            <a:r>
              <a:rPr lang="zh-CN" altLang="en-US" dirty="0"/>
              <a:t>程序设计</a:t>
            </a:r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97875" y="6551613"/>
            <a:ext cx="746125" cy="3063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E70BF1-4795-41F2-8EDC-EAE699737471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>
          <a:xfrm>
            <a:off x="6500813" y="6551613"/>
            <a:ext cx="1500187" cy="3063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>
          <a:xfrm>
            <a:off x="8397875" y="6551613"/>
            <a:ext cx="746125" cy="3063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5143908-0819-4B70-B92B-71A05F9F97D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高级语言</a:t>
            </a:r>
            <a:r>
              <a:rPr lang="en-US" altLang="zh-CN"/>
              <a:t>C++</a:t>
            </a:r>
            <a:r>
              <a:rPr lang="zh-CN" altLang="en-US"/>
              <a:t>程序设计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28802"/>
            <a:ext cx="4038600" cy="450059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28802"/>
            <a:ext cx="4038600" cy="450059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6500813" y="6551613"/>
            <a:ext cx="1500187" cy="3063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97875" y="6551613"/>
            <a:ext cx="746125" cy="3063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0DAD08-F0B6-4995-B472-71CC52BBF76B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" name="文本占位符 2"/>
          <p:cNvSpPr>
            <a:spLocks noGrp="1"/>
          </p:cNvSpPr>
          <p:nvPr>
            <p:ph type="body" idx="1"/>
          </p:nvPr>
        </p:nvSpPr>
        <p:spPr>
          <a:xfrm>
            <a:off x="457200" y="4286256"/>
            <a:ext cx="2614602" cy="2143140"/>
          </a:xfrm>
        </p:spPr>
        <p:txBody>
          <a:bodyPr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1" name="内容占位符 3"/>
          <p:cNvSpPr>
            <a:spLocks noGrp="1"/>
          </p:cNvSpPr>
          <p:nvPr>
            <p:ph sz="half" idx="2"/>
          </p:nvPr>
        </p:nvSpPr>
        <p:spPr>
          <a:xfrm>
            <a:off x="457200" y="1928802"/>
            <a:ext cx="2614602" cy="21431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4" name="文本占位符 2"/>
          <p:cNvSpPr>
            <a:spLocks noGrp="1"/>
          </p:cNvSpPr>
          <p:nvPr>
            <p:ph type="body" idx="13"/>
          </p:nvPr>
        </p:nvSpPr>
        <p:spPr>
          <a:xfrm>
            <a:off x="3243282" y="4286256"/>
            <a:ext cx="2614602" cy="2143140"/>
          </a:xfrm>
        </p:spPr>
        <p:txBody>
          <a:bodyPr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5" name="内容占位符 3"/>
          <p:cNvSpPr>
            <a:spLocks noGrp="1"/>
          </p:cNvSpPr>
          <p:nvPr>
            <p:ph sz="half" idx="14"/>
          </p:nvPr>
        </p:nvSpPr>
        <p:spPr>
          <a:xfrm>
            <a:off x="3243282" y="1928802"/>
            <a:ext cx="2614602" cy="21431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6" name="文本占位符 2"/>
          <p:cNvSpPr>
            <a:spLocks noGrp="1"/>
          </p:cNvSpPr>
          <p:nvPr>
            <p:ph type="body" idx="15"/>
          </p:nvPr>
        </p:nvSpPr>
        <p:spPr>
          <a:xfrm>
            <a:off x="6072198" y="4286256"/>
            <a:ext cx="2614602" cy="2143140"/>
          </a:xfrm>
        </p:spPr>
        <p:txBody>
          <a:bodyPr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7" name="内容占位符 3"/>
          <p:cNvSpPr>
            <a:spLocks noGrp="1"/>
          </p:cNvSpPr>
          <p:nvPr>
            <p:ph sz="half" idx="16"/>
          </p:nvPr>
        </p:nvSpPr>
        <p:spPr>
          <a:xfrm>
            <a:off x="6072198" y="1928802"/>
            <a:ext cx="2614602" cy="21431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7"/>
          </p:nvPr>
        </p:nvSpPr>
        <p:spPr>
          <a:xfrm>
            <a:off x="6500813" y="6551613"/>
            <a:ext cx="1500187" cy="3063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9"/>
          </p:nvPr>
        </p:nvSpPr>
        <p:spPr>
          <a:xfrm>
            <a:off x="8397875" y="6551613"/>
            <a:ext cx="746125" cy="3063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3A8F5F-2ECD-4E36-B5A7-02F1175D8C43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500813" y="6551613"/>
            <a:ext cx="1500187" cy="3063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高级语言</a:t>
            </a:r>
            <a:r>
              <a:rPr lang="en-US" altLang="zh-CN"/>
              <a:t>C++</a:t>
            </a:r>
            <a:r>
              <a:rPr lang="zh-CN" altLang="en-US"/>
              <a:t>程序设计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8397875" y="6551613"/>
            <a:ext cx="746125" cy="3063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5143908-0819-4B70-B92B-71A05F9F97D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高级语言</a:t>
            </a:r>
            <a:r>
              <a:rPr lang="en-US" altLang="zh-CN"/>
              <a:t>C++</a:t>
            </a:r>
            <a:r>
              <a:rPr lang="zh-CN" altLang="en-US"/>
              <a:t>程序设计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emf"/><Relationship Id="rId8" Type="http://schemas.openxmlformats.org/officeDocument/2006/relationships/image" Target="../media/image2.png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59FF7-2A57-4FB5-A98B-0C21817D52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F6E45-5650-4FCC-93E8-F046300F8FC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6572250"/>
            <a:ext cx="9144000" cy="285750"/>
          </a:xfrm>
          <a:prstGeom prst="rect">
            <a:avLst/>
          </a:prstGeom>
          <a:gradFill flip="none" rotWithShape="1">
            <a:gsLst>
              <a:gs pos="0">
                <a:schemeClr val="tx2">
                  <a:shade val="30000"/>
                  <a:satMod val="115000"/>
                </a:schemeClr>
              </a:gs>
              <a:gs pos="50000">
                <a:schemeClr val="tx2">
                  <a:shade val="67500"/>
                  <a:satMod val="115000"/>
                </a:schemeClr>
              </a:gs>
              <a:gs pos="100000">
                <a:schemeClr val="tx2">
                  <a:shade val="100000"/>
                  <a:satMod val="115000"/>
                </a:schemeClr>
              </a:gs>
            </a:gsLst>
            <a:lin ang="54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2786063" cy="85725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50000">
                <a:schemeClr val="tx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10800000" scaled="1"/>
            <a:tileRect/>
          </a:gradFill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786063" y="0"/>
            <a:ext cx="6357937" cy="857250"/>
          </a:xfrm>
          <a:prstGeom prst="rect">
            <a:avLst/>
          </a:prstGeom>
          <a:gradFill flip="none" rotWithShape="1">
            <a:gsLst>
              <a:gs pos="30000">
                <a:schemeClr val="tx2"/>
              </a:gs>
              <a:gs pos="60000">
                <a:schemeClr val="tx2">
                  <a:lumMod val="40000"/>
                  <a:lumOff val="60000"/>
                </a:schemeClr>
              </a:gs>
              <a:gs pos="90000">
                <a:schemeClr val="bg1"/>
              </a:gs>
            </a:gsLst>
            <a:lin ang="10800000" scaled="1"/>
            <a:tileRect/>
          </a:gra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29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1000125"/>
            <a:ext cx="8229600" cy="714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0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928813"/>
            <a:ext cx="8229600" cy="45005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721026" y="6551613"/>
            <a:ext cx="1715070" cy="306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Courier New" panose="02070309020205020404" pitchFamily="49" charset="0"/>
                <a:ea typeface="黑体" panose="02010609060101010101" pitchFamily="2" charset="-122"/>
                <a:cs typeface="Courier New" panose="02070309020205020404" pitchFamily="49" charset="0"/>
              </a:defRPr>
            </a:lvl1pPr>
          </a:lstStyle>
          <a:p>
            <a:pPr>
              <a:defRPr/>
            </a:pPr>
            <a:r>
              <a:rPr lang="zh-CN" altLang="en-US"/>
              <a:t>高级语言</a:t>
            </a:r>
            <a:r>
              <a:rPr lang="en-US" altLang="zh-CN"/>
              <a:t>C++</a:t>
            </a:r>
            <a:r>
              <a:rPr lang="zh-CN" altLang="en-US"/>
              <a:t>程序设计</a:t>
            </a:r>
            <a:endParaRPr lang="zh-CN" altLang="en-US"/>
          </a:p>
        </p:txBody>
      </p:sp>
      <p:pic>
        <p:nvPicPr>
          <p:cNvPr id="1034" name="图片 12"/>
          <p:cNvPicPr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14313" y="6594475"/>
            <a:ext cx="19510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5" name="Picture 12">
            <a:hlinkClick r:id="" action="ppaction://hlinkshowjump?jump=firstslide"/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329613" y="50800"/>
            <a:ext cx="781050" cy="776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 userDrawn="1"/>
        </p:nvSpPr>
        <p:spPr>
          <a:xfrm>
            <a:off x="5868144" y="6572250"/>
            <a:ext cx="3242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200" dirty="0">
                <a:solidFill>
                  <a:schemeClr val="bg1"/>
                </a:solidFill>
              </a:rPr>
              <a:t>计算机学院</a:t>
            </a:r>
            <a:r>
              <a:rPr lang="en-US" altLang="zh-CN" sz="1200" dirty="0">
                <a:solidFill>
                  <a:schemeClr val="bg1"/>
                </a:solidFill>
              </a:rPr>
              <a:t> &amp; </a:t>
            </a:r>
            <a:r>
              <a:rPr lang="zh-CN" altLang="en-US" sz="1200" dirty="0">
                <a:solidFill>
                  <a:schemeClr val="bg1"/>
                </a:solidFill>
              </a:rPr>
              <a:t>网络空间安全学院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 "/>
        <a:defRPr sz="2800" kern="1200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18.xml"/><Relationship Id="rId2" Type="http://schemas.openxmlformats.org/officeDocument/2006/relationships/tags" Target="../tags/tag2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image" Target="../media/image4.png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1" Type="http://schemas.openxmlformats.org/officeDocument/2006/relationships/notesSlide" Target="../notesSlides/notesSlide3.xml"/><Relationship Id="rId20" Type="http://schemas.openxmlformats.org/officeDocument/2006/relationships/slideLayout" Target="../slideLayouts/slideLayout18.xml"/><Relationship Id="rId2" Type="http://schemas.openxmlformats.org/officeDocument/2006/relationships/tags" Target="../tags/tag20.xml"/><Relationship Id="rId19" Type="http://schemas.openxmlformats.org/officeDocument/2006/relationships/tags" Target="../tags/tag36.xml"/><Relationship Id="rId18" Type="http://schemas.openxmlformats.org/officeDocument/2006/relationships/tags" Target="../tags/tag35.xml"/><Relationship Id="rId17" Type="http://schemas.openxmlformats.org/officeDocument/2006/relationships/image" Target="../media/image4.png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1" Type="http://schemas.openxmlformats.org/officeDocument/2006/relationships/notesSlide" Target="../notesSlides/notesSlide4.xml"/><Relationship Id="rId20" Type="http://schemas.openxmlformats.org/officeDocument/2006/relationships/slideLayout" Target="../slideLayouts/slideLayout18.xml"/><Relationship Id="rId2" Type="http://schemas.openxmlformats.org/officeDocument/2006/relationships/tags" Target="../tags/tag38.xml"/><Relationship Id="rId19" Type="http://schemas.openxmlformats.org/officeDocument/2006/relationships/tags" Target="../tags/tag54.xml"/><Relationship Id="rId18" Type="http://schemas.openxmlformats.org/officeDocument/2006/relationships/tags" Target="../tags/tag53.xml"/><Relationship Id="rId17" Type="http://schemas.openxmlformats.org/officeDocument/2006/relationships/image" Target="../media/image4.png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1" Type="http://schemas.openxmlformats.org/officeDocument/2006/relationships/notesSlide" Target="../notesSlides/notesSlide5.xml"/><Relationship Id="rId20" Type="http://schemas.openxmlformats.org/officeDocument/2006/relationships/slideLayout" Target="../slideLayouts/slideLayout18.xml"/><Relationship Id="rId2" Type="http://schemas.openxmlformats.org/officeDocument/2006/relationships/tags" Target="../tags/tag56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image" Target="../media/image4.png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tags" Target="../tags/tag5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1" Type="http://schemas.openxmlformats.org/officeDocument/2006/relationships/notesSlide" Target="../notesSlides/notesSlide6.xml"/><Relationship Id="rId20" Type="http://schemas.openxmlformats.org/officeDocument/2006/relationships/slideLayout" Target="../slideLayouts/slideLayout18.xml"/><Relationship Id="rId2" Type="http://schemas.openxmlformats.org/officeDocument/2006/relationships/tags" Target="../tags/tag74.xml"/><Relationship Id="rId19" Type="http://schemas.openxmlformats.org/officeDocument/2006/relationships/tags" Target="../tags/tag90.xml"/><Relationship Id="rId18" Type="http://schemas.openxmlformats.org/officeDocument/2006/relationships/tags" Target="../tags/tag89.xml"/><Relationship Id="rId17" Type="http://schemas.openxmlformats.org/officeDocument/2006/relationships/image" Target="../media/image5.png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tags" Target="../tags/tag7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1" Type="http://schemas.openxmlformats.org/officeDocument/2006/relationships/notesSlide" Target="../notesSlides/notesSlide7.xml"/><Relationship Id="rId20" Type="http://schemas.openxmlformats.org/officeDocument/2006/relationships/slideLayout" Target="../slideLayouts/slideLayout18.xml"/><Relationship Id="rId2" Type="http://schemas.openxmlformats.org/officeDocument/2006/relationships/tags" Target="../tags/tag92.xml"/><Relationship Id="rId19" Type="http://schemas.openxmlformats.org/officeDocument/2006/relationships/tags" Target="../tags/tag108.xml"/><Relationship Id="rId18" Type="http://schemas.openxmlformats.org/officeDocument/2006/relationships/tags" Target="../tags/tag107.xml"/><Relationship Id="rId17" Type="http://schemas.openxmlformats.org/officeDocument/2006/relationships/image" Target="../media/image5.png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tags" Target="../tags/tag9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117.xml"/><Relationship Id="rId1" Type="http://schemas.openxmlformats.org/officeDocument/2006/relationships/tags" Target="../tags/tag10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4" Type="http://schemas.openxmlformats.org/officeDocument/2006/relationships/slideLayout" Target="../slideLayouts/slideLayout18.xml"/><Relationship Id="rId13" Type="http://schemas.openxmlformats.org/officeDocument/2006/relationships/tags" Target="../tags/tag129.xml"/><Relationship Id="rId12" Type="http://schemas.openxmlformats.org/officeDocument/2006/relationships/image" Target="../media/image5.png"/><Relationship Id="rId11" Type="http://schemas.openxmlformats.org/officeDocument/2006/relationships/tags" Target="../tags/tag128.xml"/><Relationship Id="rId10" Type="http://schemas.openxmlformats.org/officeDocument/2006/relationships/tags" Target="../tags/tag127.xml"/><Relationship Id="rId1" Type="http://schemas.openxmlformats.org/officeDocument/2006/relationships/tags" Target="../tags/tag11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4" Type="http://schemas.openxmlformats.org/officeDocument/2006/relationships/slideLayout" Target="../slideLayouts/slideLayout18.xml"/><Relationship Id="rId13" Type="http://schemas.openxmlformats.org/officeDocument/2006/relationships/tags" Target="../tags/tag141.xml"/><Relationship Id="rId12" Type="http://schemas.openxmlformats.org/officeDocument/2006/relationships/image" Target="../media/image5.png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150.xml"/><Relationship Id="rId1" Type="http://schemas.openxmlformats.org/officeDocument/2006/relationships/tags" Target="../tags/tag14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tags" Target="../tags/tag158.xml"/><Relationship Id="rId7" Type="http://schemas.openxmlformats.org/officeDocument/2006/relationships/tags" Target="../tags/tag157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2" Type="http://schemas.openxmlformats.org/officeDocument/2006/relationships/notesSlide" Target="../notesSlides/notesSlide10.xml"/><Relationship Id="rId21" Type="http://schemas.openxmlformats.org/officeDocument/2006/relationships/slideLayout" Target="../slideLayouts/slideLayout18.xml"/><Relationship Id="rId20" Type="http://schemas.openxmlformats.org/officeDocument/2006/relationships/tags" Target="../tags/tag169.xml"/><Relationship Id="rId2" Type="http://schemas.openxmlformats.org/officeDocument/2006/relationships/tags" Target="../tags/tag152.xml"/><Relationship Id="rId19" Type="http://schemas.openxmlformats.org/officeDocument/2006/relationships/image" Target="../media/image5.png"/><Relationship Id="rId18" Type="http://schemas.openxmlformats.org/officeDocument/2006/relationships/tags" Target="../tags/tag168.xml"/><Relationship Id="rId17" Type="http://schemas.openxmlformats.org/officeDocument/2006/relationships/tags" Target="../tags/tag167.xml"/><Relationship Id="rId16" Type="http://schemas.openxmlformats.org/officeDocument/2006/relationships/tags" Target="../tags/tag166.xml"/><Relationship Id="rId15" Type="http://schemas.openxmlformats.org/officeDocument/2006/relationships/tags" Target="../tags/tag165.xml"/><Relationship Id="rId14" Type="http://schemas.openxmlformats.org/officeDocument/2006/relationships/tags" Target="../tags/tag164.xml"/><Relationship Id="rId13" Type="http://schemas.openxmlformats.org/officeDocument/2006/relationships/tags" Target="../tags/tag163.xml"/><Relationship Id="rId12" Type="http://schemas.openxmlformats.org/officeDocument/2006/relationships/tags" Target="../tags/tag162.xml"/><Relationship Id="rId11" Type="http://schemas.openxmlformats.org/officeDocument/2006/relationships/tags" Target="../tags/tag161.xml"/><Relationship Id="rId10" Type="http://schemas.openxmlformats.org/officeDocument/2006/relationships/tags" Target="../tags/tag160.xml"/><Relationship Id="rId1" Type="http://schemas.openxmlformats.org/officeDocument/2006/relationships/tags" Target="../tags/tag1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66530" y="2235200"/>
            <a:ext cx="7772400" cy="238760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高级语言程序设计</a:t>
            </a:r>
            <a:r>
              <a:rPr lang="en-US" altLang="zh-CN" dirty="0"/>
              <a:t>2-2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类模板课后练习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914400" y="1178719"/>
            <a:ext cx="7315200" cy="160734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950" dirty="0">
                <a:solidFill>
                  <a:srgbClr val="000000"/>
                </a:solidFill>
              </a:rPr>
              <a:t>有如下模板定义</a:t>
            </a:r>
            <a:r>
              <a:rPr lang="en-US" altLang="zh-CN" sz="1950" dirty="0">
                <a:solidFill>
                  <a:srgbClr val="000000"/>
                </a:solidFill>
              </a:rPr>
              <a:t>:</a:t>
            </a:r>
            <a:endParaRPr lang="en-US" altLang="zh-CN" sz="1950" dirty="0">
              <a:solidFill>
                <a:srgbClr val="000000"/>
              </a:solidFill>
            </a:endParaRPr>
          </a:p>
          <a:p>
            <a:r>
              <a:rPr lang="en-US" altLang="zh-CN" sz="1950" dirty="0">
                <a:solidFill>
                  <a:srgbClr val="000000"/>
                </a:solidFill>
              </a:rPr>
              <a:t>Template &lt;class T&gt;T fun(T x, T y){return x*</a:t>
            </a:r>
            <a:r>
              <a:rPr lang="en-US" altLang="zh-CN" sz="1950" dirty="0" err="1">
                <a:solidFill>
                  <a:srgbClr val="000000"/>
                </a:solidFill>
              </a:rPr>
              <a:t>x+y</a:t>
            </a:r>
            <a:r>
              <a:rPr lang="en-US" altLang="zh-CN" sz="1950" dirty="0">
                <a:solidFill>
                  <a:srgbClr val="000000"/>
                </a:solidFill>
              </a:rPr>
              <a:t>*y;}</a:t>
            </a:r>
            <a:endParaRPr lang="en-US" altLang="zh-CN" sz="1950" dirty="0">
              <a:solidFill>
                <a:srgbClr val="000000"/>
              </a:solidFill>
            </a:endParaRPr>
          </a:p>
          <a:p>
            <a:r>
              <a:rPr lang="zh-CN" altLang="en-US" sz="1950" dirty="0">
                <a:solidFill>
                  <a:srgbClr val="000000"/>
                </a:solidFill>
              </a:rPr>
              <a:t>在下列对</a:t>
            </a:r>
            <a:r>
              <a:rPr lang="en-US" altLang="zh-CN" sz="1950" dirty="0">
                <a:solidFill>
                  <a:srgbClr val="000000"/>
                </a:solidFill>
              </a:rPr>
              <a:t>fun</a:t>
            </a:r>
            <a:r>
              <a:rPr lang="zh-CN" altLang="en-US" sz="1950" dirty="0">
                <a:solidFill>
                  <a:srgbClr val="000000"/>
                </a:solidFill>
              </a:rPr>
              <a:t>的调用中，错误的是：</a:t>
            </a:r>
            <a:endParaRPr lang="zh-CN" altLang="en-US" sz="1950" dirty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1828800" y="2946798"/>
            <a:ext cx="6400800" cy="48220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950" dirty="0">
                <a:solidFill>
                  <a:srgbClr val="000000"/>
                </a:solidFill>
              </a:rPr>
              <a:t>fun(2,8)</a:t>
            </a:r>
            <a:endParaRPr lang="zh-CN" altLang="en-US" sz="1950" dirty="0">
              <a:solidFill>
                <a:srgbClr val="000000"/>
              </a:solidFill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1828800" y="3589735"/>
            <a:ext cx="6400800" cy="48220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950" dirty="0">
                <a:solidFill>
                  <a:srgbClr val="000000"/>
                </a:solidFill>
              </a:rPr>
              <a:t>fun(2.0,8.2)</a:t>
            </a:r>
            <a:endParaRPr lang="zh-CN" altLang="en-US" sz="1950" dirty="0">
              <a:solidFill>
                <a:srgbClr val="000000"/>
              </a:solidFill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828800" y="4232673"/>
            <a:ext cx="6400800" cy="48220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950" dirty="0">
                <a:solidFill>
                  <a:srgbClr val="000000"/>
                </a:solidFill>
              </a:rPr>
              <a:t>fun(2.3,8)</a:t>
            </a:r>
            <a:endParaRPr lang="zh-CN" altLang="en-US" sz="1950" dirty="0">
              <a:solidFill>
                <a:srgbClr val="000000"/>
              </a:solidFill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1828800" y="4875610"/>
            <a:ext cx="6400800" cy="48220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950" dirty="0">
                <a:solidFill>
                  <a:srgbClr val="000000"/>
                </a:solidFill>
              </a:rPr>
              <a:t>fun&lt;float&gt;(2,8.3)</a:t>
            </a:r>
            <a:endParaRPr lang="zh-CN" altLang="en-US" sz="1950" dirty="0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78719" y="2995017"/>
            <a:ext cx="385763" cy="385763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</a:rPr>
              <a:t>A</a:t>
            </a:r>
            <a:endParaRPr lang="zh-CN" altLang="en-US" sz="1200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78719" y="3637954"/>
            <a:ext cx="385763" cy="385763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</a:rPr>
              <a:t>B</a:t>
            </a:r>
            <a:endParaRPr lang="zh-CN" altLang="en-US" sz="1200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78719" y="4280892"/>
            <a:ext cx="385763" cy="385763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</a:rPr>
              <a:t>C</a:t>
            </a:r>
            <a:endParaRPr lang="zh-CN" altLang="en-US" sz="1200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78719" y="4923829"/>
            <a:ext cx="385763" cy="385763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</a:rPr>
              <a:t>D</a:t>
            </a:r>
            <a:endParaRPr lang="zh-CN" altLang="en-US" sz="1200">
              <a:solidFill>
                <a:srgbClr val="FFFFFF"/>
              </a:solidFill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200">
                <a:solidFill>
                  <a:srgbClr val="FFFFFF"/>
                </a:solidFill>
              </a:rPr>
              <a:t>提交</a:t>
            </a:r>
            <a:endParaRPr lang="zh-CN" altLang="en-US" sz="1200">
              <a:solidFill>
                <a:srgbClr val="FFFFFF"/>
              </a:solidFill>
            </a:endParaRPr>
          </a:p>
        </p:txBody>
      </p:sp>
      <p:grpSp>
        <p:nvGrpSpPr>
          <p:cNvPr id="20" name="组合 19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/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>
                <a:alpha val="26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endParaRPr>
            </a:p>
          </p:txBody>
        </p:sp>
        <p:sp>
          <p:nvSpPr>
            <p:cNvPr id="13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47625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TypeText"/>
            <p:cNvSpPr/>
            <p:nvPr>
              <p:custDataLst>
                <p:tags r:id="rId14"/>
              </p:custDataLst>
            </p:nvPr>
          </p:nvSpPr>
          <p:spPr>
            <a:xfrm>
              <a:off x="254000" y="0"/>
              <a:ext cx="952500" cy="47625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950">
                  <a:solidFill>
                    <a:srgbClr val="000000"/>
                  </a:solidFill>
                </a:rPr>
                <a:t>多选题</a:t>
              </a:r>
              <a:endParaRPr lang="zh-CN" altLang="en-US" sz="1950">
                <a:solidFill>
                  <a:srgbClr val="000000"/>
                </a:solidFill>
              </a:endParaRPr>
            </a:p>
          </p:txBody>
        </p:sp>
        <p:sp>
          <p:nvSpPr>
            <p:cNvPr id="2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43383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16" name="图片 15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8"/>
            </p:custDataLst>
          </p:nvPr>
        </p:nvSpPr>
        <p:spPr>
          <a:xfrm>
            <a:off x="914400" y="635000"/>
            <a:ext cx="7315200" cy="36576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此题未设置答案，请点击右侧设置按钮</a:t>
            </a:r>
            <a:endParaRPr lang="zh-CN" altLang="en-US" sz="12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914400" y="1178719"/>
            <a:ext cx="7315200" cy="160734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dirty="0">
                <a:solidFill>
                  <a:srgbClr val="000000"/>
                </a:solidFill>
              </a:rPr>
              <a:t>template &lt;</a:t>
            </a:r>
            <a:r>
              <a:rPr lang="en-US" altLang="zh-CN" sz="2800" dirty="0" err="1">
                <a:solidFill>
                  <a:srgbClr val="000000"/>
                </a:solidFill>
              </a:rPr>
              <a:t>typename</a:t>
            </a:r>
            <a:r>
              <a:rPr lang="en-US" altLang="zh-CN" sz="2800" dirty="0">
                <a:solidFill>
                  <a:srgbClr val="000000"/>
                </a:solidFill>
              </a:rPr>
              <a:t> T&gt;</a:t>
            </a:r>
            <a:endParaRPr lang="en-US" altLang="zh-CN" sz="2800" dirty="0">
              <a:solidFill>
                <a:srgbClr val="000000"/>
              </a:solidFill>
            </a:endParaRPr>
          </a:p>
          <a:p>
            <a:r>
              <a:rPr lang="zh-CN" altLang="en-US" sz="2800" dirty="0">
                <a:solidFill>
                  <a:srgbClr val="000000"/>
                </a:solidFill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</a:rPr>
              <a:t>T</a:t>
            </a:r>
            <a:r>
              <a:rPr lang="zh-CN" altLang="en-US" sz="2800" dirty="0">
                <a:solidFill>
                  <a:srgbClr val="000000"/>
                </a:solidFill>
              </a:rPr>
              <a:t>在函数模板中：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1828800" y="2946798"/>
            <a:ext cx="6400800" cy="48220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950" dirty="0">
                <a:solidFill>
                  <a:srgbClr val="000000"/>
                </a:solidFill>
              </a:rPr>
              <a:t>可以作为返回类型，参数类型和函数中的变量类型</a:t>
            </a:r>
            <a:endParaRPr lang="zh-CN" altLang="en-US" sz="1950" dirty="0">
              <a:solidFill>
                <a:srgbClr val="000000"/>
              </a:solidFill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1828800" y="3589735"/>
            <a:ext cx="6400800" cy="48220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950" dirty="0">
                <a:solidFill>
                  <a:srgbClr val="000000"/>
                </a:solidFill>
              </a:rPr>
              <a:t>只能作为函数返回类型</a:t>
            </a:r>
            <a:endParaRPr lang="zh-CN" altLang="en-US" sz="1950" dirty="0">
              <a:solidFill>
                <a:srgbClr val="000000"/>
              </a:solidFill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860884" y="4232673"/>
            <a:ext cx="6400800" cy="48220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950" dirty="0">
                <a:solidFill>
                  <a:srgbClr val="000000"/>
                </a:solidFill>
              </a:rPr>
              <a:t>只能作为函数参数类型</a:t>
            </a:r>
            <a:endParaRPr lang="zh-CN" altLang="en-US" sz="1950" dirty="0">
              <a:solidFill>
                <a:srgbClr val="000000"/>
              </a:solidFill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1828800" y="4875610"/>
            <a:ext cx="6400800" cy="48220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950" dirty="0">
                <a:solidFill>
                  <a:srgbClr val="000000"/>
                </a:solidFill>
              </a:rPr>
              <a:t>只能用于函数中的变量类型</a:t>
            </a:r>
            <a:endParaRPr lang="zh-CN" altLang="en-US" sz="1950" dirty="0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78719" y="2995017"/>
            <a:ext cx="385763" cy="385763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</a:rPr>
              <a:t>A</a:t>
            </a:r>
            <a:endParaRPr lang="zh-CN" altLang="en-US" sz="1200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78719" y="3637954"/>
            <a:ext cx="385763" cy="385763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</a:rPr>
              <a:t>B</a:t>
            </a:r>
            <a:endParaRPr lang="zh-CN" altLang="en-US" sz="1200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78719" y="4280892"/>
            <a:ext cx="385763" cy="385763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</a:rPr>
              <a:t>C</a:t>
            </a:r>
            <a:endParaRPr lang="zh-CN" altLang="en-US" sz="1200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78719" y="4923829"/>
            <a:ext cx="385763" cy="385763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</a:rPr>
              <a:t>D</a:t>
            </a:r>
            <a:endParaRPr lang="zh-CN" altLang="en-US" sz="1200">
              <a:solidFill>
                <a:srgbClr val="FFFFFF"/>
              </a:solidFill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200">
                <a:solidFill>
                  <a:srgbClr val="FFFFFF"/>
                </a:solidFill>
              </a:rPr>
              <a:t>提交</a:t>
            </a:r>
            <a:endParaRPr lang="zh-CN" altLang="en-US" sz="1200">
              <a:solidFill>
                <a:srgbClr val="FFFFFF"/>
              </a:solidFill>
            </a:endParaRPr>
          </a:p>
        </p:txBody>
      </p:sp>
      <p:grpSp>
        <p:nvGrpSpPr>
          <p:cNvPr id="20" name="组合 19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/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>
                <a:alpha val="26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endParaRPr>
            </a:p>
          </p:txBody>
        </p:sp>
        <p:sp>
          <p:nvSpPr>
            <p:cNvPr id="13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47625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TypeText"/>
            <p:cNvSpPr/>
            <p:nvPr>
              <p:custDataLst>
                <p:tags r:id="rId14"/>
              </p:custDataLst>
            </p:nvPr>
          </p:nvSpPr>
          <p:spPr>
            <a:xfrm>
              <a:off x="254000" y="0"/>
              <a:ext cx="952500" cy="47625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950">
                  <a:solidFill>
                    <a:srgbClr val="000000"/>
                  </a:solidFill>
                </a:rPr>
                <a:t>多选题</a:t>
              </a:r>
              <a:endParaRPr lang="zh-CN" altLang="en-US" sz="1950">
                <a:solidFill>
                  <a:srgbClr val="000000"/>
                </a:solidFill>
              </a:endParaRPr>
            </a:p>
          </p:txBody>
        </p:sp>
        <p:sp>
          <p:nvSpPr>
            <p:cNvPr id="2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7983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16" name="图片 15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8"/>
            </p:custDataLst>
          </p:nvPr>
        </p:nvSpPr>
        <p:spPr>
          <a:xfrm>
            <a:off x="914400" y="635000"/>
            <a:ext cx="7315200" cy="36576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此题未设置答案，请点击右侧设置按钮</a:t>
            </a:r>
            <a:endParaRPr lang="zh-CN" altLang="en-US" sz="12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914400" y="1178719"/>
            <a:ext cx="7315200" cy="160734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950" dirty="0">
                <a:solidFill>
                  <a:srgbClr val="000000"/>
                </a:solidFill>
              </a:rPr>
              <a:t>假设有函数模板定义如下</a:t>
            </a:r>
            <a:r>
              <a:rPr lang="en-US" altLang="zh-CN" sz="1950" dirty="0">
                <a:solidFill>
                  <a:srgbClr val="000000"/>
                </a:solidFill>
              </a:rPr>
              <a:t>:</a:t>
            </a:r>
            <a:endParaRPr lang="en-US" altLang="zh-CN" sz="1950" dirty="0">
              <a:solidFill>
                <a:srgbClr val="000000"/>
              </a:solidFill>
            </a:endParaRPr>
          </a:p>
          <a:p>
            <a:r>
              <a:rPr lang="en-US" altLang="zh-CN" sz="1950" dirty="0">
                <a:solidFill>
                  <a:srgbClr val="000000"/>
                </a:solidFill>
              </a:rPr>
              <a:t>template &lt;</a:t>
            </a:r>
            <a:r>
              <a:rPr lang="en-US" altLang="zh-CN" sz="1950" dirty="0" err="1">
                <a:solidFill>
                  <a:srgbClr val="000000"/>
                </a:solidFill>
              </a:rPr>
              <a:t>typename</a:t>
            </a:r>
            <a:r>
              <a:rPr lang="en-US" altLang="zh-CN" sz="1950" dirty="0">
                <a:solidFill>
                  <a:srgbClr val="000000"/>
                </a:solidFill>
              </a:rPr>
              <a:t> T&gt; </a:t>
            </a:r>
            <a:endParaRPr lang="en-US" altLang="zh-CN" sz="1950" dirty="0">
              <a:solidFill>
                <a:srgbClr val="000000"/>
              </a:solidFill>
            </a:endParaRPr>
          </a:p>
          <a:p>
            <a:r>
              <a:rPr lang="en-US" altLang="zh-CN" sz="1950" dirty="0">
                <a:solidFill>
                  <a:srgbClr val="000000"/>
                </a:solidFill>
              </a:rPr>
              <a:t>T Max(T a, T b, T &amp;c)</a:t>
            </a:r>
            <a:endParaRPr lang="en-US" altLang="zh-CN" sz="1950" dirty="0">
              <a:solidFill>
                <a:srgbClr val="000000"/>
              </a:solidFill>
            </a:endParaRPr>
          </a:p>
          <a:p>
            <a:r>
              <a:rPr lang="en-US" altLang="zh-CN" sz="1950" dirty="0">
                <a:solidFill>
                  <a:srgbClr val="000000"/>
                </a:solidFill>
              </a:rPr>
              <a:t>{c = a + b;}</a:t>
            </a:r>
            <a:endParaRPr lang="en-US" altLang="zh-CN" sz="1950" dirty="0">
              <a:solidFill>
                <a:srgbClr val="000000"/>
              </a:solidFill>
            </a:endParaRPr>
          </a:p>
          <a:p>
            <a:r>
              <a:rPr lang="zh-CN" altLang="en-US" sz="1950" dirty="0">
                <a:solidFill>
                  <a:srgbClr val="000000"/>
                </a:solidFill>
              </a:rPr>
              <a:t>下列选项正确的是：</a:t>
            </a:r>
            <a:endParaRPr lang="zh-CN" altLang="en-US" sz="1950" dirty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1828800" y="2946798"/>
            <a:ext cx="6400800" cy="48220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950" dirty="0">
                <a:solidFill>
                  <a:srgbClr val="000000"/>
                </a:solidFill>
              </a:rPr>
              <a:t>Int x, y; char z; Max(x, y, z);</a:t>
            </a:r>
            <a:endParaRPr lang="zh-CN" altLang="en-US" sz="1950" dirty="0">
              <a:solidFill>
                <a:srgbClr val="000000"/>
              </a:solidFill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1828800" y="3589735"/>
            <a:ext cx="6400800" cy="48220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950" dirty="0">
                <a:solidFill>
                  <a:srgbClr val="000000"/>
                </a:solidFill>
              </a:rPr>
              <a:t>double x, y, z; Max(x, y, z);</a:t>
            </a:r>
            <a:endParaRPr lang="zh-CN" altLang="en-US" sz="1950" dirty="0">
              <a:solidFill>
                <a:srgbClr val="000000"/>
              </a:solidFill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828800" y="4232673"/>
            <a:ext cx="6400800" cy="48220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950" dirty="0">
                <a:solidFill>
                  <a:srgbClr val="000000"/>
                </a:solidFill>
              </a:rPr>
              <a:t>Int x, y; float z; Max(x, y, z);</a:t>
            </a:r>
            <a:endParaRPr lang="zh-CN" altLang="en-US" sz="1950" dirty="0">
              <a:solidFill>
                <a:srgbClr val="000000"/>
              </a:solidFill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1828800" y="4875610"/>
            <a:ext cx="6400800" cy="48220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950" dirty="0">
                <a:solidFill>
                  <a:srgbClr val="000000"/>
                </a:solidFill>
              </a:rPr>
              <a:t>float x; double y, z; Max(x, y, z);</a:t>
            </a:r>
            <a:endParaRPr lang="zh-CN" altLang="en-US" sz="1950" dirty="0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78719" y="2995017"/>
            <a:ext cx="385763" cy="385763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</a:rPr>
              <a:t>A</a:t>
            </a:r>
            <a:endParaRPr lang="zh-CN" altLang="en-US" sz="1200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78719" y="3637954"/>
            <a:ext cx="385763" cy="385763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</a:rPr>
              <a:t>B</a:t>
            </a:r>
            <a:endParaRPr lang="zh-CN" altLang="en-US" sz="1200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78719" y="4280892"/>
            <a:ext cx="385763" cy="385763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</a:rPr>
              <a:t>C</a:t>
            </a:r>
            <a:endParaRPr lang="zh-CN" altLang="en-US" sz="1200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78719" y="4923829"/>
            <a:ext cx="385763" cy="385763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</a:rPr>
              <a:t>D</a:t>
            </a:r>
            <a:endParaRPr lang="zh-CN" altLang="en-US" sz="1200">
              <a:solidFill>
                <a:srgbClr val="FFFFFF"/>
              </a:solidFill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200">
                <a:solidFill>
                  <a:srgbClr val="FFFFFF"/>
                </a:solidFill>
              </a:rPr>
              <a:t>提交</a:t>
            </a:r>
            <a:endParaRPr lang="zh-CN" altLang="en-US" sz="1200">
              <a:solidFill>
                <a:srgbClr val="FFFFFF"/>
              </a:solidFill>
            </a:endParaRPr>
          </a:p>
        </p:txBody>
      </p:sp>
      <p:grpSp>
        <p:nvGrpSpPr>
          <p:cNvPr id="20" name="组合 19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/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>
                <a:alpha val="26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endParaRPr>
            </a:p>
          </p:txBody>
        </p:sp>
        <p:sp>
          <p:nvSpPr>
            <p:cNvPr id="13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47625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TypeText"/>
            <p:cNvSpPr/>
            <p:nvPr>
              <p:custDataLst>
                <p:tags r:id="rId14"/>
              </p:custDataLst>
            </p:nvPr>
          </p:nvSpPr>
          <p:spPr>
            <a:xfrm>
              <a:off x="254000" y="0"/>
              <a:ext cx="952500" cy="47625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950">
                  <a:solidFill>
                    <a:srgbClr val="000000"/>
                  </a:solidFill>
                </a:rPr>
                <a:t>多选题</a:t>
              </a:r>
              <a:endParaRPr lang="zh-CN" altLang="en-US" sz="1950">
                <a:solidFill>
                  <a:srgbClr val="000000"/>
                </a:solidFill>
              </a:endParaRPr>
            </a:p>
          </p:txBody>
        </p:sp>
        <p:sp>
          <p:nvSpPr>
            <p:cNvPr id="2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43383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16" name="图片 15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8"/>
            </p:custDataLst>
          </p:nvPr>
        </p:nvSpPr>
        <p:spPr>
          <a:xfrm>
            <a:off x="914400" y="635000"/>
            <a:ext cx="7315200" cy="36576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此题未设置答案，请点击右侧设置按钮</a:t>
            </a:r>
            <a:endParaRPr lang="zh-CN" altLang="en-US" sz="12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914400" y="1178719"/>
            <a:ext cx="7315200" cy="160734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rgbClr val="000000"/>
                </a:solidFill>
              </a:rPr>
              <a:t>在下列模板说明中，正确的是</a:t>
            </a:r>
            <a:r>
              <a:rPr lang="en-US" altLang="zh-CN" sz="2800" dirty="0">
                <a:solidFill>
                  <a:srgbClr val="000000"/>
                </a:solidFill>
              </a:rPr>
              <a:t>:</a:t>
            </a:r>
            <a:endParaRPr lang="en-US" altLang="zh-CN" sz="2800" dirty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1828800" y="2946798"/>
            <a:ext cx="6400800" cy="48220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950" dirty="0">
                <a:solidFill>
                  <a:srgbClr val="000000"/>
                </a:solidFill>
              </a:rPr>
              <a:t>template &lt;</a:t>
            </a:r>
            <a:r>
              <a:rPr lang="en-US" altLang="zh-CN" sz="1950" dirty="0" err="1">
                <a:solidFill>
                  <a:srgbClr val="000000"/>
                </a:solidFill>
              </a:rPr>
              <a:t>typename</a:t>
            </a:r>
            <a:r>
              <a:rPr lang="en-US" altLang="zh-CN" sz="1950" dirty="0">
                <a:solidFill>
                  <a:srgbClr val="000000"/>
                </a:solidFill>
              </a:rPr>
              <a:t> T1, T2&gt;</a:t>
            </a:r>
            <a:endParaRPr lang="zh-CN" altLang="en-US" sz="1950" dirty="0">
              <a:solidFill>
                <a:srgbClr val="000000"/>
              </a:solidFill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1828800" y="3589735"/>
            <a:ext cx="6400800" cy="48220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950" dirty="0">
                <a:solidFill>
                  <a:srgbClr val="000000"/>
                </a:solidFill>
              </a:rPr>
              <a:t>template&lt;class T1, T2&gt;</a:t>
            </a:r>
            <a:endParaRPr lang="zh-CN" altLang="en-US" sz="1950" dirty="0">
              <a:solidFill>
                <a:srgbClr val="000000"/>
              </a:solidFill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860884" y="4232673"/>
            <a:ext cx="6400800" cy="48220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950" dirty="0">
                <a:solidFill>
                  <a:srgbClr val="000000"/>
                </a:solidFill>
              </a:rPr>
              <a:t>template&lt;</a:t>
            </a:r>
            <a:r>
              <a:rPr lang="en-US" altLang="zh-CN" sz="1950" dirty="0" err="1">
                <a:solidFill>
                  <a:srgbClr val="000000"/>
                </a:solidFill>
              </a:rPr>
              <a:t>typename</a:t>
            </a:r>
            <a:r>
              <a:rPr lang="en-US" altLang="zh-CN" sz="1950" dirty="0">
                <a:solidFill>
                  <a:srgbClr val="000000"/>
                </a:solidFill>
              </a:rPr>
              <a:t> T1, </a:t>
            </a:r>
            <a:r>
              <a:rPr lang="en-US" altLang="zh-CN" sz="1950" dirty="0" err="1">
                <a:solidFill>
                  <a:srgbClr val="000000"/>
                </a:solidFill>
              </a:rPr>
              <a:t>typename</a:t>
            </a:r>
            <a:r>
              <a:rPr lang="en-US" altLang="zh-CN" sz="1950" dirty="0">
                <a:solidFill>
                  <a:srgbClr val="000000"/>
                </a:solidFill>
              </a:rPr>
              <a:t> T2&gt;</a:t>
            </a:r>
            <a:endParaRPr lang="zh-CN" altLang="en-US" sz="1950" dirty="0">
              <a:solidFill>
                <a:srgbClr val="000000"/>
              </a:solidFill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1828800" y="4875610"/>
            <a:ext cx="6400800" cy="48220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950" dirty="0">
                <a:solidFill>
                  <a:srgbClr val="000000"/>
                </a:solidFill>
              </a:rPr>
              <a:t>template</a:t>
            </a:r>
            <a:r>
              <a:rPr lang="zh-CN" altLang="en-US" sz="1950" dirty="0">
                <a:solidFill>
                  <a:srgbClr val="000000"/>
                </a:solidFill>
              </a:rPr>
              <a:t> </a:t>
            </a:r>
            <a:r>
              <a:rPr lang="en-US" altLang="zh-CN" sz="1950" dirty="0">
                <a:solidFill>
                  <a:srgbClr val="000000"/>
                </a:solidFill>
              </a:rPr>
              <a:t>(typedef T1, typedef T2)</a:t>
            </a:r>
            <a:endParaRPr lang="zh-CN" altLang="en-US" sz="1950" dirty="0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78719" y="2995017"/>
            <a:ext cx="385763" cy="385763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</a:rPr>
              <a:t>A</a:t>
            </a:r>
            <a:endParaRPr lang="zh-CN" altLang="en-US" sz="1200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78719" y="3637954"/>
            <a:ext cx="385763" cy="385763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</a:rPr>
              <a:t>B</a:t>
            </a:r>
            <a:endParaRPr lang="zh-CN" altLang="en-US" sz="1200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78719" y="4280892"/>
            <a:ext cx="385763" cy="385763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</a:rPr>
              <a:t>C</a:t>
            </a:r>
            <a:endParaRPr lang="zh-CN" altLang="en-US" sz="1200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78719" y="4923829"/>
            <a:ext cx="385763" cy="385763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>
                <a:solidFill>
                  <a:srgbClr val="FFFFFF"/>
                </a:solidFill>
              </a:rPr>
              <a:t>D</a:t>
            </a:r>
            <a:endParaRPr lang="zh-CN" altLang="en-US" sz="1200">
              <a:solidFill>
                <a:srgbClr val="FFFFFF"/>
              </a:solidFill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200">
                <a:solidFill>
                  <a:srgbClr val="FFFFFF"/>
                </a:solidFill>
              </a:rPr>
              <a:t>提交</a:t>
            </a:r>
            <a:endParaRPr lang="zh-CN" altLang="en-US" sz="1200">
              <a:solidFill>
                <a:srgbClr val="FFFFFF"/>
              </a:solidFill>
            </a:endParaRPr>
          </a:p>
        </p:txBody>
      </p:sp>
      <p:grpSp>
        <p:nvGrpSpPr>
          <p:cNvPr id="20" name="组合 19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/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>
                <a:alpha val="26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endParaRPr>
            </a:p>
          </p:txBody>
        </p:sp>
        <p:sp>
          <p:nvSpPr>
            <p:cNvPr id="13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47625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TypeText"/>
            <p:cNvSpPr/>
            <p:nvPr>
              <p:custDataLst>
                <p:tags r:id="rId14"/>
              </p:custDataLst>
            </p:nvPr>
          </p:nvSpPr>
          <p:spPr>
            <a:xfrm>
              <a:off x="254000" y="0"/>
              <a:ext cx="952500" cy="47625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950">
                  <a:solidFill>
                    <a:srgbClr val="000000"/>
                  </a:solidFill>
                </a:rPr>
                <a:t>多选题</a:t>
              </a:r>
              <a:endParaRPr lang="zh-CN" altLang="en-US" sz="1950">
                <a:solidFill>
                  <a:srgbClr val="000000"/>
                </a:solidFill>
              </a:endParaRPr>
            </a:p>
          </p:txBody>
        </p:sp>
        <p:sp>
          <p:nvSpPr>
            <p:cNvPr id="2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43383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16" name="图片 15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8"/>
            </p:custDataLst>
          </p:nvPr>
        </p:nvSpPr>
        <p:spPr>
          <a:xfrm>
            <a:off x="914400" y="635000"/>
            <a:ext cx="7315200" cy="36576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此题未设置答案，请点击右侧设置按钮</a:t>
            </a:r>
            <a:endParaRPr lang="zh-CN" altLang="en-US" sz="12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397875" y="6551613"/>
            <a:ext cx="746125" cy="3063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5143908-0819-4B70-B92B-71A05F9F97D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5"/>
          <p:cNvSpPr txBox="1"/>
          <p:nvPr>
            <p:custDataLst>
              <p:tags r:id="rId1"/>
            </p:custDataLst>
          </p:nvPr>
        </p:nvSpPr>
        <p:spPr>
          <a:xfrm>
            <a:off x="254000" y="1628800"/>
            <a:ext cx="7975600" cy="11493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/>
              <a:t>模板的使用是为了</a:t>
            </a:r>
            <a:r>
              <a:rPr lang="en-US" altLang="zh-CN" sz="2800" dirty="0"/>
              <a:t>(</a:t>
            </a:r>
            <a:r>
              <a:rPr lang="en-US" altLang="zh-CN" sz="2800" u="sng" dirty="0"/>
              <a:t>       </a:t>
            </a:r>
            <a:r>
              <a:rPr lang="zh-CN" altLang="en-US" sz="2800" u="sng" dirty="0"/>
              <a:t>？</a:t>
            </a:r>
            <a:r>
              <a:rPr lang="en-US" altLang="zh-CN" sz="2800" u="sng" dirty="0"/>
              <a:t>      </a:t>
            </a:r>
            <a:r>
              <a:rPr lang="en-US" altLang="zh-CN" sz="2800" dirty="0"/>
              <a:t>)</a:t>
            </a:r>
            <a:r>
              <a:rPr lang="zh-CN" altLang="en-US" sz="2800" dirty="0"/>
              <a:t>。</a:t>
            </a:r>
            <a:endParaRPr lang="en-US" altLang="zh-CN" sz="2800" dirty="0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加强代码的可重用性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提高代码的运行效率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加强类的封装性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实现多态性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76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564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4221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10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681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18"/>
            </p:custDataLst>
          </p:nvPr>
        </p:nvSpPr>
        <p:spPr>
          <a:xfrm>
            <a:off x="914400" y="635000"/>
            <a:ext cx="7315200" cy="36576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此题未设置答案，请点击右侧设置按钮</a:t>
            </a:r>
            <a:endParaRPr lang="zh-CN" altLang="en-US" sz="12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397875" y="6551613"/>
            <a:ext cx="746125" cy="3063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5143908-0819-4B70-B92B-71A05F9F97D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5"/>
          <p:cNvSpPr txBox="1"/>
          <p:nvPr>
            <p:custDataLst>
              <p:tags r:id="rId1"/>
            </p:custDataLst>
          </p:nvPr>
        </p:nvSpPr>
        <p:spPr>
          <a:xfrm>
            <a:off x="254000" y="1628800"/>
            <a:ext cx="7975600" cy="11493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/>
              <a:t>关于类模板的静态数据成员，错误叙述的是</a:t>
            </a:r>
            <a:r>
              <a:rPr lang="en-US" altLang="zh-CN" sz="2800" dirty="0"/>
              <a:t>(</a:t>
            </a:r>
            <a:r>
              <a:rPr lang="en-US" altLang="zh-CN" sz="2800" u="sng" dirty="0"/>
              <a:t>          </a:t>
            </a:r>
            <a:r>
              <a:rPr lang="en-US" altLang="zh-CN" sz="2800" dirty="0"/>
              <a:t>)</a:t>
            </a:r>
            <a:r>
              <a:rPr lang="zh-CN" altLang="en-US" sz="2800" dirty="0"/>
              <a:t>。</a:t>
            </a:r>
            <a:endParaRPr lang="en-US" altLang="zh-CN" sz="2800" dirty="0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一个类模板实例化的所有对象共享一个静态数据成员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每一个实例化的模板类都有自己的静态数据成员副本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一个模板类实例化的所有对象共享一个静态数据成员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类模板实例化的静态数据成员应该在文件范围内定义和初始化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76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564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4221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10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681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914400" y="635000"/>
            <a:ext cx="7315200" cy="36576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此题未设置答案，请点击右侧设置按钮</a:t>
            </a:r>
            <a:endParaRPr lang="zh-CN" altLang="en-US" sz="12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fld id="{AE0236F8-D03A-44C4-BBAF-EC129E3188FA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Gulim" panose="020B0600000101010101" pitchFamily="34" charset="-127"/>
                <a:cs typeface="+mn-cs"/>
              </a:rPr>
            </a:fld>
            <a:endParaRPr kumimoji="0" lang="en-US" altLang="ko-K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Gulim" panose="020B0600000101010101" pitchFamily="34" charset="-127"/>
              <a:cs typeface="+mn-cs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015766" y="1853646"/>
            <a:ext cx="7532615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0" defTabSz="914400">
              <a:defRPr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定义一个函数模板，返回两个值中较小的值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[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填空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1]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 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lvl="0" defTabSz="914400">
              <a:defRPr/>
            </a:pPr>
            <a:endParaRPr lang="en-US" altLang="zh-CN" sz="28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Template &lt;</a:t>
            </a:r>
            <a:r>
              <a:rPr lang="en-US" altLang="zh-CN" sz="2800" dirty="0" err="1">
                <a:solidFill>
                  <a:prstClr val="black"/>
                </a:solidFill>
              </a:rPr>
              <a:t>typename</a:t>
            </a:r>
            <a:r>
              <a:rPr lang="en-US" altLang="zh-CN" sz="2800" dirty="0">
                <a:solidFill>
                  <a:prstClr val="black"/>
                </a:solidFill>
              </a:rPr>
              <a:t> T&gt;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T&amp; smaller(const T&amp; v1, const T&amp; v2)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{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        return _______________ ;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}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5" name="圆角矩形 4"/>
          <p:cNvSpPr/>
          <p:nvPr>
            <p:custDataLst>
              <p:tags r:id="rId2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作答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7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8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填空题</a:t>
              </a:r>
              <a:endPara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9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defTabSz="914400"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1</a:t>
              </a: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分</a:t>
              </a: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 hidden="1"/>
          <p:cNvSpPr/>
          <p:nvPr>
            <p:custDataLst>
              <p:tags r:id="rId1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fld id="{AE0236F8-D03A-44C4-BBAF-EC129E3188FA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Gulim" panose="020B0600000101010101" pitchFamily="34" charset="-127"/>
                <a:cs typeface="+mn-cs"/>
              </a:rPr>
            </a:fld>
            <a:endParaRPr kumimoji="0" lang="en-US" altLang="ko-K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Gulim" panose="020B0600000101010101" pitchFamily="34" charset="-127"/>
              <a:cs typeface="+mn-cs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990600" y="1684962"/>
            <a:ext cx="7315200" cy="414048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0" defTabSz="914400"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下面程序的输出结果是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[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填空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1]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2]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 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lvl="0" defTabSz="91440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#include&lt;iostream&gt;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template &lt;class T&gt;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T max(T x, T y)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{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return (x&gt;</a:t>
            </a:r>
            <a:r>
              <a:rPr lang="en-US" altLang="zh-CN" sz="2800" dirty="0" err="1">
                <a:solidFill>
                  <a:prstClr val="black"/>
                </a:solidFill>
              </a:rPr>
              <a:t>y?x:y</a:t>
            </a:r>
            <a:r>
              <a:rPr lang="en-US" altLang="zh-CN" sz="2800" dirty="0">
                <a:solidFill>
                  <a:prstClr val="black"/>
                </a:solidFill>
              </a:rPr>
              <a:t>);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}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void main()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{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800" dirty="0" err="1">
                <a:solidFill>
                  <a:prstClr val="black"/>
                </a:solidFill>
              </a:rPr>
              <a:t>cout</a:t>
            </a:r>
            <a:r>
              <a:rPr lang="en-US" altLang="zh-CN" sz="2800" dirty="0">
                <a:solidFill>
                  <a:prstClr val="black"/>
                </a:solidFill>
              </a:rPr>
              <a:t>&lt;&lt;max(2,5)&lt;&lt;“,”&lt;&lt;max(3.5,2.8)&lt;&lt;</a:t>
            </a:r>
            <a:r>
              <a:rPr lang="en-US" altLang="zh-CN" sz="2800" dirty="0" err="1">
                <a:solidFill>
                  <a:prstClr val="black"/>
                </a:solidFill>
              </a:rPr>
              <a:t>endl</a:t>
            </a:r>
            <a:r>
              <a:rPr lang="en-US" altLang="zh-CN" sz="2800" dirty="0">
                <a:solidFill>
                  <a:prstClr val="black"/>
                </a:solidFill>
              </a:rPr>
              <a:t>;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}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作答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22" name="文本框 21" hidden="1"/>
          <p:cNvSpPr txBox="1"/>
          <p:nvPr>
            <p:custDataLst>
              <p:tags r:id="rId4"/>
            </p:custDataLst>
          </p:nvPr>
        </p:nvSpPr>
        <p:spPr>
          <a:xfrm>
            <a:off x="9613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3" name="文本框 22" hidden="1"/>
          <p:cNvSpPr txBox="1"/>
          <p:nvPr>
            <p:custDataLst>
              <p:tags r:id="rId5"/>
            </p:custDataLst>
          </p:nvPr>
        </p:nvSpPr>
        <p:spPr>
          <a:xfrm>
            <a:off x="9779000" y="1270000"/>
            <a:ext cx="333248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此处添加答案解析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7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8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填空题</a:t>
              </a:r>
              <a:endPara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9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defTabSz="914400"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2</a:t>
              </a: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分</a:t>
              </a: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 hidden="1"/>
          <p:cNvSpPr/>
          <p:nvPr>
            <p:custDataLst>
              <p:tags r:id="rId1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fld id="{AE0236F8-D03A-44C4-BBAF-EC129E3188FA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Gulim" panose="020B0600000101010101" pitchFamily="34" charset="-127"/>
                <a:cs typeface="+mn-cs"/>
              </a:rPr>
            </a:fld>
            <a:endParaRPr kumimoji="0" lang="en-US" altLang="ko-K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Gulim" panose="020B0600000101010101" pitchFamily="34" charset="-127"/>
              <a:cs typeface="+mn-cs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990600" y="2608655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0" defTabSz="914400"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下面程序的输出结果是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[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填空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1]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2]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 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lvl="0" defTabSz="91440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#include&lt;iostream&gt;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template &lt;class T&gt;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T abs(T x)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{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return (x&gt;0?x:-x);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}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void main()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{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800" dirty="0" err="1">
                <a:solidFill>
                  <a:prstClr val="black"/>
                </a:solidFill>
              </a:rPr>
              <a:t>cout</a:t>
            </a:r>
            <a:r>
              <a:rPr lang="en-US" altLang="zh-CN" sz="2800" dirty="0">
                <a:solidFill>
                  <a:prstClr val="black"/>
                </a:solidFill>
              </a:rPr>
              <a:t>&lt;&lt;abs(-3)&lt;&lt;“,”&lt;&lt;abs(-2.6)&lt;&lt;</a:t>
            </a:r>
            <a:r>
              <a:rPr lang="en-US" altLang="zh-CN" sz="2800" dirty="0" err="1">
                <a:solidFill>
                  <a:prstClr val="black"/>
                </a:solidFill>
              </a:rPr>
              <a:t>endl</a:t>
            </a:r>
            <a:r>
              <a:rPr lang="en-US" altLang="zh-CN" sz="2800" dirty="0">
                <a:solidFill>
                  <a:prstClr val="black"/>
                </a:solidFill>
              </a:rPr>
              <a:t>;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}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作答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22" name="文本框 21" hidden="1"/>
          <p:cNvSpPr txBox="1"/>
          <p:nvPr>
            <p:custDataLst>
              <p:tags r:id="rId4"/>
            </p:custDataLst>
          </p:nvPr>
        </p:nvSpPr>
        <p:spPr>
          <a:xfrm>
            <a:off x="9613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3" name="文本框 22" hidden="1"/>
          <p:cNvSpPr txBox="1"/>
          <p:nvPr>
            <p:custDataLst>
              <p:tags r:id="rId5"/>
            </p:custDataLst>
          </p:nvPr>
        </p:nvSpPr>
        <p:spPr>
          <a:xfrm>
            <a:off x="9779000" y="1270000"/>
            <a:ext cx="333248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此处添加答案解析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7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8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填空题</a:t>
              </a:r>
              <a:endPara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9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defTabSz="914400"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2</a:t>
              </a: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分</a:t>
              </a: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fld id="{AE0236F8-D03A-44C4-BBAF-EC129E3188FA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Gulim" panose="020B0600000101010101" pitchFamily="34" charset="-127"/>
                <a:cs typeface="+mn-cs"/>
              </a:rPr>
            </a:fld>
            <a:endParaRPr kumimoji="0" lang="en-US" altLang="ko-K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Gulim" panose="020B0600000101010101" pitchFamily="34" charset="-127"/>
              <a:cs typeface="+mn-cs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90500" y="838899"/>
            <a:ext cx="6067687" cy="535838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0" defTabSz="914400"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下面程序的输出结果是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[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填空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1]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 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lvl="0" defTabSz="914400">
              <a:defRPr/>
            </a:pPr>
            <a:r>
              <a:rPr lang="en-US" altLang="zh-CN" sz="2000" dirty="0">
                <a:solidFill>
                  <a:prstClr val="black"/>
                </a:solidFill>
              </a:rPr>
              <a:t>#include&lt;iostream&gt;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000" dirty="0">
                <a:solidFill>
                  <a:prstClr val="black"/>
                </a:solidFill>
              </a:rPr>
              <a:t>template &lt;class T&gt;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000" dirty="0">
                <a:solidFill>
                  <a:prstClr val="black"/>
                </a:solidFill>
              </a:rPr>
              <a:t>class Sample {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000" dirty="0">
                <a:solidFill>
                  <a:prstClr val="black"/>
                </a:solidFill>
              </a:rPr>
              <a:t>    T n;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000" dirty="0">
                <a:solidFill>
                  <a:prstClr val="black"/>
                </a:solidFill>
              </a:rPr>
              <a:t>public: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000" dirty="0">
                <a:solidFill>
                  <a:prstClr val="black"/>
                </a:solidFill>
              </a:rPr>
              <a:t>    Sample(T </a:t>
            </a:r>
            <a:r>
              <a:rPr lang="en-US" altLang="zh-CN" sz="2000" dirty="0" err="1">
                <a:solidFill>
                  <a:prstClr val="black"/>
                </a:solidFill>
              </a:rPr>
              <a:t>i</a:t>
            </a:r>
            <a:r>
              <a:rPr lang="en-US" altLang="zh-CN" sz="2000" dirty="0">
                <a:solidFill>
                  <a:prstClr val="black"/>
                </a:solidFill>
              </a:rPr>
              <a:t>){n=I;}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000" dirty="0">
                <a:solidFill>
                  <a:prstClr val="black"/>
                </a:solidFill>
              </a:rPr>
              <a:t>    void operator++();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000" dirty="0">
                <a:solidFill>
                  <a:prstClr val="black"/>
                </a:solidFill>
              </a:rPr>
              <a:t>    void </a:t>
            </a:r>
            <a:r>
              <a:rPr lang="en-US" altLang="zh-CN" sz="2000" dirty="0" err="1">
                <a:solidFill>
                  <a:prstClr val="black"/>
                </a:solidFill>
              </a:rPr>
              <a:t>disp</a:t>
            </a:r>
            <a:r>
              <a:rPr lang="en-US" altLang="zh-CN" sz="2000" dirty="0">
                <a:solidFill>
                  <a:prstClr val="black"/>
                </a:solidFill>
              </a:rPr>
              <a:t>(){ </a:t>
            </a:r>
            <a:r>
              <a:rPr lang="en-US" altLang="zh-CN" sz="2000" dirty="0" err="1">
                <a:solidFill>
                  <a:prstClr val="black"/>
                </a:solidFill>
              </a:rPr>
              <a:t>cout</a:t>
            </a:r>
            <a:r>
              <a:rPr lang="en-US" altLang="zh-CN" sz="2000" dirty="0">
                <a:solidFill>
                  <a:prstClr val="black"/>
                </a:solidFill>
              </a:rPr>
              <a:t>&lt;&lt;“n=”&lt;&lt;n&lt;&lt;</a:t>
            </a:r>
            <a:r>
              <a:rPr lang="en-US" altLang="zh-CN" sz="2000" dirty="0" err="1">
                <a:solidFill>
                  <a:prstClr val="black"/>
                </a:solidFill>
              </a:rPr>
              <a:t>endl</a:t>
            </a:r>
            <a:r>
              <a:rPr lang="en-US" altLang="zh-CN" sz="2000" dirty="0">
                <a:solidFill>
                  <a:prstClr val="black"/>
                </a:solidFill>
              </a:rPr>
              <a:t>; }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000" dirty="0">
                <a:solidFill>
                  <a:prstClr val="black"/>
                </a:solidFill>
              </a:rPr>
              <a:t>};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000" dirty="0">
                <a:solidFill>
                  <a:prstClr val="black"/>
                </a:solidFill>
              </a:rPr>
              <a:t>template &lt;class T&gt; void Sample&lt;T&gt;::operator++()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000" dirty="0">
                <a:solidFill>
                  <a:prstClr val="black"/>
                </a:solidFill>
              </a:rPr>
              <a:t>{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000" dirty="0">
                <a:solidFill>
                  <a:prstClr val="black"/>
                </a:solidFill>
              </a:rPr>
              <a:t>    n+=1; //double</a:t>
            </a:r>
            <a:r>
              <a:rPr lang="zh-CN" altLang="en-US" sz="2000" dirty="0">
                <a:solidFill>
                  <a:prstClr val="black"/>
                </a:solidFill>
              </a:rPr>
              <a:t>类型不能用</a:t>
            </a:r>
            <a:r>
              <a:rPr lang="en-US" altLang="zh-CN" sz="2000" dirty="0">
                <a:solidFill>
                  <a:prstClr val="black"/>
                </a:solidFill>
              </a:rPr>
              <a:t>n++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000" dirty="0">
                <a:solidFill>
                  <a:prstClr val="black"/>
                </a:solidFill>
              </a:rPr>
              <a:t>}</a:t>
            </a:r>
            <a:endParaRPr lang="en-US" altLang="zh-CN" sz="2000" dirty="0">
              <a:solidFill>
                <a:prstClr val="black"/>
              </a:solidFill>
            </a:endParaRPr>
          </a:p>
        </p:txBody>
      </p:sp>
      <p:sp>
        <p:nvSpPr>
          <p:cNvPr id="5" name="圆角矩形 4"/>
          <p:cNvSpPr/>
          <p:nvPr>
            <p:custDataLst>
              <p:tags r:id="rId2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作答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58187" y="1793640"/>
            <a:ext cx="297692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CN" sz="2000" dirty="0">
                <a:solidFill>
                  <a:prstClr val="black"/>
                </a:solidFill>
              </a:rPr>
              <a:t>void main()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000" dirty="0">
                <a:solidFill>
                  <a:prstClr val="black"/>
                </a:solidFill>
              </a:rPr>
              <a:t>{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000" dirty="0">
                <a:solidFill>
                  <a:prstClr val="black"/>
                </a:solidFill>
              </a:rPr>
              <a:t>    Sample&lt;char&gt; s(‘a’);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000" dirty="0">
                <a:solidFill>
                  <a:prstClr val="black"/>
                </a:solidFill>
              </a:rPr>
              <a:t>    s++;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000" dirty="0">
                <a:solidFill>
                  <a:prstClr val="black"/>
                </a:solidFill>
              </a:rPr>
              <a:t>    </a:t>
            </a:r>
            <a:r>
              <a:rPr lang="en-US" altLang="zh-CN" sz="2000" dirty="0" err="1">
                <a:solidFill>
                  <a:prstClr val="black"/>
                </a:solidFill>
              </a:rPr>
              <a:t>s.disp</a:t>
            </a:r>
            <a:r>
              <a:rPr lang="en-US" altLang="zh-CN" sz="2000" dirty="0">
                <a:solidFill>
                  <a:prstClr val="black"/>
                </a:solidFill>
              </a:rPr>
              <a:t>();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000" dirty="0">
                <a:solidFill>
                  <a:prstClr val="black"/>
                </a:solidFill>
              </a:rPr>
              <a:t>}</a:t>
            </a:r>
            <a:endParaRPr lang="en-US" altLang="zh-CN" sz="2000" dirty="0">
              <a:solidFill>
                <a:prstClr val="black"/>
              </a:solidFill>
            </a:endParaRPr>
          </a:p>
        </p:txBody>
      </p:sp>
      <p:grpSp>
        <p:nvGrpSpPr>
          <p:cNvPr id="10" name="组合 9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7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8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填空题</a:t>
              </a:r>
              <a:endPara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9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defTabSz="914400"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1</a:t>
              </a: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分</a:t>
              </a: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 hidden="1"/>
          <p:cNvSpPr/>
          <p:nvPr>
            <p:custDataLst>
              <p:tags r:id="rId1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矩形 10" hidden="1"/>
          <p:cNvSpPr/>
          <p:nvPr>
            <p:custDataLst>
              <p:tags r:id="rId2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fld id="{AE0236F8-D03A-44C4-BBAF-EC129E3188FA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Gulim" panose="020B0600000101010101" pitchFamily="34" charset="-127"/>
                <a:cs typeface="+mn-cs"/>
              </a:rPr>
            </a:fld>
            <a:endParaRPr kumimoji="0" lang="en-US" altLang="ko-K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Gulim" panose="020B0600000101010101" pitchFamily="34" charset="-127"/>
              <a:cs typeface="+mn-cs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990600" y="3579762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0" defTabSz="914400">
              <a:defRPr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下面哪些调用是错误的？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[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填空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1]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lvl="0" defTabSz="914400">
              <a:defRPr/>
            </a:pPr>
            <a:r>
              <a:rPr lang="en-US" altLang="zh-CN" sz="2400" dirty="0">
                <a:solidFill>
                  <a:prstClr val="black"/>
                </a:solidFill>
              </a:rPr>
              <a:t>double </a:t>
            </a:r>
            <a:r>
              <a:rPr lang="en-US" altLang="zh-CN" sz="2400" dirty="0" err="1">
                <a:solidFill>
                  <a:prstClr val="black"/>
                </a:solidFill>
              </a:rPr>
              <a:t>dobj</a:t>
            </a:r>
            <a:r>
              <a:rPr lang="en-US" altLang="zh-CN" sz="2400" dirty="0">
                <a:solidFill>
                  <a:prstClr val="black"/>
                </a:solidFill>
              </a:rPr>
              <a:t>; float </a:t>
            </a:r>
            <a:r>
              <a:rPr lang="en-US" altLang="zh-CN" sz="2400" dirty="0" err="1">
                <a:solidFill>
                  <a:prstClr val="black"/>
                </a:solidFill>
              </a:rPr>
              <a:t>fobj</a:t>
            </a:r>
            <a:r>
              <a:rPr lang="en-US" altLang="zh-CN" sz="2400" dirty="0">
                <a:solidFill>
                  <a:prstClr val="black"/>
                </a:solidFill>
              </a:rPr>
              <a:t>; char </a:t>
            </a:r>
            <a:r>
              <a:rPr lang="en-US" altLang="zh-CN" sz="2400" dirty="0" err="1">
                <a:solidFill>
                  <a:prstClr val="black"/>
                </a:solidFill>
              </a:rPr>
              <a:t>cobj</a:t>
            </a:r>
            <a:r>
              <a:rPr lang="en-US" altLang="zh-CN" sz="2400" dirty="0">
                <a:solidFill>
                  <a:prstClr val="black"/>
                </a:solidFill>
              </a:rPr>
              <a:t>;</a:t>
            </a:r>
            <a:endParaRPr lang="en-US" altLang="zh-CN" sz="24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400" dirty="0">
                <a:solidFill>
                  <a:prstClr val="black"/>
                </a:solidFill>
              </a:rPr>
              <a:t>int ai[5] = { 511, 16, 8, 63, 34 };</a:t>
            </a:r>
            <a:endParaRPr lang="en-US" altLang="zh-CN" sz="2400" dirty="0">
              <a:solidFill>
                <a:prstClr val="black"/>
              </a:solidFill>
            </a:endParaRPr>
          </a:p>
          <a:p>
            <a:pPr marL="342900" lvl="0" indent="-342900" defTabSz="914400">
              <a:buAutoNum type="alphaLcParenBoth"/>
              <a:defRPr/>
            </a:pPr>
            <a:r>
              <a:rPr lang="en-US" altLang="zh-CN" sz="2400" dirty="0">
                <a:solidFill>
                  <a:prstClr val="black"/>
                </a:solidFill>
              </a:rPr>
              <a:t> calc(</a:t>
            </a:r>
            <a:r>
              <a:rPr lang="en-US" altLang="zh-CN" sz="2400" dirty="0" err="1">
                <a:solidFill>
                  <a:prstClr val="black"/>
                </a:solidFill>
              </a:rPr>
              <a:t>cobj</a:t>
            </a:r>
            <a:r>
              <a:rPr lang="en-US" altLang="zh-CN" sz="2400" dirty="0">
                <a:solidFill>
                  <a:prstClr val="black"/>
                </a:solidFill>
              </a:rPr>
              <a:t>, ‘c’);</a:t>
            </a:r>
            <a:endParaRPr lang="en-US" altLang="zh-CN" sz="2400" dirty="0">
              <a:solidFill>
                <a:prstClr val="black"/>
              </a:solidFill>
            </a:endParaRPr>
          </a:p>
          <a:p>
            <a:pPr marL="342900" lvl="0" indent="-342900" defTabSz="914400">
              <a:buAutoNum type="alphaLcParenBoth"/>
              <a:defRPr/>
            </a:pPr>
            <a:r>
              <a:rPr lang="en-US" altLang="zh-CN" sz="2400" dirty="0">
                <a:solidFill>
                  <a:prstClr val="black"/>
                </a:solidFill>
              </a:rPr>
              <a:t> calc(</a:t>
            </a:r>
            <a:r>
              <a:rPr lang="en-US" altLang="zh-CN" sz="2400" dirty="0" err="1">
                <a:solidFill>
                  <a:prstClr val="black"/>
                </a:solidFill>
              </a:rPr>
              <a:t>dobj</a:t>
            </a:r>
            <a:r>
              <a:rPr lang="en-US" altLang="zh-CN" sz="2400" dirty="0">
                <a:solidFill>
                  <a:prstClr val="black"/>
                </a:solidFill>
              </a:rPr>
              <a:t>, </a:t>
            </a:r>
            <a:r>
              <a:rPr lang="en-US" altLang="zh-CN" sz="2400" dirty="0" err="1">
                <a:solidFill>
                  <a:prstClr val="black"/>
                </a:solidFill>
              </a:rPr>
              <a:t>fobj</a:t>
            </a:r>
            <a:r>
              <a:rPr lang="en-US" altLang="zh-CN" sz="2400" dirty="0">
                <a:solidFill>
                  <a:prstClr val="black"/>
                </a:solidFill>
              </a:rPr>
              <a:t>);</a:t>
            </a:r>
            <a:endParaRPr lang="en-US" altLang="zh-CN" sz="2400" dirty="0">
              <a:solidFill>
                <a:prstClr val="black"/>
              </a:solidFill>
            </a:endParaRPr>
          </a:p>
          <a:p>
            <a:pPr marL="342900" lvl="0" indent="-342900" defTabSz="914400">
              <a:buAutoNum type="alphaLcParenBoth"/>
              <a:defRPr/>
            </a:pPr>
            <a:r>
              <a:rPr lang="en-US" altLang="zh-CN" sz="2400" dirty="0">
                <a:solidFill>
                  <a:prstClr val="black"/>
                </a:solidFill>
              </a:rPr>
              <a:t> </a:t>
            </a:r>
            <a:r>
              <a:rPr lang="en-US" altLang="zh-CN" sz="2400" dirty="0" err="1">
                <a:solidFill>
                  <a:prstClr val="black"/>
                </a:solidFill>
              </a:rPr>
              <a:t>fcn</a:t>
            </a:r>
            <a:r>
              <a:rPr lang="en-US" altLang="zh-CN" sz="2400" dirty="0">
                <a:solidFill>
                  <a:prstClr val="black"/>
                </a:solidFill>
              </a:rPr>
              <a:t>(ai, </a:t>
            </a:r>
            <a:r>
              <a:rPr lang="en-US" altLang="zh-CN" sz="2400" dirty="0" err="1">
                <a:solidFill>
                  <a:prstClr val="black"/>
                </a:solidFill>
              </a:rPr>
              <a:t>cobj</a:t>
            </a:r>
            <a:r>
              <a:rPr lang="en-US" altLang="zh-CN" sz="2400" dirty="0">
                <a:solidFill>
                  <a:prstClr val="black"/>
                </a:solidFill>
              </a:rPr>
              <a:t>);</a:t>
            </a:r>
            <a:endParaRPr lang="en-US" altLang="zh-CN" sz="2400" dirty="0">
              <a:solidFill>
                <a:prstClr val="black"/>
              </a:solidFill>
            </a:endParaRPr>
          </a:p>
        </p:txBody>
      </p:sp>
      <p:sp>
        <p:nvSpPr>
          <p:cNvPr id="5" name="圆角矩形 4"/>
          <p:cNvSpPr/>
          <p:nvPr>
            <p:custDataLst>
              <p:tags r:id="rId4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作答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22" name="文本框 21" hidden="1"/>
          <p:cNvSpPr txBox="1"/>
          <p:nvPr>
            <p:custDataLst>
              <p:tags r:id="rId5"/>
            </p:custDataLst>
          </p:nvPr>
        </p:nvSpPr>
        <p:spPr>
          <a:xfrm>
            <a:off x="9613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3" name="文本框 22" hidden="1"/>
          <p:cNvSpPr txBox="1"/>
          <p:nvPr>
            <p:custDataLst>
              <p:tags r:id="rId6"/>
            </p:custDataLst>
          </p:nvPr>
        </p:nvSpPr>
        <p:spPr>
          <a:xfrm>
            <a:off x="9779000" y="1270000"/>
            <a:ext cx="333248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此处添加答案解析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3"/>
          <p:cNvSpPr txBox="1"/>
          <p:nvPr/>
        </p:nvSpPr>
        <p:spPr>
          <a:xfrm>
            <a:off x="990600" y="944462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对于下面的模板：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lvl="0" defTabSz="914400">
              <a:defRPr/>
            </a:pPr>
            <a:r>
              <a:rPr lang="en-US" altLang="zh-CN" sz="2400" dirty="0">
                <a:solidFill>
                  <a:prstClr val="black"/>
                </a:solidFill>
              </a:rPr>
              <a:t>template &lt;class Type&gt;</a:t>
            </a:r>
            <a:endParaRPr lang="en-US" altLang="zh-CN" sz="24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400" dirty="0">
                <a:solidFill>
                  <a:prstClr val="black"/>
                </a:solidFill>
              </a:rPr>
              <a:t>Type calc(const Type* array, int size);</a:t>
            </a:r>
            <a:endParaRPr lang="en-US" altLang="zh-CN" sz="24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400" dirty="0">
                <a:solidFill>
                  <a:prstClr val="black"/>
                </a:solidFill>
              </a:rPr>
              <a:t>template &lt;class Type&gt;</a:t>
            </a:r>
            <a:endParaRPr lang="en-US" altLang="zh-CN" sz="2400" dirty="0">
              <a:solidFill>
                <a:prstClr val="black"/>
              </a:solidFill>
            </a:endParaRPr>
          </a:p>
          <a:p>
            <a:pPr lvl="0" defTabSz="914400">
              <a:defRPr/>
            </a:pPr>
            <a:r>
              <a:rPr lang="en-US" altLang="zh-CN" sz="2400" dirty="0">
                <a:solidFill>
                  <a:prstClr val="black"/>
                </a:solidFill>
              </a:rPr>
              <a:t>Type </a:t>
            </a:r>
            <a:r>
              <a:rPr lang="en-US" altLang="zh-CN" sz="2400" dirty="0" err="1">
                <a:solidFill>
                  <a:prstClr val="black"/>
                </a:solidFill>
              </a:rPr>
              <a:t>fcn</a:t>
            </a:r>
            <a:r>
              <a:rPr lang="en-US" altLang="zh-CN" sz="2400" dirty="0">
                <a:solidFill>
                  <a:prstClr val="black"/>
                </a:solidFill>
              </a:rPr>
              <a:t>(Type p1, Type p2);</a:t>
            </a:r>
            <a:endParaRPr lang="en-US" altLang="zh-CN" sz="2400" dirty="0">
              <a:solidFill>
                <a:prstClr val="black"/>
              </a:solidFill>
            </a:endParaRPr>
          </a:p>
        </p:txBody>
      </p:sp>
      <p:sp>
        <p:nvSpPr>
          <p:cNvPr id="17" name="文本框 16" hidden="1"/>
          <p:cNvSpPr txBox="1"/>
          <p:nvPr>
            <p:custDataLst>
              <p:tags r:id="rId7"/>
            </p:custDataLst>
          </p:nvPr>
        </p:nvSpPr>
        <p:spPr>
          <a:xfrm>
            <a:off x="9613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文本框 17" hidden="1"/>
          <p:cNvSpPr txBox="1"/>
          <p:nvPr>
            <p:custDataLst>
              <p:tags r:id="rId8"/>
            </p:custDataLst>
          </p:nvPr>
        </p:nvSpPr>
        <p:spPr>
          <a:xfrm>
            <a:off x="9779000" y="1270000"/>
            <a:ext cx="333248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此处添加答案解析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6" name="组合 15" hidden="1"/>
          <p:cNvGrpSpPr/>
          <p:nvPr>
            <p:custDataLst>
              <p:tags r:id="rId9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2" name="RemarkBack" hidden="1"/>
            <p:cNvSpPr/>
            <p:nvPr>
              <p:custDataLst>
                <p:tags r:id="rId10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RemarkBlock" hidden="1"/>
            <p:cNvSpPr/>
            <p:nvPr>
              <p:custDataLst>
                <p:tags r:id="rId11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/>
            <p:cNvSpPr txBox="1"/>
            <p:nvPr>
              <p:custDataLst>
                <p:tags r:id="rId12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7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填空题</a:t>
              </a:r>
              <a:endPara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defTabSz="914400"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1</a:t>
              </a: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分</a:t>
              </a: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Bullet"/>
  <p:tag name="RAINBULLET" val="Wrong"/>
  <p:tag name="RAINPROBLEMTYPE" val="MultipleChoiceMA"/>
</p:tagLst>
</file>

<file path=ppt/tags/tag7.xml><?xml version="1.0" encoding="utf-8"?>
<p:tagLst xmlns:p="http://schemas.openxmlformats.org/presentationml/2006/main">
  <p:tag name="RAINPROBLEM" val="ProblemBullet"/>
  <p:tag name="RAINBULLET" val="Wrong"/>
  <p:tag name="RAINPROBLEMTYPE" val="MultipleChoiceMA"/>
</p:tagLst>
</file>

<file path=ppt/tags/tag8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9.xml><?xml version="1.0" encoding="utf-8"?>
<p:tagLst xmlns:p="http://schemas.openxmlformats.org/presentationml/2006/main">
  <p:tag name="RAINPROBLEM" val="ProblemBullet"/>
  <p:tag name="RAINBULLET" val="Wrong"/>
  <p:tag name="RAINPROBLEMTYPE" val="MultipleChoiceMA"/>
</p:tagLst>
</file>

<file path=ppt/tags/tag10.xml><?xml version="1.0" encoding="utf-8"?>
<p:tagLst xmlns:p="http://schemas.openxmlformats.org/presentationml/2006/main">
  <p:tag name="RAINPROBLEM" val="ProblemSubmit"/>
  <p:tag name="RAINPROBLEMTYPE" val="MultipleChoiceMA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" val="ProblemSetting"/>
  <p:tag name="RAINPROBLEMTYPE" val="MultipleChoiceMA"/>
</p:tagLst>
</file>

<file path=ppt/tags/tag17.xml><?xml version="1.0" encoding="utf-8"?>
<p:tagLst xmlns:p="http://schemas.openxmlformats.org/presentationml/2006/main">
  <p:tag name="RAINPROBLEM" val="ProblemWarning"/>
</p:tagLst>
</file>

<file path=ppt/tags/tag18.xml><?xml version="1.0" encoding="utf-8"?>
<p:tagLst xmlns:p="http://schemas.openxmlformats.org/presentationml/2006/main">
  <p:tag name="PROBLEMSCORE" val="1"/>
  <p:tag name="RAINPROBLEMTYPE" val="MultipleChoiceMA"/>
  <p:tag name="RAINPROBLEM" val="MultipleChoiceMA"/>
  <p:tag name="PROBLEMSCORE_HALF" val="0.0"/>
</p:tagLst>
</file>

<file path=ppt/tags/tag19.xml><?xml version="1.0" encoding="utf-8"?>
<p:tagLst xmlns:p="http://schemas.openxmlformats.org/presentationml/2006/main">
  <p:tag name="RAINPROBLEM" val="ProblemBody"/>
</p:tagLst>
</file>

<file path=ppt/tags/tag20.xml><?xml version="1.0" encoding="utf-8"?>
<p:tagLst xmlns:p="http://schemas.openxmlformats.org/presentationml/2006/main">
  <p:tag name="RAINPROBLEM" val="ProblemItem"/>
</p:tagLst>
</file>

<file path=ppt/tags/tag21.xml><?xml version="1.0" encoding="utf-8"?>
<p:tagLst xmlns:p="http://schemas.openxmlformats.org/presentationml/2006/main">
  <p:tag name="RAINPROBLEM" val="ProblemItem"/>
</p:tagLst>
</file>

<file path=ppt/tags/tag22.xml><?xml version="1.0" encoding="utf-8"?>
<p:tagLst xmlns:p="http://schemas.openxmlformats.org/presentationml/2006/main">
  <p:tag name="RAINPROBLEM" val="ProblemItem"/>
</p:tagLst>
</file>

<file path=ppt/tags/tag23.xml><?xml version="1.0" encoding="utf-8"?>
<p:tagLst xmlns:p="http://schemas.openxmlformats.org/presentationml/2006/main">
  <p:tag name="RAINPROBLEM" val="ProblemItem"/>
</p:tagLst>
</file>

<file path=ppt/tags/tag24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25.xml><?xml version="1.0" encoding="utf-8"?>
<p:tagLst xmlns:p="http://schemas.openxmlformats.org/presentationml/2006/main">
  <p:tag name="RAINPROBLEM" val="ProblemBullet"/>
  <p:tag name="RAINBULLET" val="Wrong"/>
  <p:tag name="RAINPROBLEMTYPE" val="MultipleChoiceMA"/>
</p:tagLst>
</file>

<file path=ppt/tags/tag26.xml><?xml version="1.0" encoding="utf-8"?>
<p:tagLst xmlns:p="http://schemas.openxmlformats.org/presentationml/2006/main">
  <p:tag name="RAINPROBLEM" val="ProblemBullet"/>
  <p:tag name="RAINBULLET" val="Wrong"/>
  <p:tag name="RAINPROBLEMTYPE" val="MultipleChoiceMA"/>
</p:tagLst>
</file>

<file path=ppt/tags/tag27.xml><?xml version="1.0" encoding="utf-8"?>
<p:tagLst xmlns:p="http://schemas.openxmlformats.org/presentationml/2006/main">
  <p:tag name="RAINPROBLEM" val="ProblemBullet"/>
  <p:tag name="RAINBULLET" val="Wrong"/>
  <p:tag name="RAINPROBLEMTYPE" val="MultipleChoiceMA"/>
</p:tagLst>
</file>

<file path=ppt/tags/tag28.xml><?xml version="1.0" encoding="utf-8"?>
<p:tagLst xmlns:p="http://schemas.openxmlformats.org/presentationml/2006/main">
  <p:tag name="RAINPROBLEM" val="ProblemSubmit"/>
  <p:tag name="RAINPROBLEMTYPE" val="MultipleChoiceMA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TYPE" val="ProblemTypeMarker"/>
</p:tagLst>
</file>

<file path=ppt/tags/tag34.xml><?xml version="1.0" encoding="utf-8"?>
<p:tagLst xmlns:p="http://schemas.openxmlformats.org/presentationml/2006/main">
  <p:tag name="RAINPROBLEM" val="ProblemSetting"/>
  <p:tag name="RAINPROBLEMTYPE" val="MultipleChoiceMA"/>
</p:tagLst>
</file>

<file path=ppt/tags/tag35.xml><?xml version="1.0" encoding="utf-8"?>
<p:tagLst xmlns:p="http://schemas.openxmlformats.org/presentationml/2006/main">
  <p:tag name="RAINPROBLEM" val="ProblemWarning"/>
</p:tagLst>
</file>

<file path=ppt/tags/tag36.xml><?xml version="1.0" encoding="utf-8"?>
<p:tagLst xmlns:p="http://schemas.openxmlformats.org/presentationml/2006/main">
  <p:tag name="PROBLEMSCORE" val="1"/>
  <p:tag name="RAINPROBLEMTYPE" val="MultipleChoiceMA"/>
  <p:tag name="RAINPROBLEM" val="MultipleChoiceMA"/>
  <p:tag name="PROBLEMSCORE_HALF" val="0.0"/>
</p:tagLst>
</file>

<file path=ppt/tags/tag37.xml><?xml version="1.0" encoding="utf-8"?>
<p:tagLst xmlns:p="http://schemas.openxmlformats.org/presentationml/2006/main">
  <p:tag name="RAINPROBLEM" val="ProblemBody"/>
</p:tagLst>
</file>

<file path=ppt/tags/tag38.xml><?xml version="1.0" encoding="utf-8"?>
<p:tagLst xmlns:p="http://schemas.openxmlformats.org/presentationml/2006/main">
  <p:tag name="RAINPROBLEM" val="ProblemItem"/>
</p:tagLst>
</file>

<file path=ppt/tags/tag39.xml><?xml version="1.0" encoding="utf-8"?>
<p:tagLst xmlns:p="http://schemas.openxmlformats.org/presentationml/2006/main">
  <p:tag name="RAINPROBLEM" val="ProblemItem"/>
</p:tagLst>
</file>

<file path=ppt/tags/tag40.xml><?xml version="1.0" encoding="utf-8"?>
<p:tagLst xmlns:p="http://schemas.openxmlformats.org/presentationml/2006/main">
  <p:tag name="RAINPROBLEM" val="ProblemItem"/>
</p:tagLst>
</file>

<file path=ppt/tags/tag41.xml><?xml version="1.0" encoding="utf-8"?>
<p:tagLst xmlns:p="http://schemas.openxmlformats.org/presentationml/2006/main">
  <p:tag name="RAINPROBLEM" val="ProblemItem"/>
</p:tagLst>
</file>

<file path=ppt/tags/tag42.xml><?xml version="1.0" encoding="utf-8"?>
<p:tagLst xmlns:p="http://schemas.openxmlformats.org/presentationml/2006/main">
  <p:tag name="RAINPROBLEM" val="ProblemBullet"/>
  <p:tag name="RAINBULLET" val="Wrong"/>
  <p:tag name="RAINPROBLEMTYPE" val="MultipleChoiceMA"/>
</p:tagLst>
</file>

<file path=ppt/tags/tag43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44.xml><?xml version="1.0" encoding="utf-8"?>
<p:tagLst xmlns:p="http://schemas.openxmlformats.org/presentationml/2006/main">
  <p:tag name="RAINPROBLEM" val="ProblemBullet"/>
  <p:tag name="RAINBULLET" val="Wrong"/>
  <p:tag name="RAINPROBLEMTYPE" val="MultipleChoiceMA"/>
</p:tagLst>
</file>

<file path=ppt/tags/tag45.xml><?xml version="1.0" encoding="utf-8"?>
<p:tagLst xmlns:p="http://schemas.openxmlformats.org/presentationml/2006/main">
  <p:tag name="RAINPROBLEM" val="ProblemBullet"/>
  <p:tag name="RAINBULLET" val="Wrong"/>
  <p:tag name="RAINPROBLEMTYPE" val="MultipleChoiceMA"/>
</p:tagLst>
</file>

<file path=ppt/tags/tag46.xml><?xml version="1.0" encoding="utf-8"?>
<p:tagLst xmlns:p="http://schemas.openxmlformats.org/presentationml/2006/main">
  <p:tag name="RAINPROBLEM" val="ProblemSubmit"/>
  <p:tag name="RAINPROBLEMTYPE" val="MultipleChoiceMA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TYPE" val="ProblemTypeMarker"/>
</p:tagLst>
</file>

<file path=ppt/tags/tag51.xml><?xml version="1.0" encoding="utf-8"?>
<p:tagLst xmlns:p="http://schemas.openxmlformats.org/presentationml/2006/main">
  <p:tag name="RAINPROBLEMTYPE" val="ProblemTypeMarker"/>
</p:tagLst>
</file>

<file path=ppt/tags/tag52.xml><?xml version="1.0" encoding="utf-8"?>
<p:tagLst xmlns:p="http://schemas.openxmlformats.org/presentationml/2006/main">
  <p:tag name="RAINPROBLEM" val="ProblemSetting"/>
  <p:tag name="RAINPROBLEMTYPE" val="MultipleChoiceMA"/>
</p:tagLst>
</file>

<file path=ppt/tags/tag53.xml><?xml version="1.0" encoding="utf-8"?>
<p:tagLst xmlns:p="http://schemas.openxmlformats.org/presentationml/2006/main">
  <p:tag name="RAINPROBLEM" val="ProblemWarning"/>
</p:tagLst>
</file>

<file path=ppt/tags/tag54.xml><?xml version="1.0" encoding="utf-8"?>
<p:tagLst xmlns:p="http://schemas.openxmlformats.org/presentationml/2006/main">
  <p:tag name="PROBLEMSCORE" val="1"/>
  <p:tag name="RAINPROBLEMTYPE" val="MultipleChoiceMA"/>
  <p:tag name="RAINPROBLEM" val="MultipleChoiceMA"/>
  <p:tag name="PROBLEMSCORE_HALF" val="0.0"/>
</p:tagLst>
</file>

<file path=ppt/tags/tag55.xml><?xml version="1.0" encoding="utf-8"?>
<p:tagLst xmlns:p="http://schemas.openxmlformats.org/presentationml/2006/main">
  <p:tag name="RAINPROBLEM" val="ProblemBody"/>
</p:tagLst>
</file>

<file path=ppt/tags/tag56.xml><?xml version="1.0" encoding="utf-8"?>
<p:tagLst xmlns:p="http://schemas.openxmlformats.org/presentationml/2006/main">
  <p:tag name="RAINPROBLEM" val="ProblemItem"/>
</p:tagLst>
</file>

<file path=ppt/tags/tag57.xml><?xml version="1.0" encoding="utf-8"?>
<p:tagLst xmlns:p="http://schemas.openxmlformats.org/presentationml/2006/main">
  <p:tag name="RAINPROBLEM" val="ProblemItem"/>
</p:tagLst>
</file>

<file path=ppt/tags/tag58.xml><?xml version="1.0" encoding="utf-8"?>
<p:tagLst xmlns:p="http://schemas.openxmlformats.org/presentationml/2006/main">
  <p:tag name="RAINPROBLEM" val="ProblemItem"/>
</p:tagLst>
</file>

<file path=ppt/tags/tag59.xml><?xml version="1.0" encoding="utf-8"?>
<p:tagLst xmlns:p="http://schemas.openxmlformats.org/presentationml/2006/main">
  <p:tag name="RAINPROBLEM" val="ProblemItem"/>
</p:tagLst>
</file>

<file path=ppt/tags/tag60.xml><?xml version="1.0" encoding="utf-8"?>
<p:tagLst xmlns:p="http://schemas.openxmlformats.org/presentationml/2006/main">
  <p:tag name="RAINPROBLEM" val="ProblemBullet"/>
  <p:tag name="RAINBULLET" val="Wrong"/>
  <p:tag name="RAINPROBLEMTYPE" val="MultipleChoiceMA"/>
</p:tagLst>
</file>

<file path=ppt/tags/tag61.xml><?xml version="1.0" encoding="utf-8"?>
<p:tagLst xmlns:p="http://schemas.openxmlformats.org/presentationml/2006/main">
  <p:tag name="RAINPROBLEM" val="ProblemBullet"/>
  <p:tag name="RAINBULLET" val="Wrong"/>
  <p:tag name="RAINPROBLEMTYPE" val="MultipleChoiceMA"/>
</p:tagLst>
</file>

<file path=ppt/tags/tag62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63.xml><?xml version="1.0" encoding="utf-8"?>
<p:tagLst xmlns:p="http://schemas.openxmlformats.org/presentationml/2006/main">
  <p:tag name="RAINPROBLEM" val="ProblemBullet"/>
  <p:tag name="RAINBULLET" val="Wrong"/>
  <p:tag name="RAINPROBLEMTYPE" val="MultipleChoiceMA"/>
</p:tagLst>
</file>

<file path=ppt/tags/tag64.xml><?xml version="1.0" encoding="utf-8"?>
<p:tagLst xmlns:p="http://schemas.openxmlformats.org/presentationml/2006/main">
  <p:tag name="RAINPROBLEM" val="ProblemSubmit"/>
  <p:tag name="RAINPROBLEMTYPE" val="MultipleChoiceMA"/>
</p:tagLst>
</file>

<file path=ppt/tags/tag65.xml><?xml version="1.0" encoding="utf-8"?>
<p:tagLst xmlns:p="http://schemas.openxmlformats.org/presentationml/2006/main">
  <p:tag name="RAINPROBLEMTYPE" val="ProblemTypeMarker"/>
</p:tagLst>
</file>

<file path=ppt/tags/tag66.xml><?xml version="1.0" encoding="utf-8"?>
<p:tagLst xmlns:p="http://schemas.openxmlformats.org/presentationml/2006/main">
  <p:tag name="RAINPROBLEMTYPE" val="ProblemTypeMarker"/>
</p:tagLst>
</file>

<file path=ppt/tags/tag67.xml><?xml version="1.0" encoding="utf-8"?>
<p:tagLst xmlns:p="http://schemas.openxmlformats.org/presentationml/2006/main">
  <p:tag name="RAINPROBLEMTYPE" val="ProblemTypeMarker"/>
</p:tagLst>
</file>

<file path=ppt/tags/tag68.xml><?xml version="1.0" encoding="utf-8"?>
<p:tagLst xmlns:p="http://schemas.openxmlformats.org/presentationml/2006/main">
  <p:tag name="RAINPROBLEMTYPE" val="ProblemTypeMarker"/>
</p:tagLst>
</file>

<file path=ppt/tags/tag69.xml><?xml version="1.0" encoding="utf-8"?>
<p:tagLst xmlns:p="http://schemas.openxmlformats.org/presentationml/2006/main">
  <p:tag name="RAINPROBLEMTYPE" val="ProblemTypeMarker"/>
</p:tagLst>
</file>

<file path=ppt/tags/tag70.xml><?xml version="1.0" encoding="utf-8"?>
<p:tagLst xmlns:p="http://schemas.openxmlformats.org/presentationml/2006/main">
  <p:tag name="RAINPROBLEM" val="ProblemSetting"/>
  <p:tag name="RAINPROBLEMTYPE" val="MultipleChoiceMA"/>
</p:tagLst>
</file>

<file path=ppt/tags/tag71.xml><?xml version="1.0" encoding="utf-8"?>
<p:tagLst xmlns:p="http://schemas.openxmlformats.org/presentationml/2006/main">
  <p:tag name="RAINPROBLEM" val="ProblemWarning"/>
</p:tagLst>
</file>

<file path=ppt/tags/tag72.xml><?xml version="1.0" encoding="utf-8"?>
<p:tagLst xmlns:p="http://schemas.openxmlformats.org/presentationml/2006/main">
  <p:tag name="PROBLEMSCORE" val="1"/>
  <p:tag name="RAINPROBLEMTYPE" val="MultipleChoiceMA"/>
  <p:tag name="RAINPROBLEM" val="MultipleChoiceMA"/>
  <p:tag name="PROBLEMSCORE_HALF" val="0.0"/>
</p:tagLst>
</file>

<file path=ppt/tags/tag73.xml><?xml version="1.0" encoding="utf-8"?>
<p:tagLst xmlns:p="http://schemas.openxmlformats.org/presentationml/2006/main">
  <p:tag name="RAINPROBLEM" val="ProblemBody"/>
</p:tagLst>
</file>

<file path=ppt/tags/tag74.xml><?xml version="1.0" encoding="utf-8"?>
<p:tagLst xmlns:p="http://schemas.openxmlformats.org/presentationml/2006/main">
  <p:tag name="RAINPROBLEM" val="ProblemItem"/>
</p:tagLst>
</file>

<file path=ppt/tags/tag75.xml><?xml version="1.0" encoding="utf-8"?>
<p:tagLst xmlns:p="http://schemas.openxmlformats.org/presentationml/2006/main">
  <p:tag name="RAINPROBLEM" val="ProblemItem"/>
</p:tagLst>
</file>

<file path=ppt/tags/tag76.xml><?xml version="1.0" encoding="utf-8"?>
<p:tagLst xmlns:p="http://schemas.openxmlformats.org/presentationml/2006/main">
  <p:tag name="RAINPROBLEM" val="ProblemItem"/>
</p:tagLst>
</file>

<file path=ppt/tags/tag77.xml><?xml version="1.0" encoding="utf-8"?>
<p:tagLst xmlns:p="http://schemas.openxmlformats.org/presentationml/2006/main">
  <p:tag name="RAINPROBLEM" val="ProblemItem"/>
</p:tagLst>
</file>

<file path=ppt/tags/tag78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79.xml><?xml version="1.0" encoding="utf-8"?>
<p:tagLst xmlns:p="http://schemas.openxmlformats.org/presentationml/2006/main">
  <p:tag name="RAINPROBLEM" val="ProblemBullet"/>
  <p:tag name="RAINBULLET" val="Wrong"/>
  <p:tag name="RAINPROBLEMTYPE" val="MultipleChoiceMA"/>
</p:tagLst>
</file>

<file path=ppt/tags/tag80.xml><?xml version="1.0" encoding="utf-8"?>
<p:tagLst xmlns:p="http://schemas.openxmlformats.org/presentationml/2006/main">
  <p:tag name="RAINPROBLEM" val="ProblemBullet"/>
  <p:tag name="RAINBULLET" val="Wrong"/>
  <p:tag name="RAINPROBLEMTYPE" val="MultipleChoiceMA"/>
</p:tagLst>
</file>

<file path=ppt/tags/tag81.xml><?xml version="1.0" encoding="utf-8"?>
<p:tagLst xmlns:p="http://schemas.openxmlformats.org/presentationml/2006/main">
  <p:tag name="RAINPROBLEM" val="ProblemBullet"/>
  <p:tag name="RAINBULLET" val="Wrong"/>
  <p:tag name="RAINPROBLEMTYPE" val="MultipleChoiceMA"/>
</p:tagLst>
</file>

<file path=ppt/tags/tag82.xml><?xml version="1.0" encoding="utf-8"?>
<p:tagLst xmlns:p="http://schemas.openxmlformats.org/presentationml/2006/main">
  <p:tag name="RAINPROBLEM" val="ProblemSubmit"/>
  <p:tag name="RAINPROBLEMTYPE" val="MultipleChoiceMA"/>
</p:tagLst>
</file>

<file path=ppt/tags/tag83.xml><?xml version="1.0" encoding="utf-8"?>
<p:tagLst xmlns:p="http://schemas.openxmlformats.org/presentationml/2006/main">
  <p:tag name="RAINPROBLEMTYPE" val="ProblemTypeMarker"/>
</p:tagLst>
</file>

<file path=ppt/tags/tag84.xml><?xml version="1.0" encoding="utf-8"?>
<p:tagLst xmlns:p="http://schemas.openxmlformats.org/presentationml/2006/main">
  <p:tag name="RAINPROBLEMTYPE" val="ProblemTypeMarker"/>
</p:tagLst>
</file>

<file path=ppt/tags/tag85.xml><?xml version="1.0" encoding="utf-8"?>
<p:tagLst xmlns:p="http://schemas.openxmlformats.org/presentationml/2006/main">
  <p:tag name="RAINPROBLEMTYPE" val="ProblemTypeMarker"/>
</p:tagLst>
</file>

<file path=ppt/tags/tag86.xml><?xml version="1.0" encoding="utf-8"?>
<p:tagLst xmlns:p="http://schemas.openxmlformats.org/presentationml/2006/main">
  <p:tag name="RAINPROBLEMTYPE" val="ProblemTypeMarker"/>
</p:tagLst>
</file>

<file path=ppt/tags/tag87.xml><?xml version="1.0" encoding="utf-8"?>
<p:tagLst xmlns:p="http://schemas.openxmlformats.org/presentationml/2006/main">
  <p:tag name="RAINPROBLEMTYPE" val="ProblemTypeMarker"/>
</p:tagLst>
</file>

<file path=ppt/tags/tag88.xml><?xml version="1.0" encoding="utf-8"?>
<p:tagLst xmlns:p="http://schemas.openxmlformats.org/presentationml/2006/main">
  <p:tag name="RAINPROBLEM" val="ProblemSetting"/>
  <p:tag name="RAINPROBLEMTYPE" val="MultipleChoiceMA"/>
</p:tagLst>
</file>

<file path=ppt/tags/tag89.xml><?xml version="1.0" encoding="utf-8"?>
<p:tagLst xmlns:p="http://schemas.openxmlformats.org/presentationml/2006/main">
  <p:tag name="RAINPROBLEM" val="ProblemWarning"/>
</p:tagLst>
</file>

<file path=ppt/tags/tag90.xml><?xml version="1.0" encoding="utf-8"?>
<p:tagLst xmlns:p="http://schemas.openxmlformats.org/presentationml/2006/main">
  <p:tag name="PROBLEMSCORE" val="1.0"/>
  <p:tag name="RAINPROBLEMTYPE" val="MultipleChoiceMA"/>
  <p:tag name="RAINPROBLEM" val="MultipleChoiceMA"/>
  <p:tag name="PROBLEMSCORE_HALF" val="0.0"/>
</p:tagLst>
</file>

<file path=ppt/tags/tag91.xml><?xml version="1.0" encoding="utf-8"?>
<p:tagLst xmlns:p="http://schemas.openxmlformats.org/presentationml/2006/main">
  <p:tag name="RAINPROBLEM" val="ProblemBody"/>
</p:tagLst>
</file>

<file path=ppt/tags/tag92.xml><?xml version="1.0" encoding="utf-8"?>
<p:tagLst xmlns:p="http://schemas.openxmlformats.org/presentationml/2006/main">
  <p:tag name="RAINPROBLEM" val="ProblemItem"/>
</p:tagLst>
</file>

<file path=ppt/tags/tag93.xml><?xml version="1.0" encoding="utf-8"?>
<p:tagLst xmlns:p="http://schemas.openxmlformats.org/presentationml/2006/main">
  <p:tag name="RAINPROBLEM" val="ProblemItem"/>
</p:tagLst>
</file>

<file path=ppt/tags/tag94.xml><?xml version="1.0" encoding="utf-8"?>
<p:tagLst xmlns:p="http://schemas.openxmlformats.org/presentationml/2006/main">
  <p:tag name="RAINPROBLEM" val="ProblemItem"/>
</p:tagLst>
</file>

<file path=ppt/tags/tag95.xml><?xml version="1.0" encoding="utf-8"?>
<p:tagLst xmlns:p="http://schemas.openxmlformats.org/presentationml/2006/main">
  <p:tag name="RAINPROBLEM" val="ProblemItem"/>
</p:tagLst>
</file>

<file path=ppt/tags/tag96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97.xml><?xml version="1.0" encoding="utf-8"?>
<p:tagLst xmlns:p="http://schemas.openxmlformats.org/presentationml/2006/main">
  <p:tag name="RAINPROBLEM" val="ProblemBullet"/>
  <p:tag name="RAINBULLET" val="Wrong"/>
  <p:tag name="RAINPROBLEMTYPE" val="MultipleChoiceMA"/>
</p:tagLst>
</file>

<file path=ppt/tags/tag98.xml><?xml version="1.0" encoding="utf-8"?>
<p:tagLst xmlns:p="http://schemas.openxmlformats.org/presentationml/2006/main">
  <p:tag name="RAINPROBLEM" val="ProblemBullet"/>
  <p:tag name="RAINBULLET" val="Wrong"/>
  <p:tag name="RAINPROBLEMTYPE" val="MultipleChoiceMA"/>
</p:tagLst>
</file>

<file path=ppt/tags/tag99.xml><?xml version="1.0" encoding="utf-8"?>
<p:tagLst xmlns:p="http://schemas.openxmlformats.org/presentationml/2006/main">
  <p:tag name="RAINPROBLEM" val="ProblemBullet"/>
  <p:tag name="RAINBULLET" val="Wrong"/>
  <p:tag name="RAINPROBLEMTYPE" val="MultipleChoiceMA"/>
</p:tagLst>
</file>

<file path=ppt/tags/tag100.xml><?xml version="1.0" encoding="utf-8"?>
<p:tagLst xmlns:p="http://schemas.openxmlformats.org/presentationml/2006/main">
  <p:tag name="RAINPROBLEM" val="ProblemSubmit"/>
  <p:tag name="RAINPROBLEMTYPE" val="MultipleChoiceMA"/>
</p:tagLst>
</file>

<file path=ppt/tags/tag101.xml><?xml version="1.0" encoding="utf-8"?>
<p:tagLst xmlns:p="http://schemas.openxmlformats.org/presentationml/2006/main">
  <p:tag name="RAINPROBLEMTYPE" val="ProblemTypeMarker"/>
</p:tagLst>
</file>

<file path=ppt/tags/tag102.xml><?xml version="1.0" encoding="utf-8"?>
<p:tagLst xmlns:p="http://schemas.openxmlformats.org/presentationml/2006/main">
  <p:tag name="RAINPROBLEMTYPE" val="ProblemTypeMarker"/>
</p:tagLst>
</file>

<file path=ppt/tags/tag103.xml><?xml version="1.0" encoding="utf-8"?>
<p:tagLst xmlns:p="http://schemas.openxmlformats.org/presentationml/2006/main">
  <p:tag name="RAINPROBLEMTYPE" val="ProblemTypeMarker"/>
</p:tagLst>
</file>

<file path=ppt/tags/tag104.xml><?xml version="1.0" encoding="utf-8"?>
<p:tagLst xmlns:p="http://schemas.openxmlformats.org/presentationml/2006/main">
  <p:tag name="RAINPROBLEMTYPE" val="ProblemTypeMarker"/>
</p:tagLst>
</file>

<file path=ppt/tags/tag105.xml><?xml version="1.0" encoding="utf-8"?>
<p:tagLst xmlns:p="http://schemas.openxmlformats.org/presentationml/2006/main">
  <p:tag name="RAINPROBLEMTYPE" val="ProblemTypeMarker"/>
</p:tagLst>
</file>

<file path=ppt/tags/tag106.xml><?xml version="1.0" encoding="utf-8"?>
<p:tagLst xmlns:p="http://schemas.openxmlformats.org/presentationml/2006/main">
  <p:tag name="RAINPROBLEM" val="ProblemSetting"/>
  <p:tag name="RAINPROBLEMTYPE" val="MultipleChoiceMA"/>
</p:tagLst>
</file>

<file path=ppt/tags/tag107.xml><?xml version="1.0" encoding="utf-8"?>
<p:tagLst xmlns:p="http://schemas.openxmlformats.org/presentationml/2006/main">
  <p:tag name="RAINPROBLEM" val="ProblemWarning"/>
</p:tagLst>
</file>

<file path=ppt/tags/tag108.xml><?xml version="1.0" encoding="utf-8"?>
<p:tagLst xmlns:p="http://schemas.openxmlformats.org/presentationml/2006/main">
  <p:tag name="PROBLEMSCORE" val="1.0"/>
  <p:tag name="RAINPROBLEMTYPE" val="MultipleChoiceMA"/>
  <p:tag name="RAINPROBLEM" val="MultipleChoiceMA"/>
  <p:tag name="PROBLEMSCORE_HALF" val="0.0"/>
</p:tagLst>
</file>

<file path=ppt/tags/tag109.xml><?xml version="1.0" encoding="utf-8"?>
<p:tagLst xmlns:p="http://schemas.openxmlformats.org/presentationml/2006/main">
  <p:tag name="RAINPROBLEM" val="ProblemBody"/>
</p:tagLst>
</file>

<file path=ppt/tags/tag110.xml><?xml version="1.0" encoding="utf-8"?>
<p:tagLst xmlns:p="http://schemas.openxmlformats.org/presentationml/2006/main">
  <p:tag name="RAINPROBLEM" val="ProblemSubmit"/>
  <p:tag name="RAINPROBLEMTYPE" val="FillBlank"/>
</p:tagLst>
</file>

<file path=ppt/tags/tag111.xml><?xml version="1.0" encoding="utf-8"?>
<p:tagLst xmlns:p="http://schemas.openxmlformats.org/presentationml/2006/main">
  <p:tag name="RAINPROBLEMTYPE" val="ProblemTypeMarker"/>
</p:tagLst>
</file>

<file path=ppt/tags/tag112.xml><?xml version="1.0" encoding="utf-8"?>
<p:tagLst xmlns:p="http://schemas.openxmlformats.org/presentationml/2006/main">
  <p:tag name="RAINPROBLEMTYPE" val="ProblemTypeMarker"/>
</p:tagLst>
</file>

<file path=ppt/tags/tag113.xml><?xml version="1.0" encoding="utf-8"?>
<p:tagLst xmlns:p="http://schemas.openxmlformats.org/presentationml/2006/main">
  <p:tag name="RAINPROBLEMTYPE" val="ProblemTypeMarker"/>
</p:tagLst>
</file>

<file path=ppt/tags/tag114.xml><?xml version="1.0" encoding="utf-8"?>
<p:tagLst xmlns:p="http://schemas.openxmlformats.org/presentationml/2006/main">
  <p:tag name="RAINPROBLEMTYPE" val="ProblemTypeMarker"/>
</p:tagLst>
</file>

<file path=ppt/tags/tag115.xml><?xml version="1.0" encoding="utf-8"?>
<p:tagLst xmlns:p="http://schemas.openxmlformats.org/presentationml/2006/main">
  <p:tag name="RAINPROBLEMTYPE" val="ProblemTypeMarker"/>
</p:tagLst>
</file>

<file path=ppt/tags/tag116.xml><?xml version="1.0" encoding="utf-8"?>
<p:tagLst xmlns:p="http://schemas.openxmlformats.org/presentationml/2006/main">
  <p:tag name="RAINPROBLEM" val="ProblemSetting"/>
  <p:tag name="RAINPROBLEMTYPE" val="FillBlank"/>
</p:tagLst>
</file>

<file path=ppt/tags/tag117.xml><?xml version="1.0" encoding="utf-8"?>
<p:tagLst xmlns:p="http://schemas.openxmlformats.org/presentationml/2006/main">
  <p:tag name="RAINPROBLEM" val="FillBlank"/>
  <p:tag name="PROBLEMBLANKKEYWORD" val="填空"/>
  <p:tag name="PROBLEMSCORE" val="1.0"/>
  <p:tag name="PROBLEMBLANK" val="[{&quot;Num&quot;:1,&quot;Score&quot;:1.0,&quot;Answers&quot;:[&quot;v1&lt;v2 ? v1:v2&quot;],&quot;CaseSensitive&quot;:false,&quot;FuzzyMatch&quot;:false}]"/>
</p:tagLst>
</file>

<file path=ppt/tags/tag118.xml><?xml version="1.0" encoding="utf-8"?>
<p:tagLst xmlns:p="http://schemas.openxmlformats.org/presentationml/2006/main">
  <p:tag name="RAINPROBLEM" val="ProblemRemarkBoard"/>
</p:tagLst>
</file>

<file path=ppt/tags/tag119.xml><?xml version="1.0" encoding="utf-8"?>
<p:tagLst xmlns:p="http://schemas.openxmlformats.org/presentationml/2006/main">
  <p:tag name="RAINPROBLEM" val="ProblemBody"/>
</p:tagLst>
</file>

<file path=ppt/tags/tag120.xml><?xml version="1.0" encoding="utf-8"?>
<p:tagLst xmlns:p="http://schemas.openxmlformats.org/presentationml/2006/main">
  <p:tag name="RAINPROBLEM" val="ProblemSubmit"/>
  <p:tag name="RAINPROBLEMTYPE" val="FillBlank"/>
</p:tagLst>
</file>

<file path=ppt/tags/tag121.xml><?xml version="1.0" encoding="utf-8"?>
<p:tagLst xmlns:p="http://schemas.openxmlformats.org/presentationml/2006/main">
  <p:tag name="PROBLEMREMARKTITLE" val="ProblemRemarkBoardTip"/>
</p:tagLst>
</file>

<file path=ppt/tags/tag122.xml><?xml version="1.0" encoding="utf-8"?>
<p:tagLst xmlns:p="http://schemas.openxmlformats.org/presentationml/2006/main">
  <p:tag name="RAINPROBLEM" val="ProblemRemark"/>
</p:tagLst>
</file>

<file path=ppt/tags/tag123.xml><?xml version="1.0" encoding="utf-8"?>
<p:tagLst xmlns:p="http://schemas.openxmlformats.org/presentationml/2006/main">
  <p:tag name="RAINPROBLEMTYPE" val="ProblemTypeMarker"/>
</p:tagLst>
</file>

<file path=ppt/tags/tag124.xml><?xml version="1.0" encoding="utf-8"?>
<p:tagLst xmlns:p="http://schemas.openxmlformats.org/presentationml/2006/main">
  <p:tag name="RAINPROBLEMTYPE" val="ProblemTypeMarker"/>
</p:tagLst>
</file>

<file path=ppt/tags/tag125.xml><?xml version="1.0" encoding="utf-8"?>
<p:tagLst xmlns:p="http://schemas.openxmlformats.org/presentationml/2006/main">
  <p:tag name="RAINPROBLEMTYPE" val="ProblemTypeMarker"/>
</p:tagLst>
</file>

<file path=ppt/tags/tag126.xml><?xml version="1.0" encoding="utf-8"?>
<p:tagLst xmlns:p="http://schemas.openxmlformats.org/presentationml/2006/main">
  <p:tag name="RAINPROBLEMTYPE" val="ProblemTypeMarker"/>
</p:tagLst>
</file>

<file path=ppt/tags/tag127.xml><?xml version="1.0" encoding="utf-8"?>
<p:tagLst xmlns:p="http://schemas.openxmlformats.org/presentationml/2006/main">
  <p:tag name="RAINPROBLEMTYPE" val="ProblemTypeMarker"/>
</p:tagLst>
</file>

<file path=ppt/tags/tag128.xml><?xml version="1.0" encoding="utf-8"?>
<p:tagLst xmlns:p="http://schemas.openxmlformats.org/presentationml/2006/main">
  <p:tag name="RAINPROBLEM" val="ProblemSetting"/>
  <p:tag name="RAINPROBLEMTYPE" val="FillBlank"/>
</p:tagLst>
</file>

<file path=ppt/tags/tag129.xml><?xml version="1.0" encoding="utf-8"?>
<p:tagLst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5&quot;],&quot;CaseSensitive&quot;:false,&quot;FuzzyMatch&quot;:false},{&quot;Num&quot;:2,&quot;Score&quot;:1.0,&quot;Answers&quot;:[&quot;3.5&quot;],&quot;CaseSensitive&quot;:false,&quot;FuzzyMatch&quot;:false}]"/>
</p:tagLst>
</file>

<file path=ppt/tags/tag130.xml><?xml version="1.0" encoding="utf-8"?>
<p:tagLst xmlns:p="http://schemas.openxmlformats.org/presentationml/2006/main">
  <p:tag name="RAINPROBLEM" val="ProblemRemarkBoard"/>
</p:tagLst>
</file>

<file path=ppt/tags/tag131.xml><?xml version="1.0" encoding="utf-8"?>
<p:tagLst xmlns:p="http://schemas.openxmlformats.org/presentationml/2006/main">
  <p:tag name="RAINPROBLEM" val="ProblemBody"/>
</p:tagLst>
</file>

<file path=ppt/tags/tag132.xml><?xml version="1.0" encoding="utf-8"?>
<p:tagLst xmlns:p="http://schemas.openxmlformats.org/presentationml/2006/main">
  <p:tag name="RAINPROBLEM" val="ProblemSubmit"/>
  <p:tag name="RAINPROBLEMTYPE" val="FillBlank"/>
</p:tagLst>
</file>

<file path=ppt/tags/tag133.xml><?xml version="1.0" encoding="utf-8"?>
<p:tagLst xmlns:p="http://schemas.openxmlformats.org/presentationml/2006/main">
  <p:tag name="PROBLEMREMARKTITLE" val="ProblemRemarkBoardTip"/>
</p:tagLst>
</file>

<file path=ppt/tags/tag134.xml><?xml version="1.0" encoding="utf-8"?>
<p:tagLst xmlns:p="http://schemas.openxmlformats.org/presentationml/2006/main">
  <p:tag name="RAINPROBLEM" val="ProblemRemark"/>
</p:tagLst>
</file>

<file path=ppt/tags/tag135.xml><?xml version="1.0" encoding="utf-8"?>
<p:tagLst xmlns:p="http://schemas.openxmlformats.org/presentationml/2006/main">
  <p:tag name="RAINPROBLEMTYPE" val="ProblemTypeMarker"/>
</p:tagLst>
</file>

<file path=ppt/tags/tag136.xml><?xml version="1.0" encoding="utf-8"?>
<p:tagLst xmlns:p="http://schemas.openxmlformats.org/presentationml/2006/main">
  <p:tag name="RAINPROBLEMTYPE" val="ProblemTypeMarker"/>
</p:tagLst>
</file>

<file path=ppt/tags/tag137.xml><?xml version="1.0" encoding="utf-8"?>
<p:tagLst xmlns:p="http://schemas.openxmlformats.org/presentationml/2006/main">
  <p:tag name="RAINPROBLEMTYPE" val="ProblemTypeMarker"/>
</p:tagLst>
</file>

<file path=ppt/tags/tag138.xml><?xml version="1.0" encoding="utf-8"?>
<p:tagLst xmlns:p="http://schemas.openxmlformats.org/presentationml/2006/main">
  <p:tag name="RAINPROBLEMTYPE" val="ProblemTypeMarker"/>
</p:tagLst>
</file>

<file path=ppt/tags/tag139.xml><?xml version="1.0" encoding="utf-8"?>
<p:tagLst xmlns:p="http://schemas.openxmlformats.org/presentationml/2006/main">
  <p:tag name="RAINPROBLEMTYPE" val="ProblemTypeMarker"/>
</p:tagLst>
</file>

<file path=ppt/tags/tag140.xml><?xml version="1.0" encoding="utf-8"?>
<p:tagLst xmlns:p="http://schemas.openxmlformats.org/presentationml/2006/main">
  <p:tag name="RAINPROBLEM" val="ProblemSetting"/>
  <p:tag name="RAINPROBLEMTYPE" val="FillBlank"/>
</p:tagLst>
</file>

<file path=ppt/tags/tag141.xml><?xml version="1.0" encoding="utf-8"?>
<p:tagLst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3&quot;],&quot;CaseSensitive&quot;:false,&quot;FuzzyMatch&quot;:false},{&quot;Num&quot;:2,&quot;Score&quot;:1.0,&quot;Answers&quot;:[&quot;2.6&quot;],&quot;CaseSensitive&quot;:false,&quot;FuzzyMatch&quot;:false}]"/>
</p:tagLst>
</file>

<file path=ppt/tags/tag142.xml><?xml version="1.0" encoding="utf-8"?>
<p:tagLst xmlns:p="http://schemas.openxmlformats.org/presentationml/2006/main">
  <p:tag name="RAINPROBLEM" val="ProblemBody"/>
</p:tagLst>
</file>

<file path=ppt/tags/tag143.xml><?xml version="1.0" encoding="utf-8"?>
<p:tagLst xmlns:p="http://schemas.openxmlformats.org/presentationml/2006/main">
  <p:tag name="RAINPROBLEM" val="ProblemSubmit"/>
  <p:tag name="RAINPROBLEMTYPE" val="FillBlank"/>
</p:tagLst>
</file>

<file path=ppt/tags/tag144.xml><?xml version="1.0" encoding="utf-8"?>
<p:tagLst xmlns:p="http://schemas.openxmlformats.org/presentationml/2006/main">
  <p:tag name="RAINPROBLEMTYPE" val="ProblemTypeMarker"/>
</p:tagLst>
</file>

<file path=ppt/tags/tag145.xml><?xml version="1.0" encoding="utf-8"?>
<p:tagLst xmlns:p="http://schemas.openxmlformats.org/presentationml/2006/main">
  <p:tag name="RAINPROBLEMTYPE" val="ProblemTypeMarker"/>
</p:tagLst>
</file>

<file path=ppt/tags/tag146.xml><?xml version="1.0" encoding="utf-8"?>
<p:tagLst xmlns:p="http://schemas.openxmlformats.org/presentationml/2006/main">
  <p:tag name="RAINPROBLEMTYPE" val="ProblemTypeMarker"/>
</p:tagLst>
</file>

<file path=ppt/tags/tag147.xml><?xml version="1.0" encoding="utf-8"?>
<p:tagLst xmlns:p="http://schemas.openxmlformats.org/presentationml/2006/main">
  <p:tag name="RAINPROBLEMTYPE" val="ProblemTypeMarker"/>
</p:tagLst>
</file>

<file path=ppt/tags/tag148.xml><?xml version="1.0" encoding="utf-8"?>
<p:tagLst xmlns:p="http://schemas.openxmlformats.org/presentationml/2006/main">
  <p:tag name="RAINPROBLEMTYPE" val="ProblemTypeMarker"/>
</p:tagLst>
</file>

<file path=ppt/tags/tag149.xml><?xml version="1.0" encoding="utf-8"?>
<p:tagLst xmlns:p="http://schemas.openxmlformats.org/presentationml/2006/main">
  <p:tag name="RAINPROBLEM" val="ProblemSetting"/>
  <p:tag name="RAINPROBLEMTYPE" val="FillBlank"/>
</p:tagLst>
</file>

<file path=ppt/tags/tag150.xml><?xml version="1.0" encoding="utf-8"?>
<p:tagLst xmlns:p="http://schemas.openxmlformats.org/presentationml/2006/main">
  <p:tag name="RAINPROBLEM" val="FillBlank"/>
  <p:tag name="PROBLEMBLANKKEYWORD" val="填空"/>
  <p:tag name="PROBLEMSCORE" val="1.0"/>
  <p:tag name="PROBLEMBLANK" val="[{&quot;Num&quot;:1,&quot;Score&quot;:1.0,&quot;Answers&quot;:[&quot;n=b&quot;],&quot;CaseSensitive&quot;:false,&quot;FuzzyMatch&quot;:false}]"/>
</p:tagLst>
</file>

<file path=ppt/tags/tag151.xml><?xml version="1.0" encoding="utf-8"?>
<p:tagLst xmlns:p="http://schemas.openxmlformats.org/presentationml/2006/main">
  <p:tag name="RAINPROBLEM" val="ProblemRemarkBoard"/>
</p:tagLst>
</file>

<file path=ppt/tags/tag152.xml><?xml version="1.0" encoding="utf-8"?>
<p:tagLst xmlns:p="http://schemas.openxmlformats.org/presentationml/2006/main">
  <p:tag name="RAINPROBLEM" val="ProblemRemarkBoard"/>
</p:tagLst>
</file>

<file path=ppt/tags/tag153.xml><?xml version="1.0" encoding="utf-8"?>
<p:tagLst xmlns:p="http://schemas.openxmlformats.org/presentationml/2006/main">
  <p:tag name="RAINPROBLEM" val="ProblemBody"/>
</p:tagLst>
</file>

<file path=ppt/tags/tag154.xml><?xml version="1.0" encoding="utf-8"?>
<p:tagLst xmlns:p="http://schemas.openxmlformats.org/presentationml/2006/main">
  <p:tag name="RAINPROBLEM" val="ProblemSubmit"/>
  <p:tag name="RAINPROBLEMTYPE" val="FillBlank"/>
</p:tagLst>
</file>

<file path=ppt/tags/tag155.xml><?xml version="1.0" encoding="utf-8"?>
<p:tagLst xmlns:p="http://schemas.openxmlformats.org/presentationml/2006/main">
  <p:tag name="PROBLEMREMARKTITLE" val="ProblemRemarkBoardTip"/>
</p:tagLst>
</file>

<file path=ppt/tags/tag156.xml><?xml version="1.0" encoding="utf-8"?>
<p:tagLst xmlns:p="http://schemas.openxmlformats.org/presentationml/2006/main">
  <p:tag name="RAINPROBLEM" val="ProblemRemark"/>
</p:tagLst>
</file>

<file path=ppt/tags/tag157.xml><?xml version="1.0" encoding="utf-8"?>
<p:tagLst xmlns:p="http://schemas.openxmlformats.org/presentationml/2006/main">
  <p:tag name="PROBLEMREMARKTITLE" val="ProblemRemarkBoardTip"/>
</p:tagLst>
</file>

<file path=ppt/tags/tag158.xml><?xml version="1.0" encoding="utf-8"?>
<p:tagLst xmlns:p="http://schemas.openxmlformats.org/presentationml/2006/main">
  <p:tag name="RAINPROBLEM" val="ProblemRemark"/>
</p:tagLst>
</file>

<file path=ppt/tags/tag159.xml><?xml version="1.0" encoding="utf-8"?>
<p:tagLst xmlns:p="http://schemas.openxmlformats.org/presentationml/2006/main">
  <p:tag name="PROBLEMREMARKTITLE" val="ProblemRemarkBoardTitle"/>
</p:tagLst>
</file>

<file path=ppt/tags/tag160.xml><?xml version="1.0" encoding="utf-8"?>
<p:tagLst xmlns:p="http://schemas.openxmlformats.org/presentationml/2006/main">
  <p:tag name="PROBLEMREMARKTITLE" val="ProblemRemarkBoardTitle"/>
</p:tagLst>
</file>

<file path=ppt/tags/tag161.xml><?xml version="1.0" encoding="utf-8"?>
<p:tagLst xmlns:p="http://schemas.openxmlformats.org/presentationml/2006/main">
  <p:tag name="PROBLEMREMARKTITLE" val="ProblemRemarkBoardTitle"/>
</p:tagLst>
</file>

<file path=ppt/tags/tag162.xml><?xml version="1.0" encoding="utf-8"?>
<p:tagLst xmlns:p="http://schemas.openxmlformats.org/presentationml/2006/main">
  <p:tag name="PROBLEMREMARKTITLE" val="ProblemRemarkBoardTitle"/>
</p:tagLst>
</file>

<file path=ppt/tags/tag163.xml><?xml version="1.0" encoding="utf-8"?>
<p:tagLst xmlns:p="http://schemas.openxmlformats.org/presentationml/2006/main">
  <p:tag name="RAINPROBLEMTYPE" val="ProblemTypeMarker"/>
</p:tagLst>
</file>

<file path=ppt/tags/tag164.xml><?xml version="1.0" encoding="utf-8"?>
<p:tagLst xmlns:p="http://schemas.openxmlformats.org/presentationml/2006/main">
  <p:tag name="RAINPROBLEMTYPE" val="ProblemTypeMarker"/>
</p:tagLst>
</file>

<file path=ppt/tags/tag165.xml><?xml version="1.0" encoding="utf-8"?>
<p:tagLst xmlns:p="http://schemas.openxmlformats.org/presentationml/2006/main">
  <p:tag name="RAINPROBLEMTYPE" val="ProblemTypeMarker"/>
</p:tagLst>
</file>

<file path=ppt/tags/tag166.xml><?xml version="1.0" encoding="utf-8"?>
<p:tagLst xmlns:p="http://schemas.openxmlformats.org/presentationml/2006/main">
  <p:tag name="RAINPROBLEMTYPE" val="ProblemTypeMarker"/>
</p:tagLst>
</file>

<file path=ppt/tags/tag167.xml><?xml version="1.0" encoding="utf-8"?>
<p:tagLst xmlns:p="http://schemas.openxmlformats.org/presentationml/2006/main">
  <p:tag name="RAINPROBLEMTYPE" val="ProblemTypeMarker"/>
</p:tagLst>
</file>

<file path=ppt/tags/tag168.xml><?xml version="1.0" encoding="utf-8"?>
<p:tagLst xmlns:p="http://schemas.openxmlformats.org/presentationml/2006/main">
  <p:tag name="RAINPROBLEM" val="ProblemSetting"/>
  <p:tag name="RAINPROBLEMTYPE" val="FillBlank"/>
</p:tagLst>
</file>

<file path=ppt/tags/tag169.xml><?xml version="1.0" encoding="utf-8"?>
<p:tagLst xmlns:p="http://schemas.openxmlformats.org/presentationml/2006/main">
  <p:tag name="RAINPROBLEM" val="FillBlank"/>
  <p:tag name="PROBLEMBLANKKEYWORD" val="填空"/>
  <p:tag name="PROBLEMHASREMARK" val="False"/>
  <p:tag name="PROBLEMSCORE" val="1.0"/>
  <p:tag name="PROBLEMBLANK" val="[{&quot;Num&quot;:1,&quot;Score&quot;:1.0,&quot;Answers&quot;:[&quot;a b c&quot;],&quot;CaseSensitive&quot;:false,&quot;FuzzyMatch&quot;:true}]"/>
</p:tagLst>
</file>

<file path=ppt/tags/tag170.xml><?xml version="1.0" encoding="utf-8"?>
<p:tagLst xmlns:p="http://schemas.openxmlformats.org/presentationml/2006/main">
  <p:tag name="KSO_WPP_MARK_KEY" val="82faf561-59b7-4c5f-b352-fe752cd54f76"/>
  <p:tag name="COMMONDATA" val="eyJoZGlkIjoiMmQ0YjY5NjNhOGU1MTdjYjhiMmJlMGE5OTQ3MmI2NTk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">
      <a:dk1>
        <a:sysClr val="windowText" lastClr="000000"/>
      </a:dk1>
      <a:lt1>
        <a:sysClr val="window" lastClr="FFFFFF"/>
      </a:lt1>
      <a:dk2>
        <a:srgbClr val="880068"/>
      </a:dk2>
      <a:lt2>
        <a:srgbClr val="F4E7ED"/>
      </a:lt2>
      <a:accent1>
        <a:srgbClr val="8800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880068"/>
      </a:hlink>
      <a:folHlink>
        <a:srgbClr val="B83D68"/>
      </a:folHlink>
    </a:clrScheme>
    <a:fontScheme name="Office 经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2116</Words>
  <Application>WPS 演示</Application>
  <PresentationFormat>全屏显示(4:3)</PresentationFormat>
  <Paragraphs>294</Paragraphs>
  <Slides>12</Slides>
  <Notes>12</Notes>
  <HiddenSlides>4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宋体</vt:lpstr>
      <vt:lpstr>Wingdings</vt:lpstr>
      <vt:lpstr>Courier New</vt:lpstr>
      <vt:lpstr>黑体</vt:lpstr>
      <vt:lpstr>Calibri</vt:lpstr>
      <vt:lpstr>Times New Roman</vt:lpstr>
      <vt:lpstr>微软雅黑</vt:lpstr>
      <vt:lpstr>Arial</vt:lpstr>
      <vt:lpstr>Gulim</vt:lpstr>
      <vt:lpstr>等线 Light</vt:lpstr>
      <vt:lpstr>Calibri Light</vt:lpstr>
      <vt:lpstr>Arial Unicode MS</vt:lpstr>
      <vt:lpstr>等线</vt:lpstr>
      <vt:lpstr>Office 主题​​</vt:lpstr>
      <vt:lpstr>Office 主题</vt:lpstr>
      <vt:lpstr>高级语言程序设计2-2  类模板课后练习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高级语言程序设计2-1  第九周课后练习</dc:title>
  <dc:creator>Song</dc:creator>
  <cp:lastModifiedBy>Li Yusen</cp:lastModifiedBy>
  <cp:revision>124</cp:revision>
  <dcterms:created xsi:type="dcterms:W3CDTF">2020-11-25T03:14:00Z</dcterms:created>
  <dcterms:modified xsi:type="dcterms:W3CDTF">2023-05-03T11:42:41Z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87E71E1DA05A4292A2180998A87DE434_12</vt:lpwstr>
  </property>
  <property fmtid="{D5CDD505-2E9C-101B-9397-08002B2CF9AE}" pid="3" name="KSOProductBuildVer">
    <vt:lpwstr>2052-11.1.0.14036</vt:lpwstr>
  </property>
</Properties>
</file>