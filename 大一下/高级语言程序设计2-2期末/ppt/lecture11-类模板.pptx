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  <p:sldMasterId id="2147483676" r:id="rId4"/>
    <p:sldMasterId id="2147483688" r:id="rId5"/>
    <p:sldMasterId id="2147483701" r:id="rId6"/>
    <p:sldMasterId id="2147483713" r:id="rId7"/>
    <p:sldMasterId id="2147483725" r:id="rId8"/>
    <p:sldMasterId id="2147483738" r:id="rId9"/>
    <p:sldMasterId id="2147483751" r:id="rId10"/>
  </p:sldMasterIdLst>
  <p:notesMasterIdLst>
    <p:notesMasterId r:id="rId12"/>
  </p:notesMasterIdLst>
  <p:sldIdLst>
    <p:sldId id="284" r:id="rId11"/>
    <p:sldId id="1539" r:id="rId13"/>
    <p:sldId id="1540" r:id="rId14"/>
    <p:sldId id="1541" r:id="rId15"/>
    <p:sldId id="1542" r:id="rId16"/>
    <p:sldId id="1543" r:id="rId17"/>
    <p:sldId id="1583" r:id="rId18"/>
    <p:sldId id="1544" r:id="rId19"/>
    <p:sldId id="1546" r:id="rId20"/>
    <p:sldId id="1547" r:id="rId21"/>
    <p:sldId id="1593" r:id="rId22"/>
    <p:sldId id="1595" r:id="rId23"/>
    <p:sldId id="1596" r:id="rId24"/>
    <p:sldId id="1548" r:id="rId25"/>
    <p:sldId id="1549" r:id="rId26"/>
    <p:sldId id="1550" r:id="rId27"/>
    <p:sldId id="1551" r:id="rId28"/>
    <p:sldId id="1552" r:id="rId29"/>
    <p:sldId id="1553" r:id="rId30"/>
    <p:sldId id="1554" r:id="rId31"/>
    <p:sldId id="1555" r:id="rId32"/>
    <p:sldId id="1557" r:id="rId33"/>
    <p:sldId id="1584" r:id="rId34"/>
    <p:sldId id="1586" r:id="rId35"/>
    <p:sldId id="1587" r:id="rId36"/>
    <p:sldId id="1588" r:id="rId37"/>
    <p:sldId id="1589" r:id="rId38"/>
    <p:sldId id="1590" r:id="rId39"/>
    <p:sldId id="1591" r:id="rId40"/>
    <p:sldId id="1556" r:id="rId41"/>
    <p:sldId id="1558" r:id="rId42"/>
    <p:sldId id="1559" r:id="rId43"/>
    <p:sldId id="1578" r:id="rId44"/>
    <p:sldId id="1560" r:id="rId45"/>
    <p:sldId id="1561" r:id="rId46"/>
    <p:sldId id="1563" r:id="rId47"/>
    <p:sldId id="1562" r:id="rId48"/>
    <p:sldId id="1579" r:id="rId49"/>
    <p:sldId id="1581" r:id="rId50"/>
    <p:sldId id="1582" r:id="rId51"/>
    <p:sldId id="1564" r:id="rId52"/>
    <p:sldId id="1567" r:id="rId53"/>
    <p:sldId id="1568" r:id="rId54"/>
    <p:sldId id="1566" r:id="rId55"/>
    <p:sldId id="1569" r:id="rId56"/>
    <p:sldId id="1570" r:id="rId57"/>
    <p:sldId id="1571" r:id="rId58"/>
    <p:sldId id="1572" r:id="rId59"/>
    <p:sldId id="1573" r:id="rId60"/>
    <p:sldId id="1574" r:id="rId61"/>
    <p:sldId id="1576" r:id="rId62"/>
    <p:sldId id="1575" r:id="rId63"/>
    <p:sldId id="1577" r:id="rId64"/>
    <p:sldId id="1599" r:id="rId65"/>
    <p:sldId id="1600" r:id="rId66"/>
    <p:sldId id="1601" r:id="rId67"/>
    <p:sldId id="1602" r:id="rId68"/>
    <p:sldId id="1603" r:id="rId69"/>
    <p:sldId id="1604" r:id="rId70"/>
    <p:sldId id="1605" r:id="rId71"/>
    <p:sldId id="1606" r:id="rId72"/>
    <p:sldId id="1607" r:id="rId73"/>
    <p:sldId id="1608" r:id="rId74"/>
    <p:sldId id="1609" r:id="rId75"/>
    <p:sldId id="1610" r:id="rId76"/>
    <p:sldId id="1611" r:id="rId77"/>
    <p:sldId id="1612" r:id="rId78"/>
    <p:sldId id="1613" r:id="rId79"/>
    <p:sldId id="1614" r:id="rId80"/>
    <p:sldId id="1615" r:id="rId81"/>
    <p:sldId id="1352" r:id="rId82"/>
  </p:sldIdLst>
  <p:sldSz cx="9144000" cy="6858000" type="screen4x3"/>
  <p:notesSz cx="6858000" cy="9144000"/>
  <p:custDataLst>
    <p:tags r:id="rId8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F6600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55" autoAdjust="0"/>
    <p:restoredTop sz="96357" autoAdjust="0"/>
  </p:normalViewPr>
  <p:slideViewPr>
    <p:cSldViewPr>
      <p:cViewPr varScale="1">
        <p:scale>
          <a:sx n="83" d="100"/>
          <a:sy n="83" d="100"/>
        </p:scale>
        <p:origin x="1234" y="82"/>
      </p:cViewPr>
      <p:guideLst>
        <p:guide orient="horz" pos="2160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6" Type="http://schemas.openxmlformats.org/officeDocument/2006/relationships/tags" Target="tags/tag1.xml"/><Relationship Id="rId85" Type="http://schemas.openxmlformats.org/officeDocument/2006/relationships/tableStyles" Target="tableStyles.xml"/><Relationship Id="rId84" Type="http://schemas.openxmlformats.org/officeDocument/2006/relationships/viewProps" Target="viewProps.xml"/><Relationship Id="rId83" Type="http://schemas.openxmlformats.org/officeDocument/2006/relationships/presProps" Target="presProps.xml"/><Relationship Id="rId82" Type="http://schemas.openxmlformats.org/officeDocument/2006/relationships/slide" Target="slides/slide71.xml"/><Relationship Id="rId81" Type="http://schemas.openxmlformats.org/officeDocument/2006/relationships/slide" Target="slides/slide70.xml"/><Relationship Id="rId80" Type="http://schemas.openxmlformats.org/officeDocument/2006/relationships/slide" Target="slides/slide69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68.xml"/><Relationship Id="rId78" Type="http://schemas.openxmlformats.org/officeDocument/2006/relationships/slide" Target="slides/slide67.xml"/><Relationship Id="rId77" Type="http://schemas.openxmlformats.org/officeDocument/2006/relationships/slide" Target="slides/slide66.xml"/><Relationship Id="rId76" Type="http://schemas.openxmlformats.org/officeDocument/2006/relationships/slide" Target="slides/slide65.xml"/><Relationship Id="rId75" Type="http://schemas.openxmlformats.org/officeDocument/2006/relationships/slide" Target="slides/slide64.xml"/><Relationship Id="rId74" Type="http://schemas.openxmlformats.org/officeDocument/2006/relationships/slide" Target="slides/slide63.xml"/><Relationship Id="rId73" Type="http://schemas.openxmlformats.org/officeDocument/2006/relationships/slide" Target="slides/slide62.xml"/><Relationship Id="rId72" Type="http://schemas.openxmlformats.org/officeDocument/2006/relationships/slide" Target="slides/slide61.xml"/><Relationship Id="rId71" Type="http://schemas.openxmlformats.org/officeDocument/2006/relationships/slide" Target="slides/slide60.xml"/><Relationship Id="rId70" Type="http://schemas.openxmlformats.org/officeDocument/2006/relationships/slide" Target="slides/slide59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58.xml"/><Relationship Id="rId68" Type="http://schemas.openxmlformats.org/officeDocument/2006/relationships/slide" Target="slides/slide57.xml"/><Relationship Id="rId67" Type="http://schemas.openxmlformats.org/officeDocument/2006/relationships/slide" Target="slides/slide56.xml"/><Relationship Id="rId66" Type="http://schemas.openxmlformats.org/officeDocument/2006/relationships/slide" Target="slides/slide55.xml"/><Relationship Id="rId65" Type="http://schemas.openxmlformats.org/officeDocument/2006/relationships/slide" Target="slides/slide54.xml"/><Relationship Id="rId64" Type="http://schemas.openxmlformats.org/officeDocument/2006/relationships/slide" Target="slides/slide53.xml"/><Relationship Id="rId63" Type="http://schemas.openxmlformats.org/officeDocument/2006/relationships/slide" Target="slides/slide52.xml"/><Relationship Id="rId62" Type="http://schemas.openxmlformats.org/officeDocument/2006/relationships/slide" Target="slides/slide51.xml"/><Relationship Id="rId61" Type="http://schemas.openxmlformats.org/officeDocument/2006/relationships/slide" Target="slides/slide50.xml"/><Relationship Id="rId60" Type="http://schemas.openxmlformats.org/officeDocument/2006/relationships/slide" Target="slides/slide49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48.xml"/><Relationship Id="rId58" Type="http://schemas.openxmlformats.org/officeDocument/2006/relationships/slide" Target="slides/slide47.xml"/><Relationship Id="rId57" Type="http://schemas.openxmlformats.org/officeDocument/2006/relationships/slide" Target="slides/slide46.xml"/><Relationship Id="rId56" Type="http://schemas.openxmlformats.org/officeDocument/2006/relationships/slide" Target="slides/slide45.xml"/><Relationship Id="rId55" Type="http://schemas.openxmlformats.org/officeDocument/2006/relationships/slide" Target="slides/slide44.xml"/><Relationship Id="rId54" Type="http://schemas.openxmlformats.org/officeDocument/2006/relationships/slide" Target="slides/slide43.xml"/><Relationship Id="rId53" Type="http://schemas.openxmlformats.org/officeDocument/2006/relationships/slide" Target="slides/slide42.xml"/><Relationship Id="rId52" Type="http://schemas.openxmlformats.org/officeDocument/2006/relationships/slide" Target="slides/slide41.xml"/><Relationship Id="rId51" Type="http://schemas.openxmlformats.org/officeDocument/2006/relationships/slide" Target="slides/slide40.xml"/><Relationship Id="rId50" Type="http://schemas.openxmlformats.org/officeDocument/2006/relationships/slide" Target="slides/slide39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8.xml"/><Relationship Id="rId48" Type="http://schemas.openxmlformats.org/officeDocument/2006/relationships/slide" Target="slides/slide37.xml"/><Relationship Id="rId47" Type="http://schemas.openxmlformats.org/officeDocument/2006/relationships/slide" Target="slides/slide36.xml"/><Relationship Id="rId46" Type="http://schemas.openxmlformats.org/officeDocument/2006/relationships/slide" Target="slides/slide35.xml"/><Relationship Id="rId45" Type="http://schemas.openxmlformats.org/officeDocument/2006/relationships/slide" Target="slides/slide34.xml"/><Relationship Id="rId44" Type="http://schemas.openxmlformats.org/officeDocument/2006/relationships/slide" Target="slides/slide33.xml"/><Relationship Id="rId43" Type="http://schemas.openxmlformats.org/officeDocument/2006/relationships/slide" Target="slides/slide32.xml"/><Relationship Id="rId42" Type="http://schemas.openxmlformats.org/officeDocument/2006/relationships/slide" Target="slides/slide31.xml"/><Relationship Id="rId41" Type="http://schemas.openxmlformats.org/officeDocument/2006/relationships/slide" Target="slides/slide30.xml"/><Relationship Id="rId40" Type="http://schemas.openxmlformats.org/officeDocument/2006/relationships/slide" Target="slides/slide29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8.xml"/><Relationship Id="rId38" Type="http://schemas.openxmlformats.org/officeDocument/2006/relationships/slide" Target="slides/slide27.xml"/><Relationship Id="rId37" Type="http://schemas.openxmlformats.org/officeDocument/2006/relationships/slide" Target="slides/slide26.xml"/><Relationship Id="rId36" Type="http://schemas.openxmlformats.org/officeDocument/2006/relationships/slide" Target="slides/slide25.xml"/><Relationship Id="rId35" Type="http://schemas.openxmlformats.org/officeDocument/2006/relationships/slide" Target="slides/slide24.xml"/><Relationship Id="rId34" Type="http://schemas.openxmlformats.org/officeDocument/2006/relationships/slide" Target="slides/slide23.xml"/><Relationship Id="rId33" Type="http://schemas.openxmlformats.org/officeDocument/2006/relationships/slide" Target="slides/slide22.xml"/><Relationship Id="rId32" Type="http://schemas.openxmlformats.org/officeDocument/2006/relationships/slide" Target="slides/slide21.xml"/><Relationship Id="rId31" Type="http://schemas.openxmlformats.org/officeDocument/2006/relationships/slide" Target="slides/slide20.xml"/><Relationship Id="rId30" Type="http://schemas.openxmlformats.org/officeDocument/2006/relationships/slide" Target="slides/slide19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8.xml"/><Relationship Id="rId28" Type="http://schemas.openxmlformats.org/officeDocument/2006/relationships/slide" Target="slides/slide17.xml"/><Relationship Id="rId27" Type="http://schemas.openxmlformats.org/officeDocument/2006/relationships/slide" Target="slides/slide16.xml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20" Type="http://schemas.openxmlformats.org/officeDocument/2006/relationships/slide" Target="slides/slide9.xml"/><Relationship Id="rId2" Type="http://schemas.openxmlformats.org/officeDocument/2006/relationships/theme" Target="theme/theme1.xml"/><Relationship Id="rId19" Type="http://schemas.openxmlformats.org/officeDocument/2006/relationships/slide" Target="slides/slide8.xml"/><Relationship Id="rId18" Type="http://schemas.openxmlformats.org/officeDocument/2006/relationships/slide" Target="slides/slide7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5" Type="http://schemas.openxmlformats.org/officeDocument/2006/relationships/slide" Target="slides/slide4.xml"/><Relationship Id="rId14" Type="http://schemas.openxmlformats.org/officeDocument/2006/relationships/slide" Target="slides/slide3.xml"/><Relationship Id="rId1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38B30C1-10D3-4569-8D84-366417D4B95C}" type="datetime1">
              <a:rPr lang="en-US" altLang="en-US"/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9E18B19-C403-4C3E-ACE8-DF2594F09068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1266B66-7A35-4495-95C7-3FF4C8AE040E}" type="slidenum"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E84AF5-2530-48EF-A17D-F4F580DE30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E84AF5-2530-48EF-A17D-F4F580DE30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18B19-C403-4C3E-ACE8-DF2594F0906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E84AF5-2530-48EF-A17D-F4F580DE30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  <a:endParaRPr lang="en-US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solidFill>
                  <a:srgbClr val="000000"/>
                </a:solidFill>
                <a:latin typeface="Garamond" panose="02020404030301010803" pitchFamily="18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0011185B-4748-49A4-B9DB-6BDE2CFD0EC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7527"/>
            <a:ext cx="86106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C8ADF7-ECA8-405A-8B38-6190F655759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72266A-491A-4D4E-8E4C-8FB4FAABCAD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AE1AAF-746E-4667-BD48-0D6C2E27865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4B98D9-8087-4156-9294-3C27DE21530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84241-4126-4FEC-BE19-7D26B8CB519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D95ECD-E27C-46E7-B57C-1962785F7E9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9E7A5B-335B-4040-AEA7-F90F0459D13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8E1747-6F52-476B-B636-D17ECFBABFF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08AA1-640A-42C7-AC42-BEDBAA8FF4D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86211-7C74-4EE3-9989-9C836EEB504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785D1-C611-43C5-8CF3-EDE5F959FCF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None/>
              <a:defRPr lang="zh-CN" altLang="en-US" sz="2800" b="1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5CC3D3-6DD1-47F6-B73C-CD02A1922274}" type="slidenum">
              <a:rPr lang="ko-KR" altLang="en-US"/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5143908-0819-4B70-B92B-71A05F9F97D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高级语言</a:t>
            </a:r>
            <a:r>
              <a:rPr lang="en-US" altLang="zh-CN"/>
              <a:t>C++</a:t>
            </a:r>
            <a:r>
              <a:rPr lang="zh-CN" altLang="en-US"/>
              <a:t>程序设计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safari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6411913"/>
            <a:ext cx="1025525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C5425B-B7C8-4DB2-9574-B1BE87F1F75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73B48-F820-4B3C-AEE0-4F6DBD058AE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539DDB-FD62-488E-8B71-4D4CB78AD51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75A985-1F63-4FBF-8339-F28C6B9068D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135A2-E15E-45E2-ABEE-B9989B1A9F2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CF783F-4700-41CF-954F-6760E849A97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8665F0-82C5-4E01-B704-60CA4F0ACDE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CF04D2-5DCA-4706-8609-856475F64AA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60BFC7-0DE1-443C-B43D-8BB02F5FAFC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205071-4A99-4417-AA4F-A4F45CDD875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6F490-CD83-4ACF-83F5-2627B0D8A3A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28600" y="1371600"/>
            <a:ext cx="86106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98A894-DDB0-4098-911D-41363593359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8"/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  <a:endParaRPr lang="en-US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0341267C-404B-4186-A7B7-CFFE155AA5B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703B7-5002-49A2-BEE8-17322940B70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A8D665-3119-4B45-A3ED-F6F068C2265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DAE17F-BC4F-44BC-AD19-8A8814DBE6D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52763A-46D7-4278-A2C8-4335CE5B210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06F2FD-6232-4039-9EFE-28038B6AF06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675BD5-1C1B-42F0-BB7F-69923A89CC3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F7B626-1E1B-4DA3-9FCA-935CC77ECB9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5EBFBD-C7D7-4239-A82F-0FF622A63CE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57559E-847E-4753-8B81-CC6D18801A2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B7464F-2530-412E-9B0B-2233CE633F1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770467"/>
            <a:ext cx="8086725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0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6921151" cy="164592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01675D-E882-4D28-ABA7-112355A4FB93}" type="slidenum">
              <a:rPr lang="en-US" altLang="en-US"/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8637" y="712594"/>
            <a:ext cx="8086725" cy="2898708"/>
          </a:xfrm>
          <a:noFill/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8000" spc="-12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8638" y="3897565"/>
            <a:ext cx="8086724" cy="164592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7C0027-B5C4-464C-8D34-B71651E3FE11}" type="slidenum">
              <a:rPr lang="en-US" altLang="en-US"/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85850"/>
          </a:xfrm>
          <a:prstGeom prst="rect">
            <a:avLst/>
          </a:prstGeom>
        </p:spPr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4" name="Content Placeholder 22"/>
          <p:cNvSpPr>
            <a:spLocks noGrp="1"/>
          </p:cNvSpPr>
          <p:nvPr>
            <p:ph sz="quarter" idx="11"/>
          </p:nvPr>
        </p:nvSpPr>
        <p:spPr>
          <a:xfrm>
            <a:off x="123825" y="1241652"/>
            <a:ext cx="8897938" cy="52244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9FC8EB-0735-4827-A2D9-DEF7605EFCD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767419"/>
            <a:ext cx="8085582" cy="3355848"/>
          </a:xfrm>
          <a:solidFill>
            <a:schemeClr val="bg1"/>
          </a:solidFill>
        </p:spPr>
        <p:txBody>
          <a:bodyPr anchor="b"/>
          <a:lstStyle>
            <a:lvl1pPr>
              <a:lnSpc>
                <a:spcPct val="80000"/>
              </a:lnSpc>
              <a:defRPr sz="80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4187275"/>
            <a:ext cx="6919722" cy="164592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F7B186-EBF1-4E55-9BF8-201839DAF0D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798" y="1208312"/>
            <a:ext cx="4271962" cy="5053693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603" y="1208312"/>
            <a:ext cx="4271962" cy="5053693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9EDA9F-F79A-4F1A-AEBC-9AA5E6A82F9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798" y="1197209"/>
            <a:ext cx="4271962" cy="7234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798" y="2029968"/>
            <a:ext cx="4271962" cy="423105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1603" y="1194345"/>
            <a:ext cx="4271962" cy="72237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1603" y="2025216"/>
            <a:ext cx="4271962" cy="4235809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0B0659-4B7A-49A9-ADFC-1DA30B44F2B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3FB251-FE83-46E9-A17B-ED9EF66413A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3937F5-2685-42F7-B169-9910FEEF1E8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542282"/>
            <a:ext cx="253746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762000"/>
            <a:ext cx="4572000" cy="45720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2511813"/>
            <a:ext cx="254889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 sz="1500">
                <a:solidFill>
                  <a:srgbClr val="40404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2A09CE-F0E4-48D4-BB52-8B585754265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5418668"/>
            <a:ext cx="8085582" cy="613283"/>
          </a:xfrm>
        </p:spPr>
        <p:txBody>
          <a:bodyPr anchor="b"/>
          <a:lstStyle>
            <a:lvl1pPr>
              <a:lnSpc>
                <a:spcPct val="85000"/>
              </a:lnSpc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rgbClr val="4D4D4D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6031951"/>
            <a:ext cx="6922008" cy="411184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prstClr val="white">
                    <a:alpha val="75000"/>
                  </a:prstClr>
                </a:solidFill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C7C549E-9F21-4829-A896-C750540EC25A}" type="slidenum">
              <a:rPr lang="en-US" altLang="en-US"/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700C91-C098-4CF1-8B74-B4CE348863D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695325"/>
            <a:ext cx="1971675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714376"/>
            <a:ext cx="5800725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804D3-425B-435C-931F-7C5B141E5EB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8"/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  <a:endParaRPr lang="en-US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D78BCF51-C430-4BF4-B3EE-80687E50015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B8A279-AD54-4FD7-83E5-3F51B0B126D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03D221-B42B-4D0A-9CCE-F5C0328A59E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4E4E69-28E4-474D-9919-CE401486BAA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8943BD-2DCE-4BBD-8507-4F1940BAE06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7ABD0-28FE-43F5-9F3E-1A04C8890A5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421AD-301C-4B68-A018-F95FCE9EFDA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1E3AB6-0C6C-4272-8751-E19B6AC85DE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78CB17-7F80-4A1A-8B87-32B7BAEB940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4CB025-23BD-40D4-896C-61B7709789D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106055-5799-44DF-9298-E66D3D1763D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8"/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  <a:endParaRPr lang="en-US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DEA9F903-FDDC-484F-AC80-4EDC97DB773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5D708D-F008-432F-A9EA-60AA9A6CEF6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7F2A67-76A5-4CF7-B3F1-2058154B10C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3382E1-681F-4E77-8A9A-9FB50B6D6F8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5FBA2E-A997-47BE-9793-F59D93C0F63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472FB6-373B-441B-9638-3B64AEBDADC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D660AD-4DDA-47F9-A08E-95066CF4EC6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4A5EF-7F2E-4161-B0E8-003AA0FB099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352E82-8B3A-4B78-815D-E24EC484627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74DCA1-E283-4483-A738-6301DEAF3A5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1F9B4F-AF49-4A5A-B90F-E29C5F9FDF8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safari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6411913"/>
            <a:ext cx="1025525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585933-AB39-405A-BE76-44820ED2B73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E402BE-35AC-4BA8-9199-0FDDEF63C1A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30E97-6BCF-479B-AD66-5639A70D23D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F8F3C-D439-4B06-8022-802BE031054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4582BB-3D8E-4F4E-BE27-129A05C90D9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6CB02B-AD6F-4224-BCC8-CA23EAC3A66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FFD4AB-2D3E-4627-B819-40769ACE1D6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113CE1-92D7-4D02-8A12-BD1705E26AB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99AEC8-99D4-4000-9FAE-D420B94758E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F31F9B-28CC-48A2-9245-0DAAE956B85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DEDE8C-C78C-42BF-9B8A-5B2DE06B4F1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28600" y="1371600"/>
            <a:ext cx="86106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A07C4-1AFC-493F-B1EE-E115F437619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safari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6411913"/>
            <a:ext cx="1025525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fld id="{76B4BCFC-C0AC-4D74-8B7E-87A96EC828C0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fld id="{23B1B7DB-C14E-4EB8-AB58-D42B37BE4E5B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fld id="{FE5B024D-251E-4A8F-AAE9-0FD1A303ED18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fld id="{8754A406-B490-478F-BE52-86CCC114056A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fld id="{DE8D6E4E-4A3C-450D-906D-A2A14E506C8A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fld id="{17C95EA4-9F7B-41A7-904F-8DCA6E0D0FCE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fld id="{B5AEE621-1589-4BE5-8800-1E8DE0A16B98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fld id="{753736E8-5E75-4C0A-9DAA-5FA311EECE4D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fld id="{04C2A823-015D-4D5C-AE18-34D5F1B1E5E1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fld id="{5C3E2DC2-752F-44B5-B8DE-6F063B46294B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fld id="{AE0F25AB-4C7F-42FE-BD1B-75F71F3384FB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28600" y="1371600"/>
            <a:ext cx="86106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fld id="{B0138933-129E-4133-B399-3A2334071D78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  <a:endParaRPr lang="en-US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sz="1200"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fld id="{094811D5-1084-4538-AC72-E459B54165C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fld id="{D4C01BE8-7F00-4E54-92B1-60385FB8ECD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fld id="{3CFEC149-A44A-4192-AE97-B3315989E68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fld id="{541FCAAF-7AF8-49A7-9C3F-1AC0165214E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fld id="{5B67C294-CFD8-4124-B4A3-7E9A111B834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fld id="{F8E2F8B5-CC3B-4C5C-B31A-AF3E04123D6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fld id="{842D753F-4A4C-4217-8CA8-02CED1EF672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fld id="{90A63945-F074-465F-AF55-2C85A84E870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fld id="{D9280140-3031-4992-A4E8-381ABBE085B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fld id="{288BD3C6-EF32-42F1-8DD0-EC7E0117C58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fld id="{31BD5C7D-DC76-493B-A849-DDDAB1DA912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4" Type="http://schemas.openxmlformats.org/officeDocument/2006/relationships/theme" Target="../theme/theme2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3" Type="http://schemas.openxmlformats.org/officeDocument/2006/relationships/theme" Target="../theme/theme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9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38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1.xml"/><Relationship Id="rId13" Type="http://schemas.openxmlformats.org/officeDocument/2006/relationships/theme" Target="../theme/theme5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0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2.xml"/><Relationship Id="rId13" Type="http://schemas.openxmlformats.org/officeDocument/2006/relationships/theme" Target="../theme/theme6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1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0.xml"/><Relationship Id="rId8" Type="http://schemas.openxmlformats.org/officeDocument/2006/relationships/slideLayout" Target="../slideLayouts/slideLayout79.xml"/><Relationship Id="rId7" Type="http://schemas.openxmlformats.org/officeDocument/2006/relationships/slideLayout" Target="../slideLayouts/slideLayout78.xml"/><Relationship Id="rId6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4.xml"/><Relationship Id="rId2" Type="http://schemas.openxmlformats.org/officeDocument/2006/relationships/slideLayout" Target="../slideLayouts/slideLayout73.xml"/><Relationship Id="rId14" Type="http://schemas.openxmlformats.org/officeDocument/2006/relationships/theme" Target="../theme/theme7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1.xml"/><Relationship Id="rId1" Type="http://schemas.openxmlformats.org/officeDocument/2006/relationships/slideLayout" Target="../slideLayouts/slideLayout72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2.xml"/><Relationship Id="rId8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0.xml"/><Relationship Id="rId6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5.xml"/><Relationship Id="rId14" Type="http://schemas.openxmlformats.org/officeDocument/2006/relationships/theme" Target="../theme/theme8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3.xml"/><Relationship Id="rId1" Type="http://schemas.openxmlformats.org/officeDocument/2006/relationships/slideLayout" Target="../slideLayouts/slideLayout84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4.xml"/><Relationship Id="rId8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9.xml"/><Relationship Id="rId3" Type="http://schemas.openxmlformats.org/officeDocument/2006/relationships/slideLayout" Target="../slideLayouts/slideLayout98.xml"/><Relationship Id="rId2" Type="http://schemas.openxmlformats.org/officeDocument/2006/relationships/slideLayout" Target="../slideLayouts/slideLayout97.xml"/><Relationship Id="rId12" Type="http://schemas.openxmlformats.org/officeDocument/2006/relationships/theme" Target="../theme/theme9.xml"/><Relationship Id="rId11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5.xml"/><Relationship Id="rId1" Type="http://schemas.openxmlformats.org/officeDocument/2006/relationships/slideLayout" Target="../slideLayouts/slideLayout9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898525"/>
            <a:ext cx="86106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77038" y="631825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600">
                <a:solidFill>
                  <a:srgbClr val="0000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6BD16E5-F3ED-4D62-97C8-FF027CD0C733}" type="slidenum">
              <a:rPr lang="en-US" altLang="en-US"/>
            </a:fld>
            <a:endParaRPr lang="en-US" altLang="en-US"/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228600" y="6481763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1" name="Line 1033"/>
          <p:cNvSpPr>
            <a:spLocks noChangeShapeType="1"/>
          </p:cNvSpPr>
          <p:nvPr userDrawn="1"/>
        </p:nvSpPr>
        <p:spPr bwMode="auto">
          <a:xfrm>
            <a:off x="228600" y="898525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等线" panose="02010600030101010101" pitchFamily="2" charset="-122"/>
          <a:ea typeface="等线" panose="02010600030101010101" pitchFamily="2" charset="-122"/>
          <a:cs typeface="等线" panose="02010600030101010101" pitchFamily="2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669925" indent="-32575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22350" indent="-35115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339850" indent="-31623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681480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1386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8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30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102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2051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095375"/>
            <a:ext cx="8610600" cy="515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solidFill>
                  <a:srgbClr val="000000"/>
                </a:solidFill>
                <a:latin typeface="Garamond" panose="02020404030301010803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46900" y="6373813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F034AED0-A497-4B2A-8A21-76AFFFC69574}" type="slidenum">
              <a:rPr lang="en-US" altLang="en-US"/>
            </a:fld>
            <a:endParaRPr lang="en-US" altLang="en-US"/>
          </a:p>
        </p:txBody>
      </p:sp>
      <p:sp>
        <p:nvSpPr>
          <p:cNvPr id="2054" name="Line 1032"/>
          <p:cNvSpPr>
            <a:spLocks noChangeShapeType="1"/>
          </p:cNvSpPr>
          <p:nvPr/>
        </p:nvSpPr>
        <p:spPr bwMode="auto">
          <a:xfrm>
            <a:off x="228600" y="6446838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5" name="Line 1033"/>
          <p:cNvSpPr>
            <a:spLocks noChangeShapeType="1"/>
          </p:cNvSpPr>
          <p:nvPr userDrawn="1"/>
        </p:nvSpPr>
        <p:spPr bwMode="auto">
          <a:xfrm>
            <a:off x="228600" y="914400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056" name="Picture 7" descr="safari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6602413"/>
            <a:ext cx="8477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等线" panose="02010600030101010101" pitchFamily="2" charset="-122"/>
          <a:ea typeface="等线" panose="02010600030101010101" pitchFamily="2" charset="-122"/>
          <a:cs typeface="等线" panose="02010600030101010101" pitchFamily="2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669925" indent="-32575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22350" indent="-35115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339850" indent="-31623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681480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1386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5958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0530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5102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3075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10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24DC6BE8-4591-47C2-9A5B-6763FAA4D114}" type="slidenum">
              <a:rPr lang="en-US" altLang="en-US"/>
            </a:fld>
            <a:endParaRPr lang="en-US" altLang="en-US"/>
          </a:p>
        </p:txBody>
      </p:sp>
      <p:sp>
        <p:nvSpPr>
          <p:cNvPr id="3078" name="Line 1032"/>
          <p:cNvSpPr>
            <a:spLocks noChangeShapeType="1"/>
          </p:cNvSpPr>
          <p:nvPr/>
        </p:nvSpPr>
        <p:spPr bwMode="auto">
          <a:xfrm>
            <a:off x="228600" y="6381750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9" name="Line 1033"/>
          <p:cNvSpPr>
            <a:spLocks noChangeShapeType="1"/>
          </p:cNvSpPr>
          <p:nvPr/>
        </p:nvSpPr>
        <p:spPr bwMode="auto">
          <a:xfrm>
            <a:off x="228600" y="914400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80" name="Picture 7" descr="safari.png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6453188"/>
            <a:ext cx="1079500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669925" indent="-32575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22350" indent="-35115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339850" indent="-31623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681480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1386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8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30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102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8585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3825" y="1250950"/>
            <a:ext cx="8897938" cy="522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825" y="6543675"/>
            <a:ext cx="1820863" cy="2286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900">
                <a:solidFill>
                  <a:srgbClr val="000000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9525" y="6543675"/>
            <a:ext cx="37719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50" cap="all" baseline="0">
                <a:solidFill>
                  <a:prstClr val="black">
                    <a:alpha val="75000"/>
                  </a:prstClr>
                </a:solidFill>
                <a:latin typeface="Calibri" panose="020F0502020204030204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6924675" y="6456363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600">
                <a:solidFill>
                  <a:srgbClr val="000000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BDB71202-A22F-4751-9C72-0C3B4DD751C0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hf sldNum="0"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 kern="1200" spc="-120">
          <a:solidFill>
            <a:schemeClr val="bg1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9pPr>
    </p:titleStyle>
    <p:bodyStyle>
      <a:lvl1pPr marL="182880" indent="-182880" algn="l" rtl="0" eaLnBrk="0" fontAlgn="base" hangingPunct="0">
        <a:lnSpc>
          <a:spcPct val="85000"/>
        </a:lnSpc>
        <a:spcBef>
          <a:spcPts val="1300"/>
        </a:spcBef>
        <a:spcAft>
          <a:spcPct val="0"/>
        </a:spcAft>
        <a:buFont typeface="Arial" panose="020B0604020202020204" pitchFamily="34" charset="0"/>
        <a:buChar char="•"/>
        <a:defRPr sz="2800" i="1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365125" indent="-182880" algn="l" rtl="0" eaLnBrk="0" fontAlgn="base" hangingPunct="0">
        <a:lnSpc>
          <a:spcPct val="85000"/>
        </a:lnSpc>
        <a:spcBef>
          <a:spcPts val="600"/>
        </a:spcBef>
        <a:spcAft>
          <a:spcPct val="0"/>
        </a:spcAft>
        <a:buFont typeface="Calibri" panose="020F0502020204030204" pitchFamily="34" charset="0"/>
        <a:buChar char="‐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548005" indent="-182880" algn="l" rtl="0" eaLnBrk="0" fontAlgn="base" hangingPunct="0">
        <a:lnSpc>
          <a:spcPct val="850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000" i="1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730250" indent="-182880" algn="l" rtl="0" eaLnBrk="0" fontAlgn="base" hangingPunct="0">
        <a:lnSpc>
          <a:spcPct val="850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914400" indent="-182880" algn="l" rtl="0" eaLnBrk="0" fontAlgn="base" hangingPunct="0">
        <a:lnSpc>
          <a:spcPct val="850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1200150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175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200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225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5123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10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63E48380-0E35-46EE-AF94-F16C955D45D6}" type="slidenum">
              <a:rPr lang="en-US" altLang="en-US"/>
            </a:fld>
            <a:endParaRPr lang="en-US" altLang="en-US"/>
          </a:p>
        </p:txBody>
      </p:sp>
      <p:sp>
        <p:nvSpPr>
          <p:cNvPr id="5126" name="Line 1032"/>
          <p:cNvSpPr>
            <a:spLocks noChangeShapeType="1"/>
          </p:cNvSpPr>
          <p:nvPr/>
        </p:nvSpPr>
        <p:spPr bwMode="auto">
          <a:xfrm>
            <a:off x="228600" y="6381750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7" name="Line 1033"/>
          <p:cNvSpPr>
            <a:spLocks noChangeShapeType="1"/>
          </p:cNvSpPr>
          <p:nvPr/>
        </p:nvSpPr>
        <p:spPr bwMode="auto">
          <a:xfrm>
            <a:off x="228600" y="914400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128" name="Picture 7" descr="safari.png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6453188"/>
            <a:ext cx="1079500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669925" indent="-32575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22350" indent="-35115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339850" indent="-31623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681480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1386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8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30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102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614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10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6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D32824C6-E28B-4333-BA2E-C38EBB11E977}" type="slidenum">
              <a:rPr lang="en-US" altLang="en-US"/>
            </a:fld>
            <a:endParaRPr lang="en-US" altLang="en-US"/>
          </a:p>
        </p:txBody>
      </p:sp>
      <p:sp>
        <p:nvSpPr>
          <p:cNvPr id="6150" name="Line 1032"/>
          <p:cNvSpPr>
            <a:spLocks noChangeShapeType="1"/>
          </p:cNvSpPr>
          <p:nvPr/>
        </p:nvSpPr>
        <p:spPr bwMode="auto">
          <a:xfrm>
            <a:off x="228600" y="6381750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1" name="Line 1033"/>
          <p:cNvSpPr>
            <a:spLocks noChangeShapeType="1"/>
          </p:cNvSpPr>
          <p:nvPr/>
        </p:nvSpPr>
        <p:spPr bwMode="auto">
          <a:xfrm>
            <a:off x="228600" y="914400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152" name="Picture 7" descr="safari.png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6453188"/>
            <a:ext cx="1079500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75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</a:defRPr>
      </a:lvl2pPr>
      <a:lvl3pPr marL="1022350" indent="-35115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3pPr>
      <a:lvl4pPr marL="1339850" indent="-31623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</a:defRPr>
      </a:lvl4pPr>
      <a:lvl5pPr marL="1681480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5pPr>
      <a:lvl6pPr marL="21386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8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30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102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7171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095375"/>
            <a:ext cx="8610600" cy="515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solidFill>
                  <a:srgbClr val="000000"/>
                </a:solidFill>
                <a:latin typeface="Garamond" panose="02020404030301010803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46900" y="6373813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1BC59078-A971-45A7-BA7F-6B85E5465F6E}" type="slidenum">
              <a:rPr lang="en-US" altLang="en-US"/>
            </a:fld>
            <a:endParaRPr lang="en-US" altLang="en-US"/>
          </a:p>
        </p:txBody>
      </p:sp>
      <p:sp>
        <p:nvSpPr>
          <p:cNvPr id="7174" name="Line 1032"/>
          <p:cNvSpPr>
            <a:spLocks noChangeShapeType="1"/>
          </p:cNvSpPr>
          <p:nvPr/>
        </p:nvSpPr>
        <p:spPr bwMode="auto">
          <a:xfrm>
            <a:off x="228600" y="6446838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5" name="Line 1033"/>
          <p:cNvSpPr>
            <a:spLocks noChangeShapeType="1"/>
          </p:cNvSpPr>
          <p:nvPr userDrawn="1"/>
        </p:nvSpPr>
        <p:spPr bwMode="auto">
          <a:xfrm>
            <a:off x="228600" y="914400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176" name="Picture 7" descr="safari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6602413"/>
            <a:ext cx="8477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669925" indent="-32575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22350" indent="-35115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339850" indent="-31623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681480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1386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5958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0530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5102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095375"/>
            <a:ext cx="8610600" cy="515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solidFill>
                  <a:srgbClr val="000000"/>
                </a:solidFill>
                <a:latin typeface="Garamond" panose="02020404030301010803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46900" y="6373813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600">
                <a:solidFill>
                  <a:srgbClr val="000000"/>
                </a:solidFill>
                <a:latin typeface="Garamond" panose="02020404030301010803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fld id="{D0DA00B0-71D2-430A-A454-F93A385E0642}" type="slidenum">
              <a:rPr lang="en-US"/>
            </a:fld>
            <a:endParaRPr lang="en-US"/>
          </a:p>
        </p:txBody>
      </p:sp>
      <p:sp>
        <p:nvSpPr>
          <p:cNvPr id="8198" name="Line 1032"/>
          <p:cNvSpPr>
            <a:spLocks noChangeShapeType="1"/>
          </p:cNvSpPr>
          <p:nvPr/>
        </p:nvSpPr>
        <p:spPr bwMode="auto">
          <a:xfrm>
            <a:off x="228600" y="6446838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" name="Line 1033"/>
          <p:cNvSpPr>
            <a:spLocks noChangeShapeType="1"/>
          </p:cNvSpPr>
          <p:nvPr userDrawn="1"/>
        </p:nvSpPr>
        <p:spPr bwMode="auto">
          <a:xfrm>
            <a:off x="228600" y="914400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200" name="Picture 7" descr="safari.pn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6602413"/>
            <a:ext cx="8477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669925" indent="-32575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22350" indent="-35115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339850" indent="-31623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681480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1386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5958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0530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5102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9219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10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6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3536AB06-74AD-4303-A716-6422F4CCC08E}" type="slidenum">
              <a:rPr lang="en-US" altLang="en-US"/>
            </a:fld>
            <a:endParaRPr lang="en-US" altLang="en-US"/>
          </a:p>
        </p:txBody>
      </p:sp>
      <p:sp>
        <p:nvSpPr>
          <p:cNvPr id="9222" name="Line 1032"/>
          <p:cNvSpPr>
            <a:spLocks noChangeShapeType="1"/>
          </p:cNvSpPr>
          <p:nvPr/>
        </p:nvSpPr>
        <p:spPr bwMode="auto">
          <a:xfrm>
            <a:off x="228600" y="6381750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3" name="Line 1033"/>
          <p:cNvSpPr>
            <a:spLocks noChangeShapeType="1"/>
          </p:cNvSpPr>
          <p:nvPr/>
        </p:nvSpPr>
        <p:spPr bwMode="auto">
          <a:xfrm>
            <a:off x="228600" y="914400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anose="02020404030301010803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669925" indent="-32575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22350" indent="-35115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339850" indent="-31623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681480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1386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8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30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102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image" Target="../media/image16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34963" y="762000"/>
            <a:ext cx="8428037" cy="2362200"/>
          </a:xfrm>
        </p:spPr>
        <p:txBody>
          <a:bodyPr/>
          <a:lstStyle/>
          <a:p>
            <a:pPr algn="ctr" eaLnBrk="1" hangingPunct="1"/>
            <a:br>
              <a:rPr lang="en-US" altLang="en-US" dirty="0">
                <a:ea typeface="MS PGothic" panose="020B0600070205080204" pitchFamily="34" charset="-128"/>
              </a:rPr>
            </a:br>
            <a:r>
              <a:rPr lang="zh-CN" altLang="en-US" dirty="0">
                <a:ea typeface="MS PGothic" panose="020B0600070205080204" pitchFamily="34" charset="-128"/>
              </a:rPr>
              <a:t>高级语言</a:t>
            </a:r>
            <a:r>
              <a:rPr lang="en-US" altLang="zh-CN" dirty="0">
                <a:ea typeface="MS PGothic" panose="020B0600070205080204" pitchFamily="34" charset="-128"/>
              </a:rPr>
              <a:t>C++</a:t>
            </a:r>
            <a:r>
              <a:rPr lang="zh-CN" altLang="en-US" dirty="0">
                <a:ea typeface="MS PGothic" panose="020B0600070205080204" pitchFamily="34" charset="-128"/>
              </a:rPr>
              <a:t>程序设计</a:t>
            </a:r>
            <a:br>
              <a:rPr lang="en-US" altLang="zh-CN" dirty="0">
                <a:ea typeface="MS PGothic" panose="020B0600070205080204" pitchFamily="34" charset="-128"/>
              </a:rPr>
            </a:br>
            <a:r>
              <a:rPr lang="en-US" altLang="zh-CN" dirty="0">
                <a:ea typeface="MS PGothic" panose="020B0600070205080204" pitchFamily="34" charset="-128"/>
              </a:rPr>
              <a:t>Lecture 11 </a:t>
            </a:r>
            <a:r>
              <a:rPr lang="zh-CN" altLang="en-US" dirty="0">
                <a:ea typeface="MS PGothic" panose="020B0600070205080204" pitchFamily="34" charset="-128"/>
              </a:rPr>
              <a:t>类模板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  <p:sp>
        <p:nvSpPr>
          <p:cNvPr id="7475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2900363"/>
          </a:xfrm>
        </p:spPr>
        <p:txBody>
          <a:bodyPr/>
          <a:lstStyle/>
          <a:p>
            <a:pPr eaLnBrk="1" hangingPunct="1"/>
            <a:endParaRPr lang="en-US" altLang="en-US" i="1" dirty="0">
              <a:ea typeface="MS PGothic" panose="020B0600070205080204" pitchFamily="34" charset="-128"/>
            </a:endParaRPr>
          </a:p>
          <a:p>
            <a:pPr eaLnBrk="1" hangingPunct="1"/>
            <a:endParaRPr lang="en-US" altLang="en-US" dirty="0">
              <a:ea typeface="MS PGothic" panose="020B0600070205080204" pitchFamily="34" charset="-128"/>
            </a:endParaRPr>
          </a:p>
          <a:p>
            <a:pPr eaLnBrk="1" hangingPunct="1"/>
            <a:r>
              <a:rPr lang="zh-CN" altLang="en-US" dirty="0">
                <a:ea typeface="MS PGothic" panose="020B0600070205080204" pitchFamily="34" charset="-128"/>
              </a:rPr>
              <a:t>南开大学 计算机学院</a:t>
            </a:r>
            <a:endParaRPr lang="en-US" altLang="en-US" dirty="0">
              <a:ea typeface="MS PGothic" panose="020B0600070205080204" pitchFamily="34" charset="-128"/>
            </a:endParaRPr>
          </a:p>
          <a:p>
            <a:pPr eaLnBrk="1" hangingPunct="1"/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 advTm="2346"/>
    </mc:Choice>
    <mc:Fallback>
      <p:transition spd="slow" advTm="2346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标题 7"/>
          <p:cNvSpPr>
            <a:spLocks noGrp="1"/>
          </p:cNvSpPr>
          <p:nvPr>
            <p:ph type="ctrTitle"/>
          </p:nvPr>
        </p:nvSpPr>
        <p:spPr>
          <a:xfrm>
            <a:off x="714375" y="2000250"/>
            <a:ext cx="7715250" cy="1928813"/>
          </a:xfrm>
        </p:spPr>
        <p:txBody>
          <a:bodyPr/>
          <a:lstStyle/>
          <a:p>
            <a:pPr algn="ctr"/>
            <a:r>
              <a:rPr lang="zh-CN" altLang="en-US" dirty="0">
                <a:ea typeface="MS PGothic" panose="020B0600070205080204" pitchFamily="34" charset="-128"/>
              </a:rPr>
              <a:t>函数模板</a:t>
            </a:r>
            <a:endParaRPr lang="zh-CN" altLang="en-US" dirty="0">
              <a:ea typeface="MS PGothic" panose="020B0600070205080204" pitchFamily="34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0152" y="6023538"/>
            <a:ext cx="3050277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chemeClr val="bg1"/>
                </a:solidFill>
                <a:latin typeface="+mn-lt"/>
                <a:ea typeface="方正姚体" panose="02010601030101010101" pitchFamily="2" charset="-122"/>
              </a:rPr>
              <a:t>计算机学院</a:t>
            </a:r>
            <a:r>
              <a:rPr lang="en-US" altLang="zh-CN" sz="1600" dirty="0">
                <a:solidFill>
                  <a:schemeClr val="bg1"/>
                </a:solidFill>
                <a:latin typeface="+mn-lt"/>
                <a:ea typeface="方正姚体" panose="02010601030101010101" pitchFamily="2" charset="-122"/>
              </a:rPr>
              <a:t>&amp;</a:t>
            </a:r>
            <a:r>
              <a:rPr lang="zh-CN" altLang="en-US" sz="1600" dirty="0">
                <a:solidFill>
                  <a:schemeClr val="bg1"/>
                </a:solidFill>
                <a:latin typeface="+mn-lt"/>
                <a:ea typeface="方正姚体" panose="02010601030101010101" pitchFamily="2" charset="-122"/>
              </a:rPr>
              <a:t>网络空间安全学院</a:t>
            </a:r>
            <a:endParaRPr lang="zh-CN" altLang="en-US" sz="1600" dirty="0">
              <a:solidFill>
                <a:schemeClr val="bg1"/>
              </a:solidFill>
              <a:latin typeface="+mn-lt"/>
              <a:ea typeface="方正姚体" panose="02010601030101010101" pitchFamily="2" charset="-122"/>
            </a:endParaRPr>
          </a:p>
        </p:txBody>
      </p:sp>
      <p:pic>
        <p:nvPicPr>
          <p:cNvPr id="9" name="图片 12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598192" y="5666350"/>
            <a:ext cx="14636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图片 9" descr="Logo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5740" y="5229200"/>
            <a:ext cx="1785980" cy="11215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函数</a:t>
            </a:r>
            <a:r>
              <a:rPr lang="zh-CN" altLang="en-US" dirty="0"/>
              <a:t>重载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" name="内容占位符 2"/>
          <p:cNvSpPr txBox="1"/>
          <p:nvPr/>
        </p:nvSpPr>
        <p:spPr bwMode="auto">
          <a:xfrm>
            <a:off x="406400" y="1092277"/>
            <a:ext cx="8204200" cy="628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 lang="zh-CN" altLang="en-US" sz="2800" b="1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1386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8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30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102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/>
            <a:r>
              <a:rPr lang="zh-CN" altLang="en-US" dirty="0">
                <a:solidFill>
                  <a:srgbClr val="000000"/>
                </a:solidFill>
              </a:rPr>
              <a:t>函数重载可以支持多种数据类型，但是冗余度高</a:t>
            </a:r>
            <a:endParaRPr lang="zh-CN" altLang="en-US" dirty="0"/>
          </a:p>
          <a:p>
            <a:pPr marL="0"/>
            <a:endParaRPr lang="zh-CN" altLang="en-US" sz="2800" kern="0" dirty="0"/>
          </a:p>
        </p:txBody>
      </p:sp>
      <p:sp>
        <p:nvSpPr>
          <p:cNvPr id="18" name="矩形 17"/>
          <p:cNvSpPr/>
          <p:nvPr/>
        </p:nvSpPr>
        <p:spPr>
          <a:xfrm>
            <a:off x="583904" y="1981200"/>
            <a:ext cx="8026695" cy="1200329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max (int a, int b){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return a&gt;b ? a : b;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83902" y="4895671"/>
            <a:ext cx="8026695" cy="1200329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double max (double a, double b){ 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return a&gt;b ? a : b;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83903" y="3429000"/>
            <a:ext cx="8026695" cy="1200329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 max (char a, char b){     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return a&gt;b ? a : b;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 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函数模板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" name="内容占位符 2"/>
          <p:cNvSpPr txBox="1"/>
          <p:nvPr/>
        </p:nvSpPr>
        <p:spPr bwMode="auto">
          <a:xfrm>
            <a:off x="406400" y="1092276"/>
            <a:ext cx="8509000" cy="1046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 lang="zh-CN" altLang="en-US" sz="2800" b="1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1386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8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30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102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/>
            <a:r>
              <a:rPr lang="zh-CN" altLang="en-US" dirty="0">
                <a:solidFill>
                  <a:srgbClr val="FF0000"/>
                </a:solidFill>
              </a:rPr>
              <a:t>函数模板</a:t>
            </a:r>
            <a:r>
              <a:rPr lang="zh-CN" altLang="en-US" dirty="0">
                <a:solidFill>
                  <a:srgbClr val="000000"/>
                </a:solidFill>
              </a:rPr>
              <a:t>：“提取”出一个可变化的类型参数</a:t>
            </a:r>
            <a:r>
              <a:rPr lang="en-US" altLang="zh-CN" dirty="0">
                <a:solidFill>
                  <a:srgbClr val="000000"/>
                </a:solidFill>
              </a:rPr>
              <a:t>，</a:t>
            </a:r>
            <a:r>
              <a:rPr lang="zh-CN" altLang="en-US" dirty="0">
                <a:solidFill>
                  <a:srgbClr val="000000"/>
                </a:solidFill>
              </a:rPr>
              <a:t>定义一组函数</a:t>
            </a:r>
            <a:endParaRPr lang="en-US" altLang="zh-CN" dirty="0">
              <a:solidFill>
                <a:srgbClr val="000000"/>
              </a:solidFill>
            </a:endParaRPr>
          </a:p>
          <a:p>
            <a:pPr marL="0"/>
            <a:endParaRPr lang="zh-CN" altLang="en-US" dirty="0"/>
          </a:p>
          <a:p>
            <a:pPr marL="0"/>
            <a:endParaRPr lang="zh-CN" altLang="en-US" sz="2800" kern="0" dirty="0"/>
          </a:p>
        </p:txBody>
      </p:sp>
      <p:sp>
        <p:nvSpPr>
          <p:cNvPr id="18" name="矩形 17"/>
          <p:cNvSpPr/>
          <p:nvPr/>
        </p:nvSpPr>
        <p:spPr>
          <a:xfrm>
            <a:off x="1524000" y="2468319"/>
            <a:ext cx="6085892" cy="1569660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max (</a:t>
            </a:r>
            <a:r>
              <a:rPr lang="en-US" altLang="zh-CN" sz="3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altLang="zh-CN" sz="3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b){</a:t>
            </a:r>
            <a:endParaRPr lang="en-US" altLang="zh-CN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return a&gt;b ? a : b;</a:t>
            </a:r>
            <a:endParaRPr lang="en-US" altLang="zh-CN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函数模板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" name="内容占位符 2"/>
          <p:cNvSpPr txBox="1"/>
          <p:nvPr/>
        </p:nvSpPr>
        <p:spPr bwMode="auto">
          <a:xfrm>
            <a:off x="406400" y="1092277"/>
            <a:ext cx="4013200" cy="584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 lang="zh-CN" altLang="en-US" sz="2800" b="1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1386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8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30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102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/>
            <a:r>
              <a:rPr lang="zh-CN" altLang="en-US" dirty="0">
                <a:solidFill>
                  <a:srgbClr val="FF0000"/>
                </a:solidFill>
              </a:rPr>
              <a:t>函数模板的完整定义</a:t>
            </a:r>
            <a:endParaRPr lang="zh-CN" altLang="en-US" dirty="0"/>
          </a:p>
          <a:p>
            <a:pPr marL="0"/>
            <a:endParaRPr lang="zh-CN" altLang="en-US" sz="2800" kern="0" dirty="0"/>
          </a:p>
        </p:txBody>
      </p:sp>
      <p:sp>
        <p:nvSpPr>
          <p:cNvPr id="8" name="内容占位符 2"/>
          <p:cNvSpPr txBox="1"/>
          <p:nvPr/>
        </p:nvSpPr>
        <p:spPr>
          <a:xfrm>
            <a:off x="402590" y="3455109"/>
            <a:ext cx="8509000" cy="1384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2800" b="1">
                <a:solidFill>
                  <a:srgbClr val="10296F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None/>
              <a:defRPr sz="2400">
                <a:solidFill>
                  <a:schemeClr val="tx2"/>
                </a:solidFill>
                <a:latin typeface="+mn-lt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400">
                <a:solidFill>
                  <a:schemeClr val="tx2"/>
                </a:solidFill>
                <a:latin typeface="+mn-lt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zh-CN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US" altLang="zh-CN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altLang="zh-CN" kern="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altLang="zh-CN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kern="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altLang="zh-CN" kern="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max (</a:t>
            </a:r>
            <a:r>
              <a:rPr lang="en-US" altLang="zh-CN" kern="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altLang="zh-CN" kern="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b){</a:t>
            </a:r>
            <a:endParaRPr lang="en-US" altLang="zh-CN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altLang="zh-CN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altLang="zh-CN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a&gt;b ? a : b;</a:t>
            </a:r>
            <a:endParaRPr lang="en-US" altLang="zh-CN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zh-CN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zh-CN" altLang="en-US" sz="3600" kern="0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4731" y="2197944"/>
            <a:ext cx="286326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template </a:t>
            </a:r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关键字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 bwMode="auto">
          <a:xfrm>
            <a:off x="1524000" y="2685261"/>
            <a:ext cx="0" cy="7698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矩形 13"/>
          <p:cNvSpPr/>
          <p:nvPr/>
        </p:nvSpPr>
        <p:spPr>
          <a:xfrm>
            <a:off x="3200400" y="1978951"/>
            <a:ext cx="55626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模板参数，</a:t>
            </a:r>
            <a:r>
              <a:rPr lang="zh-CN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用尖括号括起来，可以是一个或多个，用</a:t>
            </a:r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逗号</a:t>
            </a:r>
            <a:r>
              <a:rPr lang="zh-CN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分隔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15" name="直接箭头连接符 14"/>
          <p:cNvCxnSpPr/>
          <p:nvPr/>
        </p:nvCxnSpPr>
        <p:spPr bwMode="auto">
          <a:xfrm flipH="1">
            <a:off x="3810000" y="2895600"/>
            <a:ext cx="577269" cy="5595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矩形 18"/>
          <p:cNvSpPr/>
          <p:nvPr/>
        </p:nvSpPr>
        <p:spPr>
          <a:xfrm>
            <a:off x="5181600" y="4851754"/>
            <a:ext cx="2743200" cy="482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模板参数类型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0" name="直接箭头连接符 19"/>
          <p:cNvCxnSpPr/>
          <p:nvPr/>
        </p:nvCxnSpPr>
        <p:spPr bwMode="auto">
          <a:xfrm flipH="1" flipV="1">
            <a:off x="4648200" y="3810000"/>
            <a:ext cx="1579984" cy="10301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函数模板实例化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184731" y="1042057"/>
            <a:ext cx="8806869" cy="116774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algn="just">
              <a:lnSpc>
                <a:spcPct val="80000"/>
              </a:lnSpc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max (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a,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b){  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zh-CN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(a&gt;b)?</a:t>
            </a:r>
            <a:r>
              <a:rPr lang="en-US" altLang="zh-CN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a:b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内容占位符 2"/>
          <p:cNvSpPr txBox="1"/>
          <p:nvPr/>
        </p:nvSpPr>
        <p:spPr bwMode="auto">
          <a:xfrm>
            <a:off x="184731" y="2590800"/>
            <a:ext cx="3701469" cy="1524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 lang="zh-CN" altLang="en-US" sz="2800" b="1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1386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8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30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102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i1=-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11, i2=0;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max(i1,i2)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	</a:t>
            </a:r>
            <a:endParaRPr lang="en-US" altLang="zh-CN" sz="2400" kern="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CN" altLang="en-US" sz="2400" kern="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endParaRPr lang="zh-CN" altLang="en-US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6400" y="4277618"/>
            <a:ext cx="83947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kern="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编译器编译到</a:t>
            </a:r>
            <a:r>
              <a:rPr lang="en-US" altLang="zh-CN" sz="3200" b="1" kern="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max(i1,i2)</a:t>
            </a:r>
            <a:r>
              <a:rPr lang="zh-CN" altLang="en-US" sz="3200" b="1" kern="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时，会根据模板实参生成一个</a:t>
            </a:r>
            <a:r>
              <a:rPr lang="zh-CN" altLang="en-US" sz="3200" b="1" kern="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具体函数</a:t>
            </a:r>
            <a:r>
              <a:rPr lang="zh-CN" altLang="en-US" sz="3200" b="1" kern="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，叫做</a:t>
            </a:r>
            <a:r>
              <a:rPr lang="zh-CN" altLang="en-US" sz="32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函数模板实例化</a:t>
            </a:r>
            <a:r>
              <a:rPr lang="zh-CN" altLang="en-US" sz="3200" b="1" kern="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！</a:t>
            </a:r>
            <a:endParaRPr lang="en-US" altLang="zh-CN" sz="3200" b="1" kern="0" dirty="0"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8" name="内容占位符 2"/>
          <p:cNvSpPr txBox="1"/>
          <p:nvPr/>
        </p:nvSpPr>
        <p:spPr bwMode="auto">
          <a:xfrm>
            <a:off x="4572000" y="2590800"/>
            <a:ext cx="4387269" cy="11677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 lang="zh-CN" altLang="en-US" sz="2800" b="1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1386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8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30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102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(int a, int b) {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(a&gt;b)?</a:t>
            </a:r>
            <a:r>
              <a:rPr lang="en-US" altLang="zh-CN" sz="2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a:b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CN" altLang="en-US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0" y="3365500"/>
            <a:ext cx="3352800" cy="520700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84731" y="5574000"/>
            <a:ext cx="8774538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indent="-342900" algn="ctr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实例化在</a:t>
            </a:r>
            <a:r>
              <a:rPr lang="zh-CN" altLang="en-US" sz="2800" b="1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编译阶段</a:t>
            </a:r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完成，在</a:t>
            </a:r>
            <a:r>
              <a:rPr lang="zh-CN" altLang="en-US" sz="2800" b="1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函数调用处</a:t>
            </a:r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发生！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3" name="连接符: 肘形 22"/>
          <p:cNvCxnSpPr>
            <a:stCxn id="3" idx="3"/>
            <a:endCxn id="8" idx="1"/>
          </p:cNvCxnSpPr>
          <p:nvPr/>
        </p:nvCxnSpPr>
        <p:spPr bwMode="auto">
          <a:xfrm flipV="1">
            <a:off x="3352800" y="3174672"/>
            <a:ext cx="1219200" cy="451178"/>
          </a:xfrm>
          <a:prstGeom prst="bentConnector3">
            <a:avLst>
              <a:gd name="adj1" fmla="val 62500"/>
            </a:avLst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连接符: 肘形 24"/>
          <p:cNvCxnSpPr>
            <a:endCxn id="8" idx="1"/>
          </p:cNvCxnSpPr>
          <p:nvPr/>
        </p:nvCxnSpPr>
        <p:spPr bwMode="auto">
          <a:xfrm rot="16200000" flipH="1">
            <a:off x="3860964" y="2463636"/>
            <a:ext cx="964872" cy="457200"/>
          </a:xfrm>
          <a:prstGeom prst="bentConnector2">
            <a:avLst/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3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函数模板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184731" y="1042057"/>
            <a:ext cx="8806869" cy="116774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algn="just">
              <a:lnSpc>
                <a:spcPct val="80000"/>
              </a:lnSpc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max (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a,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b){  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zh-CN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(a&gt;b)?</a:t>
            </a:r>
            <a:r>
              <a:rPr lang="en-US" altLang="zh-CN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a:b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内容占位符 2"/>
          <p:cNvSpPr txBox="1"/>
          <p:nvPr/>
        </p:nvSpPr>
        <p:spPr bwMode="auto">
          <a:xfrm>
            <a:off x="184731" y="2286000"/>
            <a:ext cx="8806869" cy="4038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 lang="zh-CN" altLang="en-US" sz="2800" b="1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1386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8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30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102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i1=-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11, i2=0;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double 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d1, d2;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max(i1,i2)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	</a:t>
            </a:r>
            <a:r>
              <a:rPr lang="en-US" altLang="zh-CN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//OK</a:t>
            </a:r>
            <a:r>
              <a:rPr lang="en-US" altLang="zh-CN" sz="2400" kern="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zh-CN" altLang="en-US" sz="2400" kern="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实例化为</a:t>
            </a:r>
            <a:r>
              <a:rPr lang="en-US" altLang="zh-CN" sz="2400" kern="0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400" kern="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类型</a:t>
            </a:r>
            <a:endParaRPr lang="en-US" altLang="zh-CN" sz="2400" kern="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max(23,-56)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max(‘f’, ‘k’)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;//OK</a:t>
            </a:r>
            <a:r>
              <a:rPr lang="en-US" altLang="zh-CN" sz="2400" kern="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zh-CN" altLang="en-US" sz="2400" kern="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实例化为</a:t>
            </a:r>
            <a:r>
              <a:rPr lang="en-US" altLang="zh-CN" sz="2400" kern="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zh-CN" altLang="en-US" sz="2400" kern="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类型</a:t>
            </a:r>
            <a:endParaRPr lang="en-US" altLang="zh-CN" sz="2400" kern="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&gt;&gt;d1&gt;&gt;d2;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max(d1,d2)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;//OK</a:t>
            </a:r>
            <a:r>
              <a:rPr lang="en-US" altLang="zh-CN" sz="2400" kern="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zh-CN" altLang="en-US" sz="2400" kern="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实例化为</a:t>
            </a:r>
            <a:r>
              <a:rPr lang="en-US" altLang="zh-CN" sz="2400" kern="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zh-CN" altLang="en-US" sz="2400" kern="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类型</a:t>
            </a:r>
            <a:endParaRPr lang="en-US" altLang="zh-CN" sz="2400" kern="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max(23,-5.6)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;//</a:t>
            </a:r>
            <a:endParaRPr lang="zh-CN" altLang="en-US" sz="2400" kern="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CN" altLang="en-US" sz="2400" kern="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endParaRPr lang="zh-CN" altLang="en-US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62600" y="5257800"/>
            <a:ext cx="35813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错误</a:t>
            </a:r>
            <a:r>
              <a:rPr lang="en-US" altLang="zh-CN" sz="2400" b="1" kern="0" dirty="0" smtClean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! </a:t>
            </a:r>
            <a:r>
              <a:rPr lang="zh-CN" altLang="en-US" sz="2400" b="1" kern="0" dirty="0" smtClean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不能进行实例化，无法推断</a:t>
            </a:r>
            <a:r>
              <a:rPr lang="en-US" altLang="zh-CN" sz="2400" b="1" kern="0" dirty="0" smtClean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</a:t>
            </a:r>
            <a:r>
              <a:rPr lang="zh-CN" altLang="en-US" sz="2400" b="1" kern="0" dirty="0" smtClean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的类型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函数模板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244766" y="1295400"/>
            <a:ext cx="8654469" cy="1858305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algn="just">
              <a:lnSpc>
                <a:spcPct val="80000"/>
              </a:lnSpc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T, </a:t>
            </a:r>
            <a:r>
              <a:rPr lang="en-US" altLang="zh-CN" sz="24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ypename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U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-US" altLang="zh-CN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if_max</a:t>
            </a:r>
            <a:r>
              <a:rPr lang="en-US" altLang="zh-CN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a,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b){  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if(a &gt; b) return true;</a:t>
            </a:r>
            <a:endParaRPr lang="en-US" altLang="zh-CN" sz="24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else return false;</a:t>
            </a:r>
            <a:endParaRPr lang="en-US" altLang="zh-CN" sz="24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内容占位符 2"/>
          <p:cNvSpPr txBox="1"/>
          <p:nvPr/>
        </p:nvSpPr>
        <p:spPr bwMode="auto">
          <a:xfrm>
            <a:off x="228600" y="3505200"/>
            <a:ext cx="8670635" cy="2286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 lang="zh-CN" altLang="en-US" sz="2800" b="1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1386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8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30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102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i1=-11;</a:t>
            </a:r>
            <a:endParaRPr lang="en-US" altLang="zh-CN" sz="2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double d1=0.12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kern="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if_ma</a:t>
            </a:r>
            <a:r>
              <a:rPr lang="en-US" altLang="zh-CN" sz="2400" kern="0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zh-CN" sz="2400" kern="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(i1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d1)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	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//OK,</a:t>
            </a:r>
            <a:r>
              <a:rPr lang="zh-CN" altLang="en-US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形参</a:t>
            </a:r>
            <a:r>
              <a:rPr lang="en-US" altLang="zh-CN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zh-CN" altLang="en-US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对应于</a:t>
            </a:r>
            <a:r>
              <a:rPr lang="en-US" altLang="zh-CN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zh-CN" altLang="en-US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对应于</a:t>
            </a:r>
            <a:r>
              <a:rPr lang="en-US" altLang="zh-CN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endParaRPr lang="en-US" altLang="zh-CN" sz="2400" kern="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CN" altLang="en-US" sz="2400" kern="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endParaRPr lang="zh-CN" altLang="en-US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函数模板与函数重载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内容占位符 2"/>
          <p:cNvSpPr txBox="1"/>
          <p:nvPr/>
        </p:nvSpPr>
        <p:spPr>
          <a:xfrm>
            <a:off x="400968" y="4590107"/>
            <a:ext cx="8342064" cy="205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2800" b="1">
                <a:solidFill>
                  <a:srgbClr val="10296F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None/>
              <a:defRPr sz="2400">
                <a:solidFill>
                  <a:schemeClr val="tx2"/>
                </a:solidFill>
                <a:latin typeface="+mn-lt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400">
                <a:solidFill>
                  <a:schemeClr val="tx2"/>
                </a:solidFill>
                <a:latin typeface="+mn-lt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main() {</a:t>
            </a:r>
            <a:endParaRPr lang="en-US" altLang="zh-CN" sz="2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min(3,-10)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;//</a:t>
            </a:r>
            <a:r>
              <a:rPr lang="zh-CN" altLang="en-US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使函数模板</a:t>
            </a:r>
            <a:r>
              <a:rPr lang="zh-CN" altLang="en-US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min(2.5,99.5)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;//</a:t>
            </a:r>
            <a:r>
              <a:rPr lang="zh-CN" altLang="en-US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使用函数模板</a:t>
            </a:r>
            <a:endParaRPr lang="en-US" altLang="zh-CN" sz="2400" kern="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min(‘</a:t>
            </a:r>
            <a:r>
              <a:rPr lang="en-US" altLang="zh-CN" sz="2400" kern="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m’,‘c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’)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;//</a:t>
            </a:r>
            <a:r>
              <a:rPr lang="zh-CN" altLang="en-US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使用函数重载</a:t>
            </a:r>
            <a:endParaRPr lang="en-US" altLang="zh-CN" sz="2400" kern="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zh-CN" altLang="en-US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en-US" altLang="zh-CN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400968" y="2057400"/>
            <a:ext cx="8342064" cy="23301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2800" b="1">
                <a:solidFill>
                  <a:srgbClr val="10296F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None/>
              <a:defRPr sz="2400">
                <a:solidFill>
                  <a:schemeClr val="tx2"/>
                </a:solidFill>
                <a:latin typeface="+mn-lt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400">
                <a:solidFill>
                  <a:schemeClr val="tx2"/>
                </a:solidFill>
                <a:latin typeface="+mn-lt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kern="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zh-CN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en-US" altLang="zh-CN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b){</a:t>
            </a:r>
            <a:endParaRPr lang="en-US" altLang="zh-CN" sz="2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(a&lt;b ? a : b);</a:t>
            </a:r>
            <a:endParaRPr lang="en-US" altLang="zh-CN" sz="2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2400" kern="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en-US" altLang="zh-CN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CN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char</a:t>
            </a:r>
            <a:r>
              <a:rPr lang="en-US" altLang="zh-CN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b){  </a:t>
            </a:r>
            <a:endParaRPr lang="zh-CN" altLang="en-US" sz="2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zh-CN" alt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(a&lt;b) ? a : b;  </a:t>
            </a:r>
            <a:endParaRPr lang="en-US" altLang="zh-CN" sz="2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400" kern="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3528" y="990600"/>
            <a:ext cx="84249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调用顺序：</a:t>
            </a:r>
            <a:r>
              <a:rPr lang="zh-CN" altLang="en-US" sz="2800" b="1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首先检查是否存在重载函数，若匹配成功则调用该函数，否则再去匹配函数模板</a:t>
            </a:r>
            <a:endParaRPr lang="zh-CN" altLang="en-US" sz="2800" b="1" dirty="0">
              <a:solidFill>
                <a:srgbClr val="0070C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函数模板重载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6200" y="914400"/>
            <a:ext cx="9067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定义两个函数模板，都叫做</a:t>
            </a:r>
            <a:r>
              <a:rPr lang="en-US" altLang="zh-CN" sz="2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sum，</a:t>
            </a:r>
            <a:r>
              <a:rPr lang="zh-CN" altLang="en-US" sz="2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都使用了一个类型参数</a:t>
            </a:r>
            <a:r>
              <a:rPr lang="en-US" altLang="zh-CN" sz="2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T，</a:t>
            </a:r>
            <a:r>
              <a:rPr lang="zh-CN" altLang="en-US" sz="2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但两者的形参个数不同</a:t>
            </a:r>
            <a:endParaRPr lang="zh-CN" altLang="en-US" sz="28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内容占位符 2"/>
          <p:cNvSpPr txBox="1"/>
          <p:nvPr/>
        </p:nvSpPr>
        <p:spPr>
          <a:xfrm>
            <a:off x="76200" y="1851835"/>
            <a:ext cx="8991600" cy="48936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2800" b="1">
                <a:solidFill>
                  <a:srgbClr val="10296F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None/>
              <a:defRPr sz="2400">
                <a:solidFill>
                  <a:schemeClr val="tx2"/>
                </a:solidFill>
                <a:latin typeface="+mn-lt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400">
                <a:solidFill>
                  <a:schemeClr val="tx2"/>
                </a:solidFill>
                <a:latin typeface="+mn-lt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altLang="zh-CN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sum(</a:t>
            </a:r>
            <a:r>
              <a:rPr lang="en-US" altLang="zh-CN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a[], 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size ){</a:t>
            </a:r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total=0;</a:t>
            </a:r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size;i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total+=a[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total;</a:t>
            </a:r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zh-CN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sum(</a:t>
            </a:r>
            <a:r>
              <a:rPr lang="en-US" altLang="zh-CN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a1[], </a:t>
            </a:r>
            <a:r>
              <a:rPr lang="en-US" altLang="zh-CN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a2[], </a:t>
            </a:r>
            <a:r>
              <a:rPr lang="en-US" altLang="zh-CN" sz="24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size ){</a:t>
            </a:r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total=0;</a:t>
            </a:r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size;i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total+=(a1[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]+a2[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total;</a:t>
            </a:r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6908800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显式指定模板参数类型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内容占位符 2"/>
          <p:cNvSpPr txBox="1"/>
          <p:nvPr/>
        </p:nvSpPr>
        <p:spPr bwMode="auto">
          <a:xfrm>
            <a:off x="236682" y="2971800"/>
            <a:ext cx="8670635" cy="3352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 lang="zh-CN" altLang="en-US" sz="2800" b="1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1386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8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30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102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max1(3, 5);</a:t>
            </a:r>
            <a:endParaRPr lang="en-US" altLang="zh-CN" sz="2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	 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max1(2.4, 3.5);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max1&lt;double&gt;(3, 5);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max1&lt;int&gt;(2.4, 3.5);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CN" altLang="en-US" sz="2400" kern="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endParaRPr lang="zh-CN" altLang="en-US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内容占位符 2"/>
          <p:cNvSpPr txBox="1"/>
          <p:nvPr/>
        </p:nvSpPr>
        <p:spPr bwMode="auto">
          <a:xfrm>
            <a:off x="221742" y="1157944"/>
            <a:ext cx="8654468" cy="14773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 lang="zh-CN" altLang="en-US" sz="2800" b="1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1386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8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30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102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kern="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altLang="zh-CN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max1 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a,</a:t>
            </a:r>
            <a:r>
              <a:rPr lang="en-US" altLang="zh-CN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b){  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return a &gt; b ? a : b;</a:t>
            </a:r>
            <a:endParaRPr lang="en-US" altLang="zh-CN" sz="2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971800" y="3320428"/>
            <a:ext cx="53720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模板类型参数自动匹配到</a:t>
            </a:r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int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733800" y="4031894"/>
            <a:ext cx="4876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模板类型参数自动匹配到</a:t>
            </a:r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double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29503" y="4724400"/>
            <a:ext cx="41572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显式指定模板类型参数为</a:t>
            </a:r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double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72000" y="5553653"/>
            <a:ext cx="457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显式指定模板类型参数为</a:t>
            </a:r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int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/>
      <p:bldP spid="11" grpId="0"/>
      <p:bldP spid="12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6908800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函数模板</a:t>
            </a:r>
            <a:r>
              <a:rPr lang="zh-CN" altLang="en-US" dirty="0"/>
              <a:t>返回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类型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内容占位符 2"/>
          <p:cNvSpPr txBox="1"/>
          <p:nvPr/>
        </p:nvSpPr>
        <p:spPr bwMode="auto">
          <a:xfrm>
            <a:off x="236682" y="2971800"/>
            <a:ext cx="8670635" cy="3352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 lang="zh-CN" altLang="en-US" sz="2800" b="1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1386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8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30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102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max1(3, 5);</a:t>
            </a:r>
            <a:endParaRPr lang="en-US" altLang="zh-CN" sz="2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	 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max1(2.4, 3);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max1&lt;int, int, int&gt;(3, 5);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max1&lt;int&gt;(2.4, 3.5);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CN" altLang="en-US" sz="2400" kern="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endParaRPr lang="zh-CN" altLang="en-US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内容占位符 2"/>
          <p:cNvSpPr txBox="1"/>
          <p:nvPr/>
        </p:nvSpPr>
        <p:spPr bwMode="auto">
          <a:xfrm>
            <a:off x="221742" y="1157944"/>
            <a:ext cx="8654468" cy="14773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 lang="zh-CN" altLang="en-US" sz="2800" b="1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1386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8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30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102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zh-CN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T1, 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zh-CN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T2, 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zh-CN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T3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T3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max1 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a,</a:t>
            </a:r>
            <a:r>
              <a:rPr lang="en-US" altLang="zh-CN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T2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b){  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return a &gt; b ? a : b;</a:t>
            </a:r>
            <a:endParaRPr lang="en-US" altLang="zh-CN" sz="2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971800" y="3320428"/>
            <a:ext cx="53720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错误！无法推断返回类型参数</a:t>
            </a:r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T3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436577" y="4055071"/>
            <a:ext cx="4876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错误！无法推断返回类型参数</a:t>
            </a:r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T3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795241" y="4795653"/>
            <a:ext cx="30399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显式指定</a:t>
            </a:r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T1, T2, T3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800600" y="5527009"/>
            <a:ext cx="407561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错误！只指定了</a:t>
            </a:r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T1</a:t>
            </a:r>
            <a:r>
              <a:rPr lang="zh-CN" altLang="en-US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T3</a:t>
            </a:r>
            <a:r>
              <a:rPr lang="zh-CN" altLang="en-US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仍然无法确定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/>
      <p:bldP spid="11" grpId="0"/>
      <p:bldP spid="12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6908800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函数模板</a:t>
            </a:r>
            <a:r>
              <a:rPr lang="zh-CN" altLang="en-US" dirty="0"/>
              <a:t>返回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类型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内容占位符 2"/>
          <p:cNvSpPr txBox="1"/>
          <p:nvPr/>
        </p:nvSpPr>
        <p:spPr bwMode="auto">
          <a:xfrm>
            <a:off x="236682" y="2971800"/>
            <a:ext cx="8670635" cy="2667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 lang="zh-CN" altLang="en-US" sz="2800" b="1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1386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8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30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102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max1&lt;int, double&gt;(3, 5);</a:t>
            </a:r>
            <a:endParaRPr lang="en-US" altLang="zh-CN" sz="2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	 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max1&lt;int, ,int&gt;(2.4, 3);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max1&lt;int, double, char&gt;(3, 5);</a:t>
            </a:r>
            <a:endParaRPr lang="en-US" altLang="zh-CN" sz="2400" kern="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CN" altLang="en-US" sz="2400" kern="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endParaRPr lang="zh-CN" altLang="en-US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内容占位符 2"/>
          <p:cNvSpPr txBox="1"/>
          <p:nvPr/>
        </p:nvSpPr>
        <p:spPr bwMode="auto">
          <a:xfrm>
            <a:off x="221742" y="1157944"/>
            <a:ext cx="8654468" cy="14773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 lang="zh-CN" altLang="en-US" sz="2800" b="1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1386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8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30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102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zh-CN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T1, 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zh-CN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T2, 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zh-CN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T3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T3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max1 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a,</a:t>
            </a:r>
            <a:r>
              <a:rPr lang="en-US" altLang="zh-CN" sz="2400" kern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T2</a:t>
            </a: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b){  </a:t>
            </a:r>
            <a:endParaRPr lang="en-US" altLang="zh-CN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return a &gt; b ? a : b;</a:t>
            </a:r>
            <a:endParaRPr lang="en-US" altLang="zh-CN" sz="2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51418" y="3321280"/>
            <a:ext cx="3581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错误！只指定了</a:t>
            </a:r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T1</a:t>
            </a:r>
            <a:r>
              <a:rPr lang="zh-CN" altLang="en-US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T2</a:t>
            </a:r>
            <a:r>
              <a:rPr lang="zh-CN" altLang="en-US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T3</a:t>
            </a:r>
            <a:r>
              <a:rPr lang="zh-CN" altLang="en-US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仍然无法无法推断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465718" y="4070510"/>
            <a:ext cx="3352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错误！不能跳跃指定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553200" y="4819740"/>
            <a:ext cx="1676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//OK</a:t>
            </a:r>
            <a:r>
              <a:rPr lang="zh-CN" altLang="en-US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！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/>
      <p:bldP spid="11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标题 7"/>
          <p:cNvSpPr>
            <a:spLocks noGrp="1"/>
          </p:cNvSpPr>
          <p:nvPr>
            <p:ph type="ctrTitle"/>
          </p:nvPr>
        </p:nvSpPr>
        <p:spPr>
          <a:xfrm>
            <a:off x="714375" y="2000250"/>
            <a:ext cx="7715250" cy="1928813"/>
          </a:xfrm>
        </p:spPr>
        <p:txBody>
          <a:bodyPr/>
          <a:lstStyle/>
          <a:p>
            <a:pPr algn="ctr"/>
            <a:r>
              <a:rPr lang="zh-CN" altLang="en-US" dirty="0">
                <a:ea typeface="MS PGothic" panose="020B0600070205080204" pitchFamily="34" charset="-128"/>
              </a:rPr>
              <a:t>类模板</a:t>
            </a:r>
            <a:endParaRPr lang="zh-CN" altLang="en-US" dirty="0">
              <a:ea typeface="MS PGothic" panose="020B0600070205080204" pitchFamily="34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0152" y="6023538"/>
            <a:ext cx="3050277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chemeClr val="bg1"/>
                </a:solidFill>
                <a:latin typeface="+mn-lt"/>
                <a:ea typeface="方正姚体" panose="02010601030101010101" pitchFamily="2" charset="-122"/>
              </a:rPr>
              <a:t>计算机学院</a:t>
            </a:r>
            <a:r>
              <a:rPr lang="en-US" altLang="zh-CN" sz="1600" dirty="0">
                <a:solidFill>
                  <a:schemeClr val="bg1"/>
                </a:solidFill>
                <a:latin typeface="+mn-lt"/>
                <a:ea typeface="方正姚体" panose="02010601030101010101" pitchFamily="2" charset="-122"/>
              </a:rPr>
              <a:t>&amp;</a:t>
            </a:r>
            <a:r>
              <a:rPr lang="zh-CN" altLang="en-US" sz="1600" dirty="0">
                <a:solidFill>
                  <a:schemeClr val="bg1"/>
                </a:solidFill>
                <a:latin typeface="+mn-lt"/>
                <a:ea typeface="方正姚体" panose="02010601030101010101" pitchFamily="2" charset="-122"/>
              </a:rPr>
              <a:t>网络空间安全学院</a:t>
            </a:r>
            <a:endParaRPr lang="zh-CN" altLang="en-US" sz="1600" dirty="0">
              <a:solidFill>
                <a:schemeClr val="bg1"/>
              </a:solidFill>
              <a:latin typeface="+mn-lt"/>
              <a:ea typeface="方正姚体" panose="02010601030101010101" pitchFamily="2" charset="-122"/>
            </a:endParaRPr>
          </a:p>
        </p:txBody>
      </p:sp>
      <p:pic>
        <p:nvPicPr>
          <p:cNvPr id="9" name="图片 12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598192" y="5666350"/>
            <a:ext cx="14636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图片 9" descr="Logo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5740" y="5229200"/>
            <a:ext cx="1785980" cy="11215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3528" y="990600"/>
            <a:ext cx="84249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普通类定义只能支持一种数据类型</a:t>
            </a:r>
            <a:endParaRPr lang="zh-CN" altLang="en-US" sz="3200" b="1" dirty="0">
              <a:solidFill>
                <a:srgbClr val="0070C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内容占位符 2"/>
          <p:cNvSpPr txBox="1"/>
          <p:nvPr/>
        </p:nvSpPr>
        <p:spPr>
          <a:xfrm>
            <a:off x="406401" y="1905000"/>
            <a:ext cx="8342064" cy="3416320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2800" b="1">
                <a:solidFill>
                  <a:srgbClr val="10296F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None/>
              <a:defRPr sz="2400">
                <a:solidFill>
                  <a:schemeClr val="tx2"/>
                </a:solidFill>
                <a:latin typeface="+mn-lt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400">
                <a:solidFill>
                  <a:schemeClr val="tx2"/>
                </a:solidFill>
                <a:latin typeface="+mn-lt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None/>
              <a:defRPr sz="2000">
                <a:solidFill>
                  <a:schemeClr val="tx2"/>
                </a:solidFill>
                <a:latin typeface="+mn-lt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altLang="zh-CN" sz="2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TestClass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 </a:t>
            </a:r>
            <a:endParaRPr lang="en-US" altLang="zh-CN" sz="2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  <a:endParaRPr lang="en-US" altLang="zh-CN" sz="2400" kern="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buffer[10];  </a:t>
            </a:r>
            <a:endParaRPr lang="en-US" altLang="zh-CN" sz="2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getData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j);</a:t>
            </a:r>
            <a:endParaRPr lang="en-US" altLang="zh-CN" sz="2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 </a:t>
            </a:r>
            <a:endParaRPr lang="zh-CN" altLang="en-US" sz="2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altLang="zh-CN" sz="2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400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TestClass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::getData(int j) {</a:t>
            </a:r>
            <a:endParaRPr lang="en-US" altLang="zh-CN" sz="2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*(</a:t>
            </a:r>
            <a:r>
              <a:rPr lang="en-US" altLang="zh-CN" sz="2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buffer+j</a:t>
            </a: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  </a:t>
            </a:r>
            <a:endParaRPr lang="en-US" altLang="zh-CN" sz="2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  <a:endParaRPr lang="en-US" altLang="zh-CN" sz="2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267200" y="2665231"/>
            <a:ext cx="34051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// </a:t>
            </a:r>
            <a:r>
              <a:rPr lang="zh-CN" altLang="en-US" sz="24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仅支持</a:t>
            </a:r>
            <a:r>
              <a:rPr lang="en-US" altLang="zh-CN" sz="2400" b="1" dirty="0" err="1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int</a:t>
            </a:r>
            <a:r>
              <a:rPr lang="zh-CN" altLang="en-US" sz="24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型数组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3528" y="990600"/>
            <a:ext cx="842493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32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类模板</a:t>
            </a:r>
            <a:r>
              <a:rPr lang="zh-CN" altLang="zh-CN" sz="3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可以用来描述一个与数据类型无关的类</a:t>
            </a:r>
            <a:endParaRPr lang="zh-CN" altLang="en-US" sz="32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 sz="3200" b="1" dirty="0">
              <a:solidFill>
                <a:srgbClr val="0070C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6400" y="1752600"/>
            <a:ext cx="8342064" cy="4524315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</a:t>
            </a:r>
            <a:r>
              <a:rPr lang="en-US" altLang="zh-CN" sz="240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TestClass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{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public:</a:t>
            </a:r>
            <a:endParaRPr lang="en-US" altLang="zh-CN" sz="2400" b="1" kern="0" dirty="0">
              <a:solidFill>
                <a:srgbClr val="0000FF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buffer[10];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endParaRPr lang="zh-CN" altLang="en-US" sz="24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/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getData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j);	</a:t>
            </a:r>
            <a:r>
              <a:rPr lang="zh-CN" altLang="en-US" sz="24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endParaRPr lang="zh-CN" altLang="en-US" sz="24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/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 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endParaRPr lang="zh-CN" altLang="en-US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</a:t>
            </a:r>
            <a:r>
              <a:rPr lang="en-US" altLang="zh-CN" sz="240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	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TestClass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&gt;::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getData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j) {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return *(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buffer+j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 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81600" y="2537430"/>
            <a:ext cx="31242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 </a:t>
            </a:r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代表任意类型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184730" y="4648200"/>
            <a:ext cx="5835069" cy="838200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noFill/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模板定义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3528" y="990600"/>
            <a:ext cx="84249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32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类模板</a:t>
            </a:r>
            <a:r>
              <a:rPr lang="zh-CN" altLang="en-US" sz="3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定义格式</a:t>
            </a:r>
            <a:endParaRPr lang="zh-CN" altLang="en-US" sz="3200" b="1" dirty="0">
              <a:solidFill>
                <a:srgbClr val="0070C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6400" y="1745179"/>
            <a:ext cx="8342064" cy="4524315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</a:t>
            </a:r>
            <a:r>
              <a:rPr lang="en-US" altLang="zh-CN" sz="240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TestClass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{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public:</a:t>
            </a:r>
            <a:endParaRPr lang="en-US" altLang="zh-CN" sz="2400" b="1" kern="0" dirty="0">
              <a:solidFill>
                <a:srgbClr val="0000FF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buffer[10];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endParaRPr lang="zh-CN" altLang="en-US" sz="24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/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getData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j);	</a:t>
            </a:r>
            <a:r>
              <a:rPr lang="zh-CN" altLang="en-US" sz="24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endParaRPr lang="zh-CN" altLang="en-US" sz="24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/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 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endParaRPr lang="zh-CN" altLang="en-US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</a:t>
            </a:r>
            <a:r>
              <a:rPr lang="en-US" altLang="zh-CN" sz="240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	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TestClass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&gt;::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getData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j) {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return *(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buffer+j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 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18275" y="2394963"/>
            <a:ext cx="3962400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pt-BR" altLang="zh-CN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emplate</a:t>
            </a:r>
            <a:r>
              <a:rPr lang="en-US" altLang="zh-CN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zh-CN" altLang="zh-CN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关键字，指明是函数或类模板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323528" y="1676400"/>
            <a:ext cx="1810072" cy="56616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" name="直接箭头连接符 5"/>
          <p:cNvCxnSpPr>
            <a:endCxn id="4" idx="3"/>
          </p:cNvCxnSpPr>
          <p:nvPr/>
        </p:nvCxnSpPr>
        <p:spPr bwMode="auto">
          <a:xfrm flipH="1" flipV="1">
            <a:off x="2133600" y="1959482"/>
            <a:ext cx="2384675" cy="968881"/>
          </a:xfrm>
          <a:prstGeom prst="straightConnector1">
            <a:avLst/>
          </a:prstGeom>
          <a:solidFill>
            <a:srgbClr val="C0C0C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模板定义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3528" y="990600"/>
            <a:ext cx="84249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32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类模板</a:t>
            </a:r>
            <a:r>
              <a:rPr lang="zh-CN" altLang="en-US" sz="3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定义格式</a:t>
            </a:r>
            <a:endParaRPr lang="zh-CN" altLang="en-US" sz="3200" b="1" dirty="0">
              <a:solidFill>
                <a:srgbClr val="0070C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6400" y="1745179"/>
            <a:ext cx="8342064" cy="4524315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</a:t>
            </a:r>
            <a:r>
              <a:rPr lang="en-US" altLang="zh-CN" sz="240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TestClass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{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public:</a:t>
            </a:r>
            <a:endParaRPr lang="en-US" altLang="zh-CN" sz="2400" b="1" kern="0" dirty="0">
              <a:solidFill>
                <a:srgbClr val="0000FF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buffer[10];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endParaRPr lang="zh-CN" altLang="en-US" sz="24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/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getData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j);	</a:t>
            </a:r>
            <a:r>
              <a:rPr lang="zh-CN" altLang="en-US" sz="24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endParaRPr lang="zh-CN" altLang="en-US" sz="24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/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 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endParaRPr lang="zh-CN" altLang="en-US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</a:t>
            </a:r>
            <a:r>
              <a:rPr lang="en-US" altLang="zh-CN" sz="240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	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TestClass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&gt;::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getData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j) {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return *(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buffer+j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 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70675" y="1874481"/>
            <a:ext cx="4397125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模板形参表：用来说明一个或多个类型形参和普通形参</a:t>
            </a:r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；</a:t>
            </a:r>
            <a:r>
              <a:rPr lang="zh-CN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多个模板参数用</a:t>
            </a:r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逗号分隔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2057400" y="1676400"/>
            <a:ext cx="2362200" cy="56616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" name="直接箭头连接符 5"/>
          <p:cNvCxnSpPr>
            <a:stCxn id="3" idx="1"/>
          </p:cNvCxnSpPr>
          <p:nvPr/>
        </p:nvCxnSpPr>
        <p:spPr bwMode="auto">
          <a:xfrm flipH="1" flipV="1">
            <a:off x="3657601" y="2242565"/>
            <a:ext cx="1013074" cy="539857"/>
          </a:xfrm>
          <a:prstGeom prst="straightConnector1">
            <a:avLst/>
          </a:prstGeom>
          <a:solidFill>
            <a:srgbClr val="C0C0C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模板定义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3528" y="990600"/>
            <a:ext cx="84249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32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类模板</a:t>
            </a:r>
            <a:r>
              <a:rPr lang="zh-CN" altLang="en-US" sz="3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定义格式</a:t>
            </a:r>
            <a:endParaRPr lang="zh-CN" altLang="en-US" sz="3200" b="1" dirty="0">
              <a:solidFill>
                <a:srgbClr val="0070C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6400" y="1752600"/>
            <a:ext cx="8342064" cy="4524315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</a:t>
            </a:r>
            <a:r>
              <a:rPr lang="en-US" altLang="zh-CN" sz="240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TestClass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{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public:</a:t>
            </a:r>
            <a:endParaRPr lang="en-US" altLang="zh-CN" sz="2400" b="1" kern="0" dirty="0">
              <a:solidFill>
                <a:srgbClr val="0000FF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buffer[10];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endParaRPr lang="zh-CN" altLang="en-US" sz="24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/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getData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j);	</a:t>
            </a:r>
            <a:r>
              <a:rPr lang="zh-CN" altLang="en-US" sz="24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endParaRPr lang="zh-CN" altLang="en-US" sz="24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/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</a:t>
            </a:r>
            <a:endParaRPr lang="zh-CN" altLang="en-US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</a:t>
            </a:r>
            <a:r>
              <a:rPr lang="en-US" altLang="zh-CN" sz="240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	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TestClass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&gt;::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getData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j) {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return *(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buffer+j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 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70675" y="2641164"/>
            <a:ext cx="211112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class</a:t>
            </a:r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关键字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323528" y="2164922"/>
            <a:ext cx="1200471" cy="38099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" name="直接箭头连接符 5"/>
          <p:cNvCxnSpPr>
            <a:stCxn id="3" idx="1"/>
            <a:endCxn id="4" idx="3"/>
          </p:cNvCxnSpPr>
          <p:nvPr/>
        </p:nvCxnSpPr>
        <p:spPr bwMode="auto">
          <a:xfrm flipH="1" flipV="1">
            <a:off x="1523999" y="2355421"/>
            <a:ext cx="3146676" cy="547353"/>
          </a:xfrm>
          <a:prstGeom prst="straightConnector1">
            <a:avLst/>
          </a:prstGeom>
          <a:solidFill>
            <a:srgbClr val="C0C0C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模板定义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3528" y="990600"/>
            <a:ext cx="84249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32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类模板</a:t>
            </a:r>
            <a:r>
              <a:rPr lang="zh-CN" altLang="en-US" sz="3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定义格式</a:t>
            </a:r>
            <a:endParaRPr lang="zh-CN" altLang="en-US" sz="3200" b="1" dirty="0">
              <a:solidFill>
                <a:srgbClr val="0070C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6400" y="1752600"/>
            <a:ext cx="8342064" cy="4524315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</a:t>
            </a:r>
            <a:r>
              <a:rPr lang="en-US" altLang="zh-CN" sz="240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TestClass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{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public:</a:t>
            </a:r>
            <a:endParaRPr lang="en-US" altLang="zh-CN" sz="2400" b="1" kern="0" dirty="0">
              <a:solidFill>
                <a:srgbClr val="0000FF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buffer[10];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endParaRPr lang="zh-CN" altLang="en-US" sz="24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/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getData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j);	</a:t>
            </a:r>
            <a:r>
              <a:rPr lang="zh-CN" altLang="en-US" sz="24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endParaRPr lang="zh-CN" altLang="en-US" sz="24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/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 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endParaRPr lang="zh-CN" altLang="en-US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</a:t>
            </a:r>
            <a:r>
              <a:rPr lang="en-US" altLang="zh-CN" sz="240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	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TestClass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&gt;::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getData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j) {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return *(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buffer+j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 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70675" y="2641164"/>
            <a:ext cx="2796925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类模板名，与类的命名规则相同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466529" y="2164922"/>
            <a:ext cx="1810071" cy="38099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" name="直接箭头连接符 5"/>
          <p:cNvCxnSpPr>
            <a:stCxn id="3" idx="1"/>
          </p:cNvCxnSpPr>
          <p:nvPr/>
        </p:nvCxnSpPr>
        <p:spPr bwMode="auto">
          <a:xfrm flipH="1" flipV="1">
            <a:off x="3048001" y="2545920"/>
            <a:ext cx="1622674" cy="572298"/>
          </a:xfrm>
          <a:prstGeom prst="straightConnector1">
            <a:avLst/>
          </a:prstGeom>
          <a:solidFill>
            <a:srgbClr val="C0C0C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模板定义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3528" y="990600"/>
            <a:ext cx="84249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32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类模板</a:t>
            </a:r>
            <a:r>
              <a:rPr lang="zh-CN" altLang="en-US" sz="3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定义格式</a:t>
            </a:r>
            <a:endParaRPr lang="zh-CN" altLang="en-US" sz="3200" b="1" dirty="0">
              <a:solidFill>
                <a:srgbClr val="0070C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6400" y="1752600"/>
            <a:ext cx="8342064" cy="4524315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</a:t>
            </a:r>
            <a:r>
              <a:rPr lang="en-US" altLang="zh-CN" sz="240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TestClass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{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public:</a:t>
            </a:r>
            <a:endParaRPr lang="en-US" altLang="zh-CN" sz="2400" b="1" kern="0" dirty="0">
              <a:solidFill>
                <a:srgbClr val="0000FF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buffer[10];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endParaRPr lang="zh-CN" altLang="en-US" sz="24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/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getData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j);	</a:t>
            </a:r>
            <a:r>
              <a:rPr lang="zh-CN" altLang="en-US" sz="24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endParaRPr lang="zh-CN" altLang="en-US" sz="24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/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 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endParaRPr lang="zh-CN" altLang="en-US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</a:t>
            </a:r>
            <a:r>
              <a:rPr lang="en-US" altLang="zh-CN" sz="240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	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TestClass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&gt;::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getData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j) {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return *(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buffer+j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 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96000" y="2717364"/>
            <a:ext cx="18288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类的定义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84731" y="2173784"/>
            <a:ext cx="4531730" cy="220980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" name="直接箭头连接符 5"/>
          <p:cNvCxnSpPr>
            <a:stCxn id="3" idx="1"/>
            <a:endCxn id="4" idx="3"/>
          </p:cNvCxnSpPr>
          <p:nvPr/>
        </p:nvCxnSpPr>
        <p:spPr bwMode="auto">
          <a:xfrm flipH="1">
            <a:off x="4716461" y="3009752"/>
            <a:ext cx="1379539" cy="268932"/>
          </a:xfrm>
          <a:prstGeom prst="straightConnector1">
            <a:avLst/>
          </a:prstGeom>
          <a:solidFill>
            <a:srgbClr val="C0C0C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模板实例化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34000" y="3288887"/>
            <a:ext cx="3657600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编译器编译</a:t>
            </a:r>
            <a:r>
              <a:rPr lang="en-US" altLang="zh-CN" sz="32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TestClass</a:t>
            </a:r>
            <a:r>
              <a:rPr lang="en-US" altLang="zh-CN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&lt;char&gt;</a:t>
            </a:r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时，根据类模板和模板实参生成一个类定义的过程，叫</a:t>
            </a:r>
            <a:r>
              <a:rPr lang="zh-CN" altLang="en-US" sz="32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类的实例化</a:t>
            </a:r>
            <a:endParaRPr lang="zh-CN" altLang="en-US" sz="32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236579" y="1862813"/>
            <a:ext cx="7916821" cy="1200329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 b="1" kern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void f(){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en-US" altLang="zh-CN" dirty="0" err="1">
                <a:solidFill>
                  <a:schemeClr val="tx1"/>
                </a:solidFill>
              </a:rPr>
              <a:t>TestClass</a:t>
            </a:r>
            <a:r>
              <a:rPr lang="en-US" altLang="zh-CN" dirty="0">
                <a:solidFill>
                  <a:schemeClr val="tx1"/>
                </a:solidFill>
              </a:rPr>
              <a:t>&lt;</a:t>
            </a:r>
            <a:r>
              <a:rPr lang="en-US" altLang="zh-CN" dirty="0">
                <a:solidFill>
                  <a:srgbClr val="FF0000"/>
                </a:solidFill>
              </a:rPr>
              <a:t>char</a:t>
            </a:r>
            <a:r>
              <a:rPr lang="en-US" altLang="zh-CN" dirty="0">
                <a:solidFill>
                  <a:schemeClr val="tx1"/>
                </a:solidFill>
              </a:rPr>
              <a:t>&gt; </a:t>
            </a:r>
            <a:r>
              <a:rPr lang="en-US" altLang="zh-CN" dirty="0" err="1">
                <a:solidFill>
                  <a:schemeClr val="tx1"/>
                </a:solidFill>
              </a:rPr>
              <a:t>ClassInstA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2609" y="4114800"/>
            <a:ext cx="4888991" cy="2308324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TestClass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{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public:</a:t>
            </a:r>
            <a:endParaRPr lang="en-US" altLang="zh-CN" sz="2400" b="1" kern="0" dirty="0">
              <a:solidFill>
                <a:srgbClr val="0000FF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char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buffer[10];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endParaRPr lang="zh-CN" altLang="en-US" sz="24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/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char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getData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(int j);	</a:t>
            </a:r>
            <a:r>
              <a:rPr lang="zh-CN" altLang="en-US" sz="24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endParaRPr lang="zh-CN" altLang="en-US" sz="24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/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 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6579" y="1113766"/>
            <a:ext cx="7916821" cy="461665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 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class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TestClass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 </a:t>
            </a:r>
            <a:endParaRPr lang="zh-CN" altLang="en-US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cxnSp>
        <p:nvCxnSpPr>
          <p:cNvPr id="4" name="连接符: 肘形 3"/>
          <p:cNvCxnSpPr/>
          <p:nvPr/>
        </p:nvCxnSpPr>
        <p:spPr bwMode="auto">
          <a:xfrm rot="16200000" flipH="1">
            <a:off x="-924518" y="2856279"/>
            <a:ext cx="2561698" cy="2"/>
          </a:xfrm>
          <a:prstGeom prst="bentConnector3">
            <a:avLst>
              <a:gd name="adj1" fmla="val 50000"/>
            </a:avLst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连接符: 肘形 5"/>
          <p:cNvCxnSpPr>
            <a:stCxn id="17" idx="2"/>
          </p:cNvCxnSpPr>
          <p:nvPr/>
        </p:nvCxnSpPr>
        <p:spPr bwMode="auto">
          <a:xfrm rot="5400000">
            <a:off x="1545308" y="1531894"/>
            <a:ext cx="936727" cy="3314684"/>
          </a:xfrm>
          <a:prstGeom prst="bentConnector2">
            <a:avLst/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965913" y="2200173"/>
            <a:ext cx="5410200" cy="520700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模板实例化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323528" y="1219200"/>
            <a:ext cx="8515672" cy="4893647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 b="1" kern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void main() 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en-US" altLang="zh-CN" dirty="0" err="1">
                <a:solidFill>
                  <a:schemeClr val="tx1"/>
                </a:solidFill>
              </a:rPr>
              <a:t>TestClass</a:t>
            </a:r>
            <a:r>
              <a:rPr lang="en-US" altLang="zh-CN" dirty="0">
                <a:solidFill>
                  <a:schemeClr val="tx1"/>
                </a:solidFill>
              </a:rPr>
              <a:t>&lt;</a:t>
            </a:r>
            <a:r>
              <a:rPr lang="en-US" altLang="zh-CN" dirty="0"/>
              <a:t>char</a:t>
            </a:r>
            <a:r>
              <a:rPr lang="en-US" altLang="zh-CN" dirty="0">
                <a:solidFill>
                  <a:schemeClr val="tx1"/>
                </a:solidFill>
              </a:rPr>
              <a:t>&gt; </a:t>
            </a:r>
            <a:r>
              <a:rPr lang="en-US" altLang="zh-CN" dirty="0" err="1">
                <a:solidFill>
                  <a:schemeClr val="tx1"/>
                </a:solidFill>
              </a:rPr>
              <a:t>ClassInstA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	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en-US" altLang="zh-CN" dirty="0" err="1">
                <a:solidFill>
                  <a:schemeClr val="tx1"/>
                </a:solidFill>
              </a:rPr>
              <a:t>TestClass</a:t>
            </a:r>
            <a:r>
              <a:rPr lang="en-US" altLang="zh-CN" dirty="0">
                <a:solidFill>
                  <a:schemeClr val="tx1"/>
                </a:solidFill>
              </a:rPr>
              <a:t>&lt;</a:t>
            </a:r>
            <a:r>
              <a:rPr lang="en-US" altLang="zh-CN" dirty="0"/>
              <a:t>double</a:t>
            </a:r>
            <a:r>
              <a:rPr lang="en-US" altLang="zh-CN" dirty="0">
                <a:solidFill>
                  <a:schemeClr val="tx1"/>
                </a:solidFill>
              </a:rPr>
              <a:t>&gt; </a:t>
            </a:r>
            <a:r>
              <a:rPr lang="en-US" altLang="zh-CN" dirty="0" err="1">
                <a:solidFill>
                  <a:schemeClr val="tx1"/>
                </a:solidFill>
              </a:rPr>
              <a:t>ClassInsB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en-US" altLang="zh-CN" dirty="0" err="1">
                <a:solidFill>
                  <a:schemeClr val="tx1"/>
                </a:solidFill>
              </a:rPr>
              <a:t>TestClass</a:t>
            </a:r>
            <a:r>
              <a:rPr lang="en-US" altLang="zh-CN" dirty="0">
                <a:solidFill>
                  <a:schemeClr val="tx1"/>
                </a:solidFill>
              </a:rPr>
              <a:t>&lt;</a:t>
            </a:r>
            <a:r>
              <a:rPr lang="en-US" altLang="zh-CN" dirty="0"/>
              <a:t>int</a:t>
            </a:r>
            <a:r>
              <a:rPr lang="en-US" altLang="zh-CN" dirty="0">
                <a:solidFill>
                  <a:schemeClr val="tx1"/>
                </a:solidFill>
              </a:rPr>
              <a:t>&gt; </a:t>
            </a:r>
            <a:r>
              <a:rPr lang="en-US" altLang="zh-CN" dirty="0" err="1">
                <a:solidFill>
                  <a:schemeClr val="tx1"/>
                </a:solidFill>
              </a:rPr>
              <a:t>ClassInsC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31292" y="1978866"/>
            <a:ext cx="75491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//char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取代 </a:t>
            </a:r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类模板实例化，编译器生成一个新类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数组为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char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型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)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2400" b="1" kern="0" dirty="0" err="1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ClassInstA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是这个类的一个对象 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31292" y="3509276"/>
            <a:ext cx="75491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//double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取代 </a:t>
            </a:r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类模板实例化，编译器生成一个新类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数组为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double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型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)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2400" b="1" kern="0" dirty="0" err="1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ClassInstB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是这个类的一个对象 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31292" y="4953000"/>
            <a:ext cx="75491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//int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取代 </a:t>
            </a:r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类模板实例化，编译器生成一个新类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数组为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int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型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)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2400" b="1" kern="0" dirty="0" err="1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ClassInstC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是这个类的一个对象 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模板实例化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184730" y="1780500"/>
            <a:ext cx="8759405" cy="4524315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 b="1" kern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template</a:t>
            </a:r>
            <a:r>
              <a:rPr lang="en-US" altLang="zh-CN" dirty="0">
                <a:solidFill>
                  <a:schemeClr val="tx1"/>
                </a:solidFill>
              </a:rPr>
              <a:t>&lt;</a:t>
            </a:r>
            <a:r>
              <a:rPr lang="en-US" altLang="zh-CN" dirty="0" err="1"/>
              <a:t>typename</a:t>
            </a:r>
            <a:r>
              <a:rPr lang="en-US" altLang="zh-CN" dirty="0">
                <a:solidFill>
                  <a:schemeClr val="tx1"/>
                </a:solidFill>
              </a:rPr>
              <a:t> Type&gt; class Graphics{};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void f1(Graphics&lt;</a:t>
            </a:r>
            <a:r>
              <a:rPr lang="en-US" altLang="zh-CN" dirty="0">
                <a:solidFill>
                  <a:srgbClr val="FF0000"/>
                </a:solidFill>
              </a:rPr>
              <a:t>char</a:t>
            </a:r>
            <a:r>
              <a:rPr lang="en-US" altLang="zh-CN" dirty="0">
                <a:solidFill>
                  <a:schemeClr val="tx1"/>
                </a:solidFill>
              </a:rPr>
              <a:t>&gt;);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class </a:t>
            </a:r>
            <a:r>
              <a:rPr lang="en-US" altLang="zh-CN" dirty="0" err="1">
                <a:solidFill>
                  <a:schemeClr val="tx1"/>
                </a:solidFill>
              </a:rPr>
              <a:t>Rect</a:t>
            </a:r>
            <a:r>
              <a:rPr lang="en-US" altLang="zh-CN" dirty="0">
                <a:solidFill>
                  <a:schemeClr val="tx1"/>
                </a:solidFill>
              </a:rPr>
              <a:t> 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Graphics&lt;double&gt;&amp; </a:t>
            </a:r>
            <a:r>
              <a:rPr lang="en-US" altLang="zh-CN" dirty="0" err="1">
                <a:solidFill>
                  <a:schemeClr val="tx1"/>
                </a:solidFill>
              </a:rPr>
              <a:t>rsd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Graphics&lt;int&gt; </a:t>
            </a:r>
            <a:r>
              <a:rPr lang="en-US" altLang="zh-CN" dirty="0" err="1">
                <a:solidFill>
                  <a:schemeClr val="tx1"/>
                </a:solidFill>
              </a:rPr>
              <a:t>si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int main(){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 err="1">
                <a:solidFill>
                  <a:schemeClr val="tx1"/>
                </a:solidFill>
              </a:rPr>
              <a:t>Graphcis</a:t>
            </a:r>
            <a:r>
              <a:rPr lang="en-US" altLang="zh-CN" dirty="0">
                <a:solidFill>
                  <a:schemeClr val="tx1"/>
                </a:solidFill>
              </a:rPr>
              <a:t>&lt;char&gt;* </a:t>
            </a:r>
            <a:r>
              <a:rPr lang="en-US" altLang="zh-CN" dirty="0" err="1">
                <a:solidFill>
                  <a:schemeClr val="tx1"/>
                </a:solidFill>
              </a:rPr>
              <a:t>sc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f1(*</a:t>
            </a:r>
            <a:r>
              <a:rPr lang="en-US" altLang="zh-CN" dirty="0" err="1">
                <a:solidFill>
                  <a:schemeClr val="tx1"/>
                </a:solidFill>
              </a:rPr>
              <a:t>sc</a:t>
            </a:r>
            <a:r>
              <a:rPr lang="en-US" altLang="zh-CN" dirty="0">
                <a:solidFill>
                  <a:schemeClr val="tx1"/>
                </a:solidFill>
              </a:rPr>
              <a:t>);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int </a:t>
            </a:r>
            <a:r>
              <a:rPr lang="en-US" altLang="zh-CN" dirty="0" err="1">
                <a:solidFill>
                  <a:schemeClr val="tx1"/>
                </a:solidFill>
              </a:rPr>
              <a:t>iobj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 err="1">
                <a:solidFill>
                  <a:schemeClr val="tx1"/>
                </a:solidFill>
              </a:rPr>
              <a:t>sizeof</a:t>
            </a:r>
            <a:r>
              <a:rPr lang="en-US" altLang="zh-CN" dirty="0">
                <a:solidFill>
                  <a:schemeClr val="tx1"/>
                </a:solidFill>
              </a:rPr>
              <a:t>(Graphics&lt;string&gt;);</a:t>
            </a:r>
            <a:endParaRPr lang="zh-CN" altLang="en-US" dirty="0">
              <a:solidFill>
                <a:schemeClr val="tx1"/>
              </a:solidFill>
            </a:endParaRPr>
          </a:p>
          <a:p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95967" y="2589092"/>
            <a:ext cx="3505200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kern="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函数声明，不需要类定义，不需要实例化</a:t>
            </a:r>
            <a:endParaRPr lang="zh-CN" altLang="en-US" sz="2800" b="1" kern="0" dirty="0"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9864" y="991540"/>
            <a:ext cx="8744272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类模板实例化只在需要类定义的时候才会发生！</a:t>
            </a:r>
            <a:endParaRPr lang="zh-CN" altLang="en-US" sz="32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1752600" y="2202627"/>
            <a:ext cx="2590800" cy="386465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模板实例化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184730" y="1780500"/>
            <a:ext cx="8759405" cy="4524315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 b="1" kern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template</a:t>
            </a:r>
            <a:r>
              <a:rPr lang="en-US" altLang="zh-CN" dirty="0">
                <a:solidFill>
                  <a:schemeClr val="tx1"/>
                </a:solidFill>
              </a:rPr>
              <a:t>&lt;</a:t>
            </a:r>
            <a:r>
              <a:rPr lang="en-US" altLang="zh-CN" dirty="0" err="1"/>
              <a:t>typename</a:t>
            </a:r>
            <a:r>
              <a:rPr lang="en-US" altLang="zh-CN" dirty="0">
                <a:solidFill>
                  <a:schemeClr val="tx1"/>
                </a:solidFill>
              </a:rPr>
              <a:t> Type&gt; class Graphics{};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void f1(Graphics&lt;</a:t>
            </a:r>
            <a:r>
              <a:rPr lang="en-US" altLang="zh-CN" dirty="0">
                <a:solidFill>
                  <a:srgbClr val="FF0000"/>
                </a:solidFill>
              </a:rPr>
              <a:t>char</a:t>
            </a:r>
            <a:r>
              <a:rPr lang="en-US" altLang="zh-CN" dirty="0">
                <a:solidFill>
                  <a:schemeClr val="tx1"/>
                </a:solidFill>
              </a:rPr>
              <a:t>&gt;);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class </a:t>
            </a:r>
            <a:r>
              <a:rPr lang="en-US" altLang="zh-CN" dirty="0" err="1">
                <a:solidFill>
                  <a:schemeClr val="tx1"/>
                </a:solidFill>
              </a:rPr>
              <a:t>Rect</a:t>
            </a:r>
            <a:r>
              <a:rPr lang="en-US" altLang="zh-CN" dirty="0">
                <a:solidFill>
                  <a:schemeClr val="tx1"/>
                </a:solidFill>
              </a:rPr>
              <a:t> 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Graphics&lt;double&gt;&amp; </a:t>
            </a:r>
            <a:r>
              <a:rPr lang="en-US" altLang="zh-CN" dirty="0" err="1">
                <a:solidFill>
                  <a:schemeClr val="tx1"/>
                </a:solidFill>
              </a:rPr>
              <a:t>rsd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Graphics&lt;int&gt; </a:t>
            </a:r>
            <a:r>
              <a:rPr lang="en-US" altLang="zh-CN" dirty="0" err="1">
                <a:solidFill>
                  <a:schemeClr val="tx1"/>
                </a:solidFill>
              </a:rPr>
              <a:t>si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int main(){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 err="1">
                <a:solidFill>
                  <a:schemeClr val="tx1"/>
                </a:solidFill>
              </a:rPr>
              <a:t>Graphcis</a:t>
            </a:r>
            <a:r>
              <a:rPr lang="en-US" altLang="zh-CN" dirty="0">
                <a:solidFill>
                  <a:schemeClr val="tx1"/>
                </a:solidFill>
              </a:rPr>
              <a:t>&lt;char&gt;* </a:t>
            </a:r>
            <a:r>
              <a:rPr lang="en-US" altLang="zh-CN" dirty="0" err="1">
                <a:solidFill>
                  <a:schemeClr val="tx1"/>
                </a:solidFill>
              </a:rPr>
              <a:t>sc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f1(*</a:t>
            </a:r>
            <a:r>
              <a:rPr lang="en-US" altLang="zh-CN" dirty="0" err="1">
                <a:solidFill>
                  <a:schemeClr val="tx1"/>
                </a:solidFill>
              </a:rPr>
              <a:t>sc</a:t>
            </a:r>
            <a:r>
              <a:rPr lang="en-US" altLang="zh-CN" dirty="0">
                <a:solidFill>
                  <a:schemeClr val="tx1"/>
                </a:solidFill>
              </a:rPr>
              <a:t>);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int </a:t>
            </a:r>
            <a:r>
              <a:rPr lang="en-US" altLang="zh-CN" dirty="0" err="1">
                <a:solidFill>
                  <a:schemeClr val="tx1"/>
                </a:solidFill>
              </a:rPr>
              <a:t>iobj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 err="1">
                <a:solidFill>
                  <a:schemeClr val="tx1"/>
                </a:solidFill>
              </a:rPr>
              <a:t>sizeof</a:t>
            </a:r>
            <a:r>
              <a:rPr lang="en-US" altLang="zh-CN" dirty="0">
                <a:solidFill>
                  <a:schemeClr val="tx1"/>
                </a:solidFill>
              </a:rPr>
              <a:t>(Graphics&lt;string&gt;);</a:t>
            </a:r>
            <a:endParaRPr lang="zh-CN" altLang="en-US" dirty="0">
              <a:solidFill>
                <a:schemeClr val="tx1"/>
              </a:solidFill>
            </a:endParaRPr>
          </a:p>
          <a:p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95967" y="2589092"/>
            <a:ext cx="3505200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kern="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定义引用，不需要类定义，不需要实例化</a:t>
            </a:r>
            <a:endParaRPr lang="zh-CN" altLang="en-US" sz="2800" b="1" kern="0" dirty="0"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9864" y="991540"/>
            <a:ext cx="8744272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类模板实例化只在需要类定义的时候才会发生！</a:t>
            </a:r>
            <a:endParaRPr lang="zh-CN" altLang="en-US" sz="32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726491" y="2952789"/>
            <a:ext cx="4226507" cy="386465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模板实例化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184730" y="1780500"/>
            <a:ext cx="8759405" cy="4524315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 b="1" kern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template</a:t>
            </a:r>
            <a:r>
              <a:rPr lang="en-US" altLang="zh-CN" dirty="0">
                <a:solidFill>
                  <a:schemeClr val="tx1"/>
                </a:solidFill>
              </a:rPr>
              <a:t>&lt;</a:t>
            </a:r>
            <a:r>
              <a:rPr lang="en-US" altLang="zh-CN" dirty="0" err="1"/>
              <a:t>typename</a:t>
            </a:r>
            <a:r>
              <a:rPr lang="en-US" altLang="zh-CN" dirty="0">
                <a:solidFill>
                  <a:schemeClr val="tx1"/>
                </a:solidFill>
              </a:rPr>
              <a:t> Type&gt; class Graphics{};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void f1(Graphics&lt;</a:t>
            </a:r>
            <a:r>
              <a:rPr lang="en-US" altLang="zh-CN" dirty="0">
                <a:solidFill>
                  <a:srgbClr val="FF0000"/>
                </a:solidFill>
              </a:rPr>
              <a:t>char</a:t>
            </a:r>
            <a:r>
              <a:rPr lang="en-US" altLang="zh-CN" dirty="0">
                <a:solidFill>
                  <a:schemeClr val="tx1"/>
                </a:solidFill>
              </a:rPr>
              <a:t>&gt;);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class </a:t>
            </a:r>
            <a:r>
              <a:rPr lang="en-US" altLang="zh-CN" dirty="0" err="1">
                <a:solidFill>
                  <a:schemeClr val="tx1"/>
                </a:solidFill>
              </a:rPr>
              <a:t>Rect</a:t>
            </a:r>
            <a:r>
              <a:rPr lang="en-US" altLang="zh-CN" dirty="0">
                <a:solidFill>
                  <a:schemeClr val="tx1"/>
                </a:solidFill>
              </a:rPr>
              <a:t> 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Graphics&lt;double&gt;&amp; </a:t>
            </a:r>
            <a:r>
              <a:rPr lang="en-US" altLang="zh-CN" dirty="0" err="1">
                <a:solidFill>
                  <a:schemeClr val="tx1"/>
                </a:solidFill>
              </a:rPr>
              <a:t>rsd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Graphics&lt;int&gt; </a:t>
            </a:r>
            <a:r>
              <a:rPr lang="en-US" altLang="zh-CN" dirty="0" err="1">
                <a:solidFill>
                  <a:schemeClr val="tx1"/>
                </a:solidFill>
              </a:rPr>
              <a:t>si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int main(){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 err="1">
                <a:solidFill>
                  <a:schemeClr val="tx1"/>
                </a:solidFill>
              </a:rPr>
              <a:t>Graphcis</a:t>
            </a:r>
            <a:r>
              <a:rPr lang="en-US" altLang="zh-CN" dirty="0">
                <a:solidFill>
                  <a:schemeClr val="tx1"/>
                </a:solidFill>
              </a:rPr>
              <a:t>&lt;char&gt;* </a:t>
            </a:r>
            <a:r>
              <a:rPr lang="en-US" altLang="zh-CN" dirty="0" err="1">
                <a:solidFill>
                  <a:schemeClr val="tx1"/>
                </a:solidFill>
              </a:rPr>
              <a:t>sc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f1(*</a:t>
            </a:r>
            <a:r>
              <a:rPr lang="en-US" altLang="zh-CN" dirty="0" err="1">
                <a:solidFill>
                  <a:schemeClr val="tx1"/>
                </a:solidFill>
              </a:rPr>
              <a:t>sc</a:t>
            </a:r>
            <a:r>
              <a:rPr lang="en-US" altLang="zh-CN" dirty="0">
                <a:solidFill>
                  <a:schemeClr val="tx1"/>
                </a:solidFill>
              </a:rPr>
              <a:t>);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int </a:t>
            </a:r>
            <a:r>
              <a:rPr lang="en-US" altLang="zh-CN" dirty="0" err="1">
                <a:solidFill>
                  <a:schemeClr val="tx1"/>
                </a:solidFill>
              </a:rPr>
              <a:t>iobj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 err="1">
                <a:solidFill>
                  <a:schemeClr val="tx1"/>
                </a:solidFill>
              </a:rPr>
              <a:t>sizeof</a:t>
            </a:r>
            <a:r>
              <a:rPr lang="en-US" altLang="zh-CN" dirty="0">
                <a:solidFill>
                  <a:schemeClr val="tx1"/>
                </a:solidFill>
              </a:rPr>
              <a:t>(Graphics&lt;string&gt;);</a:t>
            </a:r>
            <a:endParaRPr lang="zh-CN" altLang="en-US" dirty="0">
              <a:solidFill>
                <a:schemeClr val="tx1"/>
              </a:solidFill>
            </a:endParaRPr>
          </a:p>
          <a:p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95967" y="2589092"/>
            <a:ext cx="3505200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kern="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定义类对象，需要类定义，需要实例化</a:t>
            </a:r>
            <a:endParaRPr lang="zh-CN" altLang="en-US" sz="2800" b="1" kern="0" dirty="0"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9864" y="991540"/>
            <a:ext cx="8744272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类模板实例化只在需要类定义的时候才会发生！</a:t>
            </a:r>
            <a:endParaRPr lang="zh-CN" altLang="en-US" sz="32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726491" y="3294018"/>
            <a:ext cx="4226507" cy="386465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模板实例化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184730" y="1780500"/>
            <a:ext cx="8759405" cy="4524315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 b="1" kern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template</a:t>
            </a:r>
            <a:r>
              <a:rPr lang="en-US" altLang="zh-CN" dirty="0">
                <a:solidFill>
                  <a:schemeClr val="tx1"/>
                </a:solidFill>
              </a:rPr>
              <a:t>&lt;</a:t>
            </a:r>
            <a:r>
              <a:rPr lang="en-US" altLang="zh-CN" dirty="0" err="1"/>
              <a:t>typename</a:t>
            </a:r>
            <a:r>
              <a:rPr lang="en-US" altLang="zh-CN" dirty="0">
                <a:solidFill>
                  <a:schemeClr val="tx1"/>
                </a:solidFill>
              </a:rPr>
              <a:t> Type&gt; class Graphics{};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void f1(Graphics&lt;</a:t>
            </a:r>
            <a:r>
              <a:rPr lang="en-US" altLang="zh-CN" dirty="0">
                <a:solidFill>
                  <a:srgbClr val="FF0000"/>
                </a:solidFill>
              </a:rPr>
              <a:t>char</a:t>
            </a:r>
            <a:r>
              <a:rPr lang="en-US" altLang="zh-CN" dirty="0">
                <a:solidFill>
                  <a:schemeClr val="tx1"/>
                </a:solidFill>
              </a:rPr>
              <a:t>&gt;);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class </a:t>
            </a:r>
            <a:r>
              <a:rPr lang="en-US" altLang="zh-CN" dirty="0" err="1">
                <a:solidFill>
                  <a:schemeClr val="tx1"/>
                </a:solidFill>
              </a:rPr>
              <a:t>Rect</a:t>
            </a:r>
            <a:r>
              <a:rPr lang="en-US" altLang="zh-CN" dirty="0">
                <a:solidFill>
                  <a:schemeClr val="tx1"/>
                </a:solidFill>
              </a:rPr>
              <a:t> 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Graphics&lt;double&gt;&amp; </a:t>
            </a:r>
            <a:r>
              <a:rPr lang="en-US" altLang="zh-CN" dirty="0" err="1">
                <a:solidFill>
                  <a:schemeClr val="tx1"/>
                </a:solidFill>
              </a:rPr>
              <a:t>rsd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Graphics&lt;int&gt; </a:t>
            </a:r>
            <a:r>
              <a:rPr lang="en-US" altLang="zh-CN" dirty="0" err="1">
                <a:solidFill>
                  <a:schemeClr val="tx1"/>
                </a:solidFill>
              </a:rPr>
              <a:t>si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int main(){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 err="1">
                <a:solidFill>
                  <a:schemeClr val="tx1"/>
                </a:solidFill>
              </a:rPr>
              <a:t>Graphcis</a:t>
            </a:r>
            <a:r>
              <a:rPr lang="en-US" altLang="zh-CN" dirty="0">
                <a:solidFill>
                  <a:schemeClr val="tx1"/>
                </a:solidFill>
              </a:rPr>
              <a:t>&lt;char&gt;* </a:t>
            </a:r>
            <a:r>
              <a:rPr lang="en-US" altLang="zh-CN" dirty="0" err="1">
                <a:solidFill>
                  <a:schemeClr val="tx1"/>
                </a:solidFill>
              </a:rPr>
              <a:t>sc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f1(*</a:t>
            </a:r>
            <a:r>
              <a:rPr lang="en-US" altLang="zh-CN" dirty="0" err="1">
                <a:solidFill>
                  <a:schemeClr val="tx1"/>
                </a:solidFill>
              </a:rPr>
              <a:t>sc</a:t>
            </a:r>
            <a:r>
              <a:rPr lang="en-US" altLang="zh-CN" dirty="0">
                <a:solidFill>
                  <a:schemeClr val="tx1"/>
                </a:solidFill>
              </a:rPr>
              <a:t>);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int </a:t>
            </a:r>
            <a:r>
              <a:rPr lang="en-US" altLang="zh-CN" dirty="0" err="1">
                <a:solidFill>
                  <a:schemeClr val="tx1"/>
                </a:solidFill>
              </a:rPr>
              <a:t>iobj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 err="1">
                <a:solidFill>
                  <a:schemeClr val="tx1"/>
                </a:solidFill>
              </a:rPr>
              <a:t>sizeof</a:t>
            </a:r>
            <a:r>
              <a:rPr lang="en-US" altLang="zh-CN" dirty="0">
                <a:solidFill>
                  <a:schemeClr val="tx1"/>
                </a:solidFill>
              </a:rPr>
              <a:t>(Graphics&lt;string&gt;);</a:t>
            </a:r>
            <a:endParaRPr lang="zh-CN" altLang="en-US" dirty="0">
              <a:solidFill>
                <a:schemeClr val="tx1"/>
              </a:solidFill>
            </a:endParaRPr>
          </a:p>
          <a:p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95967" y="2589092"/>
            <a:ext cx="3505200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kern="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定义指针，不需要类定义，不需要实例化</a:t>
            </a:r>
            <a:endParaRPr lang="zh-CN" altLang="en-US" sz="2800" b="1" kern="0" dirty="0"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9864" y="991540"/>
            <a:ext cx="8744272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类模板实例化只在需要类定义的时候才会发生！</a:t>
            </a:r>
            <a:endParaRPr lang="zh-CN" altLang="en-US" sz="32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99803" y="4419600"/>
            <a:ext cx="4226507" cy="386465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模板实例化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184730" y="1780500"/>
            <a:ext cx="8759405" cy="4524315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 b="1" kern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template</a:t>
            </a:r>
            <a:r>
              <a:rPr lang="en-US" altLang="zh-CN" dirty="0">
                <a:solidFill>
                  <a:schemeClr val="tx1"/>
                </a:solidFill>
              </a:rPr>
              <a:t>&lt;</a:t>
            </a:r>
            <a:r>
              <a:rPr lang="en-US" altLang="zh-CN" dirty="0" err="1"/>
              <a:t>typename</a:t>
            </a:r>
            <a:r>
              <a:rPr lang="en-US" altLang="zh-CN" dirty="0">
                <a:solidFill>
                  <a:schemeClr val="tx1"/>
                </a:solidFill>
              </a:rPr>
              <a:t> Type&gt; class Graphics{};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void f1(Graphics&lt;</a:t>
            </a:r>
            <a:r>
              <a:rPr lang="en-US" altLang="zh-CN" dirty="0">
                <a:solidFill>
                  <a:srgbClr val="FF0000"/>
                </a:solidFill>
              </a:rPr>
              <a:t>char</a:t>
            </a:r>
            <a:r>
              <a:rPr lang="en-US" altLang="zh-CN" dirty="0">
                <a:solidFill>
                  <a:schemeClr val="tx1"/>
                </a:solidFill>
              </a:rPr>
              <a:t>&gt;);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class </a:t>
            </a:r>
            <a:r>
              <a:rPr lang="en-US" altLang="zh-CN" dirty="0" err="1">
                <a:solidFill>
                  <a:schemeClr val="tx1"/>
                </a:solidFill>
              </a:rPr>
              <a:t>Rect</a:t>
            </a:r>
            <a:r>
              <a:rPr lang="en-US" altLang="zh-CN" dirty="0">
                <a:solidFill>
                  <a:schemeClr val="tx1"/>
                </a:solidFill>
              </a:rPr>
              <a:t> 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Graphics&lt;double&gt;&amp; </a:t>
            </a:r>
            <a:r>
              <a:rPr lang="en-US" altLang="zh-CN" dirty="0" err="1">
                <a:solidFill>
                  <a:schemeClr val="tx1"/>
                </a:solidFill>
              </a:rPr>
              <a:t>rsd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Graphics&lt;int&gt; </a:t>
            </a:r>
            <a:r>
              <a:rPr lang="en-US" altLang="zh-CN" dirty="0" err="1">
                <a:solidFill>
                  <a:schemeClr val="tx1"/>
                </a:solidFill>
              </a:rPr>
              <a:t>si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int main(){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 err="1">
                <a:solidFill>
                  <a:schemeClr val="tx1"/>
                </a:solidFill>
              </a:rPr>
              <a:t>Graphcis</a:t>
            </a:r>
            <a:r>
              <a:rPr lang="en-US" altLang="zh-CN" dirty="0">
                <a:solidFill>
                  <a:schemeClr val="tx1"/>
                </a:solidFill>
              </a:rPr>
              <a:t>&lt;char&gt;* </a:t>
            </a:r>
            <a:r>
              <a:rPr lang="en-US" altLang="zh-CN" dirty="0" err="1">
                <a:solidFill>
                  <a:schemeClr val="tx1"/>
                </a:solidFill>
              </a:rPr>
              <a:t>sc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f1(*</a:t>
            </a:r>
            <a:r>
              <a:rPr lang="en-US" altLang="zh-CN" dirty="0" err="1">
                <a:solidFill>
                  <a:schemeClr val="tx1"/>
                </a:solidFill>
              </a:rPr>
              <a:t>sc</a:t>
            </a:r>
            <a:r>
              <a:rPr lang="en-US" altLang="zh-CN" dirty="0">
                <a:solidFill>
                  <a:schemeClr val="tx1"/>
                </a:solidFill>
              </a:rPr>
              <a:t>);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int </a:t>
            </a:r>
            <a:r>
              <a:rPr lang="en-US" altLang="zh-CN" dirty="0" err="1">
                <a:solidFill>
                  <a:schemeClr val="tx1"/>
                </a:solidFill>
              </a:rPr>
              <a:t>iobj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 err="1">
                <a:solidFill>
                  <a:schemeClr val="tx1"/>
                </a:solidFill>
              </a:rPr>
              <a:t>sizeof</a:t>
            </a:r>
            <a:r>
              <a:rPr lang="en-US" altLang="zh-CN" dirty="0">
                <a:solidFill>
                  <a:schemeClr val="tx1"/>
                </a:solidFill>
              </a:rPr>
              <a:t>(Graphics&lt;string&gt;);</a:t>
            </a:r>
            <a:endParaRPr lang="zh-CN" altLang="en-US" dirty="0">
              <a:solidFill>
                <a:schemeClr val="tx1"/>
              </a:solidFill>
            </a:endParaRPr>
          </a:p>
          <a:p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95967" y="2589092"/>
            <a:ext cx="3505200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kern="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访问指针指向的类对象，需要类定义，需要实例化</a:t>
            </a:r>
            <a:endParaRPr lang="zh-CN" altLang="en-US" sz="2800" b="1" kern="0" dirty="0"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9864" y="991540"/>
            <a:ext cx="8744272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类模板实例化只在需要类定义的时候才会发生！</a:t>
            </a:r>
            <a:endParaRPr lang="zh-CN" altLang="en-US" sz="32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99803" y="4750527"/>
            <a:ext cx="4226507" cy="386465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模板实例化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184730" y="1780500"/>
            <a:ext cx="8759405" cy="4524315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 b="1" kern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template</a:t>
            </a:r>
            <a:r>
              <a:rPr lang="en-US" altLang="zh-CN" dirty="0">
                <a:solidFill>
                  <a:schemeClr val="tx1"/>
                </a:solidFill>
              </a:rPr>
              <a:t>&lt;</a:t>
            </a:r>
            <a:r>
              <a:rPr lang="en-US" altLang="zh-CN" dirty="0" err="1"/>
              <a:t>typename</a:t>
            </a:r>
            <a:r>
              <a:rPr lang="en-US" altLang="zh-CN" dirty="0">
                <a:solidFill>
                  <a:schemeClr val="tx1"/>
                </a:solidFill>
              </a:rPr>
              <a:t> Type&gt; class Graphics{};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void f1(Graphics&lt;</a:t>
            </a:r>
            <a:r>
              <a:rPr lang="en-US" altLang="zh-CN" dirty="0">
                <a:solidFill>
                  <a:srgbClr val="FF0000"/>
                </a:solidFill>
              </a:rPr>
              <a:t>char</a:t>
            </a:r>
            <a:r>
              <a:rPr lang="en-US" altLang="zh-CN" dirty="0">
                <a:solidFill>
                  <a:schemeClr val="tx1"/>
                </a:solidFill>
              </a:rPr>
              <a:t>&gt;);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class </a:t>
            </a:r>
            <a:r>
              <a:rPr lang="en-US" altLang="zh-CN" dirty="0" err="1">
                <a:solidFill>
                  <a:schemeClr val="tx1"/>
                </a:solidFill>
              </a:rPr>
              <a:t>Rect</a:t>
            </a:r>
            <a:r>
              <a:rPr lang="en-US" altLang="zh-CN" dirty="0">
                <a:solidFill>
                  <a:schemeClr val="tx1"/>
                </a:solidFill>
              </a:rPr>
              <a:t> 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Graphics&lt;double&gt;&amp; </a:t>
            </a:r>
            <a:r>
              <a:rPr lang="en-US" altLang="zh-CN" dirty="0" err="1">
                <a:solidFill>
                  <a:schemeClr val="tx1"/>
                </a:solidFill>
              </a:rPr>
              <a:t>rsd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Graphics&lt;int&gt; </a:t>
            </a:r>
            <a:r>
              <a:rPr lang="en-US" altLang="zh-CN" dirty="0" err="1">
                <a:solidFill>
                  <a:schemeClr val="tx1"/>
                </a:solidFill>
              </a:rPr>
              <a:t>si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int main(){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 err="1">
                <a:solidFill>
                  <a:schemeClr val="tx1"/>
                </a:solidFill>
              </a:rPr>
              <a:t>Graphcis</a:t>
            </a:r>
            <a:r>
              <a:rPr lang="en-US" altLang="zh-CN" dirty="0">
                <a:solidFill>
                  <a:schemeClr val="tx1"/>
                </a:solidFill>
              </a:rPr>
              <a:t>&lt;char&gt;* </a:t>
            </a:r>
            <a:r>
              <a:rPr lang="en-US" altLang="zh-CN" dirty="0" err="1">
                <a:solidFill>
                  <a:schemeClr val="tx1"/>
                </a:solidFill>
              </a:rPr>
              <a:t>sc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f1(*</a:t>
            </a:r>
            <a:r>
              <a:rPr lang="en-US" altLang="zh-CN" dirty="0" err="1">
                <a:solidFill>
                  <a:schemeClr val="tx1"/>
                </a:solidFill>
              </a:rPr>
              <a:t>sc</a:t>
            </a:r>
            <a:r>
              <a:rPr lang="en-US" altLang="zh-CN" dirty="0">
                <a:solidFill>
                  <a:schemeClr val="tx1"/>
                </a:solidFill>
              </a:rPr>
              <a:t>);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　　</a:t>
            </a:r>
            <a:r>
              <a:rPr lang="en-US" altLang="zh-CN" dirty="0">
                <a:solidFill>
                  <a:schemeClr val="tx1"/>
                </a:solidFill>
              </a:rPr>
              <a:t>int </a:t>
            </a:r>
            <a:r>
              <a:rPr lang="en-US" altLang="zh-CN" dirty="0" err="1">
                <a:solidFill>
                  <a:schemeClr val="tx1"/>
                </a:solidFill>
              </a:rPr>
              <a:t>iobj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 err="1">
                <a:solidFill>
                  <a:schemeClr val="tx1"/>
                </a:solidFill>
              </a:rPr>
              <a:t>sizeof</a:t>
            </a:r>
            <a:r>
              <a:rPr lang="en-US" altLang="zh-CN" dirty="0">
                <a:solidFill>
                  <a:schemeClr val="tx1"/>
                </a:solidFill>
              </a:rPr>
              <a:t>(Graphics&lt;string&gt;);</a:t>
            </a:r>
            <a:endParaRPr lang="zh-CN" altLang="en-US" dirty="0">
              <a:solidFill>
                <a:schemeClr val="tx1"/>
              </a:solidFill>
            </a:endParaRPr>
          </a:p>
          <a:p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95967" y="2589092"/>
            <a:ext cx="3505200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sz="2800" b="1" kern="0" dirty="0" err="1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sizeof</a:t>
            </a:r>
            <a:r>
              <a:rPr lang="zh-CN" altLang="en-US" sz="2800" b="1" kern="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需要有类定义才能知道对象大小，需要类定义，需要实例化</a:t>
            </a:r>
            <a:endParaRPr lang="zh-CN" altLang="en-US" sz="2800" b="1" kern="0" dirty="0"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9864" y="991540"/>
            <a:ext cx="8744272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类模板实例化只在需要类定义的时候才会发生！</a:t>
            </a:r>
            <a:endParaRPr lang="zh-CN" altLang="en-US" sz="32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2514600" y="5099935"/>
            <a:ext cx="4724400" cy="386465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模板的不同形式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3528" y="990600"/>
            <a:ext cx="84249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仅使用类型参数的类模板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6400" y="1752600"/>
            <a:ext cx="8342064" cy="4524315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</a:t>
            </a:r>
            <a:r>
              <a:rPr lang="en-US" altLang="zh-CN" sz="240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TestClass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{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public:</a:t>
            </a:r>
            <a:endParaRPr lang="en-US" altLang="zh-CN" sz="2400" b="1" kern="0" dirty="0">
              <a:solidFill>
                <a:srgbClr val="0000FF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buffer[10];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endParaRPr lang="zh-CN" altLang="en-US" sz="24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/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getData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j);	</a:t>
            </a:r>
            <a:r>
              <a:rPr lang="zh-CN" altLang="en-US" sz="24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endParaRPr lang="zh-CN" altLang="en-US" sz="24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/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 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endParaRPr lang="zh-CN" altLang="en-US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</a:t>
            </a:r>
            <a:r>
              <a:rPr lang="en-US" altLang="zh-CN" sz="240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	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TestClass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&gt;::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getData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j) {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return *(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buffer+j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 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>
          <a:xfrm>
            <a:off x="323528" y="1600200"/>
            <a:ext cx="8515672" cy="4524315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 b="1" kern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    </a:t>
            </a:r>
            <a:r>
              <a:rPr lang="en-US" altLang="zh-CN" dirty="0" err="1"/>
              <a:t>TestClass</a:t>
            </a:r>
            <a:r>
              <a:rPr lang="en-US" altLang="zh-CN" dirty="0"/>
              <a:t>&lt;</a:t>
            </a:r>
            <a:r>
              <a:rPr lang="en-US" altLang="zh-CN" dirty="0">
                <a:solidFill>
                  <a:srgbClr val="0000FF"/>
                </a:solidFill>
              </a:rPr>
              <a:t>double</a:t>
            </a:r>
            <a:r>
              <a:rPr lang="en-US" altLang="zh-CN" dirty="0"/>
              <a:t>&gt; </a:t>
            </a:r>
            <a:r>
              <a:rPr lang="en-US" altLang="zh-CN" dirty="0" err="1"/>
              <a:t>ClassInstF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	</a:t>
            </a:r>
            <a:endParaRPr lang="en-US" altLang="zh-CN" dirty="0"/>
          </a:p>
          <a:p>
            <a:r>
              <a:rPr lang="en-US" altLang="zh-CN" dirty="0"/>
              <a:t>	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double </a:t>
            </a:r>
            <a:r>
              <a:rPr lang="en-US" altLang="zh-CN" dirty="0" err="1"/>
              <a:t>fArr</a:t>
            </a:r>
            <a:r>
              <a:rPr lang="en-US" altLang="zh-CN" dirty="0"/>
              <a:t>[6]={12.1, 23.2, 34.3, </a:t>
            </a:r>
            <a:r>
              <a:rPr lang="en-US" altLang="zh-CN" dirty="0" smtClean="0"/>
              <a:t>67.6</a:t>
            </a:r>
            <a:r>
              <a:rPr lang="en-US" altLang="zh-CN" dirty="0"/>
              <a:t>}; </a:t>
            </a:r>
            <a:endParaRPr lang="en-US" altLang="zh-CN" dirty="0"/>
          </a:p>
          <a:p>
            <a:r>
              <a:rPr lang="en-US" altLang="zh-CN" dirty="0"/>
              <a:t>    for(</a:t>
            </a:r>
            <a:r>
              <a:rPr lang="en-US" altLang="zh-CN" dirty="0" err="1"/>
              <a:t>i</a:t>
            </a:r>
            <a:r>
              <a:rPr lang="en-US" altLang="zh-CN" dirty="0"/>
              <a:t>=0; </a:t>
            </a:r>
            <a:r>
              <a:rPr lang="en-US" altLang="zh-CN" dirty="0" err="1"/>
              <a:t>i</a:t>
            </a:r>
            <a:r>
              <a:rPr lang="en-US" altLang="zh-CN" dirty="0"/>
              <a:t>&lt;6; </a:t>
            </a:r>
            <a:r>
              <a:rPr lang="en-US" altLang="zh-CN" dirty="0" err="1"/>
              <a:t>i</a:t>
            </a:r>
            <a:r>
              <a:rPr lang="en-US" altLang="zh-CN" dirty="0"/>
              <a:t>++)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ClassInstF.buffer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]=</a:t>
            </a:r>
            <a:r>
              <a:rPr lang="en-US" altLang="zh-CN" dirty="0" err="1"/>
              <a:t>fArr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]-10; </a:t>
            </a:r>
            <a:endParaRPr lang="en-US" altLang="zh-CN" dirty="0"/>
          </a:p>
          <a:p>
            <a:r>
              <a:rPr lang="en-US" altLang="zh-CN" dirty="0"/>
              <a:t>    for(</a:t>
            </a:r>
            <a:r>
              <a:rPr lang="en-US" altLang="zh-CN" dirty="0" err="1"/>
              <a:t>i</a:t>
            </a:r>
            <a:r>
              <a:rPr lang="en-US" altLang="zh-CN" dirty="0"/>
              <a:t>=0; </a:t>
            </a:r>
            <a:r>
              <a:rPr lang="en-US" altLang="zh-CN" dirty="0" err="1"/>
              <a:t>i</a:t>
            </a:r>
            <a:r>
              <a:rPr lang="en-US" altLang="zh-CN" dirty="0"/>
              <a:t>&lt;6; </a:t>
            </a:r>
            <a:r>
              <a:rPr lang="en-US" altLang="zh-CN" dirty="0" err="1"/>
              <a:t>i</a:t>
            </a:r>
            <a:r>
              <a:rPr lang="en-US" altLang="zh-CN" dirty="0"/>
              <a:t>++) {</a:t>
            </a:r>
            <a:endParaRPr lang="en-US" altLang="zh-CN" dirty="0"/>
          </a:p>
          <a:p>
            <a:r>
              <a:rPr lang="en-US" altLang="zh-CN" dirty="0"/>
              <a:t>	   double res=</a:t>
            </a:r>
            <a:r>
              <a:rPr lang="en-US" altLang="zh-CN" dirty="0" err="1"/>
              <a:t>ClassInstF.getData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);</a:t>
            </a:r>
            <a:endParaRPr lang="en-US" altLang="zh-CN" dirty="0"/>
          </a:p>
          <a:p>
            <a:r>
              <a:rPr lang="en-US" altLang="zh-CN" dirty="0"/>
              <a:t>	   </a:t>
            </a:r>
            <a:r>
              <a:rPr lang="en-US" altLang="zh-CN" dirty="0" err="1"/>
              <a:t>cout</a:t>
            </a:r>
            <a:r>
              <a:rPr lang="en-US" altLang="zh-CN" dirty="0"/>
              <a:t>&lt;&lt;res&lt;&lt;"  ";</a:t>
            </a:r>
            <a:endParaRPr lang="en-US" altLang="zh-CN" dirty="0"/>
          </a:p>
          <a:p>
            <a:r>
              <a:rPr lang="en-US" altLang="zh-CN" dirty="0"/>
              <a:t>    }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</p:txBody>
      </p:sp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类模板的不同形式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3528" y="990600"/>
            <a:ext cx="84249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仅使用类型参数的类模板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11866" y="1981200"/>
            <a:ext cx="75491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//double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取代 </a:t>
            </a:r>
            <a:r>
              <a:rPr lang="en-US" altLang="zh-CN" sz="24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类模板实例化为一个具体的类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数组为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double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型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)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2400" b="1" kern="0" dirty="0" err="1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ClassInstF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是这个类的一个对象 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类模板的不同形式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3528" y="990600"/>
            <a:ext cx="84249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类模板也可以支持普通参数</a:t>
            </a:r>
            <a:r>
              <a:rPr lang="en-US" altLang="zh-CN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非类型参数</a:t>
            </a:r>
            <a:r>
              <a:rPr lang="en-US" altLang="zh-CN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6400" y="1752600"/>
            <a:ext cx="8342064" cy="4524315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</a:t>
            </a:r>
            <a:r>
              <a:rPr lang="en-US" altLang="zh-CN" sz="240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T, </a:t>
            </a:r>
            <a:r>
              <a:rPr lang="en-US" altLang="zh-CN" sz="240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 err="1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TestClass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{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public:</a:t>
            </a:r>
            <a:endParaRPr lang="en-US" altLang="zh-CN" sz="2400" b="1" kern="0" dirty="0">
              <a:solidFill>
                <a:srgbClr val="0000FF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buffer[</a:t>
            </a:r>
            <a:r>
              <a:rPr lang="en-US" altLang="zh-CN" sz="2400" b="1" kern="0" dirty="0" err="1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];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endParaRPr lang="zh-CN" altLang="en-US" sz="24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/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getData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j);	</a:t>
            </a:r>
            <a:r>
              <a:rPr lang="zh-CN" altLang="en-US" sz="24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endParaRPr lang="zh-CN" altLang="en-US" sz="24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/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 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endParaRPr lang="zh-CN" altLang="en-US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</a:t>
            </a:r>
            <a:r>
              <a:rPr lang="en-US" altLang="zh-CN" sz="240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	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TestClass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&gt;::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getData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j) {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return *(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buffer+j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 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563012" y="2860174"/>
            <a:ext cx="49713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数组的大小为</a:t>
            </a:r>
            <a:r>
              <a:rPr lang="en-US" altLang="zh-CN" sz="2400" b="1" kern="0" dirty="0" err="1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i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，相当于动态数组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4419601" y="1638875"/>
            <a:ext cx="1295400" cy="647125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noFill/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类模板的不同形式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3528" y="990600"/>
            <a:ext cx="84249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类模板也可以支持普通参数</a:t>
            </a:r>
            <a:r>
              <a:rPr lang="en-US" altLang="zh-CN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非类型参数</a:t>
            </a:r>
            <a:r>
              <a:rPr lang="en-US" altLang="zh-CN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6400" y="1752600"/>
            <a:ext cx="8342064" cy="4524315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</a:t>
            </a:r>
            <a:r>
              <a:rPr lang="en-US" altLang="zh-CN" sz="240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T, </a:t>
            </a:r>
            <a:r>
              <a:rPr lang="en-US" altLang="zh-CN" sz="240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 err="1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TestClass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{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public:</a:t>
            </a:r>
            <a:endParaRPr lang="en-US" altLang="zh-CN" sz="2400" b="1" kern="0" dirty="0">
              <a:solidFill>
                <a:srgbClr val="0000FF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buffer[</a:t>
            </a:r>
            <a:r>
              <a:rPr lang="en-US" altLang="zh-CN" sz="2400" b="1" kern="0" dirty="0" err="1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];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endParaRPr lang="zh-CN" altLang="en-US" sz="24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/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getData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j);	</a:t>
            </a:r>
            <a:r>
              <a:rPr lang="zh-CN" altLang="en-US" sz="24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endParaRPr lang="zh-CN" altLang="en-US" sz="24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/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 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endParaRPr lang="zh-CN" altLang="en-US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</a:t>
            </a:r>
            <a:r>
              <a:rPr lang="en-US" altLang="zh-CN" sz="240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	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TestClass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&gt;::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getData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j) {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return *(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buffer+j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  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91200" y="2209800"/>
            <a:ext cx="2233612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i</a:t>
            </a:r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是普通参数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4" name="直接箭头连接符 3"/>
          <p:cNvCxnSpPr/>
          <p:nvPr/>
        </p:nvCxnSpPr>
        <p:spPr bwMode="auto">
          <a:xfrm flipH="1" flipV="1">
            <a:off x="5410200" y="2209800"/>
            <a:ext cx="381000" cy="261610"/>
          </a:xfrm>
          <a:prstGeom prst="straightConnector1">
            <a:avLst/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直接箭头连接符 10"/>
          <p:cNvCxnSpPr/>
          <p:nvPr/>
        </p:nvCxnSpPr>
        <p:spPr bwMode="auto">
          <a:xfrm flipH="1">
            <a:off x="3176588" y="2209800"/>
            <a:ext cx="2157412" cy="700445"/>
          </a:xfrm>
          <a:prstGeom prst="straightConnector1">
            <a:avLst/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矩形 13"/>
          <p:cNvSpPr/>
          <p:nvPr/>
        </p:nvSpPr>
        <p:spPr>
          <a:xfrm>
            <a:off x="3563012" y="2860174"/>
            <a:ext cx="49713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数组的大小为</a:t>
            </a:r>
            <a:r>
              <a:rPr lang="en-US" altLang="zh-CN" sz="2400" b="1" kern="0" dirty="0" err="1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i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，相当于动态数组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类模板的不同形式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3528" y="990600"/>
            <a:ext cx="84249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类模板的非类型参数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323528" y="1602538"/>
            <a:ext cx="8515672" cy="4893647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 b="1" kern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void main() 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en-US" altLang="zh-CN" dirty="0" err="1">
                <a:solidFill>
                  <a:schemeClr val="tx1"/>
                </a:solidFill>
              </a:rPr>
              <a:t>TestClass</a:t>
            </a:r>
            <a:r>
              <a:rPr lang="en-US" altLang="zh-CN" dirty="0">
                <a:solidFill>
                  <a:schemeClr val="tx1"/>
                </a:solidFill>
              </a:rPr>
              <a:t>&lt;</a:t>
            </a:r>
            <a:r>
              <a:rPr lang="en-US" altLang="zh-CN" dirty="0"/>
              <a:t>char, 5</a:t>
            </a:r>
            <a:r>
              <a:rPr lang="en-US" altLang="zh-CN" dirty="0">
                <a:solidFill>
                  <a:schemeClr val="tx1"/>
                </a:solidFill>
              </a:rPr>
              <a:t>&gt; </a:t>
            </a:r>
            <a:r>
              <a:rPr lang="en-US" altLang="zh-CN" dirty="0" err="1">
                <a:solidFill>
                  <a:schemeClr val="tx1"/>
                </a:solidFill>
              </a:rPr>
              <a:t>ClassInstA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	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char </a:t>
            </a:r>
            <a:r>
              <a:rPr lang="en-US" altLang="zh-CN" dirty="0" err="1">
                <a:solidFill>
                  <a:schemeClr val="tx1"/>
                </a:solidFill>
              </a:rPr>
              <a:t>cArr</a:t>
            </a:r>
            <a:r>
              <a:rPr lang="en-US" altLang="zh-CN" dirty="0">
                <a:solidFill>
                  <a:schemeClr val="tx1"/>
                </a:solidFill>
              </a:rPr>
              <a:t>[6]="</a:t>
            </a:r>
            <a:r>
              <a:rPr lang="en-US" altLang="zh-CN" dirty="0" err="1">
                <a:solidFill>
                  <a:schemeClr val="tx1"/>
                </a:solidFill>
              </a:rPr>
              <a:t>abcde</a:t>
            </a:r>
            <a:r>
              <a:rPr lang="en-US" altLang="zh-CN" dirty="0">
                <a:solidFill>
                  <a:schemeClr val="tx1"/>
                </a:solidFill>
              </a:rPr>
              <a:t>";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for(</a:t>
            </a:r>
            <a:r>
              <a:rPr lang="en-US" altLang="zh-CN" dirty="0" err="1">
                <a:solidFill>
                  <a:schemeClr val="tx1"/>
                </a:solidFill>
              </a:rPr>
              <a:t>int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=0;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&lt;5;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++)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    </a:t>
            </a:r>
            <a:r>
              <a:rPr lang="en-US" altLang="zh-CN" dirty="0" err="1">
                <a:solidFill>
                  <a:schemeClr val="tx1"/>
                </a:solidFill>
              </a:rPr>
              <a:t>ClassInstA.buffer</a:t>
            </a: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]=</a:t>
            </a:r>
            <a:r>
              <a:rPr lang="en-US" altLang="zh-CN" dirty="0" err="1">
                <a:solidFill>
                  <a:schemeClr val="tx1"/>
                </a:solidFill>
              </a:rPr>
              <a:t>cArr</a:t>
            </a: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];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for(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=0;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&lt;5;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++) 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    char res=</a:t>
            </a:r>
            <a:r>
              <a:rPr lang="en-US" altLang="zh-CN" dirty="0" err="1">
                <a:solidFill>
                  <a:schemeClr val="tx1"/>
                </a:solidFill>
              </a:rPr>
              <a:t>ClassInstA.getData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);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    </a:t>
            </a:r>
            <a:r>
              <a:rPr lang="en-US" altLang="zh-CN" dirty="0" err="1">
                <a:solidFill>
                  <a:schemeClr val="tx1"/>
                </a:solidFill>
              </a:rPr>
              <a:t>cout</a:t>
            </a:r>
            <a:r>
              <a:rPr lang="en-US" altLang="zh-CN" dirty="0">
                <a:solidFill>
                  <a:schemeClr val="tx1"/>
                </a:solidFill>
              </a:rPr>
              <a:t>&lt;&lt;res&lt;&lt;" ";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}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31292" y="2362204"/>
            <a:ext cx="75491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类模板实例化为一个具体的类，数组为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char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型，大小为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5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 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>
          <a:xfrm>
            <a:off x="323528" y="1600200"/>
            <a:ext cx="8515672" cy="4524315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 b="1" kern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    </a:t>
            </a:r>
            <a:r>
              <a:rPr lang="en-US" altLang="zh-CN" dirty="0" err="1"/>
              <a:t>TestClass</a:t>
            </a:r>
            <a:r>
              <a:rPr lang="en-US" altLang="zh-CN" dirty="0"/>
              <a:t>&lt;</a:t>
            </a:r>
            <a:r>
              <a:rPr lang="en-US" altLang="zh-CN" dirty="0">
                <a:solidFill>
                  <a:srgbClr val="0000FF"/>
                </a:solidFill>
              </a:rPr>
              <a:t>double, 6</a:t>
            </a:r>
            <a:r>
              <a:rPr lang="en-US" altLang="zh-CN" dirty="0"/>
              <a:t>&gt; </a:t>
            </a:r>
            <a:r>
              <a:rPr lang="en-US" altLang="zh-CN" dirty="0" err="1"/>
              <a:t>ClassInstF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	</a:t>
            </a:r>
            <a:endParaRPr lang="en-US" altLang="zh-CN" dirty="0"/>
          </a:p>
          <a:p>
            <a:r>
              <a:rPr lang="en-US" altLang="zh-CN" dirty="0"/>
              <a:t>	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double </a:t>
            </a:r>
            <a:r>
              <a:rPr lang="en-US" altLang="zh-CN" dirty="0" err="1"/>
              <a:t>fArr</a:t>
            </a:r>
            <a:r>
              <a:rPr lang="en-US" altLang="zh-CN" dirty="0"/>
              <a:t>[6]={12.1, 23.2, 34.3, </a:t>
            </a:r>
            <a:r>
              <a:rPr lang="en-US" altLang="zh-CN" dirty="0" smtClean="0"/>
              <a:t>45.4};</a:t>
            </a:r>
            <a:r>
              <a:rPr lang="en-US" altLang="zh-CN" dirty="0"/>
              <a:t> </a:t>
            </a:r>
            <a:endParaRPr lang="en-US" altLang="zh-CN" dirty="0"/>
          </a:p>
          <a:p>
            <a:r>
              <a:rPr lang="en-US" altLang="zh-CN" dirty="0"/>
              <a:t>    for(</a:t>
            </a:r>
            <a:r>
              <a:rPr lang="en-US" altLang="zh-CN" dirty="0" err="1"/>
              <a:t>i</a:t>
            </a:r>
            <a:r>
              <a:rPr lang="en-US" altLang="zh-CN" dirty="0"/>
              <a:t>=0; </a:t>
            </a:r>
            <a:r>
              <a:rPr lang="en-US" altLang="zh-CN" dirty="0" err="1"/>
              <a:t>i</a:t>
            </a:r>
            <a:r>
              <a:rPr lang="en-US" altLang="zh-CN" dirty="0"/>
              <a:t>&lt;6; </a:t>
            </a:r>
            <a:r>
              <a:rPr lang="en-US" altLang="zh-CN" dirty="0" err="1"/>
              <a:t>i</a:t>
            </a:r>
            <a:r>
              <a:rPr lang="en-US" altLang="zh-CN" dirty="0"/>
              <a:t>++)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ClassInstF.buffer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]=</a:t>
            </a:r>
            <a:r>
              <a:rPr lang="en-US" altLang="zh-CN" dirty="0" err="1"/>
              <a:t>fArr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]-10; </a:t>
            </a:r>
            <a:endParaRPr lang="en-US" altLang="zh-CN" dirty="0"/>
          </a:p>
          <a:p>
            <a:r>
              <a:rPr lang="en-US" altLang="zh-CN" dirty="0"/>
              <a:t>    for(</a:t>
            </a:r>
            <a:r>
              <a:rPr lang="en-US" altLang="zh-CN" dirty="0" err="1"/>
              <a:t>i</a:t>
            </a:r>
            <a:r>
              <a:rPr lang="en-US" altLang="zh-CN" dirty="0"/>
              <a:t>=0; </a:t>
            </a:r>
            <a:r>
              <a:rPr lang="en-US" altLang="zh-CN" dirty="0" err="1"/>
              <a:t>i</a:t>
            </a:r>
            <a:r>
              <a:rPr lang="en-US" altLang="zh-CN" dirty="0"/>
              <a:t>&lt;6; </a:t>
            </a:r>
            <a:r>
              <a:rPr lang="en-US" altLang="zh-CN" dirty="0" err="1"/>
              <a:t>i</a:t>
            </a:r>
            <a:r>
              <a:rPr lang="en-US" altLang="zh-CN" dirty="0"/>
              <a:t>++) {</a:t>
            </a:r>
            <a:endParaRPr lang="en-US" altLang="zh-CN" dirty="0"/>
          </a:p>
          <a:p>
            <a:r>
              <a:rPr lang="en-US" altLang="zh-CN" dirty="0"/>
              <a:t>	   double res=</a:t>
            </a:r>
            <a:r>
              <a:rPr lang="en-US" altLang="zh-CN" dirty="0" err="1"/>
              <a:t>ClassInstF.getData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);</a:t>
            </a:r>
            <a:endParaRPr lang="en-US" altLang="zh-CN" dirty="0"/>
          </a:p>
          <a:p>
            <a:r>
              <a:rPr lang="en-US" altLang="zh-CN" dirty="0"/>
              <a:t>	   </a:t>
            </a:r>
            <a:r>
              <a:rPr lang="en-US" altLang="zh-CN" dirty="0" err="1"/>
              <a:t>cout</a:t>
            </a:r>
            <a:r>
              <a:rPr lang="en-US" altLang="zh-CN" dirty="0"/>
              <a:t>&lt;&lt;res&lt;&lt;"  ";</a:t>
            </a:r>
            <a:endParaRPr lang="en-US" altLang="zh-CN" dirty="0"/>
          </a:p>
          <a:p>
            <a:r>
              <a:rPr lang="en-US" altLang="zh-CN" dirty="0"/>
              <a:t>    }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</p:txBody>
      </p:sp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类模板的不同形式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3528" y="990600"/>
            <a:ext cx="84249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类模板的非类型参数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11866" y="1981200"/>
            <a:ext cx="75491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类模板实例化为一个具体的类，数组为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double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型，大小为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6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 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06400" y="3189744"/>
            <a:ext cx="8280400" cy="2677656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&gt;class TA {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static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m_t1;</a:t>
            </a:r>
            <a:endParaRPr lang="zh-CN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static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m_t2;</a:t>
            </a:r>
            <a:endParaRPr lang="zh-CN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T&gt;  </a:t>
            </a:r>
            <a:r>
              <a:rPr lang="en-US" altLang="zh-CN" sz="240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TA&lt;T&gt;::m_t1 = 100;</a:t>
            </a:r>
            <a:endParaRPr lang="zh-CN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T&gt;  </a:t>
            </a:r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TA&lt;T&gt;::m_t2 = 0;</a:t>
            </a:r>
            <a:endParaRPr lang="zh-CN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模板的静态成员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419600" y="3559075"/>
            <a:ext cx="381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静态成员，类型为</a:t>
            </a:r>
            <a:r>
              <a:rPr lang="en-US" altLang="zh-CN" sz="2400" b="1" kern="0" dirty="0" err="1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int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 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06400" y="1143000"/>
            <a:ext cx="8280400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类模板的静态成员是模板实例化类的静态成员，对于每一个实例化类，其所有的对象共享其静态成员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323184" y="3946127"/>
            <a:ext cx="36778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静态成员，类型为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 T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 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389276" y="4647637"/>
            <a:ext cx="42213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静态成员初始化，类外进行 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06400" y="1447800"/>
            <a:ext cx="8280400" cy="3046988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fr-FR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TA &lt;int&gt; iobj1, iobj2;</a:t>
            </a:r>
            <a:endParaRPr lang="fr-FR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endParaRPr lang="zh-CN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fr-FR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TA &lt;double&gt; dobj1, dobj2;</a:t>
            </a:r>
            <a:endParaRPr lang="fr-FR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endParaRPr lang="fr-FR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endParaRPr lang="fr-FR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endParaRPr lang="zh-CN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模板的静态成员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06400" y="1920697"/>
            <a:ext cx="8204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 </a:t>
            </a:r>
            <a:r>
              <a:rPr lang="zh-CN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实例化模板类</a:t>
            </a:r>
            <a:r>
              <a:rPr lang="fr-FR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TA&lt;int&gt;</a:t>
            </a:r>
            <a:r>
              <a:rPr lang="zh-CN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的两个对象</a:t>
            </a:r>
            <a:r>
              <a:rPr lang="fr-FR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iobj1</a:t>
            </a:r>
            <a:r>
              <a:rPr lang="zh-CN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lang="fr-FR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iobj2</a:t>
            </a:r>
            <a:r>
              <a:rPr lang="zh-CN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将共享</a:t>
            </a:r>
            <a:r>
              <a:rPr lang="fr-FR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TA&lt;int&gt;</a:t>
            </a:r>
            <a:r>
              <a:rPr lang="zh-CN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的静态成员</a:t>
            </a:r>
            <a:r>
              <a:rPr lang="fr-FR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int m_t1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、</a:t>
            </a:r>
            <a:r>
              <a:rPr lang="en-US" altLang="zh-CN" sz="2400" b="1" kern="0" dirty="0" err="1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 m_t2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 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35670" y="3352800"/>
            <a:ext cx="817493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 </a:t>
            </a:r>
            <a:r>
              <a:rPr lang="zh-CN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实例化模板类</a:t>
            </a:r>
            <a:r>
              <a:rPr lang="fr-FR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TA&lt;double&gt;</a:t>
            </a:r>
            <a:r>
              <a:rPr lang="zh-CN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的两个对象</a:t>
            </a:r>
            <a:r>
              <a:rPr lang="fr-FR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dobj1</a:t>
            </a:r>
            <a:r>
              <a:rPr lang="zh-CN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lang="fr-FR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dobj2</a:t>
            </a:r>
            <a:r>
              <a:rPr lang="zh-CN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将共享</a:t>
            </a:r>
            <a:r>
              <a:rPr lang="fr-FR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TA&lt;double&gt;</a:t>
            </a:r>
            <a:r>
              <a:rPr lang="zh-CN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的静态成员</a:t>
            </a:r>
            <a:r>
              <a:rPr lang="fr-FR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int m_t1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、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double m_t2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 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06400" y="4950836"/>
            <a:ext cx="82804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zh-CN" sz="28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类</a:t>
            </a:r>
            <a:r>
              <a:rPr lang="fr-FR" altLang="zh-CN" sz="28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TA&lt;int&gt;</a:t>
            </a:r>
            <a:r>
              <a:rPr lang="zh-CN" altLang="en-US" sz="28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和类</a:t>
            </a:r>
            <a:r>
              <a:rPr lang="fr-FR" altLang="zh-CN" sz="28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TA&lt;double&gt;</a:t>
            </a:r>
            <a:r>
              <a:rPr lang="zh-CN" altLang="en-US" sz="28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可以认为是两个不同的类，他们的类对象不共享静态变量</a:t>
            </a:r>
            <a:r>
              <a:rPr lang="en-US" altLang="zh-CN" sz="2800" b="1" kern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m_t1 !</a:t>
            </a:r>
            <a:endParaRPr lang="zh-CN" altLang="en-US" sz="2800" b="1" kern="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304800" y="1071290"/>
            <a:ext cx="8610600" cy="5262979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fr-FR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 main() {</a:t>
            </a:r>
            <a:endParaRPr lang="fr-FR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fr-FR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TA &lt;int&gt; iobj1, iobj2;</a:t>
            </a:r>
            <a:endParaRPr lang="fr-FR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fr-FR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TA &lt;double&gt; dobj1, dobj2;</a:t>
            </a:r>
            <a:endParaRPr lang="fr-FR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endParaRPr lang="fr-FR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fr-FR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iobj1.m_t1 ++; iobj1.m_t2 ++;</a:t>
            </a:r>
            <a:endParaRPr lang="fr-FR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fr-FR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iobj2.m_t1 ++; iobj2.m_t2 ++;</a:t>
            </a:r>
            <a:endParaRPr lang="fr-FR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endParaRPr lang="fr-FR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fr-FR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dobj1.m_t1 ++; dobj1.m_t2 ++;</a:t>
            </a:r>
            <a:endParaRPr lang="fr-FR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fr-FR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dobj2.m_t1 ++; dobj2.m_t2 ++;</a:t>
            </a:r>
            <a:endParaRPr lang="fr-FR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endParaRPr lang="fr-FR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fr-FR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cout&lt;&lt;TA&lt;int&gt;::m_t1&lt;&lt;" "&lt;&lt;TA&lt;int&gt;::m_t2&lt;&lt;endl;</a:t>
            </a:r>
            <a:endParaRPr lang="fr-FR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fr-FR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cout&lt;&lt;dobj1.m_t1&lt;&lt;«  « &lt;&lt;dobj.m_t2&lt;&lt;endl;</a:t>
            </a:r>
            <a:endParaRPr lang="fr-FR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fr-FR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return 0;</a:t>
            </a:r>
            <a:endParaRPr lang="fr-FR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fr-FR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  <a:endParaRPr lang="zh-CN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模板的静态成员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300788" y="2502451"/>
            <a:ext cx="2233612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结果：</a:t>
            </a:r>
            <a:endParaRPr lang="en-US" altLang="zh-CN" sz="2800" b="1" dirty="0"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r>
              <a:rPr lang="en-US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102  2</a:t>
            </a:r>
            <a:endParaRPr lang="en-US" altLang="zh-CN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102  2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模板的成员函数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8422" y="1066800"/>
            <a:ext cx="8696356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类模板的所有成员函数都是函数模板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1828800"/>
            <a:ext cx="9144000" cy="3416320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zh-CN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class MyStack {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</a:t>
            </a:r>
            <a:r>
              <a:rPr lang="zh-CN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ublic: </a:t>
            </a:r>
            <a:endParaRPr lang="en-US" altLang="zh-CN" sz="2400" b="1" kern="0" dirty="0">
              <a:solidFill>
                <a:srgbClr val="0000FF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void create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void push(const </a:t>
            </a:r>
            <a:r>
              <a:rPr lang="zh-CN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item);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zh-CN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void 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MyStack&lt;</a:t>
            </a:r>
            <a:r>
              <a:rPr lang="zh-CN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&gt;::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zh-CN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void MyStack&lt;</a:t>
            </a:r>
            <a:r>
              <a:rPr lang="zh-CN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&gt;::push( const </a:t>
            </a:r>
            <a:r>
              <a:rPr lang="zh-CN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item )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201311" y="2464712"/>
            <a:ext cx="48561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虽然没有用到</a:t>
            </a:r>
            <a:r>
              <a:rPr lang="zh-CN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模板类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型 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，但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create()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仍然是函数模板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838200" y="2569028"/>
            <a:ext cx="3276600" cy="494725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noFill/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5422345"/>
            <a:ext cx="9144000" cy="830997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MyStack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&lt;int&gt; s1;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s1.create();</a:t>
            </a:r>
            <a:endParaRPr lang="zh-CN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665569" y="5422345"/>
            <a:ext cx="5391920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类模板实例化时成员函数并不自动被实例化，只有函数调用时才被实例化</a:t>
            </a:r>
            <a:endParaRPr lang="zh-CN" altLang="en-US" sz="2400" b="1" kern="0" dirty="0"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3" name="直接箭头连接符 2"/>
          <p:cNvCxnSpPr>
            <a:stCxn id="15" idx="1"/>
          </p:cNvCxnSpPr>
          <p:nvPr/>
        </p:nvCxnSpPr>
        <p:spPr bwMode="auto">
          <a:xfrm flipH="1">
            <a:off x="2286000" y="5837844"/>
            <a:ext cx="1379569" cy="181956"/>
          </a:xfrm>
          <a:prstGeom prst="straightConnector1">
            <a:avLst/>
          </a:prstGeom>
          <a:solidFill>
            <a:srgbClr val="C0C0C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0" grpId="0" animBg="1"/>
      <p:bldP spid="14" grpId="0" animBg="1"/>
      <p:bldP spid="1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模板的成员函数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8422" y="1066800"/>
            <a:ext cx="8696356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类模板的所有成员函数都是函数模板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1828800"/>
            <a:ext cx="9144000" cy="3416320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zh-CN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class MyStack {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</a:t>
            </a:r>
            <a:r>
              <a:rPr lang="zh-CN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ublic: </a:t>
            </a:r>
            <a:endParaRPr lang="en-US" altLang="zh-CN" sz="2400" b="1" kern="0" dirty="0">
              <a:solidFill>
                <a:srgbClr val="0000FF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void create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void push(const </a:t>
            </a:r>
            <a:r>
              <a:rPr lang="zh-CN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item);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zh-CN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void 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MyStack&lt;</a:t>
            </a:r>
            <a:r>
              <a:rPr lang="zh-CN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&gt;::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zh-CN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void MyStack&lt;</a:t>
            </a:r>
            <a:r>
              <a:rPr lang="zh-CN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&gt;::push( const </a:t>
            </a:r>
            <a:r>
              <a:rPr lang="zh-CN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item )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829224" y="2828835"/>
            <a:ext cx="31900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//push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函数的参数是模板类型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 T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，所以也是函数模板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838200" y="3239075"/>
            <a:ext cx="4856178" cy="494725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noFill/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5422345"/>
            <a:ext cx="9144000" cy="830997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MyStack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&lt;int&gt; s1;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s1.push(100);</a:t>
            </a:r>
            <a:endParaRPr lang="zh-CN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317292" y="5422345"/>
            <a:ext cx="55774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类模板实例化为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int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类型，函数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push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的参数也自动实例化为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int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类型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0" grpId="0" animBg="1"/>
      <p:bldP spid="14" grpId="0" animBg="1"/>
      <p:bldP spid="1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模板的成员函数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8422" y="1066800"/>
            <a:ext cx="8696356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类模板的成员函数也可以是另外一个函数模板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198422" y="1982212"/>
            <a:ext cx="8696356" cy="2677656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lvl="0" eaLnBrk="1" hangingPunct="1"/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zh-CN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class MyStack {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p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ublic: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 template&lt;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void create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/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zh-CN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void 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MyStack&lt;</a:t>
            </a:r>
            <a:r>
              <a:rPr lang="zh-CN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&gt;::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{}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48611" y="3148876"/>
            <a:ext cx="71421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//create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是函数模板，参数类型为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 U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2400" b="1" kern="0" dirty="0" err="1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MyStack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是类模板，参数类型为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 T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1752600" y="2654151"/>
            <a:ext cx="6934200" cy="494725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noFill/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184730" y="5181600"/>
            <a:ext cx="8710047" cy="830997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MyStack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&lt;int&gt; s1;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s1.create(2.5);</a:t>
            </a:r>
            <a:endParaRPr lang="zh-CN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317292" y="5181600"/>
            <a:ext cx="55774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类模板实例化为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int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类型，函数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create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实例化为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double 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类型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3" grpId="0" animBg="1"/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模板的成员函数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8422" y="1066800"/>
            <a:ext cx="8696356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普通类的成员函数也可以是函数模板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198422" y="1982212"/>
            <a:ext cx="8696356" cy="2677656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lvl="0" eaLnBrk="1" hangingPunct="1"/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 MyStack {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p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ublic: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 template&lt;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void create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void 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MyStack::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{}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38300" y="3289341"/>
            <a:ext cx="7162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en-US" altLang="zh-CN" sz="2400" b="1" kern="0" dirty="0" err="1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MyStack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是普通类，但成员函数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create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是函数模板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1752600" y="2654151"/>
            <a:ext cx="6934200" cy="494725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noFill/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184730" y="5181600"/>
            <a:ext cx="8710047" cy="830997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MyStack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s1;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s1.create(2.5);</a:t>
            </a:r>
            <a:endParaRPr lang="zh-CN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971800" y="5525652"/>
            <a:ext cx="55774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//create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实例化为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double 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类型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3" grpId="0" animBg="1"/>
      <p:bldP spid="1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模板与友元函数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8422" y="1066800"/>
            <a:ext cx="8696356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如果类模板的友元函数是普通函数，则友元函数是该类模板任意类实例的友元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198422" y="2492276"/>
            <a:ext cx="8696356" cy="2308324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void create(){}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T&gt; class MyStack {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p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ublic: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friend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void create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185514" y="2491264"/>
            <a:ext cx="55774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//create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是普通函数，是类模板</a:t>
            </a:r>
            <a:r>
              <a:rPr lang="en-US" altLang="zh-CN" sz="2400" b="1" kern="0" dirty="0" err="1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MyStack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的友元函数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198422" y="5265003"/>
            <a:ext cx="8696356" cy="830997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MyStack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s1;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MyStack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&lt;double&gt; s2;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962400" y="5265003"/>
            <a:ext cx="4648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//create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是类</a:t>
            </a:r>
            <a:r>
              <a:rPr lang="en-US" altLang="zh-CN" sz="2400" b="1" kern="0" dirty="0" err="1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MyStack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&lt;</a:t>
            </a:r>
            <a:r>
              <a:rPr lang="en-US" altLang="zh-CN" sz="2400" b="1" kern="0" dirty="0" err="1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&gt;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lang="en-US" altLang="zh-CN" sz="2400" b="1" kern="0" dirty="0" err="1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MyStack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&lt;double&gt;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的友元函数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模板与友元函数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8422" y="1066800"/>
            <a:ext cx="8696356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如果友元函数是与类模板无关的模板函数，则友元函数的任意函数实例是任意类实例的友元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198422" y="2590800"/>
            <a:ext cx="8696356" cy="2308324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void create(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 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x){};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zh-CN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class MyStack {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p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ublic: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friend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template&lt;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void create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x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198422" y="5348645"/>
            <a:ext cx="8696356" cy="7386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例如：函数模板的实例 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void create(</a:t>
            </a:r>
            <a:r>
              <a:rPr lang="en-US" altLang="zh-CN" sz="2400" b="1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int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) 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和 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void create(</a:t>
            </a:r>
            <a:r>
              <a:rPr lang="en-US" altLang="zh-CN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char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都是类模板实例 </a:t>
            </a:r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MyStack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&lt;</a:t>
            </a:r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int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&gt;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2400" b="1" baseline="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MyStack</a:t>
            </a:r>
            <a:r>
              <a:rPr lang="en-US" altLang="zh-CN" sz="2400" b="1" baseline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&lt;</a:t>
            </a:r>
            <a:r>
              <a:rPr lang="en-US" altLang="zh-CN" sz="2400" b="1" baseline="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double</a:t>
            </a:r>
            <a:r>
              <a:rPr lang="en-US" altLang="zh-CN" sz="2400" b="1" baseline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&gt;</a:t>
            </a:r>
            <a:r>
              <a:rPr lang="zh-CN" altLang="en-US" sz="2400" b="1" baseline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的友元函数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85800" y="4431291"/>
            <a:ext cx="82089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//create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是函数模板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参数为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U)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2400" b="1" kern="0" dirty="0" err="1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MyStack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是类模板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参数为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T)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模板与友元函数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8422" y="1066800"/>
            <a:ext cx="8696356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友元函数是与类模板有关的模板函数，则友元函数只是该类模板特定类实例的友元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198422" y="2438400"/>
            <a:ext cx="8696356" cy="2677656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void create(</a:t>
            </a:r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x){};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zh-CN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class MyStack {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p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ublic: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 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friend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void create&lt;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x</a:t>
            </a:r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r>
              <a:rPr lang="zh-CN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 eaLnBrk="1" hangingPunct="1"/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198422" y="5298075"/>
            <a:ext cx="8696356" cy="11079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lvl="0" eaLnBrk="1" hangingPunct="1"/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例如：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void create(</a:t>
            </a:r>
            <a:r>
              <a:rPr lang="en-US" altLang="zh-CN" sz="2400" b="1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int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只是 </a:t>
            </a:r>
            <a:r>
              <a:rPr lang="en-US" altLang="zh-CN" sz="24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MyStack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&lt;</a:t>
            </a:r>
            <a:r>
              <a:rPr lang="en-US" altLang="zh-CN" sz="2400" b="1" dirty="0" err="1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int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&gt;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的友元，不是其他类模板实例的友元；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void create(</a:t>
            </a:r>
            <a:r>
              <a:rPr lang="en-US" altLang="zh-CN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char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只是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400" b="1" baseline="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MyStack</a:t>
            </a:r>
            <a:r>
              <a:rPr lang="en-US" altLang="zh-CN" sz="2400" b="1" baseline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&lt;</a:t>
            </a:r>
            <a:r>
              <a:rPr lang="en-US" altLang="zh-CN" sz="2400" b="1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char</a:t>
            </a:r>
            <a:r>
              <a:rPr lang="en-US" altLang="zh-CN" sz="2400" b="1" baseline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&gt;</a:t>
            </a:r>
            <a:r>
              <a:rPr lang="zh-CN" altLang="en-US" sz="2400" b="1" baseline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的友元函数，不是其他类模板实例的友元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831392" y="4267200"/>
            <a:ext cx="69316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定义友元的时候将函数模板的参数写成与类模板参数一样！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287233" y="3157870"/>
            <a:ext cx="762000" cy="457200"/>
          </a:xfrm>
          <a:prstGeom prst="rect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149701" y="3863955"/>
            <a:ext cx="685800" cy="457200"/>
          </a:xfrm>
          <a:prstGeom prst="rect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" name="直接箭头连接符 3"/>
          <p:cNvCxnSpPr/>
          <p:nvPr/>
        </p:nvCxnSpPr>
        <p:spPr bwMode="auto">
          <a:xfrm>
            <a:off x="4049233" y="3429000"/>
            <a:ext cx="1100468" cy="609600"/>
          </a:xfrm>
          <a:prstGeom prst="straightConnector1">
            <a:avLst/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" grpId="0" animBg="1"/>
      <p:bldP spid="1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类型参数检测与特例版本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8422" y="1066800"/>
            <a:ext cx="8793178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类模板的类型参数往往在实例化时不允许用任意的类（类型）作为“实参”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198421" y="2286000"/>
            <a:ext cx="8732927" cy="4154984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 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 stack {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</a:t>
            </a:r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data [20];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top {0};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public: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void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showtop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(void);</a:t>
            </a:r>
            <a:endParaRPr lang="zh-CN" altLang="en-US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 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template 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typename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void stack&lt;</a:t>
            </a:r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&gt;::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showtop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(void) </a:t>
            </a:r>
            <a:r>
              <a:rPr lang="zh-CN" altLang="en-US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</a:t>
            </a:r>
            <a:endParaRPr lang="zh-CN" altLang="en-US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cout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&lt;&lt;"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Top_Member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:"&lt;&lt;</a:t>
            </a:r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data[top]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&lt;&lt;</a:t>
            </a:r>
            <a:r>
              <a:rPr lang="en-US" altLang="zh-CN" sz="2400" b="1" kern="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endl</a:t>
            </a: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b="1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  <a:endParaRPr lang="en-US" altLang="zh-CN" sz="2400" b="1" kern="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61350" y="5943600"/>
            <a:ext cx="4495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输出数组下标为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top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的元素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类型参数检测与特例版本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8422" y="1066800"/>
            <a:ext cx="8793178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类模板的类型参数往往在实例化时不允许用任意的类（类型）作为“实参”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198421" y="2286000"/>
            <a:ext cx="8732927" cy="1569660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complex {  		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public:  </a:t>
            </a:r>
            <a:endParaRPr lang="en-US" altLang="zh-CN" sz="24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real, image;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124200" y="2283718"/>
            <a:ext cx="4495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自定义类，表示复数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98421" y="3733800"/>
            <a:ext cx="8732927" cy="2677656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main() {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stack&lt;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&gt;i1; 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stack&lt;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&gt;c1; 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stack&lt;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&gt;f1</a:t>
            </a:r>
            <a:r>
              <a:rPr lang="zh-CN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；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stack&lt;</a:t>
            </a:r>
            <a:r>
              <a:rPr lang="en-US" altLang="zh-CN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&gt;cp1;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436144" y="4093534"/>
            <a:ext cx="36504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//OK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，实例化为</a:t>
            </a:r>
            <a:r>
              <a:rPr lang="en-US" altLang="zh-CN" sz="2400" b="1" kern="0" dirty="0" err="1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int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型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657600" y="4488710"/>
            <a:ext cx="36504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//OK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，实例化为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char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型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733800" y="4864990"/>
            <a:ext cx="36504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//OK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，实例化为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double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型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16169" y="5540151"/>
            <a:ext cx="7924800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//ERROR! </a:t>
            </a:r>
            <a:r>
              <a:rPr lang="zh-CN" altLang="en-US" sz="2400" b="1" kern="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实例化为</a:t>
            </a:r>
            <a:r>
              <a:rPr lang="en-US" altLang="zh-CN" sz="2400" b="1" kern="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complex</a:t>
            </a:r>
            <a:r>
              <a:rPr lang="zh-CN" altLang="en-US" sz="2400" b="1" kern="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型，但</a:t>
            </a:r>
            <a:r>
              <a:rPr lang="en-US" altLang="zh-CN" sz="2400" b="1" kern="0" dirty="0" err="1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showtop</a:t>
            </a:r>
            <a:r>
              <a:rPr lang="zh-CN" altLang="en-US" sz="2400" b="1" kern="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函数里的输出操作符</a:t>
            </a:r>
            <a:r>
              <a:rPr lang="en-US" altLang="zh-CN" sz="2400" b="1" kern="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&lt;&lt;</a:t>
            </a:r>
            <a:r>
              <a:rPr lang="zh-CN" altLang="en-US" sz="2400" b="1" kern="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并不支持</a:t>
            </a:r>
            <a:r>
              <a:rPr lang="en-US" altLang="zh-CN" sz="2400" b="1" kern="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complex</a:t>
            </a:r>
            <a:r>
              <a:rPr lang="zh-CN" altLang="en-US" sz="2400" b="1" kern="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类型</a:t>
            </a:r>
            <a:endParaRPr lang="zh-CN" altLang="en-US" sz="2400" b="1" kern="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类型参数检测与特例版本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8422" y="1066800"/>
            <a:ext cx="8793178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解决方案一：对</a:t>
            </a:r>
            <a:r>
              <a:rPr lang="en-US" altLang="zh-CN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complex</a:t>
            </a:r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类进行</a:t>
            </a:r>
            <a:r>
              <a:rPr lang="en-US" altLang="zh-CN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&lt;&lt;</a:t>
            </a:r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运算符重载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124200" y="2283718"/>
            <a:ext cx="4495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自定义类，表示复数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98421" y="3928408"/>
            <a:ext cx="8732927" cy="2092881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void stack&lt;</a:t>
            </a:r>
            <a:r>
              <a:rPr lang="en-US" altLang="zh-CN" sz="24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complex</a:t>
            </a:r>
            <a:r>
              <a:rPr lang="en-US" altLang="zh-CN" sz="2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&gt;::</a:t>
            </a:r>
            <a:r>
              <a:rPr lang="en-US" altLang="zh-CN" sz="24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showtop</a:t>
            </a:r>
            <a:r>
              <a:rPr lang="en-US" altLang="zh-CN" sz="2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zh-CN" altLang="en-US" sz="2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zh-CN" altLang="en-US" sz="24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&lt;&lt;"</a:t>
            </a:r>
            <a:r>
              <a:rPr lang="en-US" altLang="zh-CN" sz="24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Top_Member</a:t>
            </a:r>
            <a:r>
              <a:rPr lang="en-US" altLang="zh-CN" sz="2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:"&lt;&lt;</a:t>
            </a:r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data[top].real</a:t>
            </a:r>
            <a:r>
              <a:rPr lang="en-US" altLang="zh-CN" sz="2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&lt;&lt;“ “&lt;&lt;</a:t>
            </a:r>
            <a:r>
              <a:rPr lang="en-US" altLang="zh-CN" sz="2400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data[top].image</a:t>
            </a:r>
            <a:r>
              <a:rPr lang="en-US" altLang="zh-CN" sz="2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altLang="zh-CN" sz="24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24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1000" y="5022216"/>
            <a:ext cx="6400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分别输出实部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real</a:t>
            </a:r>
            <a:r>
              <a:rPr lang="zh-CN" altLang="en-US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和虚部</a:t>
            </a:r>
            <a:r>
              <a:rPr lang="en-US" altLang="zh-CN" sz="24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image</a:t>
            </a:r>
            <a:endParaRPr lang="zh-CN" altLang="en-US" sz="24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98422" y="1701225"/>
            <a:ext cx="8793178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解决方案二：在</a:t>
            </a:r>
            <a:r>
              <a:rPr lang="en-US" altLang="zh-CN" sz="32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statck</a:t>
            </a:r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类模板里填加</a:t>
            </a:r>
            <a:r>
              <a:rPr lang="en-US" altLang="zh-CN" sz="32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showtop</a:t>
            </a:r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函数的特例版本专门支持</a:t>
            </a:r>
            <a:r>
              <a:rPr lang="en-US" altLang="zh-CN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complex</a:t>
            </a:r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600200" y="3015615"/>
            <a:ext cx="65118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kern="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此函数的特例版本专门针对</a:t>
            </a:r>
            <a:r>
              <a:rPr lang="en-US" altLang="zh-CN" sz="2800" b="1" kern="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complex</a:t>
            </a:r>
            <a:r>
              <a:rPr lang="zh-CN" altLang="en-US" sz="2800" b="1" kern="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类</a:t>
            </a:r>
            <a:endParaRPr lang="zh-CN" altLang="en-US" sz="2800" b="1" kern="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2133600" y="3960305"/>
            <a:ext cx="1676400" cy="41499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" name="直接箭头连接符 3"/>
          <p:cNvCxnSpPr>
            <a:endCxn id="2" idx="0"/>
          </p:cNvCxnSpPr>
          <p:nvPr/>
        </p:nvCxnSpPr>
        <p:spPr bwMode="auto">
          <a:xfrm>
            <a:off x="2667000" y="3570734"/>
            <a:ext cx="304800" cy="389571"/>
          </a:xfrm>
          <a:prstGeom prst="straightConnector1">
            <a:avLst/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8" grpId="0"/>
      <p:bldP spid="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类型参数检测与特例版本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302974" y="1447800"/>
            <a:ext cx="8612426" cy="4462760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  <a:endParaRPr lang="en-US" altLang="zh-CN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stack&lt;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s1;</a:t>
            </a:r>
            <a:endParaRPr lang="en-US" altLang="zh-CN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s1.showtop(); </a:t>
            </a:r>
            <a:endParaRPr lang="en-US" altLang="zh-CN" sz="28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  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stack&lt;</a:t>
            </a:r>
            <a:r>
              <a:rPr lang="en-US" altLang="zh-CN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s2;</a:t>
            </a:r>
            <a:endParaRPr lang="en-US" altLang="zh-CN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s2.showtop();</a:t>
            </a:r>
            <a:endParaRPr lang="en-US" altLang="zh-CN" sz="2800" b="1" dirty="0">
              <a:solidFill>
                <a:schemeClr val="hlin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stack&lt;</a:t>
            </a:r>
            <a:r>
              <a:rPr lang="en-US" altLang="zh-CN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complex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s1c;</a:t>
            </a:r>
            <a:endParaRPr lang="zh-CN" altLang="en-US" sz="28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s1c.showtop(); </a:t>
            </a:r>
            <a:endParaRPr lang="en-US" altLang="zh-CN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86200" y="2557760"/>
            <a:ext cx="53353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8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8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调用模板类中通用的</a:t>
            </a:r>
            <a:r>
              <a:rPr lang="en-US" altLang="zh-CN" sz="2800" b="1" kern="0" dirty="0" err="1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showtop</a:t>
            </a:r>
            <a:endParaRPr lang="zh-CN" altLang="en-US" sz="28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899704" y="3683039"/>
            <a:ext cx="53353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8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8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调用模板类中通用的</a:t>
            </a:r>
            <a:r>
              <a:rPr lang="en-US" altLang="zh-CN" sz="2800" b="1" kern="0" dirty="0" err="1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showtop</a:t>
            </a:r>
            <a:endParaRPr lang="zh-CN" altLang="en-US" sz="28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191000" y="4843760"/>
            <a:ext cx="4419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8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8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调用</a:t>
            </a:r>
            <a:r>
              <a:rPr lang="en-US" altLang="zh-CN" sz="2800" b="1" kern="0" dirty="0" err="1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showtop</a:t>
            </a:r>
            <a:r>
              <a:rPr lang="zh-CN" altLang="en-US" sz="2800" b="1" kern="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特例版本</a:t>
            </a:r>
            <a:endParaRPr lang="zh-CN" altLang="en-US" sz="2800" b="1" kern="0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类模板的继承与派生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8422" y="1066800"/>
            <a:ext cx="8732926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一般类（其中不使用类型参数的类）作基类，派生出类模板（其中要使用类型参数）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84731" y="2438400"/>
            <a:ext cx="8746617" cy="3785652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CB { 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基类</a:t>
            </a:r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CB </a:t>
            </a:r>
            <a:r>
              <a:rPr lang="zh-CN" altLang="en-US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为一般类（其中不使用类型参数）</a:t>
            </a:r>
            <a:endParaRPr lang="zh-CN" altLang="en-US" sz="2400" b="1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 </a:t>
            </a:r>
            <a:endParaRPr lang="en-US" altLang="zh-CN" sz="2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altLang="zh-CN" sz="2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endParaRPr lang="en-US" altLang="zh-CN" sz="2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</a:pPr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派生类</a:t>
            </a:r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CA</a:t>
            </a:r>
            <a:r>
              <a:rPr lang="zh-CN" altLang="en-US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为类模板，使用了类型参数</a:t>
            </a:r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</a:t>
            </a:r>
            <a:endParaRPr lang="en-US" altLang="zh-CN" sz="2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CA: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CB { 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派生类新加的成员</a:t>
            </a:r>
            <a:endParaRPr lang="en-US" altLang="zh-CN" sz="2400" b="1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public:</a:t>
            </a:r>
            <a:endParaRPr lang="en-US" altLang="zh-CN" sz="24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...</a:t>
            </a:r>
            <a:endParaRPr lang="en-US" altLang="zh-CN" sz="24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  <a:endParaRPr lang="en-US" altLang="zh-CN" sz="24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类模板的继承与派生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4731" y="1066800"/>
            <a:ext cx="8746617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类模板作基类，派生出新的类模板，但仅基类中用到类型参数</a:t>
            </a:r>
            <a:r>
              <a:rPr lang="en-US" altLang="zh-CN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，而派生的类模板中不使用</a:t>
            </a:r>
            <a:r>
              <a:rPr lang="en-US" altLang="zh-CN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84731" y="2286000"/>
            <a:ext cx="8746617" cy="3046988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class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CB { 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zh-CN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CN" altLang="en-US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t;} </a:t>
            </a:r>
            <a:endParaRPr lang="en-US" altLang="zh-CN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class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 :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public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CB&lt;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&gt;{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double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t1; 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派生类的新成员并不使用 </a:t>
            </a:r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altLang="zh-CN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4731" y="5486400"/>
            <a:ext cx="8746617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indent="-609600">
              <a:spcBef>
                <a:spcPts val="0"/>
              </a:spcBef>
            </a:pP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基类的名字应为实例化后的“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CB&lt;T&gt;”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而并非仅使用“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CB”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，在派生类说明中，要对基类进行指定时必须使用“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CB&lt;T&gt;”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而不可只使用“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CB”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29956" y="2309037"/>
            <a:ext cx="23806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indent="-609600">
              <a:spcBef>
                <a:spcPts val="0"/>
              </a:spcBef>
            </a:pP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CB</a:t>
            </a:r>
            <a:r>
              <a:rPr lang="zh-CN" altLang="en-US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是类模板</a:t>
            </a:r>
            <a:endParaRPr lang="en-US" altLang="zh-CN" sz="2400" b="1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类模板的继承与派生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4731" y="1066800"/>
            <a:ext cx="8746617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类模板作基类，派生出新的类模板，且基类与派生类中均使用同一个类型参数</a:t>
            </a:r>
            <a:r>
              <a:rPr lang="en-US" altLang="zh-CN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84731" y="2286000"/>
            <a:ext cx="8746617" cy="4154984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class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CB { 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zh-CN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CN" altLang="en-US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(){ 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 return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class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 : 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CB&lt;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&gt;{</a:t>
            </a:r>
            <a:endParaRPr lang="en-US" altLang="zh-CN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t1;</a:t>
            </a:r>
            <a:r>
              <a:rPr lang="zh-CN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  <a:endParaRPr lang="zh-CN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96000" y="2283718"/>
            <a:ext cx="28353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indent="-609600">
              <a:spcBef>
                <a:spcPts val="0"/>
              </a:spcBef>
            </a:pP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基类</a:t>
            </a:r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CB</a:t>
            </a:r>
            <a:r>
              <a:rPr lang="zh-CN" altLang="en-US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是类模板</a:t>
            </a:r>
            <a:endParaRPr lang="en-US" altLang="zh-CN" sz="2400" b="1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828800" y="5591803"/>
            <a:ext cx="70263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indent="-609600">
              <a:spcBef>
                <a:spcPts val="0"/>
              </a:spcBef>
            </a:pP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派生类</a:t>
            </a:r>
            <a:r>
              <a:rPr lang="zh-CN" altLang="en-US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新填加的成员也使用了基类的模板类型</a:t>
            </a:r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</a:t>
            </a:r>
            <a:endParaRPr lang="en-US" altLang="zh-CN" sz="2400" b="1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类模板的继承与派生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4731" y="1066800"/>
            <a:ext cx="8746617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类模板作基类，派生出新的类模板，但基类和派生类使用的类型参数不同</a:t>
            </a:r>
            <a:endParaRPr lang="zh-CN" altLang="en-US" sz="32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84731" y="2286000"/>
            <a:ext cx="8746617" cy="4154984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T2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CB { 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T2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t2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数据类型为</a:t>
            </a:r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T2</a:t>
            </a:r>
            <a:r>
              <a:rPr lang="zh-CN" altLang="en-US" sz="2400" b="1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 </a:t>
            </a:r>
            <a:endParaRPr lang="en-US" altLang="zh-CN" sz="2400" b="1" dirty="0">
              <a:solidFill>
                <a:srgbClr val="0000FF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... 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endParaRPr lang="en-US" altLang="zh-CN" sz="24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 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T2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 :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CB&lt;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T2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{ </a:t>
            </a:r>
            <a:endParaRPr lang="en-US" altLang="zh-CN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t1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数据类型为</a:t>
            </a:r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T1</a:t>
            </a:r>
            <a:endParaRPr lang="en-US" altLang="zh-CN" sz="2400" b="1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pPr marL="609600" indent="-609600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  <a:endParaRPr lang="zh-CN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88151" y="2294351"/>
            <a:ext cx="28353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indent="-609600">
              <a:spcBef>
                <a:spcPts val="0"/>
              </a:spcBef>
            </a:pP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基类</a:t>
            </a:r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CB</a:t>
            </a:r>
            <a:r>
              <a:rPr lang="zh-CN" altLang="en-US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是类模板</a:t>
            </a:r>
            <a:endParaRPr lang="en-US" altLang="zh-CN" sz="2400" b="1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89069" y="4180367"/>
            <a:ext cx="865823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609600">
              <a:spcBef>
                <a:spcPts val="0"/>
              </a:spcBef>
            </a:pPr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派生类也是类模板，继承基类的部分使用基类的模板类型</a:t>
            </a:r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T2</a:t>
            </a:r>
            <a:r>
              <a:rPr lang="zh-CN" altLang="en-US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，新成员使用类型</a:t>
            </a:r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T1</a:t>
            </a:r>
            <a:endParaRPr lang="en-US" altLang="zh-CN" sz="2400" b="1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052736"/>
            <a:ext cx="10668000" cy="5029200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process.h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//exit(0)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keytype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CN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Queue 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zh-CN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smtClean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b="1" dirty="0" smtClean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队列的大小</a:t>
            </a:r>
            <a:endParaRPr lang="zh-CN" altLang="en-US" b="1" dirty="0" smtClean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front,rear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zh-CN" b="1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b="1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元素从</a:t>
            </a:r>
            <a:r>
              <a:rPr lang="en-US" altLang="zh-CN" b="1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queue[front+1]</a:t>
            </a:r>
            <a:r>
              <a:rPr lang="zh-CN" altLang="en-US" b="1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到</a:t>
            </a:r>
            <a:r>
              <a:rPr lang="en-US" altLang="zh-CN" b="1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queue[rear]</a:t>
            </a:r>
            <a:endParaRPr lang="zh-CN" altLang="en-US" b="1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keytype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*queue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zh-CN" b="1" dirty="0" smtClean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b="1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动态数组</a:t>
            </a:r>
            <a:r>
              <a:rPr lang="en-US" altLang="zh-CN" b="1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queue</a:t>
            </a:r>
            <a:r>
              <a:rPr lang="zh-CN" altLang="en-US" b="1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，用来存放队列数据</a:t>
            </a:r>
            <a:endParaRPr lang="zh-CN" altLang="en-US" b="1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Queue(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r>
              <a:rPr lang="en-US" altLang="zh-CN" b="1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b="1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构造</a:t>
            </a:r>
            <a:r>
              <a:rPr lang="zh-CN" altLang="en-US" b="1" dirty="0" smtClean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函数</a:t>
            </a:r>
            <a:endParaRPr lang="zh-CN" altLang="en-US" b="1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=size;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	queue=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keytype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Maxsize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front=rear=-1; </a:t>
            </a:r>
            <a:r>
              <a:rPr lang="en-US" altLang="zh-CN" b="1" dirty="0" smtClean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b="1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意味着队列为空</a:t>
            </a:r>
            <a:endParaRPr lang="zh-CN" altLang="en-US" b="1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CN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dirty="0" smtClean="0"/>
              <a:t>模板综合实例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队列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27100"/>
            <a:ext cx="9144000" cy="5289792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IsFull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() {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(rear==Maxsize-1)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1;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altLang="zh-CN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};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() { 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(front==rear)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1;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altLang="zh-CN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Add(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keytype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&amp;);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keytype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Delete(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dirty="0" smtClean="0"/>
              <a:t>模板综合实例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队列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914400"/>
            <a:ext cx="8991600" cy="5161721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keytype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keytype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Queue&lt;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keytype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::Delete(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()){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"the queue is empty"&lt;&lt;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	exit (0);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queue[++front];  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US" altLang="zh-CN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keytype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Queue&lt;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keytype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::Add(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keytype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&amp; item){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IsFull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"the queue is full"&lt;&lt;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altLang="zh-CN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queue[++rear]=item;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dirty="0" smtClean="0"/>
              <a:t>模板综合实例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队列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914400"/>
            <a:ext cx="8579296" cy="5610944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=0;    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Queue&lt;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Qi(10);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Queue&lt;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Qf1(10),Qf2(10)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(!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Qi.IsFull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  <a:r>
              <a:rPr lang="en-US" altLang="zh-CN" b="1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//Qi</a:t>
            </a:r>
            <a:r>
              <a:rPr lang="zh-CN" altLang="en-US" b="1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中只能存</a:t>
            </a:r>
            <a:r>
              <a:rPr lang="en-US" altLang="zh-CN" b="1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10</a:t>
            </a:r>
            <a:r>
              <a:rPr lang="zh-CN" altLang="en-US" b="1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个数</a:t>
            </a:r>
            <a:endParaRPr lang="zh-CN" altLang="en-US" b="1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Qi.Add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(2*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++);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	Qf1.Add(3.0*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&lt;4;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++){ 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Qf2.Add(4.5*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Qi.Delete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Qf2.Add(Qf1.Delete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()/2.0);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&lt;&lt;Qf2.Delete()&lt;&lt;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dirty="0" smtClean="0"/>
              <a:t>模板综合实例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队列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4864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b="1" dirty="0" smtClean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用</a:t>
            </a:r>
            <a:r>
              <a:rPr lang="zh-CN" altLang="en-US" sz="28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类模板实现有序单向链表，能够处理整型、浮点型和字符型数据并按照由小到大顺序排列链表节点</a:t>
            </a:r>
            <a:endParaRPr lang="en-US" altLang="zh-CN" sz="2800" b="1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链表的结构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链表类模板的设计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链表的操作与相应成员函数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2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插入节点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2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删除节点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2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查找节点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链表的创建与使用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dirty="0" smtClean="0"/>
              <a:t>模板综合实例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链表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链表的结构</a:t>
            </a:r>
            <a:endParaRPr lang="en-US" altLang="zh-CN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数据域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指针域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85846" y="3138482"/>
            <a:ext cx="159067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28920" y="3124200"/>
            <a:ext cx="102870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76685" y="3133727"/>
            <a:ext cx="109537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72060" y="3138482"/>
            <a:ext cx="102870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9825" y="3148009"/>
            <a:ext cx="109537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dirty="0" smtClean="0"/>
              <a:t>模板综合实例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链表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48647"/>
          </a:xfrm>
        </p:spPr>
        <p:txBody>
          <a:bodyPr/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链表相关类模板的设计</a:t>
            </a:r>
            <a:endParaRPr lang="en-US" altLang="zh-CN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链表节点类模板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T&gt; 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Node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T num;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Node* next;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TotalCount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统计链表节点的数量</a:t>
            </a:r>
            <a:endParaRPr lang="en-US" altLang="zh-CN" sz="2400" b="1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Node(T n);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~Node();	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zh-CN" altLang="en-US" sz="2400" b="1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dirty="0" smtClean="0"/>
              <a:t>模板综合实例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链表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927100"/>
            <a:ext cx="8839200" cy="5716610"/>
          </a:xfrm>
        </p:spPr>
        <p:txBody>
          <a:bodyPr/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链表类的设计</a:t>
            </a:r>
            <a:endParaRPr lang="en-US" altLang="zh-CN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链表类模板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T&gt; 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List {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Node&lt;T&gt;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* head;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Node&lt;T&gt;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* tail;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nodeCount</a:t>
            </a:r>
            <a:r>
              <a:rPr lang="en-US" altLang="zh-CN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zh-CN" sz="2400" b="1" dirty="0" smtClean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链表节点的数量</a:t>
            </a:r>
            <a:endParaRPr lang="en-US" altLang="zh-CN" sz="2400" b="1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Insert(T n</a:t>
            </a:r>
            <a:r>
              <a:rPr lang="en-US" altLang="zh-CN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插入节点</a:t>
            </a:r>
            <a:endParaRPr lang="en-US" altLang="zh-CN" sz="2400" b="1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Remove(T n</a:t>
            </a:r>
            <a:r>
              <a:rPr lang="en-US" altLang="zh-CN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删除节点</a:t>
            </a:r>
            <a:endParaRPr lang="en-US" altLang="zh-CN" sz="2400" b="1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Find(T n</a:t>
            </a:r>
            <a:r>
              <a:rPr lang="en-US" altLang="zh-CN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查找节点</a:t>
            </a:r>
            <a:endParaRPr lang="en-US" altLang="zh-CN" sz="2400" b="1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List();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Print</a:t>
            </a:r>
            <a:r>
              <a:rPr lang="en-US" altLang="zh-CN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打印链表的数据项</a:t>
            </a:r>
            <a:endParaRPr lang="en-US" altLang="zh-CN" sz="2400" b="1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zh-CN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dirty="0" smtClean="0"/>
              <a:t>模板综合实例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链表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376639"/>
          </a:xfrm>
        </p:spPr>
        <p:txBody>
          <a:bodyPr/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链表的访问</a:t>
            </a:r>
            <a:endParaRPr lang="en-US" altLang="zh-CN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根据链表的头指针（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*head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）确定链表的入口地址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建立临时指针，通过该指针的移动，访问链表的每一个节点，直到链表的尾节点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2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临时指针根据当前节点的指针域所指地址进行移动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638300" y="3705225"/>
            <a:ext cx="6972300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8150" y="3767130"/>
            <a:ext cx="120015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38300" y="4838700"/>
            <a:ext cx="1095375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10002" y="4838700"/>
            <a:ext cx="1095375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81704" y="4838700"/>
            <a:ext cx="1095375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dirty="0" smtClean="0"/>
              <a:t>模板综合实例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链表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376639"/>
          </a:xfrm>
        </p:spPr>
        <p:txBody>
          <a:bodyPr/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链表的操作</a:t>
            </a:r>
            <a:endParaRPr lang="en-US" altLang="zh-CN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链表节点的插入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71538" y="2132856"/>
            <a:ext cx="6972300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62310" y="3418740"/>
            <a:ext cx="2838450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86380" y="3633054"/>
            <a:ext cx="876300" cy="2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38665" y="2347170"/>
            <a:ext cx="3905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8113" y="5133260"/>
            <a:ext cx="88677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571736" y="4633186"/>
            <a:ext cx="252412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dirty="0" smtClean="0"/>
              <a:t>模板综合实例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链表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1052736"/>
            <a:ext cx="8839200" cy="5376639"/>
          </a:xfrm>
        </p:spPr>
        <p:txBody>
          <a:bodyPr/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链表的操作</a:t>
            </a:r>
            <a:endParaRPr lang="en-US" altLang="zh-CN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链表节点的插入的成员函数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T&gt; 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List&lt;T&gt;::Insert(T n)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Node&lt;T&gt;*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Node&lt;T&gt;(n);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(head==NULL)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head=tail=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nodeCount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zh-CN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dirty="0" smtClean="0"/>
              <a:t>模板综合实例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链表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980728"/>
            <a:ext cx="8610600" cy="5448647"/>
          </a:xfrm>
        </p:spPr>
        <p:txBody>
          <a:bodyPr/>
          <a:lstStyle/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altLang="zh-CN" sz="24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(n&lt;head-&gt;num)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-&gt;next=head;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head=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nodeCount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(n&gt;tail-&gt;num)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tail-&gt;next=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tail=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nodeCount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zh-CN" altLang="en-US" sz="2800" b="1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dirty="0" smtClean="0"/>
              <a:t>模板综合实例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链表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27100"/>
            <a:ext cx="8229600" cy="5502275"/>
          </a:xfrm>
        </p:spPr>
        <p:txBody>
          <a:bodyPr/>
          <a:lstStyle/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Node&lt;T&gt;*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=head;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-&gt;next!=NULL)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-&gt;num&lt;=n)&amp;&amp;(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-&gt;next-&gt;num&gt;n))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{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-&gt;next=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-&gt;next;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-&gt;next=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nodeCount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-&gt;next;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zh-CN" altLang="en-US" sz="2800" b="1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dirty="0" smtClean="0"/>
              <a:t>模板综合实例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链表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304631"/>
          </a:xfrm>
        </p:spPr>
        <p:txBody>
          <a:bodyPr/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链表的操作</a:t>
            </a:r>
            <a:endParaRPr lang="en-US" altLang="zh-CN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链表节点的删除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8113" y="2462195"/>
            <a:ext cx="8867775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8926" y="4176707"/>
            <a:ext cx="2524125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1538" y="4962525"/>
            <a:ext cx="6972300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dirty="0" smtClean="0"/>
              <a:t>模板综合实例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链表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38775"/>
          </a:xfrm>
        </p:spPr>
        <p:txBody>
          <a:bodyPr/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链表的操作</a:t>
            </a:r>
            <a:endParaRPr lang="en-US" altLang="zh-CN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链表节点的查找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2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输入数据值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2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返回该数据值所属链表节点的位置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链表全部节点数据项的输出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2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从第一个节点开始，逐项输出节点存储的数据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dirty="0" smtClean="0"/>
              <a:t>模板综合实例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链表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27100"/>
            <a:ext cx="8153400" cy="5788048"/>
          </a:xfrm>
        </p:spPr>
        <p:txBody>
          <a:bodyPr/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链表的创建与使用</a:t>
            </a:r>
            <a:endParaRPr lang="en-US" altLang="zh-CN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主函数中进行链表的创建以及对链表进行各类操作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main(){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List&lt;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list;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count;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&lt;&lt;"Please input the count of the node of the list: ";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&gt;&gt;count;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srand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(time(0));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=1;i&lt;=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count;i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	{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rand()%100;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//double 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tmp_double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/7.0;</a:t>
            </a:r>
            <a:endParaRPr lang="en-US" altLang="zh-CN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list.Insert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list.Print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zh-CN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dirty="0" smtClean="0"/>
              <a:t>模板综合实例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链表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736"/>
            <a:ext cx="8153400" cy="5448098"/>
          </a:xfrm>
        </p:spPr>
        <p:txBody>
          <a:bodyPr/>
          <a:lstStyle/>
          <a:p>
            <a:pPr lvl="1">
              <a:spcBef>
                <a:spcPts val="0"/>
              </a:spcBef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number;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&lt;&lt;"Please input the number of the node you want to insert: ";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&gt;&gt;number;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list.Insert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(number);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list.Print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&lt;&lt;"Please input the number of the node you want to delete: ";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&gt;&gt;number;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list.Remove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(number);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list.Print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&lt;&lt;"Please input the number of the node you want to search: ";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&gt;&gt;number;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list.Find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(number);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list.Print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zh-CN" altLang="en-US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6400" y="188640"/>
            <a:ext cx="5821784" cy="7384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类</a:t>
            </a:r>
            <a:r>
              <a:rPr lang="zh-CN" altLang="en-US" dirty="0" smtClean="0"/>
              <a:t>模板综合实例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链表</a:t>
            </a:r>
            <a:endParaRPr lang="en-US" altLang="zh-CN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标题 7"/>
          <p:cNvSpPr>
            <a:spLocks noGrp="1"/>
          </p:cNvSpPr>
          <p:nvPr>
            <p:ph type="ctrTitle"/>
          </p:nvPr>
        </p:nvSpPr>
        <p:spPr>
          <a:xfrm>
            <a:off x="714375" y="2000250"/>
            <a:ext cx="7715250" cy="1928813"/>
          </a:xfrm>
        </p:spPr>
        <p:txBody>
          <a:bodyPr/>
          <a:lstStyle/>
          <a:p>
            <a:pPr algn="ctr"/>
            <a:r>
              <a:rPr lang="en-US" altLang="zh-CN" dirty="0"/>
              <a:t>END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40152" y="6023538"/>
            <a:ext cx="3050277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chemeClr val="bg1"/>
                </a:solidFill>
                <a:latin typeface="+mn-lt"/>
                <a:ea typeface="方正姚体" panose="02010601030101010101" pitchFamily="2" charset="-122"/>
              </a:rPr>
              <a:t>计算机学院</a:t>
            </a:r>
            <a:r>
              <a:rPr lang="en-US" altLang="zh-CN" sz="1600" dirty="0">
                <a:solidFill>
                  <a:schemeClr val="bg1"/>
                </a:solidFill>
                <a:latin typeface="+mn-lt"/>
                <a:ea typeface="方正姚体" panose="02010601030101010101" pitchFamily="2" charset="-122"/>
              </a:rPr>
              <a:t>&amp;</a:t>
            </a:r>
            <a:r>
              <a:rPr lang="zh-CN" altLang="en-US" sz="1600" dirty="0">
                <a:solidFill>
                  <a:schemeClr val="bg1"/>
                </a:solidFill>
                <a:latin typeface="+mn-lt"/>
                <a:ea typeface="方正姚体" panose="02010601030101010101" pitchFamily="2" charset="-122"/>
              </a:rPr>
              <a:t>网络空间安全学院</a:t>
            </a:r>
            <a:endParaRPr lang="zh-CN" altLang="en-US" sz="1600" dirty="0">
              <a:solidFill>
                <a:schemeClr val="bg1"/>
              </a:solidFill>
              <a:latin typeface="+mn-lt"/>
              <a:ea typeface="方正姚体" panose="02010601030101010101" pitchFamily="2" charset="-122"/>
            </a:endParaRPr>
          </a:p>
        </p:txBody>
      </p:sp>
      <p:pic>
        <p:nvPicPr>
          <p:cNvPr id="9" name="图片 12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598192" y="5666350"/>
            <a:ext cx="14636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图片 9" descr="Logo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5740" y="5229200"/>
            <a:ext cx="1785980" cy="112157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MmQ0YjY5NjNhOGU1MTdjYjhiMmJlMGE5OTQ3MmI2NTkifQ=="/>
  <p:tag name="KSO_WPP_MARK_KEY" val="fafabbab-d570-4db4-be06-d775883e079c"/>
</p:tagLst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Edge">
  <a:themeElements>
    <a:clrScheme name="1_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1_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Metropolitan_bull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83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Edge">
  <a:themeElements>
    <a:clrScheme name="1_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1_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98_Edge">
  <a:themeElements>
    <a:clrScheme name="1_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1_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0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ue Warm">
    <a:dk1>
      <a:sysClr val="windowText" lastClr="000000"/>
    </a:dk1>
    <a:lt1>
      <a:sysClr val="window" lastClr="FFFFFF"/>
    </a:lt1>
    <a:dk2>
      <a:srgbClr val="242852"/>
    </a:dk2>
    <a:lt2>
      <a:srgbClr val="ACCBF9"/>
    </a:lt2>
    <a:accent1>
      <a:srgbClr val="4A66AC"/>
    </a:accent1>
    <a:accent2>
      <a:srgbClr val="629DD1"/>
    </a:accent2>
    <a:accent3>
      <a:srgbClr val="297FD5"/>
    </a:accent3>
    <a:accent4>
      <a:srgbClr val="7F8FA9"/>
    </a:accent4>
    <a:accent5>
      <a:srgbClr val="5AA2AE"/>
    </a:accent5>
    <a:accent6>
      <a:srgbClr val="9D90A0"/>
    </a:accent6>
    <a:hlink>
      <a:srgbClr val="9454C3"/>
    </a:hlink>
    <a:folHlink>
      <a:srgbClr val="3EBBF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15343</Words>
  <Application>WPS 演示</Application>
  <PresentationFormat>全屏显示(4:3)</PresentationFormat>
  <Paragraphs>1190</Paragraphs>
  <Slides>71</Slides>
  <Notes>54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71</vt:i4>
      </vt:variant>
    </vt:vector>
  </HeadingPairs>
  <TitlesOfParts>
    <vt:vector size="94" baseType="lpstr">
      <vt:lpstr>Arial</vt:lpstr>
      <vt:lpstr>宋体</vt:lpstr>
      <vt:lpstr>Wingdings</vt:lpstr>
      <vt:lpstr>MS PGothic</vt:lpstr>
      <vt:lpstr>Garamond</vt:lpstr>
      <vt:lpstr>等线</vt:lpstr>
      <vt:lpstr>Calibri</vt:lpstr>
      <vt:lpstr>Calibri</vt:lpstr>
      <vt:lpstr>方正姚体</vt:lpstr>
      <vt:lpstr>Verdana</vt:lpstr>
      <vt:lpstr>Courier New</vt:lpstr>
      <vt:lpstr>Tahoma</vt:lpstr>
      <vt:lpstr>微软雅黑</vt:lpstr>
      <vt:lpstr>Arial Unicode MS</vt:lpstr>
      <vt:lpstr>Edge</vt:lpstr>
      <vt:lpstr>2_Edge</vt:lpstr>
      <vt:lpstr>3_Edge</vt:lpstr>
      <vt:lpstr>1_Metropolitan_bullet</vt:lpstr>
      <vt:lpstr>83_Edge</vt:lpstr>
      <vt:lpstr>5_Edge</vt:lpstr>
      <vt:lpstr>7_Edge</vt:lpstr>
      <vt:lpstr>98_Edge</vt:lpstr>
      <vt:lpstr>10_Edge</vt:lpstr>
      <vt:lpstr> 高级语言C++程序设计 Lecture 11 类模板</vt:lpstr>
      <vt:lpstr>函数模板</vt:lpstr>
      <vt:lpstr>函数重载</vt:lpstr>
      <vt:lpstr>函数模板</vt:lpstr>
      <vt:lpstr>函数模板</vt:lpstr>
      <vt:lpstr>函数模板实例化</vt:lpstr>
      <vt:lpstr>函数模板</vt:lpstr>
      <vt:lpstr>函数模板</vt:lpstr>
      <vt:lpstr>函数模板与函数重载</vt:lpstr>
      <vt:lpstr>函数模板重载</vt:lpstr>
      <vt:lpstr>显式指定模板参数类型</vt:lpstr>
      <vt:lpstr>函数模板返回类型</vt:lpstr>
      <vt:lpstr>函数模板返回类型</vt:lpstr>
      <vt:lpstr>类模板</vt:lpstr>
      <vt:lpstr>类模板</vt:lpstr>
      <vt:lpstr>类模板</vt:lpstr>
      <vt:lpstr>类模板定义</vt:lpstr>
      <vt:lpstr>类模板定义</vt:lpstr>
      <vt:lpstr>类模板定义</vt:lpstr>
      <vt:lpstr>类模板定义</vt:lpstr>
      <vt:lpstr>类模板定义</vt:lpstr>
      <vt:lpstr>类模板实例化</vt:lpstr>
      <vt:lpstr>类模板实例化</vt:lpstr>
      <vt:lpstr>类模板实例化</vt:lpstr>
      <vt:lpstr>类模板实例化</vt:lpstr>
      <vt:lpstr>类模板实例化</vt:lpstr>
      <vt:lpstr>类模板实例化</vt:lpstr>
      <vt:lpstr>类模板实例化</vt:lpstr>
      <vt:lpstr>类模板实例化</vt:lpstr>
      <vt:lpstr>类模板的不同形式</vt:lpstr>
      <vt:lpstr>类模板的不同形式</vt:lpstr>
      <vt:lpstr>类模板的不同形式</vt:lpstr>
      <vt:lpstr>类模板的不同形式</vt:lpstr>
      <vt:lpstr>类模板的不同形式</vt:lpstr>
      <vt:lpstr>类模板的不同形式</vt:lpstr>
      <vt:lpstr>类模板的静态成员</vt:lpstr>
      <vt:lpstr>类模板的静态成员</vt:lpstr>
      <vt:lpstr>类模板的静态成员</vt:lpstr>
      <vt:lpstr>类模板的成员函数</vt:lpstr>
      <vt:lpstr>类模板的成员函数</vt:lpstr>
      <vt:lpstr>类模板的成员函数</vt:lpstr>
      <vt:lpstr>类模板的成员函数</vt:lpstr>
      <vt:lpstr>类模板与友元函数</vt:lpstr>
      <vt:lpstr>类模板与友元函数</vt:lpstr>
      <vt:lpstr>类模板与友元函数</vt:lpstr>
      <vt:lpstr>类型参数检测与特例版本</vt:lpstr>
      <vt:lpstr>类型参数检测与特例版本</vt:lpstr>
      <vt:lpstr>类型参数检测与特例版本</vt:lpstr>
      <vt:lpstr>类型参数检测与特例版本</vt:lpstr>
      <vt:lpstr>类模板的继承与派生</vt:lpstr>
      <vt:lpstr>类模板的继承与派生</vt:lpstr>
      <vt:lpstr>类模板的继承与派生</vt:lpstr>
      <vt:lpstr>类模板的继承与派生</vt:lpstr>
      <vt:lpstr>类模板综合实例 – 队列</vt:lpstr>
      <vt:lpstr>类模板综合实例 – 队列</vt:lpstr>
      <vt:lpstr>类模板综合实例 – 队列</vt:lpstr>
      <vt:lpstr>类模板综合实例 – 队列</vt:lpstr>
      <vt:lpstr>类模板综合实例 – 链表</vt:lpstr>
      <vt:lpstr>类模板综合实例 – 链表</vt:lpstr>
      <vt:lpstr>类模板综合实例 – 链表</vt:lpstr>
      <vt:lpstr>类模板综合实例 – 链表</vt:lpstr>
      <vt:lpstr>类模板综合实例 – 链表</vt:lpstr>
      <vt:lpstr>类模板综合实例 – 链表</vt:lpstr>
      <vt:lpstr>类模板综合实例 – 链表</vt:lpstr>
      <vt:lpstr>类模板综合实例 – 链表</vt:lpstr>
      <vt:lpstr>类模板综合实例 – 链表</vt:lpstr>
      <vt:lpstr>类模板综合实例 – 链表</vt:lpstr>
      <vt:lpstr>类模板综合实例 – 链表</vt:lpstr>
      <vt:lpstr>类模板综合实例 – 链表</vt:lpstr>
      <vt:lpstr>类模板综合实例 – 链表</vt:lpstr>
      <vt:lpstr>END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18-741  Advanced Computer Architecture Lecture 1: Intro and Basics</dc:title>
  <dc:creator>Onur Mutlu</dc:creator>
  <cp:lastModifiedBy>Li Yusen</cp:lastModifiedBy>
  <cp:revision>5427</cp:revision>
  <cp:lastPrinted>2019-02-21T13:52:00Z</cp:lastPrinted>
  <dcterms:created xsi:type="dcterms:W3CDTF">2010-09-08T00:51:00Z</dcterms:created>
  <dcterms:modified xsi:type="dcterms:W3CDTF">2023-04-19T12:07:51Z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C97EFDCBC9BD479583FA2F34F8F51D02</vt:lpwstr>
  </property>
  <property fmtid="{D5CDD505-2E9C-101B-9397-08002B2CF9AE}" pid="3" name="KSOProductBuildVer">
    <vt:lpwstr>2052-11.1.0.14036</vt:lpwstr>
  </property>
</Properties>
</file>