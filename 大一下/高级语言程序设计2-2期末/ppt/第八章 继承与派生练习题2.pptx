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125CC-5B43-43DE-B22C-6039F767B39E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C8EAC-5B10-4431-B010-B901521EEA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340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C8EAC-5B10-4431-B010-B901521EEAF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33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52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26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052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837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727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80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12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14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88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94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58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5FD68-4E9B-48CC-BEF7-15C4EBAA348F}" type="datetimeFigureOut">
              <a:rPr lang="zh-CN" altLang="en-US" smtClean="0"/>
              <a:t>2021/5/17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FF043-B3BA-4799-9603-DDA4A74482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22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986971"/>
            <a:ext cx="433433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/>
              <a:t>class A {</a:t>
            </a:r>
          </a:p>
          <a:p>
            <a:r>
              <a:rPr lang="zh-CN" altLang="en-US" sz="3600" dirty="0"/>
              <a:t>public:</a:t>
            </a:r>
          </a:p>
          <a:p>
            <a:r>
              <a:rPr lang="zh-CN" altLang="en-US" sz="3600" dirty="0"/>
              <a:t>    A(){cout&lt;&lt;"1";}</a:t>
            </a:r>
          </a:p>
          <a:p>
            <a:r>
              <a:rPr lang="zh-CN" altLang="en-US" sz="3600" dirty="0"/>
              <a:t>    ~A(){cout&lt;&lt;"2";}</a:t>
            </a:r>
          </a:p>
          <a:p>
            <a:r>
              <a:rPr lang="zh-CN" altLang="en-US" sz="3600" dirty="0"/>
              <a:t>};</a:t>
            </a:r>
          </a:p>
          <a:p>
            <a:r>
              <a:rPr lang="zh-CN" altLang="en-US" sz="3600" dirty="0"/>
              <a:t>class B: public A {</a:t>
            </a:r>
          </a:p>
          <a:p>
            <a:r>
              <a:rPr lang="zh-CN" altLang="en-US" sz="3600" dirty="0"/>
              <a:t>public:</a:t>
            </a:r>
          </a:p>
          <a:p>
            <a:r>
              <a:rPr lang="zh-CN" altLang="en-US" sz="3600" dirty="0"/>
              <a:t>    B(){cout&lt;&lt;"3";}</a:t>
            </a:r>
          </a:p>
          <a:p>
            <a:r>
              <a:rPr lang="zh-CN" altLang="en-US" sz="3600" dirty="0"/>
              <a:t>    ~B(){cout&lt;&lt;"4";}</a:t>
            </a:r>
          </a:p>
          <a:p>
            <a:r>
              <a:rPr lang="zh-CN" altLang="en-US" sz="3600" dirty="0"/>
              <a:t>};</a:t>
            </a:r>
          </a:p>
        </p:txBody>
      </p:sp>
      <p:sp>
        <p:nvSpPr>
          <p:cNvPr id="6" name="矩形 5"/>
          <p:cNvSpPr/>
          <p:nvPr/>
        </p:nvSpPr>
        <p:spPr>
          <a:xfrm>
            <a:off x="5609771" y="1707971"/>
            <a:ext cx="308428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/>
              <a:t>void main()  {</a:t>
            </a:r>
          </a:p>
          <a:p>
            <a:r>
              <a:rPr lang="zh-CN" altLang="en-US" sz="4000" dirty="0"/>
              <a:t>    B b;</a:t>
            </a:r>
          </a:p>
          <a:p>
            <a:r>
              <a:rPr lang="zh-CN" altLang="en-US" sz="4000" dirty="0"/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5725885" y="4542135"/>
            <a:ext cx="30842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1342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15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382812" y="812799"/>
            <a:ext cx="826770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class </a:t>
            </a:r>
            <a:r>
              <a:rPr lang="en-US" altLang="zh-CN" sz="3600" dirty="0" err="1"/>
              <a:t>MyClass</a:t>
            </a:r>
            <a:r>
              <a:rPr lang="en-US" altLang="zh-CN" sz="3600" dirty="0"/>
              <a:t> {</a:t>
            </a:r>
          </a:p>
          <a:p>
            <a:r>
              <a:rPr lang="en-US" altLang="zh-CN" sz="3600" dirty="0"/>
              <a:t>public:</a:t>
            </a:r>
          </a:p>
          <a:p>
            <a:r>
              <a:rPr lang="en-US" altLang="zh-CN" sz="3600" dirty="0"/>
              <a:t>    </a:t>
            </a:r>
            <a:r>
              <a:rPr lang="en-US" altLang="zh-CN" sz="3600" dirty="0" err="1"/>
              <a:t>MyClass</a:t>
            </a:r>
            <a:r>
              <a:rPr lang="en-US" altLang="zh-CN" sz="3600" dirty="0"/>
              <a:t>(){</a:t>
            </a:r>
            <a:r>
              <a:rPr lang="en-US" altLang="zh-CN" sz="3600" dirty="0" err="1"/>
              <a:t>cout</a:t>
            </a:r>
            <a:r>
              <a:rPr lang="en-US" altLang="zh-CN" sz="3600" dirty="0"/>
              <a:t>&lt;&lt;"A";}</a:t>
            </a:r>
          </a:p>
          <a:p>
            <a:r>
              <a:rPr lang="en-US" altLang="zh-CN" sz="3600" dirty="0"/>
              <a:t>    </a:t>
            </a:r>
            <a:r>
              <a:rPr lang="en-US" altLang="zh-CN" sz="3600" dirty="0" err="1"/>
              <a:t>MyClass</a:t>
            </a:r>
            <a:r>
              <a:rPr lang="en-US" altLang="zh-CN" sz="3600" dirty="0"/>
              <a:t>(char c){</a:t>
            </a:r>
            <a:r>
              <a:rPr lang="en-US" altLang="zh-CN" sz="3600" dirty="0" err="1"/>
              <a:t>cout</a:t>
            </a:r>
            <a:r>
              <a:rPr lang="en-US" altLang="zh-CN" sz="3600" dirty="0"/>
              <a:t>&lt;&lt;c;}</a:t>
            </a:r>
          </a:p>
          <a:p>
            <a:r>
              <a:rPr lang="en-US" altLang="zh-CN" sz="3600" dirty="0"/>
              <a:t>    ~</a:t>
            </a:r>
            <a:r>
              <a:rPr lang="en-US" altLang="zh-CN" sz="3600" dirty="0" err="1"/>
              <a:t>MyClass</a:t>
            </a:r>
            <a:r>
              <a:rPr lang="en-US" altLang="zh-CN" sz="3600" dirty="0"/>
              <a:t>() {</a:t>
            </a:r>
            <a:r>
              <a:rPr lang="en-US" altLang="zh-CN" sz="3600" dirty="0" err="1"/>
              <a:t>cout</a:t>
            </a:r>
            <a:r>
              <a:rPr lang="en-US" altLang="zh-CN" sz="3600" dirty="0"/>
              <a:t>&lt;&lt;"B";}</a:t>
            </a:r>
          </a:p>
          <a:p>
            <a:r>
              <a:rPr lang="en-US" altLang="zh-CN" sz="3600" dirty="0"/>
              <a:t>};</a:t>
            </a:r>
          </a:p>
          <a:p>
            <a:r>
              <a:rPr lang="en-US" altLang="zh-CN" sz="3600" dirty="0"/>
              <a:t>void main() {</a:t>
            </a:r>
          </a:p>
          <a:p>
            <a:r>
              <a:rPr lang="en-US" altLang="zh-CN" sz="3600" dirty="0"/>
              <a:t>    </a:t>
            </a:r>
            <a:r>
              <a:rPr lang="en-US" altLang="zh-CN" sz="3600" dirty="0" err="1"/>
              <a:t>MyClass</a:t>
            </a:r>
            <a:r>
              <a:rPr lang="en-US" altLang="zh-CN" sz="3600" dirty="0"/>
              <a:t> p1, *p2;</a:t>
            </a:r>
          </a:p>
          <a:p>
            <a:r>
              <a:rPr lang="en-US" altLang="zh-CN" sz="3600" dirty="0"/>
              <a:t>    p2 = new </a:t>
            </a:r>
            <a:r>
              <a:rPr lang="en-US" altLang="zh-CN" sz="3600" dirty="0" err="1"/>
              <a:t>MyClass</a:t>
            </a:r>
            <a:r>
              <a:rPr lang="en-US" altLang="zh-CN" sz="3600" dirty="0"/>
              <a:t>(‘X’);</a:t>
            </a:r>
          </a:p>
          <a:p>
            <a:r>
              <a:rPr lang="en-US" altLang="zh-CN" sz="3600" dirty="0"/>
              <a:t>    delete p2;</a:t>
            </a:r>
          </a:p>
          <a:p>
            <a:r>
              <a:rPr lang="en-US" altLang="zh-CN" sz="3600" dirty="0"/>
              <a:t>}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AXBB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92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382812" y="812799"/>
            <a:ext cx="826770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class CD {</a:t>
            </a:r>
          </a:p>
          <a:p>
            <a:r>
              <a:rPr lang="en-US" altLang="zh-CN" sz="3600" dirty="0"/>
              <a:t>public:</a:t>
            </a:r>
          </a:p>
          <a:p>
            <a:r>
              <a:rPr lang="en-US" altLang="zh-CN" sz="3600" dirty="0"/>
              <a:t>    ~CD(){</a:t>
            </a:r>
            <a:r>
              <a:rPr lang="en-US" altLang="zh-CN" sz="3600" dirty="0" err="1"/>
              <a:t>cout</a:t>
            </a:r>
            <a:r>
              <a:rPr lang="en-US" altLang="zh-CN" sz="3600" dirty="0"/>
              <a:t>&lt;&lt;"C";}</a:t>
            </a:r>
          </a:p>
          <a:p>
            <a:r>
              <a:rPr lang="en-US" altLang="zh-CN" sz="3600" dirty="0"/>
              <a:t>private:</a:t>
            </a:r>
          </a:p>
          <a:p>
            <a:r>
              <a:rPr lang="en-US" altLang="zh-CN" sz="3600" dirty="0"/>
              <a:t>    char name[80];</a:t>
            </a:r>
          </a:p>
          <a:p>
            <a:r>
              <a:rPr lang="en-US" altLang="zh-CN" sz="3600" dirty="0"/>
              <a:t>};</a:t>
            </a:r>
          </a:p>
          <a:p>
            <a:r>
              <a:rPr lang="en-US" altLang="zh-CN" sz="3600" dirty="0"/>
              <a:t>void main() {</a:t>
            </a:r>
          </a:p>
          <a:p>
            <a:r>
              <a:rPr lang="en-US" altLang="zh-CN" sz="3600" dirty="0"/>
              <a:t>    CD a, *b, d[2];</a:t>
            </a:r>
          </a:p>
          <a:p>
            <a:r>
              <a:rPr lang="en-US" altLang="zh-CN" sz="3600" dirty="0"/>
              <a:t>}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CCC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59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116114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382812" y="812799"/>
            <a:ext cx="826770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/>
              <a:t>class Base {</a:t>
            </a:r>
          </a:p>
          <a:p>
            <a:r>
              <a:rPr lang="en-US" altLang="zh-CN" sz="3600" dirty="0"/>
              <a:t>protected:</a:t>
            </a:r>
          </a:p>
          <a:p>
            <a:r>
              <a:rPr lang="en-US" altLang="zh-CN" sz="3600" dirty="0"/>
              <a:t>    Base(){</a:t>
            </a:r>
            <a:r>
              <a:rPr lang="en-US" altLang="zh-CN" sz="3600" dirty="0" err="1"/>
              <a:t>cout</a:t>
            </a:r>
            <a:r>
              <a:rPr lang="en-US" altLang="zh-CN" sz="3600" dirty="0"/>
              <a:t>&lt;&lt;"A";}</a:t>
            </a:r>
          </a:p>
          <a:p>
            <a:r>
              <a:rPr lang="en-US" altLang="zh-CN" sz="3600" dirty="0"/>
              <a:t>    Base(char c) {</a:t>
            </a:r>
            <a:r>
              <a:rPr lang="en-US" altLang="zh-CN" sz="3600" dirty="0" err="1"/>
              <a:t>cout</a:t>
            </a:r>
            <a:r>
              <a:rPr lang="en-US" altLang="zh-CN" sz="3600" dirty="0"/>
              <a:t>&lt;&lt;c;}</a:t>
            </a:r>
          </a:p>
          <a:p>
            <a:r>
              <a:rPr lang="en-US" altLang="zh-CN" sz="3600" dirty="0"/>
              <a:t>};</a:t>
            </a:r>
          </a:p>
          <a:p>
            <a:r>
              <a:rPr lang="en-US" altLang="zh-CN" sz="3600" dirty="0"/>
              <a:t>class Derived: public Base {</a:t>
            </a:r>
          </a:p>
          <a:p>
            <a:r>
              <a:rPr lang="en-US" altLang="zh-CN" sz="3600" dirty="0"/>
              <a:t>public:</a:t>
            </a:r>
          </a:p>
          <a:p>
            <a:r>
              <a:rPr lang="en-US" altLang="zh-CN" sz="3600" dirty="0"/>
              <a:t>    Derived(char c) {</a:t>
            </a:r>
            <a:r>
              <a:rPr lang="en-US" altLang="zh-CN" sz="3600" dirty="0" err="1"/>
              <a:t>cout</a:t>
            </a:r>
            <a:r>
              <a:rPr lang="en-US" altLang="zh-CN" sz="3600" dirty="0"/>
              <a:t>&lt;&lt;c;}</a:t>
            </a:r>
          </a:p>
          <a:p>
            <a:r>
              <a:rPr lang="en-US" altLang="zh-CN" sz="3600" dirty="0"/>
              <a:t>};</a:t>
            </a:r>
          </a:p>
          <a:p>
            <a:r>
              <a:rPr lang="en-US" altLang="zh-CN" sz="3600" dirty="0"/>
              <a:t>void main() {</a:t>
            </a:r>
          </a:p>
          <a:p>
            <a:r>
              <a:rPr lang="en-US" altLang="zh-CN" sz="3600" dirty="0"/>
              <a:t>    Derived d1(‘B’); }</a:t>
            </a:r>
            <a:endParaRPr lang="zh-CN" altLang="en-US" sz="3600" dirty="0"/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AB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252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-130630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487025"/>
            <a:ext cx="8267702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class 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 {</a:t>
            </a:r>
          </a:p>
          <a:p>
            <a:r>
              <a:rPr lang="en-US" altLang="zh-CN" sz="2400" dirty="0"/>
              <a:t>public: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(){++count;}</a:t>
            </a:r>
          </a:p>
          <a:p>
            <a:r>
              <a:rPr lang="en-US" altLang="zh-CN" sz="2400" dirty="0"/>
              <a:t>    ~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()() {--count;}</a:t>
            </a:r>
          </a:p>
          <a:p>
            <a:r>
              <a:rPr lang="en-US" altLang="zh-CN" sz="2400" dirty="0"/>
              <a:t>    static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getCount</a:t>
            </a:r>
            <a:r>
              <a:rPr lang="en-US" altLang="zh-CN" sz="2400" dirty="0"/>
              <a:t>(){return count;}</a:t>
            </a:r>
          </a:p>
          <a:p>
            <a:r>
              <a:rPr lang="en-US" altLang="zh-CN" sz="2400" dirty="0"/>
              <a:t>private:</a:t>
            </a:r>
          </a:p>
          <a:p>
            <a:r>
              <a:rPr lang="en-US" altLang="zh-CN" sz="2400" dirty="0"/>
              <a:t>    static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count;</a:t>
            </a:r>
          </a:p>
          <a:p>
            <a:r>
              <a:rPr lang="en-US" altLang="zh-CN" sz="2400" dirty="0"/>
              <a:t>};</a:t>
            </a:r>
          </a:p>
          <a:p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::count=0;</a:t>
            </a:r>
          </a:p>
          <a:p>
            <a:r>
              <a:rPr lang="en-US" altLang="zh-CN" sz="2400" dirty="0"/>
              <a:t>void main() {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 </a:t>
            </a:r>
            <a:r>
              <a:rPr lang="en-US" altLang="zh-CN" sz="2400" dirty="0" err="1"/>
              <a:t>obj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&lt;&lt;</a:t>
            </a:r>
            <a:r>
              <a:rPr lang="en-US" altLang="zh-CN" sz="2400" dirty="0" err="1"/>
              <a:t>obj.getCount</a:t>
            </a:r>
            <a:r>
              <a:rPr lang="en-US" altLang="zh-CN" sz="2400" dirty="0"/>
              <a:t>();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 *</a:t>
            </a:r>
            <a:r>
              <a:rPr lang="en-US" altLang="zh-CN" sz="2400" dirty="0" err="1"/>
              <a:t>ptr</a:t>
            </a:r>
            <a:r>
              <a:rPr lang="en-US" altLang="zh-CN" sz="2400" dirty="0"/>
              <a:t> = new 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&lt;&lt;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::</a:t>
            </a:r>
            <a:r>
              <a:rPr lang="en-US" altLang="zh-CN" sz="2400" dirty="0" err="1"/>
              <a:t>getCount</a:t>
            </a:r>
            <a:r>
              <a:rPr lang="en-US" altLang="zh-CN" sz="2400" dirty="0"/>
              <a:t>();</a:t>
            </a:r>
          </a:p>
          <a:p>
            <a:r>
              <a:rPr lang="en-US" altLang="zh-CN" sz="2400" dirty="0"/>
              <a:t>    delete </a:t>
            </a:r>
            <a:r>
              <a:rPr lang="en-US" altLang="zh-CN" sz="2400" dirty="0" err="1"/>
              <a:t>ptr</a:t>
            </a:r>
            <a:r>
              <a:rPr lang="en-US" altLang="zh-CN" sz="2400" dirty="0"/>
              <a:t>;</a:t>
            </a:r>
          </a:p>
          <a:p>
            <a:r>
              <a:rPr lang="en-US" altLang="zh-CN" sz="2400" dirty="0"/>
              <a:t>    </a:t>
            </a:r>
            <a:r>
              <a:rPr lang="en-US" altLang="zh-CN" sz="2400" dirty="0" err="1"/>
              <a:t>cout</a:t>
            </a:r>
            <a:r>
              <a:rPr lang="en-US" altLang="zh-CN" sz="2400" dirty="0"/>
              <a:t>&lt;&lt;</a:t>
            </a:r>
            <a:r>
              <a:rPr lang="en-US" altLang="zh-CN" sz="2400" dirty="0" err="1"/>
              <a:t>MyClass</a:t>
            </a:r>
            <a:r>
              <a:rPr lang="en-US" altLang="zh-CN" sz="2400" dirty="0"/>
              <a:t>::</a:t>
            </a:r>
            <a:r>
              <a:rPr lang="en-US" altLang="zh-CN" sz="2400" dirty="0" err="1"/>
              <a:t>getCount</a:t>
            </a:r>
            <a:r>
              <a:rPr lang="en-US" altLang="zh-CN" sz="2400" dirty="0"/>
              <a:t>();</a:t>
            </a:r>
          </a:p>
          <a:p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121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50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-130630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487025"/>
            <a:ext cx="826770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class Base {</a:t>
            </a:r>
          </a:p>
          <a:p>
            <a:r>
              <a:rPr lang="en-US" altLang="zh-CN" sz="3200" dirty="0"/>
              <a:t>public:</a:t>
            </a:r>
          </a:p>
          <a:p>
            <a:r>
              <a:rPr lang="en-US" altLang="zh-CN" sz="3200" dirty="0"/>
              <a:t>    Base(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x=0){</a:t>
            </a:r>
            <a:r>
              <a:rPr lang="en-US" altLang="zh-CN" sz="3200" dirty="0" err="1"/>
              <a:t>cout</a:t>
            </a:r>
            <a:r>
              <a:rPr lang="en-US" altLang="zh-CN" sz="3200" dirty="0"/>
              <a:t>&lt;&lt;x;}</a:t>
            </a:r>
          </a:p>
          <a:p>
            <a:r>
              <a:rPr lang="en-US" altLang="zh-CN" sz="3200" dirty="0"/>
              <a:t>};</a:t>
            </a:r>
          </a:p>
          <a:p>
            <a:r>
              <a:rPr lang="en-US" altLang="zh-CN" sz="3200" dirty="0"/>
              <a:t>class Derived: public Base{</a:t>
            </a:r>
          </a:p>
          <a:p>
            <a:r>
              <a:rPr lang="en-US" altLang="zh-CN" sz="3200" dirty="0"/>
              <a:t>public:</a:t>
            </a:r>
          </a:p>
          <a:p>
            <a:r>
              <a:rPr lang="en-US" altLang="zh-CN" sz="3200" dirty="0"/>
              <a:t>    Derived(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x=0){</a:t>
            </a:r>
            <a:r>
              <a:rPr lang="en-US" altLang="zh-CN" sz="3200" dirty="0" err="1"/>
              <a:t>cout</a:t>
            </a:r>
            <a:r>
              <a:rPr lang="en-US" altLang="zh-CN" sz="3200" dirty="0"/>
              <a:t>&lt;&lt;x;}</a:t>
            </a:r>
          </a:p>
          <a:p>
            <a:r>
              <a:rPr lang="en-US" altLang="zh-CN" sz="3200" dirty="0"/>
              <a:t>private:</a:t>
            </a:r>
          </a:p>
          <a:p>
            <a:r>
              <a:rPr lang="en-US" altLang="zh-CN" sz="3200" dirty="0"/>
              <a:t>    Base </a:t>
            </a:r>
            <a:r>
              <a:rPr lang="en-US" altLang="zh-CN" sz="3200" dirty="0" err="1"/>
              <a:t>val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}</a:t>
            </a:r>
          </a:p>
          <a:p>
            <a:r>
              <a:rPr lang="en-US" altLang="zh-CN" sz="3200" dirty="0"/>
              <a:t>void main() {</a:t>
            </a:r>
          </a:p>
          <a:p>
            <a:r>
              <a:rPr lang="en-US" altLang="zh-CN" sz="3200" dirty="0"/>
              <a:t>    Derived d(1);</a:t>
            </a:r>
          </a:p>
          <a:p>
            <a:r>
              <a:rPr lang="en-US" altLang="zh-CN" sz="3200" dirty="0"/>
              <a:t>}</a:t>
            </a:r>
            <a:endParaRPr lang="zh-CN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001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35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-130630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487025"/>
            <a:ext cx="826770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class A {</a:t>
            </a:r>
          </a:p>
          <a:p>
            <a:r>
              <a:rPr lang="en-US" altLang="zh-CN" sz="3200" dirty="0"/>
              <a:t>    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a;</a:t>
            </a:r>
          </a:p>
          <a:p>
            <a:r>
              <a:rPr lang="en-US" altLang="zh-CN" sz="3200" dirty="0"/>
              <a:t>public:</a:t>
            </a:r>
          </a:p>
          <a:p>
            <a:r>
              <a:rPr lang="en-US" altLang="zh-CN" sz="3200" dirty="0"/>
              <a:t>    A() {}</a:t>
            </a:r>
          </a:p>
          <a:p>
            <a:r>
              <a:rPr lang="en-US" altLang="zh-CN" sz="3200" dirty="0"/>
              <a:t>    A(</a:t>
            </a:r>
            <a:r>
              <a:rPr lang="en-US" altLang="zh-CN" sz="3200" dirty="0" err="1"/>
              <a:t>int</a:t>
            </a:r>
            <a:r>
              <a:rPr lang="en-US" altLang="zh-CN" sz="3200" dirty="0"/>
              <a:t> x){a = x; </a:t>
            </a:r>
            <a:r>
              <a:rPr lang="en-US" altLang="zh-CN" sz="3200" dirty="0" err="1"/>
              <a:t>cout</a:t>
            </a:r>
            <a:r>
              <a:rPr lang="en-US" altLang="zh-CN" sz="3200" dirty="0"/>
              <a:t>&lt;&lt;"1";}</a:t>
            </a:r>
          </a:p>
          <a:p>
            <a:r>
              <a:rPr lang="en-US" altLang="zh-CN" sz="3200" dirty="0"/>
              <a:t>    ~A(){</a:t>
            </a:r>
            <a:r>
              <a:rPr lang="en-US" altLang="zh-CN" sz="3200" dirty="0" err="1"/>
              <a:t>cout</a:t>
            </a:r>
            <a:r>
              <a:rPr lang="en-US" altLang="zh-CN" sz="3200" dirty="0"/>
              <a:t>&lt;&lt;"2";}</a:t>
            </a:r>
          </a:p>
          <a:p>
            <a:r>
              <a:rPr lang="en-US" altLang="zh-CN" sz="3200" dirty="0"/>
              <a:t>};</a:t>
            </a:r>
          </a:p>
          <a:p>
            <a:r>
              <a:rPr lang="en-US" altLang="zh-CN" sz="3200" dirty="0"/>
              <a:t>class B: public A{</a:t>
            </a:r>
          </a:p>
          <a:p>
            <a:r>
              <a:rPr lang="en-US" altLang="zh-CN" sz="3200" dirty="0"/>
              <a:t>public:</a:t>
            </a:r>
          </a:p>
          <a:p>
            <a:r>
              <a:rPr lang="en-US" altLang="zh-CN" sz="3200" dirty="0"/>
              <a:t>    B(){</a:t>
            </a:r>
            <a:r>
              <a:rPr lang="en-US" altLang="zh-CN" sz="3200" dirty="0" err="1"/>
              <a:t>cout</a:t>
            </a:r>
            <a:r>
              <a:rPr lang="en-US" altLang="zh-CN" sz="3200" dirty="0"/>
              <a:t>&lt;&lt;"3";}</a:t>
            </a:r>
          </a:p>
          <a:p>
            <a:r>
              <a:rPr lang="en-US" altLang="zh-CN" sz="3200" dirty="0"/>
              <a:t>    ~B(){</a:t>
            </a:r>
            <a:r>
              <a:rPr lang="en-US" altLang="zh-CN" sz="3200" dirty="0" err="1"/>
              <a:t>cout</a:t>
            </a:r>
            <a:r>
              <a:rPr lang="en-US" altLang="zh-CN" sz="3200" dirty="0"/>
              <a:t>&lt;&lt;"4";}</a:t>
            </a:r>
          </a:p>
          <a:p>
            <a:r>
              <a:rPr lang="en-US" altLang="zh-CN" sz="3200" dirty="0"/>
              <a:t>};</a:t>
            </a:r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13422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87143" y="869363"/>
            <a:ext cx="29110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/>
              <a:t>void main() {</a:t>
            </a:r>
          </a:p>
          <a:p>
            <a:r>
              <a:rPr lang="en-US" altLang="zh-CN" sz="3200" dirty="0"/>
              <a:t>    A c(1);</a:t>
            </a:r>
          </a:p>
          <a:p>
            <a:r>
              <a:rPr lang="en-US" altLang="zh-CN" sz="3200" dirty="0"/>
              <a:t>    B </a:t>
            </a:r>
            <a:r>
              <a:rPr lang="en-US" altLang="zh-CN" sz="3200" dirty="0" err="1"/>
              <a:t>b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}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9622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-130630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487025"/>
            <a:ext cx="8267702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class Base 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m, n;</a:t>
            </a:r>
          </a:p>
          <a:p>
            <a:r>
              <a:rPr lang="en-US" altLang="zh-CN" sz="2800" dirty="0"/>
              <a:t>    Base(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j): m(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),n(j){}</a:t>
            </a:r>
          </a:p>
          <a:p>
            <a:r>
              <a:rPr lang="en-US" altLang="zh-CN" sz="2800" dirty="0"/>
              <a:t>};</a:t>
            </a:r>
          </a:p>
          <a:p>
            <a:r>
              <a:rPr lang="en-US" altLang="zh-CN" sz="2800" dirty="0"/>
              <a:t>class Derived: public Base{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m, k;</a:t>
            </a:r>
          </a:p>
          <a:p>
            <a:r>
              <a:rPr lang="en-US" altLang="zh-CN" sz="2800" dirty="0"/>
              <a:t>    Derived (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,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j): Base(</a:t>
            </a:r>
            <a:r>
              <a:rPr lang="en-US" altLang="zh-CN" sz="2800" dirty="0" err="1"/>
              <a:t>i,j</a:t>
            </a:r>
            <a:r>
              <a:rPr lang="en-US" altLang="zh-CN" sz="2800" dirty="0"/>
              <a:t>),m(i+1),k(j+1){}</a:t>
            </a:r>
          </a:p>
          <a:p>
            <a:r>
              <a:rPr lang="en-US" altLang="zh-CN" sz="2800" dirty="0"/>
              <a:t>};</a:t>
            </a:r>
          </a:p>
          <a:p>
            <a:r>
              <a:rPr lang="en-US" altLang="zh-CN" sz="2800" dirty="0"/>
              <a:t>void main() {</a:t>
            </a:r>
          </a:p>
          <a:p>
            <a:r>
              <a:rPr lang="en-US" altLang="zh-CN" sz="2800" dirty="0"/>
              <a:t>    Derived d(1,5);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</a:t>
            </a:r>
            <a:r>
              <a:rPr lang="en-US" altLang="zh-CN" sz="2800" dirty="0" err="1"/>
              <a:t>d.m</a:t>
            </a:r>
            <a:r>
              <a:rPr lang="en-US" altLang="zh-CN" sz="2800" dirty="0"/>
              <a:t>&lt;&lt;</a:t>
            </a:r>
            <a:r>
              <a:rPr lang="en-US" altLang="zh-CN" sz="2800" dirty="0" err="1"/>
              <a:t>d.k</a:t>
            </a:r>
            <a:r>
              <a:rPr lang="en-US" altLang="zh-CN" sz="2800" dirty="0"/>
              <a:t>&lt;&lt;</a:t>
            </a:r>
            <a:r>
              <a:rPr lang="en-US" altLang="zh-CN" sz="2800" dirty="0" err="1"/>
              <a:t>d.n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265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48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-130630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487025"/>
            <a:ext cx="826770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class A 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virtual void display(){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&lt;&lt;"A";}</a:t>
            </a:r>
          </a:p>
          <a:p>
            <a:r>
              <a:rPr lang="en-US" altLang="zh-CN" sz="2800" dirty="0"/>
              <a:t>};</a:t>
            </a:r>
          </a:p>
          <a:p>
            <a:r>
              <a:rPr lang="en-US" altLang="zh-CN" sz="2800" dirty="0"/>
              <a:t>class B: public A{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virtual void display(){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&lt;&lt;"B";}</a:t>
            </a:r>
          </a:p>
          <a:p>
            <a:r>
              <a:rPr lang="en-US" altLang="zh-CN" sz="2800" dirty="0"/>
              <a:t>};</a:t>
            </a:r>
          </a:p>
          <a:p>
            <a:r>
              <a:rPr lang="en-US" altLang="zh-CN" sz="2800" dirty="0"/>
              <a:t>class C: public A{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virtual void display(){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&lt;&lt;"C";}</a:t>
            </a:r>
          </a:p>
          <a:p>
            <a:r>
              <a:rPr lang="en-US" altLang="zh-CN" sz="28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98300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-130630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487025"/>
            <a:ext cx="826770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int</a:t>
            </a:r>
            <a:r>
              <a:rPr lang="en-US" altLang="zh-CN" sz="2800" dirty="0"/>
              <a:t> main() {</a:t>
            </a:r>
          </a:p>
          <a:p>
            <a:r>
              <a:rPr lang="en-US" altLang="zh-CN" sz="2800" dirty="0"/>
              <a:t>    A </a:t>
            </a:r>
            <a:r>
              <a:rPr lang="en-US" altLang="zh-CN" sz="2800" dirty="0" err="1"/>
              <a:t>a</a:t>
            </a:r>
            <a:r>
              <a:rPr lang="en-US" altLang="zh-CN" sz="2800" dirty="0"/>
              <a:t>, aa;</a:t>
            </a:r>
          </a:p>
          <a:p>
            <a:r>
              <a:rPr lang="en-US" altLang="zh-CN" sz="2800" dirty="0"/>
              <a:t>    B </a:t>
            </a:r>
            <a:r>
              <a:rPr lang="en-US" altLang="zh-CN" sz="2800" dirty="0" err="1"/>
              <a:t>b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    C </a:t>
            </a:r>
            <a:r>
              <a:rPr lang="en-US" altLang="zh-CN" sz="2800" dirty="0" err="1"/>
              <a:t>c</a:t>
            </a:r>
            <a:r>
              <a:rPr lang="en-US" altLang="zh-CN" sz="2800" dirty="0"/>
              <a:t>, cc, ccc;</a:t>
            </a:r>
          </a:p>
          <a:p>
            <a:r>
              <a:rPr lang="en-US" altLang="zh-CN" sz="2800" dirty="0"/>
              <a:t>    A *pa[6] = {&amp;a, &amp;aa, &amp;b, &amp;c, &amp;cc, &amp;ccc};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= 0;</a:t>
            </a:r>
          </a:p>
          <a:p>
            <a:r>
              <a:rPr lang="en-US" altLang="zh-CN" sz="2800" dirty="0"/>
              <a:t>    for(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&lt;6; ++</a:t>
            </a:r>
            <a:r>
              <a:rPr lang="en-US" altLang="zh-CN" sz="2800" dirty="0" err="1"/>
              <a:t>i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        pa[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]-&gt;display();</a:t>
            </a:r>
          </a:p>
          <a:p>
            <a:r>
              <a:rPr lang="en-US" altLang="zh-CN" sz="2800" dirty="0"/>
              <a:t>    return 0;</a:t>
            </a:r>
          </a:p>
          <a:p>
            <a:r>
              <a:rPr lang="en-US" altLang="zh-CN" sz="2800" dirty="0"/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AABCCC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82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-130630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487025"/>
            <a:ext cx="826770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class A 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virtual void display(){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&lt;&lt;"A";}</a:t>
            </a:r>
          </a:p>
          <a:p>
            <a:r>
              <a:rPr lang="en-US" altLang="zh-CN" sz="2800" dirty="0"/>
              <a:t>};</a:t>
            </a:r>
          </a:p>
          <a:p>
            <a:r>
              <a:rPr lang="en-US" altLang="zh-CN" sz="2800" dirty="0"/>
              <a:t>class B: public A{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virtual void display(){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&lt;&lt;"B";}</a:t>
            </a:r>
          </a:p>
          <a:p>
            <a:r>
              <a:rPr lang="en-US" altLang="zh-CN" sz="2800" dirty="0"/>
              <a:t>};</a:t>
            </a:r>
          </a:p>
          <a:p>
            <a:r>
              <a:rPr lang="en-US" altLang="zh-CN" sz="2800" dirty="0"/>
              <a:t>void f(A &amp;r) {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r.display</a:t>
            </a:r>
            <a:r>
              <a:rPr lang="en-US" altLang="zh-CN" sz="2800" dirty="0"/>
              <a:t>();</a:t>
            </a:r>
          </a:p>
          <a:p>
            <a:r>
              <a:rPr lang="en-US" altLang="zh-CN" sz="2800" dirty="0"/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BA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27749" y="917912"/>
            <a:ext cx="277041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/>
              <a:t>int</a:t>
            </a:r>
            <a:r>
              <a:rPr lang="en-US" altLang="zh-CN" sz="3200" dirty="0"/>
              <a:t> main() {</a:t>
            </a:r>
          </a:p>
          <a:p>
            <a:r>
              <a:rPr lang="en-US" altLang="zh-CN" sz="3200" dirty="0"/>
              <a:t>    B </a:t>
            </a:r>
            <a:r>
              <a:rPr lang="en-US" altLang="zh-CN" sz="3200" dirty="0" err="1"/>
              <a:t>b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    f(b);</a:t>
            </a:r>
          </a:p>
          <a:p>
            <a:r>
              <a:rPr lang="en-US" altLang="zh-CN" sz="3200" dirty="0"/>
              <a:t>    A </a:t>
            </a:r>
            <a:r>
              <a:rPr lang="en-US" altLang="zh-CN" sz="3200" dirty="0" err="1"/>
              <a:t>a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    f(a);</a:t>
            </a:r>
          </a:p>
          <a:p>
            <a:r>
              <a:rPr lang="en-US" altLang="zh-CN" sz="3200" dirty="0"/>
              <a:t>    return 0;</a:t>
            </a:r>
          </a:p>
          <a:p>
            <a:r>
              <a:rPr lang="en-US" altLang="zh-C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416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163" y="-130630"/>
            <a:ext cx="7886700" cy="870857"/>
          </a:xfrm>
        </p:spPr>
        <p:txBody>
          <a:bodyPr>
            <a:normAutofit/>
          </a:bodyPr>
          <a:lstStyle/>
          <a:p>
            <a:r>
              <a:rPr lang="zh-CN" altLang="en-US" sz="3200" b="1" dirty="0"/>
              <a:t>下面程序的运行结果是</a:t>
            </a:r>
            <a:r>
              <a:rPr lang="en-US" altLang="zh-CN" sz="3200" b="1" dirty="0"/>
              <a:t>?</a:t>
            </a:r>
            <a:endParaRPr lang="zh-CN" altLang="en-US" sz="3200" b="1" dirty="0"/>
          </a:p>
        </p:txBody>
      </p:sp>
      <p:sp>
        <p:nvSpPr>
          <p:cNvPr id="5" name="矩形 4"/>
          <p:cNvSpPr/>
          <p:nvPr/>
        </p:nvSpPr>
        <p:spPr>
          <a:xfrm>
            <a:off x="426355" y="487025"/>
            <a:ext cx="826770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class A 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void display(){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&lt;&lt;"A";}</a:t>
            </a:r>
          </a:p>
          <a:p>
            <a:r>
              <a:rPr lang="en-US" altLang="zh-CN" sz="2800" dirty="0"/>
              <a:t>};</a:t>
            </a:r>
          </a:p>
          <a:p>
            <a:r>
              <a:rPr lang="en-US" altLang="zh-CN" sz="2800" dirty="0"/>
              <a:t>class B: public A{</a:t>
            </a:r>
          </a:p>
          <a:p>
            <a:r>
              <a:rPr lang="en-US" altLang="zh-CN" sz="2800" dirty="0"/>
              <a:t>public:</a:t>
            </a:r>
          </a:p>
          <a:p>
            <a:r>
              <a:rPr lang="en-US" altLang="zh-CN" sz="2800" dirty="0"/>
              <a:t>    void display(){</a:t>
            </a:r>
            <a:r>
              <a:rPr lang="en-US" altLang="zh-CN" sz="2800" dirty="0" err="1"/>
              <a:t>cout</a:t>
            </a:r>
            <a:r>
              <a:rPr lang="en-US" altLang="zh-CN" sz="2800" dirty="0"/>
              <a:t>&lt;&lt;"B";}</a:t>
            </a:r>
          </a:p>
          <a:p>
            <a:r>
              <a:rPr lang="en-US" altLang="zh-CN" sz="2800" dirty="0"/>
              <a:t>};</a:t>
            </a:r>
          </a:p>
          <a:p>
            <a:r>
              <a:rPr lang="en-US" altLang="zh-CN" sz="2800" dirty="0"/>
              <a:t>void f(A &amp;r) {</a:t>
            </a:r>
          </a:p>
          <a:p>
            <a:r>
              <a:rPr lang="en-US" altLang="zh-CN" sz="2800" dirty="0"/>
              <a:t>    </a:t>
            </a:r>
            <a:r>
              <a:rPr lang="en-US" altLang="zh-CN" sz="2800" dirty="0" err="1"/>
              <a:t>r.display</a:t>
            </a:r>
            <a:r>
              <a:rPr lang="en-US" altLang="zh-CN" sz="2800" dirty="0"/>
              <a:t>();</a:t>
            </a:r>
          </a:p>
          <a:p>
            <a:r>
              <a:rPr lang="en-US" altLang="zh-CN" sz="2800" dirty="0"/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6930571" y="5122706"/>
            <a:ext cx="19675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AA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27749" y="917912"/>
            <a:ext cx="277041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 err="1"/>
              <a:t>int</a:t>
            </a:r>
            <a:r>
              <a:rPr lang="en-US" altLang="zh-CN" sz="3200" dirty="0"/>
              <a:t> main() {</a:t>
            </a:r>
          </a:p>
          <a:p>
            <a:r>
              <a:rPr lang="en-US" altLang="zh-CN" sz="3200" dirty="0"/>
              <a:t>    B </a:t>
            </a:r>
            <a:r>
              <a:rPr lang="en-US" altLang="zh-CN" sz="3200" dirty="0" err="1"/>
              <a:t>b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    f(b);</a:t>
            </a:r>
          </a:p>
          <a:p>
            <a:r>
              <a:rPr lang="en-US" altLang="zh-CN" sz="3200" dirty="0"/>
              <a:t>    A </a:t>
            </a:r>
            <a:r>
              <a:rPr lang="en-US" altLang="zh-CN" sz="3200" dirty="0" err="1"/>
              <a:t>a</a:t>
            </a:r>
            <a:r>
              <a:rPr lang="en-US" altLang="zh-CN" sz="3200" dirty="0"/>
              <a:t>;</a:t>
            </a:r>
          </a:p>
          <a:p>
            <a:r>
              <a:rPr lang="en-US" altLang="zh-CN" sz="3200" dirty="0"/>
              <a:t>    f(a);</a:t>
            </a:r>
          </a:p>
          <a:p>
            <a:r>
              <a:rPr lang="en-US" altLang="zh-CN" sz="3200" dirty="0"/>
              <a:t>    return 0;</a:t>
            </a:r>
          </a:p>
          <a:p>
            <a:r>
              <a:rPr lang="en-US" altLang="zh-CN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27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894</Words>
  <Application>Microsoft Office PowerPoint</Application>
  <PresentationFormat>全屏显示(4:3)</PresentationFormat>
  <Paragraphs>186</Paragraphs>
  <Slides>12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等线 Light</vt:lpstr>
      <vt:lpstr>Arial</vt:lpstr>
      <vt:lpstr>Calibri</vt:lpstr>
      <vt:lpstr>Calibri Light</vt:lpstr>
      <vt:lpstr>Office 主题​​</vt:lpstr>
      <vt:lpstr>下面程序的运行结果是?</vt:lpstr>
      <vt:lpstr>下面程序的运行结果是?</vt:lpstr>
      <vt:lpstr>下面程序的运行结果是?</vt:lpstr>
      <vt:lpstr>下面程序的运行结果是?</vt:lpstr>
      <vt:lpstr>下面程序的运行结果是?</vt:lpstr>
      <vt:lpstr>下面程序的运行结果是?</vt:lpstr>
      <vt:lpstr>下面程序的运行结果是?</vt:lpstr>
      <vt:lpstr>下面程序的运行结果是?</vt:lpstr>
      <vt:lpstr>下面程序的运行结果是?</vt:lpstr>
      <vt:lpstr>下面程序的运行结果是?</vt:lpstr>
      <vt:lpstr>下面程序的运行结果是?</vt:lpstr>
      <vt:lpstr>下面程序的运行结果是?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liyusen</cp:lastModifiedBy>
  <cp:revision>34</cp:revision>
  <dcterms:created xsi:type="dcterms:W3CDTF">2021-05-10T12:20:29Z</dcterms:created>
  <dcterms:modified xsi:type="dcterms:W3CDTF">2021-05-17T10:01:22Z</dcterms:modified>
</cp:coreProperties>
</file>