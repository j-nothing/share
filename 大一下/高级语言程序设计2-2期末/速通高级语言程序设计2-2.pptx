
<file path=[Content_Types].xml><?xml version="1.0" encoding="utf-8"?>
<Types xmlns="http://schemas.openxmlformats.org/package/2006/content-types">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71" r:id="rId3"/>
    <p:sldId id="685" r:id="rId5"/>
    <p:sldId id="680" r:id="rId6"/>
    <p:sldId id="681" r:id="rId7"/>
    <p:sldId id="682" r:id="rId8"/>
    <p:sldId id="683" r:id="rId9"/>
    <p:sldId id="684" r:id="rId10"/>
    <p:sldId id="686" r:id="rId11"/>
    <p:sldId id="687" r:id="rId12"/>
    <p:sldId id="689" r:id="rId13"/>
    <p:sldId id="688" r:id="rId14"/>
    <p:sldId id="690" r:id="rId15"/>
    <p:sldId id="691" r:id="rId16"/>
    <p:sldId id="692" r:id="rId17"/>
    <p:sldId id="693" r:id="rId18"/>
    <p:sldId id="694" r:id="rId19"/>
    <p:sldId id="696" r:id="rId20"/>
    <p:sldId id="695" r:id="rId21"/>
    <p:sldId id="697" r:id="rId22"/>
    <p:sldId id="698" r:id="rId23"/>
    <p:sldId id="699"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y" initials="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11A5F"/>
    <a:srgbClr val="7A296A"/>
    <a:srgbClr val="3333FF"/>
    <a:srgbClr val="E40D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2" autoAdjust="0"/>
    <p:restoredTop sz="83000" autoAdjust="0"/>
  </p:normalViewPr>
  <p:slideViewPr>
    <p:cSldViewPr snapToGrid="0" showGuides="1">
      <p:cViewPr varScale="1">
        <p:scale>
          <a:sx n="77" d="100"/>
          <a:sy n="77" d="100"/>
        </p:scale>
        <p:origin x="1533" y="4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14:cpLocks xmlns:a14="http://schemas.microsoft.com/office/drawing/2010/main"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14:cpLocks xmlns:a14="http://schemas.microsoft.com/office/drawing/2010/main"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13421F-1A77-4773-B7E5-5FA03594C161}" type="datetimeFigureOut">
              <a:rPr lang="zh-CN" altLang="en-US" smtClean="0"/>
            </a:fld>
            <a:endParaRPr lang="zh-CN" altLang="en-US"/>
          </a:p>
        </p:txBody>
      </p:sp>
      <p:sp>
        <p:nvSpPr>
          <p:cNvPr id="4" name="幻灯片图像占位符 3"/>
          <p:cNvSpPr>
            <a14:cpLocks xmlns:a14="http://schemas.microsoft.com/office/drawing/2010/main"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14:cpLocks xmlns:a14="http://schemas.microsoft.com/office/drawing/2010/main"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14:cpLocks xmlns:a14="http://schemas.microsoft.com/office/drawing/2010/main"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14:cpLocks xmlns:a14="http://schemas.microsoft.com/office/drawing/2010/main"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F018AC-38BA-4F26-933B-735F4E66EC8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lang="zh-CN" altLang="en-US" dirty="0"/>
          </a:p>
        </p:txBody>
      </p:sp>
      <p:sp>
        <p:nvSpPr>
          <p:cNvPr id="4" name="灯片编号占位符 3"/>
          <p:cNvSpPr>
            <a14:cpLocks xmlns:a14="http://schemas.microsoft.com/office/drawing/2010/main" noGrp="1"/>
          </p:cNvSpPr>
          <p:nvPr>
            <p:ph type="sldNum" sz="quarter" idx="5"/>
          </p:nvPr>
        </p:nvSpPr>
        <p:spPr/>
        <p:txBody>
          <a:bodyPr/>
          <a:lstStyle/>
          <a:p>
            <a:fld id="{45F018AC-38BA-4F26-933B-735F4E66EC8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microsoft.com/office/2007/relationships/hdphoto" Target="../media/image1.tiff"/><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matchingName="Title slide">
  <p:cSld name="Title slide">
    <p:spTree>
      <p:nvGrpSpPr>
        <p:cNvPr id="1" name="Shape 9"/>
        <p:cNvGrpSpPr/>
        <p:nvPr/>
      </p:nvGrpSpPr>
      <p:grpSpPr>
        <a:xfrm>
          <a:off x="0" y="0"/>
          <a:ext cx="0" cy="0"/>
          <a:chOff x="0" y="0"/>
          <a:chExt cx="0" cy="0"/>
        </a:xfrm>
      </p:grpSpPr>
      <p:sp>
        <p:nvSpPr>
          <p:cNvPr id="10" name="Shape 10"/>
          <p:cNvSpPr/>
          <p:nvPr/>
        </p:nvSpPr>
        <p:spPr>
          <a:xfrm>
            <a:off x="0" y="-43417"/>
            <a:ext cx="9144000" cy="2282400"/>
          </a:xfrm>
          <a:prstGeom prst="rect">
            <a:avLst/>
          </a:prstGeom>
          <a:solidFill>
            <a:srgbClr val="711A5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endParaRPr kumimoji="0" sz="1400" b="0" i="0" u="none" strike="noStrike" kern="0" cap="none" spc="0" normalizeH="0" baseline="0" noProof="0">
              <a:ln>
                <a:noFill/>
              </a:ln>
              <a:solidFill>
                <a:srgbClr val="000000"/>
              </a:solidFill>
              <a:effectLst/>
              <a:uLnTx/>
              <a:uFillTx/>
              <a:latin typeface="Arial" charset="0"/>
              <a:cs typeface="Arial" charset="0"/>
              <a:sym typeface="Arial" charset="0"/>
            </a:endParaRPr>
          </a:p>
        </p:txBody>
      </p:sp>
      <p:sp>
        <p:nvSpPr>
          <p:cNvPr id="12" name="Shape 12"/>
          <p:cNvSpPr txBox="1">
            <a14:cpLocks xmlns:a14="http://schemas.microsoft.com/office/drawing/2010/main" noGrp="1"/>
          </p:cNvSpPr>
          <p:nvPr>
            <p:ph type="ctrTitle" hasCustomPrompt="1"/>
          </p:nvPr>
        </p:nvSpPr>
        <p:spPr>
          <a:xfrm>
            <a:off x="512700" y="2554799"/>
            <a:ext cx="8118600" cy="677078"/>
          </a:xfrm>
          <a:prstGeom prst="rect">
            <a:avLst/>
          </a:prstGeom>
        </p:spPr>
        <p:txBody>
          <a:bodyPr spcFirstLastPara="1" wrap="square" lIns="0" tIns="91425" rIns="0" bIns="91425" anchor="ctr" anchorCtr="1">
            <a:spAutoFit/>
          </a:bodyPr>
          <a:lstStyle>
            <a:lvl1pPr lvl="0" algn="ctr">
              <a:spcBef>
                <a:spcPts val="0"/>
              </a:spcBef>
              <a:spcAft>
                <a:spcPts val="0"/>
              </a:spcAft>
              <a:buClr>
                <a:srgbClr val="434343"/>
              </a:buClr>
              <a:buSzPts val="3600"/>
              <a:buNone/>
              <a:defRPr sz="3200" b="1">
                <a:solidFill>
                  <a:srgbClr val="711A5F"/>
                </a:solidFill>
                <a:effectLst>
                  <a:outerShdw blurRad="38100" dist="38100" dir="2700000" algn="tl">
                    <a:srgbClr val="000000">
                      <a:alpha val="43137"/>
                    </a:srgbClr>
                  </a:outerShdw>
                </a:effectLst>
                <a:latin typeface="微软雅黑" pitchFamily="34" charset="-122"/>
                <a:ea typeface="微软雅黑" pitchFamily="34" charset="-122"/>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r>
              <a:rPr lang="zh-CN" altLang="en-US" dirty="0"/>
              <a:t>图论及其应用</a:t>
            </a:r>
            <a:endParaRPr dirty="0"/>
          </a:p>
        </p:txBody>
      </p:sp>
      <p:sp>
        <p:nvSpPr>
          <p:cNvPr id="13" name="Shape 13"/>
          <p:cNvSpPr txBox="1">
            <a14:cpLocks xmlns:a14="http://schemas.microsoft.com/office/drawing/2010/main" noGrp="1"/>
          </p:cNvSpPr>
          <p:nvPr>
            <p:ph type="subTitle" idx="1" hasCustomPrompt="1"/>
          </p:nvPr>
        </p:nvSpPr>
        <p:spPr>
          <a:xfrm>
            <a:off x="512700" y="3427186"/>
            <a:ext cx="8118600" cy="461665"/>
          </a:xfrm>
          <a:prstGeom prst="rect">
            <a:avLst/>
          </a:prstGeom>
        </p:spPr>
        <p:txBody>
          <a:bodyPr spcFirstLastPara="1" wrap="square" lIns="0" tIns="91440" rIns="0" bIns="91440" anchor="ctr" anchorCtr="1">
            <a:spAutoFit/>
          </a:bodyPr>
          <a:lstStyle>
            <a:lvl1pPr lvl="0" algn="ctr">
              <a:lnSpc>
                <a:spcPct val="100000"/>
              </a:lnSpc>
              <a:spcBef>
                <a:spcPts val="0"/>
              </a:spcBef>
              <a:spcAft>
                <a:spcPts val="0"/>
              </a:spcAft>
              <a:buClr>
                <a:srgbClr val="999999"/>
              </a:buClr>
              <a:buSzPts val="2000"/>
              <a:buNone/>
              <a:defRPr sz="1800">
                <a:solidFill>
                  <a:schemeClr val="bg1">
                    <a:lumMod val="50000"/>
                  </a:schemeClr>
                </a:solidFill>
                <a:latin typeface="Microsoft YaHei UI Light" pitchFamily="34" charset="-122"/>
                <a:ea typeface="Microsoft YaHei UI Light" pitchFamily="34" charset="-122"/>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r>
              <a:rPr lang="zh-CN" altLang="en-US" dirty="0"/>
              <a:t>研究生课，主讲老师：史永堂</a:t>
            </a:r>
            <a:endParaRPr dirty="0"/>
          </a:p>
        </p:txBody>
      </p:sp>
      <p:pic>
        <p:nvPicPr>
          <p:cNvPr id="15" name="Shape 15"/>
          <p:cNvPicPr preferRelativeResize="0"/>
          <p:nvPr/>
        </p:nvPicPr>
        <p:blipFill>
          <a:blip r:embed="rId2" cstate="hqprint"/>
          <a:stretch>
            <a:fillRect/>
          </a:stretch>
        </p:blipFill>
        <p:spPr>
          <a:xfrm>
            <a:off x="7591825" y="144900"/>
            <a:ext cx="1429325" cy="1429325"/>
          </a:xfrm>
          <a:prstGeom prst="rect">
            <a:avLst/>
          </a:prstGeom>
          <a:noFill/>
          <a:ln>
            <a:noFill/>
          </a:ln>
        </p:spPr>
      </p:pic>
      <p:sp>
        <p:nvSpPr>
          <p:cNvPr id="16" name="Shape 16"/>
          <p:cNvSpPr txBox="1"/>
          <p:nvPr/>
        </p:nvSpPr>
        <p:spPr>
          <a:xfrm>
            <a:off x="56300" y="0"/>
            <a:ext cx="1110300" cy="421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kumimoji="0" lang="en-US" altLang="zh-HK" sz="800" b="0" i="0" u="none" strike="noStrike" kern="0" cap="none" spc="0" normalizeH="0" baseline="0" noProof="0">
                <a:ln>
                  <a:noFill/>
                </a:ln>
                <a:solidFill>
                  <a:srgbClr val="711A5F"/>
                </a:solidFill>
                <a:effectLst/>
                <a:uLnTx/>
                <a:uFillTx/>
                <a:latin typeface="Arial" charset="0"/>
                <a:cs typeface="Arial" charset="0"/>
                <a:sym typeface="Arial" charset="0"/>
              </a:rPr>
              <a:t>@darfux</a:t>
            </a:r>
            <a:endParaRPr kumimoji="0" sz="800" b="0" i="0" u="none" strike="noStrike" kern="0" cap="none" spc="0" normalizeH="0" baseline="0" noProof="0">
              <a:ln>
                <a:noFill/>
              </a:ln>
              <a:solidFill>
                <a:srgbClr val="711A5F"/>
              </a:solidFill>
              <a:effectLst/>
              <a:uLnTx/>
              <a:uFillTx/>
              <a:latin typeface="Arial" charset="0"/>
              <a:cs typeface="Arial" charset="0"/>
              <a:sym typeface="Arial" charset="0"/>
            </a:endParaRPr>
          </a:p>
        </p:txBody>
      </p:sp>
      <p:pic>
        <p:nvPicPr>
          <p:cNvPr id="17" name="Shape 17"/>
          <p:cNvPicPr preferRelativeResize="0"/>
          <p:nvPr/>
        </p:nvPicPr>
        <p:blipFill rotWithShape="1">
          <a:blip r:embed="rId3" cstate="hqprint"/>
          <a:srcRect b="1748"/>
          <a:stretch>
            <a:fillRect/>
          </a:stretch>
        </p:blipFill>
        <p:spPr>
          <a:xfrm>
            <a:off x="203875" y="867675"/>
            <a:ext cx="5719701" cy="1371300"/>
          </a:xfrm>
          <a:prstGeom prst="rect">
            <a:avLst/>
          </a:prstGeom>
          <a:noFill/>
          <a:ln>
            <a:noFill/>
          </a:ln>
        </p:spPr>
      </p:pic>
      <p:grpSp>
        <p:nvGrpSpPr>
          <p:cNvPr id="2" name="组合 1"/>
          <p:cNvGrpSpPr/>
          <p:nvPr userDrawn="1"/>
        </p:nvGrpSpPr>
        <p:grpSpPr>
          <a:xfrm>
            <a:off x="512700" y="5854480"/>
            <a:ext cx="1996200" cy="696266"/>
            <a:chOff x="6868028" y="5595067"/>
            <a:chExt cx="1996200" cy="696266"/>
          </a:xfrm>
        </p:grpSpPr>
        <p:sp>
          <p:nvSpPr>
            <p:cNvPr id="21" name="Shape 82"/>
            <p:cNvSpPr txBox="1"/>
            <p:nvPr userDrawn="1"/>
          </p:nvSpPr>
          <p:spPr>
            <a:xfrm>
              <a:off x="6868028" y="5888433"/>
              <a:ext cx="1996200" cy="4029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zh-HK" dirty="0">
                  <a:solidFill>
                    <a:srgbClr val="711A5F"/>
                  </a:solidFill>
                </a:rPr>
                <a:t>Nankai University</a:t>
              </a:r>
              <a:endParaRPr dirty="0">
                <a:solidFill>
                  <a:srgbClr val="711A5F"/>
                </a:solidFill>
              </a:endParaRPr>
            </a:p>
          </p:txBody>
        </p:sp>
        <p:pic>
          <p:nvPicPr>
            <p:cNvPr id="22" name="Shape 83"/>
            <p:cNvPicPr preferRelativeResize="0"/>
            <p:nvPr userDrawn="1"/>
          </p:nvPicPr>
          <p:blipFill>
            <a:blip r:embed="rId4" cstate="hqprint"/>
            <a:stretch>
              <a:fillRect/>
            </a:stretch>
          </p:blipFill>
          <p:spPr>
            <a:xfrm>
              <a:off x="7219340" y="5595067"/>
              <a:ext cx="1293584" cy="393600"/>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Shape 88"/>
          <p:cNvSpPr/>
          <p:nvPr userDrawn="1"/>
        </p:nvSpPr>
        <p:spPr>
          <a:xfrm>
            <a:off x="0" y="0"/>
            <a:ext cx="9144000" cy="990600"/>
          </a:xfrm>
          <a:prstGeom prst="rect">
            <a:avLst/>
          </a:prstGeom>
          <a:solidFill>
            <a:srgbClr val="711A5F"/>
          </a:solidFill>
          <a:ln w="9525" cap="flat" cmpd="sng">
            <a:solidFill>
              <a:srgbClr val="711A5F"/>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p>
        </p:txBody>
      </p:sp>
      <p:pic>
        <p:nvPicPr>
          <p:cNvPr id="5" name="Shape 89"/>
          <p:cNvPicPr preferRelativeResize="0"/>
          <p:nvPr userDrawn="1"/>
        </p:nvPicPr>
        <p:blipFill>
          <a:blip r:embed="rId2" cstate="hqprint"/>
          <a:stretch>
            <a:fillRect/>
          </a:stretch>
        </p:blipFill>
        <p:spPr>
          <a:xfrm>
            <a:off x="7910512" y="71437"/>
            <a:ext cx="847725" cy="847725"/>
          </a:xfrm>
          <a:prstGeom prst="rect">
            <a:avLst/>
          </a:prstGeom>
          <a:noFill/>
          <a:ln>
            <a:noFill/>
          </a:ln>
        </p:spPr>
      </p:pic>
      <p:sp>
        <p:nvSpPr>
          <p:cNvPr id="22" name="Shape 106"/>
          <p:cNvSpPr txBox="1"/>
          <p:nvPr userDrawn="1"/>
        </p:nvSpPr>
        <p:spPr>
          <a:xfrm>
            <a:off x="3576600" y="261900"/>
            <a:ext cx="1990800" cy="466800"/>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zh-HK" sz="3600" b="1" dirty="0">
                <a:solidFill>
                  <a:srgbClr val="FFFFFF"/>
                </a:solidFill>
                <a:latin typeface="楷体" pitchFamily="49" charset="-122"/>
                <a:ea typeface="楷体" pitchFamily="49" charset="-122"/>
              </a:rPr>
              <a:t>目录</a:t>
            </a:r>
            <a:endParaRPr sz="3600" b="1" dirty="0">
              <a:solidFill>
                <a:srgbClr val="FFFFFF"/>
              </a:solidFill>
              <a:latin typeface="楷体" pitchFamily="49" charset="-122"/>
              <a:ea typeface="楷体" pitchFamily="49" charset="-122"/>
            </a:endParaRPr>
          </a:p>
        </p:txBody>
      </p:sp>
      <p:sp>
        <p:nvSpPr>
          <p:cNvPr id="34" name="文本占位符 33"/>
          <p:cNvSpPr>
            <a14:cpLocks xmlns:a14="http://schemas.microsoft.com/office/drawing/2010/main" noGrp="1"/>
          </p:cNvSpPr>
          <p:nvPr>
            <p:ph type="body" sz="quarter" idx="12" hasCustomPrompt="1"/>
          </p:nvPr>
        </p:nvSpPr>
        <p:spPr>
          <a:xfrm>
            <a:off x="2562750" y="1397534"/>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en-US" altLang="zh-CN" dirty="0"/>
              <a:t>#</a:t>
            </a:r>
            <a:endParaRPr lang="zh-CN" altLang="en-US" dirty="0"/>
          </a:p>
        </p:txBody>
      </p:sp>
      <p:sp>
        <p:nvSpPr>
          <p:cNvPr id="37" name="文本占位符 33"/>
          <p:cNvSpPr>
            <a14:cpLocks xmlns:a14="http://schemas.microsoft.com/office/drawing/2010/main" noGrp="1"/>
          </p:cNvSpPr>
          <p:nvPr>
            <p:ph type="body" sz="quarter" idx="14" hasCustomPrompt="1"/>
          </p:nvPr>
        </p:nvSpPr>
        <p:spPr>
          <a:xfrm>
            <a:off x="2559424" y="2209938"/>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zh-CN" altLang="en-US" dirty="0"/>
              <a:t>章</a:t>
            </a:r>
            <a:endParaRPr lang="zh-CN" altLang="en-US" dirty="0"/>
          </a:p>
        </p:txBody>
      </p:sp>
      <p:sp>
        <p:nvSpPr>
          <p:cNvPr id="47" name="文本占位符 31"/>
          <p:cNvSpPr>
            <a14:cpLocks xmlns:a14="http://schemas.microsoft.com/office/drawing/2010/main" noGrp="1"/>
          </p:cNvSpPr>
          <p:nvPr>
            <p:ph type="body" sz="quarter" idx="11" hasCustomPrompt="1"/>
          </p:nvPr>
        </p:nvSpPr>
        <p:spPr>
          <a:xfrm>
            <a:off x="3172989" y="1397534"/>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48" name="文本占位符 31"/>
          <p:cNvSpPr>
            <a14:cpLocks xmlns:a14="http://schemas.microsoft.com/office/drawing/2010/main" noGrp="1"/>
          </p:cNvSpPr>
          <p:nvPr>
            <p:ph type="body" sz="quarter" idx="13" hasCustomPrompt="1"/>
          </p:nvPr>
        </p:nvSpPr>
        <p:spPr>
          <a:xfrm>
            <a:off x="3169663" y="2209938"/>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54" name="文本占位符 33"/>
          <p:cNvSpPr>
            <a14:cpLocks xmlns:a14="http://schemas.microsoft.com/office/drawing/2010/main" noGrp="1"/>
          </p:cNvSpPr>
          <p:nvPr>
            <p:ph type="body" sz="quarter" idx="15" hasCustomPrompt="1"/>
          </p:nvPr>
        </p:nvSpPr>
        <p:spPr>
          <a:xfrm>
            <a:off x="2559424" y="3022342"/>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zh-CN" altLang="en-US" dirty="0"/>
              <a:t>节</a:t>
            </a:r>
            <a:endParaRPr lang="zh-CN" altLang="en-US" dirty="0"/>
          </a:p>
        </p:txBody>
      </p:sp>
      <p:sp>
        <p:nvSpPr>
          <p:cNvPr id="55" name="文本占位符 31"/>
          <p:cNvSpPr>
            <a14:cpLocks xmlns:a14="http://schemas.microsoft.com/office/drawing/2010/main" noGrp="1"/>
          </p:cNvSpPr>
          <p:nvPr>
            <p:ph type="body" sz="quarter" idx="16" hasCustomPrompt="1"/>
          </p:nvPr>
        </p:nvSpPr>
        <p:spPr>
          <a:xfrm>
            <a:off x="3169663" y="3022342"/>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57" name="文本占位符 31"/>
          <p:cNvSpPr>
            <a14:cpLocks xmlns:a14="http://schemas.microsoft.com/office/drawing/2010/main" noGrp="1"/>
          </p:cNvSpPr>
          <p:nvPr>
            <p:ph type="body" sz="quarter" idx="18" hasCustomPrompt="1"/>
          </p:nvPr>
        </p:nvSpPr>
        <p:spPr>
          <a:xfrm>
            <a:off x="3162500" y="3834746"/>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58" name="文本占位符 33"/>
          <p:cNvSpPr>
            <a14:cpLocks xmlns:a14="http://schemas.microsoft.com/office/drawing/2010/main" noGrp="1"/>
          </p:cNvSpPr>
          <p:nvPr>
            <p:ph type="body" sz="quarter" idx="19" hasCustomPrompt="1"/>
          </p:nvPr>
        </p:nvSpPr>
        <p:spPr>
          <a:xfrm>
            <a:off x="2559424" y="4647150"/>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zh-CN" altLang="en-US" dirty="0"/>
              <a:t>号</a:t>
            </a:r>
            <a:endParaRPr lang="zh-CN" altLang="en-US" dirty="0"/>
          </a:p>
        </p:txBody>
      </p:sp>
      <p:sp>
        <p:nvSpPr>
          <p:cNvPr id="59" name="文本占位符 31"/>
          <p:cNvSpPr>
            <a14:cpLocks xmlns:a14="http://schemas.microsoft.com/office/drawing/2010/main" noGrp="1"/>
          </p:cNvSpPr>
          <p:nvPr>
            <p:ph type="body" sz="quarter" idx="20" hasCustomPrompt="1"/>
          </p:nvPr>
        </p:nvSpPr>
        <p:spPr>
          <a:xfrm>
            <a:off x="3169663" y="4647150"/>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60" name="文本占位符 33"/>
          <p:cNvSpPr>
            <a14:cpLocks xmlns:a14="http://schemas.microsoft.com/office/drawing/2010/main" noGrp="1"/>
          </p:cNvSpPr>
          <p:nvPr>
            <p:ph type="body" sz="quarter" idx="21" hasCustomPrompt="1"/>
          </p:nvPr>
        </p:nvSpPr>
        <p:spPr>
          <a:xfrm>
            <a:off x="2559424" y="5459554"/>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en-US" altLang="zh-CN" dirty="0"/>
              <a:t>#</a:t>
            </a:r>
            <a:endParaRPr lang="zh-CN" altLang="en-US" dirty="0"/>
          </a:p>
        </p:txBody>
      </p:sp>
      <p:sp>
        <p:nvSpPr>
          <p:cNvPr id="61" name="文本占位符 31"/>
          <p:cNvSpPr>
            <a14:cpLocks xmlns:a14="http://schemas.microsoft.com/office/drawing/2010/main" noGrp="1"/>
          </p:cNvSpPr>
          <p:nvPr>
            <p:ph type="body" sz="quarter" idx="22" hasCustomPrompt="1"/>
          </p:nvPr>
        </p:nvSpPr>
        <p:spPr>
          <a:xfrm>
            <a:off x="3169663" y="5459554"/>
            <a:ext cx="3322488" cy="523875"/>
          </a:xfrm>
          <a:ln>
            <a:solidFill>
              <a:srgbClr val="711A5F"/>
            </a:solidFill>
          </a:ln>
        </p:spPr>
        <p:txBody>
          <a:bodyPr anchor="ctr"/>
          <a:lstStyle>
            <a:lvl1pPr marL="114300" indent="0" algn="ctr">
              <a:buNone/>
              <a:defRPr lang="zh-CN" altLang="en-US" sz="2400" b="1" kern="1200" dirty="0">
                <a:solidFill>
                  <a:schemeClr val="tx1"/>
                </a:solidFill>
                <a:latin typeface="楷体" pitchFamily="49" charset="-122"/>
                <a:ea typeface="楷体" pitchFamily="49" charset="-122"/>
                <a:cs typeface="+mn-cs"/>
              </a:defRPr>
            </a:lvl1pPr>
          </a:lstStyle>
          <a:p>
            <a:pPr lvl="0"/>
            <a:r>
              <a:rPr lang="zh-CN" altLang="en-US" dirty="0"/>
              <a:t>章节标题</a:t>
            </a:r>
            <a:endParaRPr lang="zh-CN" altLang="en-US" dirty="0"/>
          </a:p>
        </p:txBody>
      </p:sp>
      <p:sp>
        <p:nvSpPr>
          <p:cNvPr id="18" name="文本占位符 33"/>
          <p:cNvSpPr>
            <a14:cpLocks xmlns:a14="http://schemas.microsoft.com/office/drawing/2010/main" noGrp="1"/>
          </p:cNvSpPr>
          <p:nvPr>
            <p:ph type="body" sz="quarter" idx="23" hasCustomPrompt="1"/>
          </p:nvPr>
        </p:nvSpPr>
        <p:spPr>
          <a:xfrm>
            <a:off x="2553625" y="3834746"/>
            <a:ext cx="603076" cy="523875"/>
          </a:xfrm>
          <a:solidFill>
            <a:srgbClr val="711A5F"/>
          </a:solidFill>
          <a:ln w="9525" cap="flat" cmpd="sng">
            <a:solidFill>
              <a:srgbClr val="711A5F"/>
            </a:solidFill>
            <a:prstDash val="solid"/>
            <a:round/>
            <a:headEnd type="none" w="sm" len="sm"/>
            <a:tailEnd type="none" w="sm" len="sm"/>
          </a:ln>
        </p:spPr>
        <p:txBody>
          <a:bodyPr spcFirstLastPara="1" wrap="square" lIns="0" tIns="0" rIns="0" bIns="0" anchor="ctr" anchorCtr="0">
            <a:normAutofit/>
          </a:bodyPr>
          <a:lstStyle>
            <a:lvl1pPr marL="0" indent="0" algn="ctr">
              <a:buNone/>
              <a:defRPr lang="zh-CN" altLang="en-US" sz="2400" b="1" kern="1200" dirty="0">
                <a:solidFill>
                  <a:srgbClr val="FFFFFF"/>
                </a:solidFill>
                <a:latin typeface="+mn-lt"/>
                <a:ea typeface="+mn-ea"/>
                <a:cs typeface="+mn-cs"/>
              </a:defRPr>
            </a:lvl1pPr>
          </a:lstStyle>
          <a:p>
            <a:pPr marL="342900" lvl="0" indent="-342900" algn="ctr" defTabSz="457200" eaLnBrk="1" latinLnBrk="0" hangingPunct="1"/>
            <a:r>
              <a:rPr lang="zh-CN" altLang="en-US" dirty="0"/>
              <a:t>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matchingName="Main point">
  <p:cSld name="Main point">
    <p:spTree>
      <p:nvGrpSpPr>
        <p:cNvPr id="1" name="Shape 42"/>
        <p:cNvGrpSpPr/>
        <p:nvPr/>
      </p:nvGrpSpPr>
      <p:grpSpPr>
        <a:xfrm>
          <a:off x="0" y="0"/>
          <a:ext cx="0" cy="0"/>
          <a:chOff x="0" y="0"/>
          <a:chExt cx="0" cy="0"/>
        </a:xfrm>
      </p:grpSpPr>
      <p:sp>
        <p:nvSpPr>
          <p:cNvPr id="43" name="Shape 43"/>
          <p:cNvSpPr txBox="1">
            <a14:cpLocks xmlns:a14="http://schemas.microsoft.com/office/drawing/2010/main" noGrp="1"/>
          </p:cNvSpPr>
          <p:nvPr>
            <p:ph type="title" hasCustomPrompt="1"/>
          </p:nvPr>
        </p:nvSpPr>
        <p:spPr>
          <a:xfrm>
            <a:off x="490250" y="2610196"/>
            <a:ext cx="6409314" cy="1870364"/>
          </a:xfrm>
          <a:prstGeom prst="rect">
            <a:avLst/>
          </a:prstGeom>
        </p:spPr>
        <p:txBody>
          <a:bodyPr spcFirstLastPara="1" wrap="square" lIns="91425" tIns="91425" rIns="91425" bIns="91425" anchor="ctr" anchorCtr="0"/>
          <a:lstStyle>
            <a:lvl1pPr lvl="0">
              <a:spcBef>
                <a:spcPts val="0"/>
              </a:spcBef>
              <a:spcAft>
                <a:spcPts val="0"/>
              </a:spcAft>
              <a:buClr>
                <a:schemeClr val="accent1"/>
              </a:buClr>
              <a:buSzPts val="5400"/>
              <a:buNone/>
              <a:defRPr sz="5400" b="1">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r>
              <a:rPr lang="zh-CN" altLang="en-US" dirty="0"/>
              <a:t>章节标题</a:t>
            </a:r>
            <a:endParaRPr dirty="0"/>
          </a:p>
        </p:txBody>
      </p:sp>
      <p:pic>
        <p:nvPicPr>
          <p:cNvPr id="45" name="Shape 45"/>
          <p:cNvPicPr preferRelativeResize="0"/>
          <p:nvPr/>
        </p:nvPicPr>
        <p:blipFill>
          <a:blip r:embed="rId2" cstate="hqprint"/>
          <a:stretch>
            <a:fillRect/>
          </a:stretch>
        </p:blipFill>
        <p:spPr>
          <a:xfrm>
            <a:off x="7704850" y="144967"/>
            <a:ext cx="1172975" cy="117297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详细内容">
    <p:spTree>
      <p:nvGrpSpPr>
        <p:cNvPr id="1" name=""/>
        <p:cNvGrpSpPr/>
        <p:nvPr/>
      </p:nvGrpSpPr>
      <p:grpSpPr>
        <a:xfrm>
          <a:off x="0" y="0"/>
          <a:ext cx="0" cy="0"/>
          <a:chOff x="0" y="0"/>
          <a:chExt cx="0" cy="0"/>
        </a:xfrm>
      </p:grpSpPr>
      <p:sp>
        <p:nvSpPr>
          <p:cNvPr id="4" name="Slide Number Placeholder 3"/>
          <p:cNvSpPr>
            <a14:cpLocks xmlns:a14="http://schemas.microsoft.com/office/drawing/2010/main" noGrp="1"/>
          </p:cNvSpPr>
          <p:nvPr>
            <p:ph type="sldNum" sz="quarter" idx="12"/>
          </p:nvPr>
        </p:nvSpPr>
        <p:spPr>
          <a:xfrm>
            <a:off x="8748000" y="6462000"/>
            <a:ext cx="396000" cy="396000"/>
          </a:xfrm>
          <a:solidFill>
            <a:srgbClr val="711A5F"/>
          </a:solidFill>
        </p:spPr>
        <p:txBody>
          <a:bodyPr/>
          <a:lstStyle>
            <a:lvl1pPr algn="ctr">
              <a:defRPr sz="1400">
                <a:solidFill>
                  <a:schemeClr val="bg1"/>
                </a:solidFill>
                <a:latin typeface="Consolas" pitchFamily="49" charset="0"/>
              </a:defRPr>
            </a:lvl1pPr>
          </a:lstStyle>
          <a:p>
            <a:fld id="{36537AA4-567B-4173-86BC-9DE37070A929}" type="slidenum">
              <a:rPr lang="zh-CN" altLang="en-US" smtClean="0"/>
            </a:fld>
            <a:endParaRPr lang="zh-CN" altLang="en-US" dirty="0"/>
          </a:p>
        </p:txBody>
      </p:sp>
      <p:pic>
        <p:nvPicPr>
          <p:cNvPr id="1026" name="Picture 2"/>
          <p:cNvPicPr>
            <a:picLocks noChangeAspect="1" noChangeArrowheads="1"/>
          </p:cNvPicPr>
          <p:nvPr userDrawn="1"/>
        </p:nvPicPr>
        <p:blipFill>
          <a:blip r:embed="rId2"/>
          <a:stretch>
            <a:fillRect/>
          </a:stretch>
        </p:blipFill>
        <p:spPr bwMode="auto">
          <a:xfrm>
            <a:off x="93406" y="6462000"/>
            <a:ext cx="1463186" cy="396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a:xfrm>
            <a:off x="0" y="306139"/>
            <a:ext cx="9144000" cy="524256"/>
          </a:xfrm>
          <a:prstGeom prst="rect">
            <a:avLst/>
          </a:prstGeom>
          <a:solidFill>
            <a:srgbClr val="7F0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https://timgsa.baidu.com/timg?image&amp;quality=80&amp;size=b9999_10000&amp;sec=1526526253&amp;di=0fdf74be32549a46a1f8a554e4444ad3&amp;imgtype=jpg&amp;er=1&amp;src=http%3A%2F%2Fb.hiphotos.baidu.com%2Fzhidao%2Fpic%2Fitem%2F9f2f070828381f30c8b141f2a9014c086f06f0c5.jpg"/>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0" b="100000" l="44406" r="100000"/>
                    </a14:imgEffect>
                  </a14:imgLayer>
                </a14:imgProps>
              </a:ext>
            </a:extLst>
          </a:blip>
          <a:srcRect l="49030" t="896" r="1180" b="960"/>
          <a:stretch>
            <a:fillRect/>
          </a:stretch>
        </p:blipFill>
        <p:spPr bwMode="auto">
          <a:xfrm>
            <a:off x="7768947" y="73266"/>
            <a:ext cx="987226" cy="990000"/>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14:cpLocks xmlns:a14="http://schemas.microsoft.com/office/drawing/2010/main" noGrp="1"/>
          </p:cNvSpPr>
          <p:nvPr>
            <p:ph sz="quarter" idx="14" hasCustomPrompt="1"/>
          </p:nvPr>
        </p:nvSpPr>
        <p:spPr>
          <a:xfrm>
            <a:off x="461473" y="1296139"/>
            <a:ext cx="8203964" cy="4513263"/>
          </a:xfrm>
        </p:spPr>
        <p:txBody>
          <a:bodyPr/>
          <a:lstStyle>
            <a:lvl1pPr>
              <a:defRPr>
                <a:solidFill>
                  <a:srgbClr val="711A5F"/>
                </a:solidFill>
                <a:latin typeface="+mn-ea"/>
                <a:ea typeface="+mn-ea"/>
              </a:defRPr>
            </a:lvl1pPr>
            <a:lvl2pPr>
              <a:defRPr>
                <a:solidFill>
                  <a:srgbClr val="711A5F"/>
                </a:solidFill>
                <a:latin typeface="+mn-ea"/>
                <a:ea typeface="+mn-ea"/>
              </a:defRPr>
            </a:lvl2pPr>
            <a:lvl3pPr>
              <a:defRPr>
                <a:solidFill>
                  <a:srgbClr val="711A5F"/>
                </a:solidFill>
                <a:latin typeface="+mn-ea"/>
                <a:ea typeface="+mn-ea"/>
              </a:defRPr>
            </a:lvl3pPr>
            <a:lvl4pPr>
              <a:defRPr>
                <a:solidFill>
                  <a:srgbClr val="711A5F"/>
                </a:solidFill>
                <a:latin typeface="+mn-ea"/>
                <a:ea typeface="+mn-ea"/>
              </a:defRPr>
            </a:lvl4pPr>
            <a:lvl5pPr>
              <a:defRPr>
                <a:solidFill>
                  <a:srgbClr val="711A5F"/>
                </a:solidFill>
                <a:latin typeface="+mn-ea"/>
                <a:ea typeface="+mn-ea"/>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14:cpLocks xmlns:a14="http://schemas.microsoft.com/office/drawing/2010/main" noGrp="1"/>
          </p:cNvSpPr>
          <p:nvPr>
            <p:ph type="title" hasCustomPrompt="1"/>
          </p:nvPr>
        </p:nvSpPr>
        <p:spPr>
          <a:xfrm>
            <a:off x="461473" y="307184"/>
            <a:ext cx="7307474" cy="523211"/>
          </a:xfrm>
        </p:spPr>
        <p:txBody>
          <a:bodyPr lIns="0" tIns="0" rIns="0" bIns="0" anchor="ctr" anchorCtr="0"/>
          <a:lstStyle>
            <a:lvl1pPr>
              <a:defRPr lang="zh-CN" altLang="en-US" sz="2400" b="1" kern="1200">
                <a:solidFill>
                  <a:schemeClr val="bg1"/>
                </a:solidFill>
                <a:latin typeface="Microsoft YaHei UI Light" pitchFamily="34" charset="-122"/>
                <a:ea typeface="Microsoft YaHei UI Light" pitchFamily="34" charset="-122"/>
                <a:cs typeface="+mn-cs"/>
              </a:defRPr>
            </a:lvl1pPr>
          </a:lstStyle>
          <a:p>
            <a:r>
              <a:rPr lang="zh-CN" altLang="en-US" dirty="0"/>
              <a:t>内容标题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matchingName="Title and body">
  <p:cSld name="Title and body">
    <p:spTree>
      <p:nvGrpSpPr>
        <p:cNvPr id="1" name="Shape 23"/>
        <p:cNvGrpSpPr/>
        <p:nvPr/>
      </p:nvGrpSpPr>
      <p:grpSpPr>
        <a:xfrm>
          <a:off x="0" y="0"/>
          <a:ext cx="0" cy="0"/>
          <a:chOff x="0" y="0"/>
          <a:chExt cx="0" cy="0"/>
        </a:xfrm>
      </p:grpSpPr>
      <p:sp>
        <p:nvSpPr>
          <p:cNvPr id="24" name="Shape 24"/>
          <p:cNvSpPr/>
          <p:nvPr/>
        </p:nvSpPr>
        <p:spPr>
          <a:xfrm>
            <a:off x="0" y="6727600"/>
            <a:ext cx="9144000" cy="130500"/>
          </a:xfrm>
          <a:prstGeom prst="rect">
            <a:avLst/>
          </a:prstGeom>
          <a:solidFill>
            <a:srgbClr val="711A5F"/>
          </a:solidFill>
          <a:ln>
            <a:noFill/>
          </a:ln>
        </p:spPr>
        <p:txBody>
          <a:bodyPr spcFirstLastPara="1" wrap="square" lIns="91425" tIns="91425" rIns="91425" bIns="91425" anchor="ctr" anchorCtr="0">
            <a:noAutofit/>
          </a:bodyPr>
          <a:lstStyle/>
          <a:p>
            <a:pPr marL="0" lvl="0" indent="0">
              <a:spcBef>
                <a:spcPts val="0"/>
              </a:spcBef>
              <a:spcAft>
                <a:spcPts val="0"/>
              </a:spcAft>
              <a:buNone/>
            </a:pPr>
          </a:p>
        </p:txBody>
      </p:sp>
      <p:sp>
        <p:nvSpPr>
          <p:cNvPr id="25" name="Shape 25"/>
          <p:cNvSpPr txBox="1">
            <a14:cpLocks xmlns:a14="http://schemas.microsoft.com/office/drawing/2010/main" noGrp="1"/>
          </p:cNvSpPr>
          <p:nvPr>
            <p:ph type="title"/>
          </p:nvPr>
        </p:nvSpPr>
        <p:spPr>
          <a:xfrm>
            <a:off x="448654" y="271423"/>
            <a:ext cx="8246692" cy="558146"/>
          </a:xfrm>
          <a:prstGeom prst="rect">
            <a:avLst/>
          </a:prstGeom>
        </p:spPr>
        <p:txBody>
          <a:bodyPr spcFirstLastPara="1" wrap="square" lIns="91425" tIns="91425" rIns="91425" bIns="91425" anchor="t" anchorCtr="0"/>
          <a:lstStyle>
            <a:lvl1pPr lvl="0">
              <a:spcBef>
                <a:spcPts val="0"/>
              </a:spcBef>
              <a:spcAft>
                <a:spcPts val="0"/>
              </a:spcAft>
              <a:buSzPts val="3000"/>
              <a:buNone/>
              <a:defRPr sz="2400" b="1">
                <a:solidFill>
                  <a:srgbClr val="711A5F"/>
                </a:solidFill>
                <a:latin typeface="微软雅黑 Light" pitchFamily="34" charset="-122"/>
                <a:ea typeface="微软雅黑 Light" pitchFamily="34" charset="-122"/>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7" name="Shape 27"/>
          <p:cNvSpPr txBox="1">
            <a14:cpLocks xmlns:a14="http://schemas.microsoft.com/office/drawing/2010/main" noGrp="1"/>
          </p:cNvSpPr>
          <p:nvPr>
            <p:ph type="sldNum" idx="12"/>
          </p:nvPr>
        </p:nvSpPr>
        <p:spPr>
          <a:xfrm>
            <a:off x="8695346" y="6178609"/>
            <a:ext cx="419816" cy="548991"/>
          </a:xfrm>
          <a:prstGeom prst="rect">
            <a:avLst/>
          </a:prstGeom>
        </p:spPr>
        <p:txBody>
          <a:bodyPr spcFirstLastPara="1" wrap="square" lIns="91425" tIns="91425" rIns="91425" bIns="91425" anchor="ctr" anchorCtr="0">
            <a:noAutofit/>
          </a:bodyPr>
          <a:lstStyle>
            <a:lvl1pPr lvl="0">
              <a:buNone/>
              <a:defRPr sz="1400" b="0">
                <a:solidFill>
                  <a:srgbClr val="711A5F"/>
                </a:solidFill>
              </a:defRPr>
            </a:lvl1pPr>
            <a:lvl2pPr lvl="1">
              <a:buNone/>
              <a:defRPr sz="2400" b="1"/>
            </a:lvl2pPr>
            <a:lvl3pPr lvl="2">
              <a:buNone/>
              <a:defRPr sz="2400" b="1"/>
            </a:lvl3pPr>
            <a:lvl4pPr lvl="3">
              <a:buNone/>
              <a:defRPr sz="2400" b="1"/>
            </a:lvl4pPr>
            <a:lvl5pPr lvl="4">
              <a:buNone/>
              <a:defRPr sz="2400" b="1"/>
            </a:lvl5pPr>
            <a:lvl6pPr lvl="5">
              <a:buNone/>
              <a:defRPr sz="2400" b="1"/>
            </a:lvl6pPr>
            <a:lvl7pPr lvl="6">
              <a:buNone/>
              <a:defRPr sz="2400" b="1"/>
            </a:lvl7pPr>
            <a:lvl8pPr lvl="7">
              <a:buNone/>
              <a:defRPr sz="2400" b="1"/>
            </a:lvl8pPr>
            <a:lvl9pPr lvl="8">
              <a:buNone/>
              <a:defRPr sz="2400" b="1"/>
            </a:lvl9pPr>
          </a:lstStyle>
          <a:p>
            <a:fld id="{00000000-1234-1234-1234-123412341234}" type="slidenum">
              <a:rPr lang="en-US" altLang="zh-HK" smtClean="0"/>
            </a:fld>
            <a:endParaRPr lang="zh-HK" altLang="en-US" dirty="0"/>
          </a:p>
        </p:txBody>
      </p:sp>
      <p:pic>
        <p:nvPicPr>
          <p:cNvPr id="28" name="Shape 28"/>
          <p:cNvPicPr preferRelativeResize="0"/>
          <p:nvPr/>
        </p:nvPicPr>
        <p:blipFill>
          <a:blip r:embed="rId2" cstate="hqprint">
            <a:alphaModFix amt="30000"/>
          </a:blip>
          <a:stretch>
            <a:fillRect/>
          </a:stretch>
        </p:blipFill>
        <p:spPr>
          <a:xfrm>
            <a:off x="34579" y="5884893"/>
            <a:ext cx="828150" cy="828150"/>
          </a:xfrm>
          <a:prstGeom prst="rect">
            <a:avLst/>
          </a:prstGeom>
          <a:noFill/>
          <a:ln>
            <a:noFill/>
          </a:ln>
        </p:spPr>
      </p:pic>
      <p:sp>
        <p:nvSpPr>
          <p:cNvPr id="8" name="内容占位符 2"/>
          <p:cNvSpPr>
            <a14:cpLocks xmlns:a14="http://schemas.microsoft.com/office/drawing/2010/main" noGrp="1"/>
          </p:cNvSpPr>
          <p:nvPr>
            <p:ph sz="quarter" idx="14" hasCustomPrompt="1"/>
          </p:nvPr>
        </p:nvSpPr>
        <p:spPr>
          <a:xfrm>
            <a:off x="448654" y="1567741"/>
            <a:ext cx="8246692" cy="4241661"/>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pic>
        <p:nvPicPr>
          <p:cNvPr id="5" name="Shape 45"/>
          <p:cNvPicPr preferRelativeResize="0"/>
          <p:nvPr userDrawn="1"/>
        </p:nvPicPr>
        <p:blipFill>
          <a:blip r:embed="rId2" cstate="hqprint"/>
          <a:stretch>
            <a:fillRect/>
          </a:stretch>
        </p:blipFill>
        <p:spPr>
          <a:xfrm>
            <a:off x="3985512" y="988486"/>
            <a:ext cx="1172975" cy="1172975"/>
          </a:xfrm>
          <a:prstGeom prst="rect">
            <a:avLst/>
          </a:prstGeom>
          <a:noFill/>
          <a:ln>
            <a:noFill/>
          </a:ln>
        </p:spPr>
      </p:pic>
      <p:sp>
        <p:nvSpPr>
          <p:cNvPr id="6" name="Shape 43"/>
          <p:cNvSpPr txBox="1"/>
          <p:nvPr userDrawn="1"/>
        </p:nvSpPr>
        <p:spPr>
          <a:xfrm>
            <a:off x="1367343" y="2651760"/>
            <a:ext cx="6409314" cy="1554480"/>
          </a:xfrm>
          <a:prstGeom prst="rect">
            <a:avLst/>
          </a:prstGeom>
          <a:noFill/>
          <a:ln>
            <a:noFill/>
          </a:ln>
        </p:spPr>
        <p:txBody>
          <a:bodyPr spcFirstLastPara="1" wrap="square" lIns="91425" tIns="91425" rIns="91425" bIns="91425" anchor="ctr" anchorCtr="0"/>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5400"/>
              <a:buFont typeface="Old Standard TT"/>
              <a:buNone/>
              <a:defRPr sz="4000" b="1" i="0" u="none" strike="noStrike" cap="none">
                <a:solidFill>
                  <a:schemeClr val="accent1"/>
                </a:solidFill>
                <a:latin typeface="Old Standard TT"/>
                <a:ea typeface="Old Standard TT"/>
                <a:cs typeface="Old Standard TT"/>
                <a:sym typeface="Old Standard TT"/>
              </a:defRPr>
            </a:lvl1pPr>
            <a:lvl2pPr marR="0" lvl="1"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2pPr>
            <a:lvl3pPr marR="0" lvl="2"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3pPr>
            <a:lvl4pPr marR="0" lvl="3"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4pPr>
            <a:lvl5pPr marR="0" lvl="4"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5pPr>
            <a:lvl6pPr marR="0" lvl="5"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6pPr>
            <a:lvl7pPr marR="0" lvl="6"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7pPr>
            <a:lvl8pPr marR="0" lvl="7"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8pPr>
            <a:lvl9pPr marR="0" lvl="8" algn="l" rtl="0">
              <a:lnSpc>
                <a:spcPct val="100000"/>
              </a:lnSpc>
              <a:spcBef>
                <a:spcPts val="0"/>
              </a:spcBef>
              <a:spcAft>
                <a:spcPts val="0"/>
              </a:spcAft>
              <a:buClr>
                <a:schemeClr val="accent1"/>
              </a:buClr>
              <a:buSzPts val="5400"/>
              <a:buFont typeface="Old Standard TT"/>
              <a:buNone/>
              <a:defRPr sz="5400" b="0" i="0" u="none" strike="noStrike" cap="none">
                <a:solidFill>
                  <a:schemeClr val="accent1"/>
                </a:solidFill>
                <a:latin typeface="Old Standard TT"/>
                <a:ea typeface="Old Standard TT"/>
                <a:cs typeface="Old Standard TT"/>
                <a:sym typeface="Old Standard TT"/>
              </a:defRPr>
            </a:lvl9pPr>
          </a:lstStyle>
          <a:p>
            <a:pPr defTabSz="914400"/>
            <a:r>
              <a:rPr lang="zh-CN" altLang="en-US" sz="4800" b="1" kern="0" dirty="0">
                <a:latin typeface="Microsoft YaHei UI Light" pitchFamily="34" charset="-122"/>
                <a:ea typeface="Microsoft YaHei UI Light" pitchFamily="34" charset="-122"/>
              </a:rPr>
              <a:t>谢谢观看</a:t>
            </a:r>
            <a:endParaRPr lang="zh-CN" altLang="en-US" sz="4800" b="1" kern="0" dirty="0">
              <a:latin typeface="Microsoft YaHei UI Light" pitchFamily="34" charset="-122"/>
              <a:ea typeface="Microsoft YaHei UI Light" pitchFamily="34" charset="-122"/>
            </a:endParaRPr>
          </a:p>
        </p:txBody>
      </p:sp>
      <p:sp>
        <p:nvSpPr>
          <p:cNvPr id="7" name="文本占位符 4"/>
          <p:cNvSpPr>
            <a14:cpLocks xmlns:a14="http://schemas.microsoft.com/office/drawing/2010/main" noGrp="1"/>
          </p:cNvSpPr>
          <p:nvPr>
            <p:ph type="body" sz="quarter" idx="10" hasCustomPrompt="1"/>
          </p:nvPr>
        </p:nvSpPr>
        <p:spPr>
          <a:xfrm>
            <a:off x="2144711" y="4480560"/>
            <a:ext cx="4854575" cy="1388954"/>
          </a:xfrm>
        </p:spPr>
        <p:txBody>
          <a:bodyPr/>
          <a:lstStyle>
            <a:lvl1pPr marL="114300" indent="0">
              <a:buNone/>
              <a:defRPr sz="1600">
                <a:solidFill>
                  <a:schemeClr val="bg1">
                    <a:lumMod val="95000"/>
                  </a:schemeClr>
                </a:solidFill>
              </a:defRPr>
            </a:lvl1pPr>
          </a:lstStyle>
          <a:p>
            <a:pPr lvl="0"/>
            <a:r>
              <a:rPr lang="zh-CN" altLang="en-US" dirty="0"/>
              <a:t>特别致谢：</a:t>
            </a:r>
            <a:r>
              <a:rPr lang="en-US" altLang="zh-CN" dirty="0"/>
              <a:t> *******************************</a:t>
            </a:r>
            <a:endParaRPr lang="en-US" altLang="zh-CN" dirty="0"/>
          </a:p>
          <a:p>
            <a:pPr lvl="0"/>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Shape 5"/>
        <p:cNvGrpSpPr/>
        <p:nvPr/>
      </p:nvGrpSpPr>
      <p:grpSpPr>
        <a:xfrm>
          <a:off x="0" y="0"/>
          <a:ext cx="0" cy="0"/>
          <a:chOff x="0" y="0"/>
          <a:chExt cx="0" cy="0"/>
        </a:xfrm>
      </p:grpSpPr>
      <p:sp>
        <p:nvSpPr>
          <p:cNvPr id="6" name="Shape 6"/>
          <p:cNvSpPr txBox="1">
            <a14:cpLocks xmlns:a14="http://schemas.microsoft.com/office/drawing/2010/main" noGrp="1"/>
          </p:cNvSpPr>
          <p:nvPr>
            <p:ph type="title"/>
          </p:nvPr>
        </p:nvSpPr>
        <p:spPr>
          <a:xfrm>
            <a:off x="311700" y="593367"/>
            <a:ext cx="8520600" cy="8175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Shape 7"/>
          <p:cNvSpPr txBox="1">
            <a14:cpLocks xmlns:a14="http://schemas.microsoft.com/office/drawing/2010/main" noGrp="1"/>
          </p:cNvSpPr>
          <p:nvPr>
            <p:ph type="body" idx="1"/>
          </p:nvPr>
        </p:nvSpPr>
        <p:spPr>
          <a:xfrm>
            <a:off x="311700" y="1562133"/>
            <a:ext cx="8520600" cy="45297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Shape 8"/>
          <p:cNvSpPr txBox="1">
            <a14:cpLocks xmlns:a14="http://schemas.microsoft.com/office/drawing/2010/main"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charset="0"/>
              <a:buNone/>
              <a:defRPr/>
            </a:pPr>
            <a:fld id="{00000000-1234-1234-1234-123412341234}" type="slidenum">
              <a:rPr kumimoji="0" lang="en-US" altLang="zh-HK" sz="1000" b="0" i="0" u="none" strike="noStrike" kern="0" cap="none" spc="0" normalizeH="0" baseline="0" noProof="0">
                <a:ln>
                  <a:noFill/>
                </a:ln>
                <a:solidFill>
                  <a:srgbClr val="000000"/>
                </a:solidFill>
                <a:effectLst/>
                <a:uLnTx/>
                <a:uFillTx/>
                <a:latin typeface="Old Standard TT"/>
                <a:sym typeface="Old Standard TT"/>
              </a:rPr>
            </a:fld>
            <a:endParaRPr kumimoji="0" sz="1000" b="0" i="0" u="none" strike="noStrike" kern="0" cap="none" spc="0" normalizeH="0" baseline="0" noProof="0">
              <a:ln>
                <a:noFill/>
              </a:ln>
              <a:solidFill>
                <a:srgbClr val="000000"/>
              </a:solidFill>
              <a:effectLst/>
              <a:uLnTx/>
              <a:uFillTx/>
              <a:latin typeface="Old Standard TT"/>
              <a:sym typeface="Old Standard TT"/>
            </a:endParaRPr>
          </a:p>
        </p:txBody>
      </p:sp>
      <p:sp>
        <p:nvSpPr>
          <p:cNvPr id="2" name="日期占位符 1"/>
          <p:cNvSpPr>
            <a14:cpLocks xmlns:a14="http://schemas.microsoft.com/office/drawing/2010/main"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7A04C2-C96F-4E45-9564-E43195BE54AC}" type="datetimeFigureOut">
              <a:rPr lang="zh-CN" altLang="en-US" smtClean="0"/>
            </a:fld>
            <a:endParaRPr lang="zh-CN" alt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mc:Choice xmlns:p14="http://schemas.microsoft.com/office/powerpoint/2010/main" Requires="p14">
      <p:transition p14:dur="10"/>
    </mc:Choice>
    <mc:Fallback>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1pPr>
      <a:lvl2pPr marR="0" lvl="1"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2pPr>
      <a:lvl3pPr marR="0" lvl="2"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3pPr>
      <a:lvl4pPr marR="0" lvl="3"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4pPr>
      <a:lvl5pPr marR="0" lvl="4"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5pPr>
      <a:lvl6pPr marR="0" lvl="5"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6pPr>
      <a:lvl7pPr marR="0" lvl="6"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7pPr>
      <a:lvl8pPr marR="0" lvl="7"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8pPr>
      <a:lvl9pPr marR="0" lvl="8"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1pPr>
      <a:lvl2pPr marR="0" lvl="1"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2pPr>
      <a:lvl3pPr marR="0" lvl="2"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3pPr>
      <a:lvl4pPr marR="0" lvl="3"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4pPr>
      <a:lvl5pPr marR="0" lvl="4"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5pPr>
      <a:lvl6pPr marR="0" lvl="5"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6pPr>
      <a:lvl7pPr marR="0" lvl="6"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7pPr>
      <a:lvl8pPr marR="0" lvl="7"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8pPr>
      <a:lvl9pPr marR="0" lvl="8"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1pPr>
      <a:lvl2pPr marR="0" lvl="1"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2pPr>
      <a:lvl3pPr marR="0" lvl="2"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3pPr>
      <a:lvl4pPr marR="0" lvl="3"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4pPr>
      <a:lvl5pPr marR="0" lvl="4"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5pPr>
      <a:lvl6pPr marR="0" lvl="5"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6pPr>
      <a:lvl7pPr marR="0" lvl="6"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7pPr>
      <a:lvl8pPr marR="0" lvl="7"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8pPr>
      <a:lvl9pPr marR="0" lvl="8" algn="l" rtl="0">
        <a:lnSpc>
          <a:spcPct val="100000"/>
        </a:lnSpc>
        <a:spcBef>
          <a:spcPts val="0"/>
        </a:spcBef>
        <a:spcAft>
          <a:spcPts val="0"/>
        </a:spcAft>
        <a:buClr>
          <a:srgbClr val="000000"/>
        </a:buClr>
        <a:buFont typeface="Arial" charset="0"/>
        <a:defRPr sz="1400" b="0" i="0" u="none" strike="noStrike" cap="none">
          <a:solidFill>
            <a:srgbClr val="000000"/>
          </a:solidFill>
          <a:latin typeface="Arial" charset="0"/>
          <a:ea typeface="Arial" charset="0"/>
          <a:cs typeface="Arial" charset="0"/>
          <a:sym typeface="Arial" charset="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492616" y="2852667"/>
            <a:ext cx="8300321" cy="738633"/>
          </a:xfrm>
        </p:spPr>
        <p:txBody>
          <a:bodyPr/>
          <a:lstStyle/>
          <a:p>
            <a:r>
              <a:rPr lang="zh-CN" altLang="en-US" sz="3600" dirty="0"/>
              <a:t>速通高级语言程序设计</a:t>
            </a:r>
            <a:r>
              <a:rPr lang="en-US" altLang="zh-CN" sz="3600" dirty="0"/>
              <a:t>2-2</a:t>
            </a:r>
            <a:endParaRPr lang="zh-CN" altLang="en-US" sz="36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7414" y="3845544"/>
            <a:ext cx="6105555" cy="21952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7.1  </a:t>
            </a:r>
            <a:r>
              <a:rPr lang="zh-CN" altLang="en-US" sz="2400" dirty="0">
                <a:latin typeface="Times New Roman" pitchFamily="18" charset="0"/>
              </a:rPr>
              <a:t>类的诞生：从结构体开始</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在</a:t>
            </a:r>
            <a:r>
              <a:rPr lang="en-US" altLang="zh-CN" dirty="0">
                <a:latin typeface="Times New Roman" pitchFamily="18" charset="0"/>
              </a:rPr>
              <a:t>C</a:t>
            </a:r>
            <a:r>
              <a:rPr lang="zh-CN" altLang="en-US" dirty="0">
                <a:latin typeface="Times New Roman" pitchFamily="18" charset="0"/>
              </a:rPr>
              <a:t>中，我们常用结构体来反映现实中的实体，比如：</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然后用函数来表示对结构体的操作：</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在实际应用中，我们发现：对结构体的操作通常和结构体自身的定义是强相关的。将操作函数和结构体定义写在一起，逻辑上更集中。</a:t>
            </a:r>
            <a:endParaRPr lang="en-US" altLang="zh-CN" dirty="0">
              <a:latin typeface="Times New Roman" pitchFamily="18" charset="0"/>
            </a:endParaRPr>
          </a:p>
          <a:p>
            <a:pPr marL="114300" indent="0">
              <a:buNone/>
            </a:pPr>
            <a:r>
              <a:rPr lang="zh-CN" altLang="en-US" dirty="0">
                <a:latin typeface="Times New Roman" pitchFamily="18" charset="0"/>
              </a:rPr>
              <a:t>于是，类诞生了。</a:t>
            </a:r>
            <a:endParaRPr lang="en-US" altLang="zh-CN" dirty="0">
              <a:latin typeface="Times New Roman" pitchFamily="18" charset="0"/>
            </a:endParaRPr>
          </a:p>
          <a:p>
            <a:pPr marL="114300" indent="0">
              <a:buNone/>
            </a:pPr>
            <a:r>
              <a:rPr lang="zh-CN" altLang="en-US" dirty="0">
                <a:latin typeface="Times New Roman" pitchFamily="18" charset="0"/>
              </a:rPr>
              <a:t>在</a:t>
            </a:r>
            <a:r>
              <a:rPr lang="en-US" altLang="zh-CN" dirty="0">
                <a:latin typeface="Times New Roman" pitchFamily="18" charset="0"/>
              </a:rPr>
              <a:t>C++</a:t>
            </a:r>
            <a:r>
              <a:rPr lang="zh-CN" altLang="en-US" dirty="0">
                <a:latin typeface="Times New Roman" pitchFamily="18" charset="0"/>
              </a:rPr>
              <a:t>中，可以粗略地用这个等式概括类：</a:t>
            </a:r>
            <a:endParaRPr lang="en-US" altLang="zh-CN" dirty="0">
              <a:latin typeface="Times New Roman" pitchFamily="18" charset="0"/>
            </a:endParaRPr>
          </a:p>
          <a:p>
            <a:pPr marL="114300" indent="0" algn="ctr">
              <a:buNone/>
            </a:pPr>
            <a:r>
              <a:rPr lang="zh-CN" altLang="en-US" b="1" dirty="0">
                <a:latin typeface="Times New Roman" pitchFamily="18" charset="0"/>
              </a:rPr>
              <a:t>类 </a:t>
            </a:r>
            <a:r>
              <a:rPr lang="en-US" altLang="zh-CN" b="1" dirty="0">
                <a:latin typeface="Times New Roman" pitchFamily="18" charset="0"/>
              </a:rPr>
              <a:t>= </a:t>
            </a:r>
            <a:r>
              <a:rPr lang="zh-CN" altLang="en-US" b="1" dirty="0">
                <a:latin typeface="Times New Roman" pitchFamily="18" charset="0"/>
              </a:rPr>
              <a:t>结构体 </a:t>
            </a:r>
            <a:r>
              <a:rPr lang="en-US" altLang="zh-CN" b="1" dirty="0">
                <a:latin typeface="Times New Roman" pitchFamily="18" charset="0"/>
              </a:rPr>
              <a:t>+ </a:t>
            </a:r>
            <a:r>
              <a:rPr lang="zh-CN" altLang="en-US" b="1" dirty="0">
                <a:latin typeface="Times New Roman" pitchFamily="18" charset="0"/>
              </a:rPr>
              <a:t>成员函数 </a:t>
            </a:r>
            <a:r>
              <a:rPr lang="en-US" altLang="zh-CN" b="1" dirty="0">
                <a:latin typeface="Times New Roman" pitchFamily="18" charset="0"/>
              </a:rPr>
              <a:t>+ </a:t>
            </a:r>
            <a:r>
              <a:rPr lang="zh-CN" altLang="en-US" b="1" dirty="0">
                <a:latin typeface="Times New Roman" pitchFamily="18" charset="0"/>
              </a:rPr>
              <a:t>访问权限</a:t>
            </a:r>
            <a:endParaRPr lang="en-US" altLang="zh-CN" b="1"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
        <p:nvSpPr>
          <p:cNvPr id="10" name="文本框 9"/>
          <p:cNvSpPr txBox="1"/>
          <p:nvPr/>
        </p:nvSpPr>
        <p:spPr>
          <a:xfrm>
            <a:off x="3519899" y="2150235"/>
            <a:ext cx="2104200" cy="1200329"/>
          </a:xfrm>
          <a:prstGeom prst="rect">
            <a:avLst/>
          </a:prstGeom>
          <a:solidFill>
            <a:schemeClr val="tx1">
              <a:lumMod val="95000"/>
              <a:lumOff val="5000"/>
            </a:schemeClr>
          </a:solidFill>
        </p:spPr>
        <p:txBody>
          <a:bodyPr wrap="square" rtlCol="0">
            <a:spAutoFit/>
          </a:bodyPr>
          <a:lstStyle/>
          <a:p>
            <a:r>
              <a:rPr lang="en-US" altLang="zh-CN" b="0" dirty="0">
                <a:solidFill>
                  <a:srgbClr val="569CD6"/>
                </a:solidFill>
                <a:effectLst/>
                <a:latin typeface="Sarasa Term SC" pitchFamily="49" charset="-122"/>
                <a:ea typeface="Sarasa Term SC" pitchFamily="49" charset="-122"/>
              </a:rPr>
              <a:t>struct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4EC9B0"/>
                </a:solidFill>
                <a:effectLst/>
                <a:latin typeface="Sarasa Term SC" pitchFamily="49" charset="-122"/>
                <a:ea typeface="Sarasa Term SC" pitchFamily="49" charset="-122"/>
              </a:rPr>
              <a:t>Student</a:t>
            </a:r>
            <a:r>
              <a:rPr lang="en-US" altLang="zh-CN" b="0" dirty="0">
                <a:solidFill>
                  <a:srgbClr val="CCCCCC"/>
                </a:solidFill>
                <a:effectLst/>
                <a:latin typeface="Sarasa Term SC" pitchFamily="49" charset="-122"/>
                <a:ea typeface="Sarasa Term SC" pitchFamily="49" charset="-122"/>
              </a:rPr>
              <a:t> {</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id</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score</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p:txBody>
      </p:sp>
      <p:sp>
        <p:nvSpPr>
          <p:cNvPr id="13" name="文本框 12"/>
          <p:cNvSpPr txBox="1"/>
          <p:nvPr/>
        </p:nvSpPr>
        <p:spPr>
          <a:xfrm>
            <a:off x="2155499" y="3722400"/>
            <a:ext cx="4833001" cy="923330"/>
          </a:xfrm>
          <a:prstGeom prst="rect">
            <a:avLst/>
          </a:prstGeom>
          <a:solidFill>
            <a:schemeClr val="tx1">
              <a:lumMod val="95000"/>
              <a:lumOff val="5000"/>
            </a:schemeClr>
          </a:solidFill>
        </p:spPr>
        <p:txBody>
          <a:bodyPr wrap="square" rtlCol="0">
            <a:spAutoFit/>
          </a:bodyPr>
          <a:lstStyle/>
          <a:p>
            <a:r>
              <a:rPr lang="en-US" altLang="zh-CN" b="0" dirty="0">
                <a:solidFill>
                  <a:srgbClr val="569CD6"/>
                </a:solidFill>
                <a:effectLst/>
                <a:latin typeface="Sarasa Term SC" pitchFamily="49" charset="-122"/>
                <a:ea typeface="Sarasa Term SC" pitchFamily="49" charset="-122"/>
              </a:rPr>
              <a:t>void</a:t>
            </a:r>
            <a:r>
              <a:rPr lang="en-US" altLang="zh-CN" b="0" dirty="0">
                <a:solidFill>
                  <a:srgbClr val="CCCCCC"/>
                </a:solidFill>
                <a:effectLst/>
                <a:latin typeface="Sarasa Term SC" pitchFamily="49" charset="-122"/>
                <a:ea typeface="Sarasa Term SC" pitchFamily="49" charset="-122"/>
              </a:rPr>
              <a:t> </a:t>
            </a:r>
            <a:r>
              <a:rPr lang="en-US" altLang="zh-CN" b="0" dirty="0" err="1">
                <a:solidFill>
                  <a:srgbClr val="DCDCAA"/>
                </a:solidFill>
                <a:effectLst/>
                <a:latin typeface="Sarasa Term SC" pitchFamily="49" charset="-122"/>
                <a:ea typeface="Sarasa Term SC" pitchFamily="49" charset="-122"/>
              </a:rPr>
              <a:t>add_score</a:t>
            </a:r>
            <a:r>
              <a:rPr lang="en-US" altLang="zh-CN" b="0" dirty="0">
                <a:solidFill>
                  <a:srgbClr val="CCCCCC"/>
                </a:solidFill>
                <a:effectLst/>
                <a:latin typeface="Sarasa Term SC" pitchFamily="49" charset="-122"/>
                <a:ea typeface="Sarasa Term SC" pitchFamily="49" charset="-122"/>
              </a:rPr>
              <a:t>(</a:t>
            </a:r>
            <a:r>
              <a:rPr lang="en-US" altLang="zh-CN" b="0" dirty="0">
                <a:solidFill>
                  <a:srgbClr val="4EC9B0"/>
                </a:solidFill>
                <a:effectLst/>
                <a:latin typeface="Sarasa Term SC" pitchFamily="49" charset="-122"/>
                <a:ea typeface="Sarasa Term SC" pitchFamily="49" charset="-122"/>
              </a:rPr>
              <a:t>Student</a:t>
            </a:r>
            <a:r>
              <a:rPr lang="en-US" altLang="zh-CN" b="0" dirty="0">
                <a:solidFill>
                  <a:srgbClr val="569CD6"/>
                </a:solidFill>
                <a:effectLst/>
                <a:latin typeface="Sarasa Term SC" pitchFamily="49" charset="-122"/>
                <a:ea typeface="Sarasa Term SC" pitchFamily="49" charset="-122"/>
              </a:rPr>
              <a:t>*</a:t>
            </a:r>
            <a:r>
              <a:rPr lang="en-US" altLang="zh-CN" b="0" dirty="0">
                <a:solidFill>
                  <a:srgbClr val="CCCCCC"/>
                </a:solidFill>
                <a:effectLst/>
                <a:latin typeface="Sarasa Term SC" pitchFamily="49" charset="-122"/>
                <a:ea typeface="Sarasa Term SC" pitchFamily="49" charset="-122"/>
              </a:rPr>
              <a:t> </a:t>
            </a:r>
            <a:r>
              <a:rPr lang="en-US" altLang="zh-CN" b="0" dirty="0" err="1">
                <a:solidFill>
                  <a:srgbClr val="9CDCFE"/>
                </a:solidFill>
                <a:effectLst/>
                <a:latin typeface="Sarasa Term SC" pitchFamily="49" charset="-122"/>
                <a:ea typeface="Sarasa Term SC" pitchFamily="49" charset="-122"/>
              </a:rPr>
              <a:t>stu</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more</a:t>
            </a:r>
            <a:r>
              <a:rPr lang="en-US" altLang="zh-CN" b="0" dirty="0">
                <a:solidFill>
                  <a:srgbClr val="CCCCCC"/>
                </a:solidFill>
                <a:effectLst/>
                <a:latin typeface="Sarasa Term SC" pitchFamily="49" charset="-122"/>
                <a:ea typeface="Sarasa Term SC" pitchFamily="49" charset="-122"/>
              </a:rPr>
              <a:t>) {</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err="1">
                <a:solidFill>
                  <a:srgbClr val="9CDCFE"/>
                </a:solidFill>
                <a:effectLst/>
                <a:latin typeface="Sarasa Term SC" pitchFamily="49" charset="-122"/>
                <a:ea typeface="Sarasa Term SC" pitchFamily="49" charset="-122"/>
              </a:rPr>
              <a:t>stu</a:t>
            </a:r>
            <a:r>
              <a:rPr lang="en-US" altLang="zh-CN" b="0" dirty="0">
                <a:solidFill>
                  <a:srgbClr val="CCCCCC"/>
                </a:solidFill>
                <a:effectLst/>
                <a:latin typeface="Sarasa Term SC" pitchFamily="49" charset="-122"/>
                <a:ea typeface="Sarasa Term SC" pitchFamily="49" charset="-122"/>
              </a:rPr>
              <a:t>-&gt;</a:t>
            </a:r>
            <a:r>
              <a:rPr lang="en-US" altLang="zh-CN" b="0" dirty="0">
                <a:solidFill>
                  <a:srgbClr val="9CDCFE"/>
                </a:solidFill>
                <a:effectLst/>
                <a:latin typeface="Sarasa Term SC" pitchFamily="49" charset="-122"/>
                <a:ea typeface="Sarasa Term SC" pitchFamily="49" charset="-122"/>
              </a:rPr>
              <a:t>score</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D4D4D4"/>
                </a:solidFill>
                <a:effectLst/>
                <a:latin typeface="Sarasa Term SC" pitchFamily="49" charset="-122"/>
                <a:ea typeface="Sarasa Term SC" pitchFamily="49" charset="-122"/>
              </a:rPr>
              <a: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more</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7.2  </a:t>
            </a:r>
            <a:r>
              <a:rPr lang="zh-CN" altLang="en-US" sz="2400" dirty="0">
                <a:latin typeface="Times New Roman" pitchFamily="18" charset="0"/>
              </a:rPr>
              <a:t>成员函数：对类数据的操作</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成员函数表示特定于此类数据的一种操作。</a:t>
            </a:r>
            <a:endParaRPr lang="en-US" altLang="zh-CN" dirty="0">
              <a:latin typeface="Times New Roman" pitchFamily="18" charset="0"/>
            </a:endParaRPr>
          </a:p>
          <a:p>
            <a:pPr marL="114300" indent="0">
              <a:buNone/>
            </a:pPr>
            <a:r>
              <a:rPr lang="zh-CN" altLang="en-US" dirty="0">
                <a:latin typeface="Times New Roman" pitchFamily="18" charset="0"/>
              </a:rPr>
              <a:t>对于非静态成员函数，被调用该成员函数的对象的指针会被隐式传入为</a:t>
            </a:r>
            <a:r>
              <a:rPr lang="en-US" altLang="zh-CN" dirty="0">
                <a:latin typeface="Times New Roman" pitchFamily="18" charset="0"/>
              </a:rPr>
              <a:t>this</a:t>
            </a:r>
            <a:r>
              <a:rPr lang="zh-CN" altLang="en-US" dirty="0">
                <a:latin typeface="Times New Roman" pitchFamily="18" charset="0"/>
              </a:rPr>
              <a:t>，访问该对象的成员时可以省略</a:t>
            </a:r>
            <a:r>
              <a:rPr lang="en-US" altLang="zh-CN" dirty="0">
                <a:latin typeface="Times New Roman" pitchFamily="18" charset="0"/>
              </a:rPr>
              <a:t>this</a:t>
            </a:r>
            <a:r>
              <a:rPr lang="zh-CN" altLang="en-US" dirty="0">
                <a:latin typeface="Times New Roman" pitchFamily="18" charset="0"/>
              </a:rPr>
              <a:t>。</a:t>
            </a:r>
            <a:endParaRPr lang="en-US" altLang="zh-CN" dirty="0">
              <a:latin typeface="Times New Roman" pitchFamily="18" charset="0"/>
            </a:endParaRPr>
          </a:p>
          <a:p>
            <a:pPr marL="114300" indent="0">
              <a:buNone/>
            </a:pPr>
            <a:r>
              <a:rPr lang="zh-CN" altLang="en-US" dirty="0">
                <a:latin typeface="Times New Roman" pitchFamily="18" charset="0"/>
              </a:rPr>
              <a:t>前述</a:t>
            </a:r>
            <a:r>
              <a:rPr lang="en-US" altLang="zh-CN" dirty="0">
                <a:latin typeface="Times New Roman" pitchFamily="18" charset="0"/>
              </a:rPr>
              <a:t>Student</a:t>
            </a:r>
            <a:r>
              <a:rPr lang="zh-CN" altLang="en-US" dirty="0">
                <a:latin typeface="Times New Roman" pitchFamily="18" charset="0"/>
              </a:rPr>
              <a:t>类可以写为：</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设</a:t>
            </a:r>
            <a:r>
              <a:rPr lang="en-US" altLang="zh-CN" dirty="0" err="1">
                <a:latin typeface="Times New Roman" pitchFamily="18" charset="0"/>
              </a:rPr>
              <a:t>stu</a:t>
            </a:r>
            <a:r>
              <a:rPr lang="zh-CN" altLang="en-US" dirty="0">
                <a:latin typeface="Times New Roman" pitchFamily="18" charset="0"/>
              </a:rPr>
              <a:t>为一个</a:t>
            </a:r>
            <a:r>
              <a:rPr lang="en-US" altLang="zh-CN" dirty="0">
                <a:latin typeface="Times New Roman" pitchFamily="18" charset="0"/>
              </a:rPr>
              <a:t>Student</a:t>
            </a:r>
            <a:r>
              <a:rPr lang="zh-CN" altLang="en-US" dirty="0">
                <a:latin typeface="Times New Roman" pitchFamily="18" charset="0"/>
              </a:rPr>
              <a:t>类的对象，下两行代码是等效的</a:t>
            </a:r>
            <a:endParaRPr lang="en-US" altLang="zh-CN" dirty="0">
              <a:latin typeface="Times New Roman" pitchFamily="18" charset="0"/>
            </a:endParaRPr>
          </a:p>
        </p:txBody>
      </p:sp>
      <p:sp>
        <p:nvSpPr>
          <p:cNvPr id="2" name="文本框 1"/>
          <p:cNvSpPr txBox="1"/>
          <p:nvPr/>
        </p:nvSpPr>
        <p:spPr>
          <a:xfrm>
            <a:off x="2754000" y="3133800"/>
            <a:ext cx="3636000" cy="2102400"/>
          </a:xfrm>
          <a:prstGeom prst="rect">
            <a:avLst/>
          </a:prstGeom>
          <a:solidFill>
            <a:schemeClr val="tx1"/>
          </a:solidFill>
        </p:spPr>
        <p:txBody>
          <a:bodyPr wrap="square" rtlCol="0">
            <a:spAutoFit/>
          </a:bodyPr>
          <a:lstStyle/>
          <a:p>
            <a:r>
              <a:rPr lang="en-US" altLang="zh-CN" b="0" dirty="0">
                <a:solidFill>
                  <a:srgbClr val="569CD6"/>
                </a:solidFill>
                <a:effectLst/>
                <a:latin typeface="Sarasa Term SC" pitchFamily="49" charset="-122"/>
                <a:ea typeface="Sarasa Term SC" pitchFamily="49" charset="-122"/>
              </a:rPr>
              <a:t>struct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4EC9B0"/>
                </a:solidFill>
                <a:effectLst/>
                <a:latin typeface="Sarasa Term SC" pitchFamily="49" charset="-122"/>
                <a:ea typeface="Sarasa Term SC" pitchFamily="49" charset="-122"/>
              </a:rPr>
              <a:t>Student</a:t>
            </a:r>
            <a:r>
              <a:rPr lang="en-US" altLang="zh-CN" b="0" dirty="0">
                <a:solidFill>
                  <a:srgbClr val="CCCCCC"/>
                </a:solidFill>
                <a:effectLst/>
                <a:latin typeface="Sarasa Term SC" pitchFamily="49" charset="-122"/>
                <a:ea typeface="Sarasa Term SC" pitchFamily="49" charset="-122"/>
              </a:rPr>
              <a:t> {</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id</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score</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void</a:t>
            </a:r>
            <a:r>
              <a:rPr lang="en-US" altLang="zh-CN" b="0" dirty="0">
                <a:solidFill>
                  <a:srgbClr val="CCCCCC"/>
                </a:solidFill>
                <a:effectLst/>
                <a:latin typeface="Sarasa Term SC" pitchFamily="49" charset="-122"/>
                <a:ea typeface="Sarasa Term SC" pitchFamily="49" charset="-122"/>
              </a:rPr>
              <a:t> </a:t>
            </a:r>
            <a:r>
              <a:rPr lang="en-US" altLang="zh-CN" b="0" dirty="0" err="1">
                <a:solidFill>
                  <a:srgbClr val="DCDCAA"/>
                </a:solidFill>
                <a:effectLst/>
                <a:latin typeface="Sarasa Term SC" pitchFamily="49" charset="-122"/>
                <a:ea typeface="Sarasa Term SC" pitchFamily="49" charset="-122"/>
              </a:rPr>
              <a:t>add_score</a:t>
            </a:r>
            <a:r>
              <a:rPr lang="en-US" altLang="zh-CN" b="0" dirty="0">
                <a:solidFill>
                  <a:srgbClr val="CCCCCC"/>
                </a:solidFill>
                <a:effectLst/>
                <a:latin typeface="Sarasa Term SC" pitchFamily="49" charset="-122"/>
                <a:ea typeface="Sarasa Term SC" pitchFamily="49" charset="-122"/>
              </a:rPr>
              <a:t>(</a:t>
            </a:r>
            <a:r>
              <a:rPr lang="en-US" altLang="zh-CN" b="0" dirty="0">
                <a:solidFill>
                  <a:srgbClr val="569CD6"/>
                </a:solidFill>
                <a:effectLst/>
                <a:latin typeface="Sarasa Term SC" pitchFamily="49" charset="-122"/>
                <a:ea typeface="Sarasa Term SC" pitchFamily="49" charset="-122"/>
              </a:rPr>
              <a:t>int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more</a:t>
            </a:r>
            <a:r>
              <a:rPr lang="en-US" altLang="zh-CN" b="0" dirty="0">
                <a:solidFill>
                  <a:srgbClr val="CCCCCC"/>
                </a:solidFill>
                <a:effectLst/>
                <a:latin typeface="Sarasa Term SC" pitchFamily="49" charset="-122"/>
                <a:ea typeface="Sarasa Term SC" pitchFamily="49" charset="-122"/>
              </a:rPr>
              <a:t>) {</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r>
              <a:rPr lang="en-US" altLang="zh-CN" b="0" dirty="0">
                <a:solidFill>
                  <a:srgbClr val="569CD6"/>
                </a:solidFill>
                <a:effectLst/>
                <a:latin typeface="Sarasa Term SC" pitchFamily="49" charset="-122"/>
                <a:ea typeface="Sarasa Term SC" pitchFamily="49" charset="-122"/>
              </a:rPr>
              <a:t>this</a:t>
            </a:r>
            <a:r>
              <a:rPr lang="en-US" altLang="zh-CN" b="0" dirty="0">
                <a:solidFill>
                  <a:srgbClr val="CCCCCC"/>
                </a:solidFill>
                <a:effectLst/>
                <a:latin typeface="Sarasa Term SC" pitchFamily="49" charset="-122"/>
                <a:ea typeface="Sarasa Term SC" pitchFamily="49" charset="-122"/>
              </a:rPr>
              <a:t>-&gt;</a:t>
            </a:r>
            <a:r>
              <a:rPr lang="en-US" altLang="zh-CN" b="0" dirty="0">
                <a:solidFill>
                  <a:srgbClr val="9CDCFE"/>
                </a:solidFill>
                <a:effectLst/>
                <a:latin typeface="Sarasa Term SC" pitchFamily="49" charset="-122"/>
                <a:ea typeface="Sarasa Term SC" pitchFamily="49" charset="-122"/>
              </a:rPr>
              <a:t>score</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D4D4D4"/>
                </a:solidFill>
                <a:effectLst/>
                <a:latin typeface="Sarasa Term SC" pitchFamily="49" charset="-122"/>
                <a:ea typeface="Sarasa Term SC" pitchFamily="49" charset="-122"/>
              </a:rPr>
              <a:t>+=</a:t>
            </a:r>
            <a:r>
              <a:rPr lang="en-US" altLang="zh-CN" b="0" dirty="0">
                <a:solidFill>
                  <a:srgbClr val="CCCCCC"/>
                </a:solidFill>
                <a:effectLst/>
                <a:latin typeface="Sarasa Term SC" pitchFamily="49" charset="-122"/>
                <a:ea typeface="Sarasa Term SC" pitchFamily="49" charset="-122"/>
              </a:rPr>
              <a:t> </a:t>
            </a:r>
            <a:r>
              <a:rPr lang="en-US" altLang="zh-CN" b="0" dirty="0">
                <a:solidFill>
                  <a:srgbClr val="9CDCFE"/>
                </a:solidFill>
                <a:effectLst/>
                <a:latin typeface="Sarasa Term SC" pitchFamily="49" charset="-122"/>
                <a:ea typeface="Sarasa Term SC" pitchFamily="49" charset="-122"/>
              </a:rPr>
              <a:t>more</a:t>
            </a:r>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    }</a:t>
            </a:r>
            <a:endParaRPr lang="en-US" altLang="zh-CN" b="0" dirty="0">
              <a:solidFill>
                <a:srgbClr val="CCCCCC"/>
              </a:solidFill>
              <a:effectLst/>
              <a:latin typeface="Sarasa Term SC" pitchFamily="49" charset="-122"/>
              <a:ea typeface="Sarasa Term SC" pitchFamily="49" charset="-122"/>
            </a:endParaRPr>
          </a:p>
          <a:p>
            <a:r>
              <a:rPr lang="en-US" altLang="zh-CN" b="0" dirty="0">
                <a:solidFill>
                  <a:srgbClr val="CCCCCC"/>
                </a:solidFill>
                <a:effectLst/>
                <a:latin typeface="Sarasa Term SC" pitchFamily="49" charset="-122"/>
                <a:ea typeface="Sarasa Term SC" pitchFamily="49" charset="-122"/>
              </a:rPr>
              <a:t>};</a:t>
            </a:r>
            <a:endParaRPr lang="en-US" altLang="zh-CN" b="0" dirty="0">
              <a:solidFill>
                <a:srgbClr val="CCCCCC"/>
              </a:solidFill>
              <a:effectLst/>
              <a:latin typeface="Sarasa Term SC" pitchFamily="49" charset="-122"/>
              <a:ea typeface="Sarasa Term SC" pitchFamily="49" charset="-122"/>
            </a:endParaRPr>
          </a:p>
        </p:txBody>
      </p:sp>
      <p:sp>
        <p:nvSpPr>
          <p:cNvPr id="4" name="文本框 3"/>
          <p:cNvSpPr txBox="1"/>
          <p:nvPr/>
        </p:nvSpPr>
        <p:spPr>
          <a:xfrm>
            <a:off x="3339000" y="5652000"/>
            <a:ext cx="2466000" cy="662400"/>
          </a:xfrm>
          <a:prstGeom prst="rect">
            <a:avLst/>
          </a:prstGeom>
          <a:solidFill>
            <a:schemeClr val="tx1"/>
          </a:solidFill>
        </p:spPr>
        <p:txBody>
          <a:bodyPr wrap="square" rtlCol="0">
            <a:spAutoFit/>
          </a:bodyPr>
          <a:lstStyle/>
          <a:p>
            <a:r>
              <a:rPr lang="en-US" altLang="zh-CN" b="0">
                <a:solidFill>
                  <a:srgbClr val="DCDCAA"/>
                </a:solidFill>
                <a:effectLst/>
                <a:latin typeface="Sarasa Term SC" pitchFamily="49" charset="-122"/>
                <a:ea typeface="Sarasa Term SC" pitchFamily="49" charset="-122"/>
              </a:rPr>
              <a:t>add_score</a:t>
            </a:r>
            <a:r>
              <a:rPr lang="en-US" altLang="zh-CN" b="0">
                <a:solidFill>
                  <a:srgbClr val="CCCCCC"/>
                </a:solidFill>
                <a:effectLst/>
                <a:latin typeface="Sarasa Term SC" pitchFamily="49" charset="-122"/>
                <a:ea typeface="Sarasa Term SC" pitchFamily="49" charset="-122"/>
              </a:rPr>
              <a:t>(</a:t>
            </a:r>
            <a:r>
              <a:rPr lang="en-US" altLang="zh-CN" b="0">
                <a:solidFill>
                  <a:srgbClr val="D4D4D4"/>
                </a:solidFill>
                <a:effectLst/>
                <a:latin typeface="Sarasa Term SC" pitchFamily="49" charset="-122"/>
                <a:ea typeface="Sarasa Term SC" pitchFamily="49" charset="-122"/>
              </a:rPr>
              <a:t>&amp;</a:t>
            </a:r>
            <a:r>
              <a:rPr lang="en-US" altLang="zh-CN" b="0">
                <a:solidFill>
                  <a:srgbClr val="9CDCFE"/>
                </a:solidFill>
                <a:effectLst/>
                <a:latin typeface="Sarasa Term SC" pitchFamily="49" charset="-122"/>
                <a:ea typeface="Sarasa Term SC" pitchFamily="49" charset="-122"/>
              </a:rPr>
              <a:t>stu</a:t>
            </a:r>
            <a:r>
              <a:rPr lang="en-US" altLang="zh-CN" b="0">
                <a:solidFill>
                  <a:srgbClr val="CCCCCC"/>
                </a:solidFill>
                <a:effectLst/>
                <a:latin typeface="Sarasa Term SC" pitchFamily="49" charset="-122"/>
                <a:ea typeface="Sarasa Term SC" pitchFamily="49" charset="-122"/>
              </a:rPr>
              <a:t>, </a:t>
            </a:r>
            <a:r>
              <a:rPr lang="en-US" altLang="zh-CN" b="0">
                <a:solidFill>
                  <a:srgbClr val="B5CEA8"/>
                </a:solidFill>
                <a:effectLst/>
                <a:latin typeface="Sarasa Term SC" pitchFamily="49" charset="-122"/>
                <a:ea typeface="Sarasa Term SC" pitchFamily="49" charset="-122"/>
              </a:rPr>
              <a:t>50</a:t>
            </a:r>
            <a:r>
              <a:rPr lang="en-US" altLang="zh-CN" b="0">
                <a:solidFill>
                  <a:srgbClr val="CCCCCC"/>
                </a:solidFill>
                <a:effectLst/>
                <a:latin typeface="Sarasa Term SC" pitchFamily="49" charset="-122"/>
                <a:ea typeface="Sarasa Term SC" pitchFamily="49" charset="-122"/>
              </a:rPr>
              <a:t>);</a:t>
            </a:r>
            <a:endParaRPr lang="en-US" altLang="zh-CN" b="0">
              <a:solidFill>
                <a:srgbClr val="CCCCCC"/>
              </a:solidFill>
              <a:effectLst/>
              <a:latin typeface="Sarasa Term SC" pitchFamily="49" charset="-122"/>
              <a:ea typeface="Sarasa Term SC" pitchFamily="49" charset="-122"/>
            </a:endParaRPr>
          </a:p>
          <a:p>
            <a:r>
              <a:rPr lang="en-US" altLang="zh-CN" b="0">
                <a:solidFill>
                  <a:srgbClr val="9CDCFE"/>
                </a:solidFill>
                <a:effectLst/>
                <a:latin typeface="Sarasa Term SC" pitchFamily="49" charset="-122"/>
                <a:ea typeface="Sarasa Term SC" pitchFamily="49" charset="-122"/>
              </a:rPr>
              <a:t>stu</a:t>
            </a:r>
            <a:r>
              <a:rPr lang="en-US" altLang="zh-CN" b="0">
                <a:solidFill>
                  <a:srgbClr val="CCCCCC"/>
                </a:solidFill>
                <a:effectLst/>
                <a:latin typeface="Sarasa Term SC" pitchFamily="49" charset="-122"/>
                <a:ea typeface="Sarasa Term SC" pitchFamily="49" charset="-122"/>
              </a:rPr>
              <a:t>.</a:t>
            </a:r>
            <a:r>
              <a:rPr lang="en-US" altLang="zh-CN" b="0">
                <a:solidFill>
                  <a:srgbClr val="DCDCAA"/>
                </a:solidFill>
                <a:effectLst/>
                <a:latin typeface="Sarasa Term SC" pitchFamily="49" charset="-122"/>
                <a:ea typeface="Sarasa Term SC" pitchFamily="49" charset="-122"/>
              </a:rPr>
              <a:t>add_score</a:t>
            </a:r>
            <a:r>
              <a:rPr lang="en-US" altLang="zh-CN" b="0">
                <a:solidFill>
                  <a:srgbClr val="CCCCCC"/>
                </a:solidFill>
                <a:effectLst/>
                <a:latin typeface="Sarasa Term SC" pitchFamily="49" charset="-122"/>
                <a:ea typeface="Sarasa Term SC" pitchFamily="49" charset="-122"/>
              </a:rPr>
              <a:t>(</a:t>
            </a:r>
            <a:r>
              <a:rPr lang="en-US" altLang="zh-CN" b="0">
                <a:solidFill>
                  <a:srgbClr val="B5CEA8"/>
                </a:solidFill>
                <a:effectLst/>
                <a:latin typeface="Sarasa Term SC" pitchFamily="49" charset="-122"/>
                <a:ea typeface="Sarasa Term SC" pitchFamily="49" charset="-122"/>
              </a:rPr>
              <a:t>50</a:t>
            </a:r>
            <a:r>
              <a:rPr lang="en-US" altLang="zh-CN" b="0">
                <a:solidFill>
                  <a:srgbClr val="CCCCCC"/>
                </a:solidFill>
                <a:effectLst/>
                <a:latin typeface="Sarasa Term SC" pitchFamily="49" charset="-122"/>
                <a:ea typeface="Sarasa Term SC" pitchFamily="49" charset="-122"/>
              </a:rPr>
              <a:t>);</a:t>
            </a:r>
            <a:endParaRPr lang="en-US" altLang="zh-CN" b="0">
              <a:solidFill>
                <a:srgbClr val="CCCCCC"/>
              </a:solidFill>
              <a:effectLst/>
              <a:latin typeface="Sarasa Term SC" pitchFamily="49" charset="-122"/>
              <a:ea typeface="Sarasa Term SC"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7.3  </a:t>
            </a:r>
            <a:r>
              <a:rPr lang="zh-CN" altLang="en-US" sz="2400" dirty="0">
                <a:latin typeface="Times New Roman" pitchFamily="18" charset="0"/>
              </a:rPr>
              <a:t>构造与析构函数：特殊的成员函数</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构造和析构函数都不声明返回值，构造函数的名字与类名相同，析构函数的名字为类名前加一个“</a:t>
            </a:r>
            <a:r>
              <a:rPr lang="en-US" altLang="zh-CN" dirty="0">
                <a:latin typeface="Times New Roman" pitchFamily="18" charset="0"/>
              </a:rPr>
              <a:t>~</a:t>
            </a:r>
            <a:r>
              <a:rPr lang="zh-CN" altLang="en-US" dirty="0">
                <a:latin typeface="Times New Roman" pitchFamily="18" charset="0"/>
              </a:rPr>
              <a:t>”，且析构函数必须无参数。</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构造和析构函数特殊的点在于它们不需要被手动调用，而是会在特定的时机被自动调用。</a:t>
            </a:r>
            <a:endParaRPr lang="en-US" altLang="zh-CN" dirty="0">
              <a:latin typeface="Times New Roman" pitchFamily="18" charset="0"/>
            </a:endParaRPr>
          </a:p>
          <a:p>
            <a:pPr marL="114300" indent="0">
              <a:buNone/>
            </a:pPr>
            <a:r>
              <a:rPr lang="en-US" altLang="zh-CN" dirty="0">
                <a:latin typeface="Times New Roman" pitchFamily="18" charset="0"/>
              </a:rPr>
              <a:t>	</a:t>
            </a:r>
            <a:r>
              <a:rPr lang="zh-CN" altLang="en-US" dirty="0">
                <a:latin typeface="Times New Roman" pitchFamily="18" charset="0"/>
              </a:rPr>
              <a:t>构造函数调用的时机：函数中创建局部对象、</a:t>
            </a:r>
            <a:r>
              <a:rPr lang="en-US" altLang="zh-CN" dirty="0">
                <a:latin typeface="Times New Roman" pitchFamily="18" charset="0"/>
              </a:rPr>
              <a:t>new</a:t>
            </a:r>
            <a:r>
              <a:rPr lang="zh-CN" altLang="en-US" dirty="0">
                <a:latin typeface="Times New Roman" pitchFamily="18" charset="0"/>
              </a:rPr>
              <a:t>创建对象</a:t>
            </a:r>
            <a:endParaRPr lang="en-US" altLang="zh-CN" dirty="0">
              <a:latin typeface="Times New Roman" pitchFamily="18" charset="0"/>
            </a:endParaRPr>
          </a:p>
          <a:p>
            <a:pPr marL="114300" indent="0">
              <a:buNone/>
            </a:pPr>
            <a:r>
              <a:rPr lang="en-US" altLang="zh-CN" dirty="0">
                <a:latin typeface="Times New Roman" pitchFamily="18" charset="0"/>
              </a:rPr>
              <a:t>	</a:t>
            </a:r>
            <a:r>
              <a:rPr lang="zh-CN" altLang="en-US" dirty="0">
                <a:latin typeface="Times New Roman" pitchFamily="18" charset="0"/>
              </a:rPr>
              <a:t>析构函数调用的时机：局部对象的范围结束、</a:t>
            </a:r>
            <a:r>
              <a:rPr lang="en-US" altLang="zh-CN" dirty="0">
                <a:latin typeface="Times New Roman" pitchFamily="18" charset="0"/>
              </a:rPr>
              <a:t>delete</a:t>
            </a:r>
            <a:r>
              <a:rPr lang="zh-CN" altLang="en-US" dirty="0">
                <a:latin typeface="Times New Roman" pitchFamily="18" charset="0"/>
              </a:rPr>
              <a:t>销毁对象</a:t>
            </a:r>
            <a:endParaRPr lang="en-US" altLang="zh-CN" dirty="0">
              <a:latin typeface="Times New Roman" pitchFamily="18" charset="0"/>
            </a:endParaRPr>
          </a:p>
          <a:p>
            <a:pPr marL="114300" indent="0">
              <a:buNone/>
            </a:pPr>
            <a:r>
              <a:rPr lang="zh-CN" altLang="en-US" dirty="0">
                <a:latin typeface="Times New Roman" pitchFamily="18" charset="0"/>
              </a:rPr>
              <a:t>局部对象的范围可以认为是它所在的最近的一对大括号内。</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对象构造的流程：先分配对象所需的内存，再执行对象构造函数的初始化列表（初始化列表会调用对应成员的构造函数），最后执行构造函数的函数体。</a:t>
            </a:r>
            <a:endParaRPr lang="en-US" altLang="zh-CN" dirty="0">
              <a:latin typeface="Times New Roman" pitchFamily="18" charset="0"/>
            </a:endParaRPr>
          </a:p>
          <a:p>
            <a:pPr marL="114300" indent="0">
              <a:buNone/>
            </a:pPr>
            <a:r>
              <a:rPr lang="zh-CN" altLang="en-US" dirty="0">
                <a:latin typeface="Times New Roman" pitchFamily="18" charset="0"/>
              </a:rPr>
              <a:t>对象析构的流程：先执行析构函数的函数体，再执行对象所有成员的析构函数，最后释放对象占有的内存。</a:t>
            </a: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7.3  </a:t>
            </a:r>
            <a:r>
              <a:rPr lang="zh-CN" altLang="en-US" sz="2400" dirty="0">
                <a:latin typeface="Times New Roman" pitchFamily="18" charset="0"/>
              </a:rPr>
              <a:t>构造与析构函数：特殊的成员函数</a:t>
            </a:r>
            <a:endParaRPr lang="en-US" altLang="zh-CN" sz="2400" dirty="0">
              <a:latin typeface="Times New Roman" pitchFamily="18" charset="0"/>
            </a:endParaRPr>
          </a:p>
          <a:p>
            <a:pPr marL="114300" indent="0">
              <a:buNone/>
            </a:pPr>
            <a:r>
              <a:rPr lang="en-US" altLang="zh-CN" dirty="0">
                <a:latin typeface="Times New Roman" pitchFamily="18" charset="0"/>
              </a:rPr>
              <a:t>                                                                                                        </a:t>
            </a:r>
            <a:r>
              <a:rPr lang="zh-CN" altLang="en-US" dirty="0">
                <a:latin typeface="Times New Roman" pitchFamily="18" charset="0"/>
              </a:rPr>
              <a:t>输出：</a:t>
            </a:r>
            <a:endParaRPr lang="en-US" altLang="zh-CN" dirty="0">
              <a:latin typeface="Times New Roman" pitchFamily="18" charset="0"/>
            </a:endParaRPr>
          </a:p>
          <a:p>
            <a:pPr marL="114300" indent="0">
              <a:buNone/>
            </a:pPr>
            <a:endParaRPr lang="en-US" altLang="zh-CN" dirty="0">
              <a:latin typeface="Times New Roman" pitchFamily="18" charset="0"/>
            </a:endParaRPr>
          </a:p>
        </p:txBody>
      </p:sp>
      <p:sp>
        <p:nvSpPr>
          <p:cNvPr id="2" name="文本框 1"/>
          <p:cNvSpPr txBox="1"/>
          <p:nvPr/>
        </p:nvSpPr>
        <p:spPr>
          <a:xfrm>
            <a:off x="779137" y="1555200"/>
            <a:ext cx="5699635" cy="2862322"/>
          </a:xfrm>
          <a:prstGeom prst="rect">
            <a:avLst/>
          </a:prstGeom>
          <a:solidFill>
            <a:schemeClr val="tx1"/>
          </a:solidFill>
        </p:spPr>
        <p:txBody>
          <a:bodyPr wrap="square" rtlCol="0">
            <a:spAutoFit/>
          </a:bodyPr>
          <a:lstStyle/>
          <a:p>
            <a:r>
              <a:rPr lang="en-US" altLang="zh-CN" sz="1200" b="0" dirty="0">
                <a:solidFill>
                  <a:srgbClr val="569CD6"/>
                </a:solidFill>
                <a:effectLst/>
                <a:latin typeface="Sarasa Term SC" pitchFamily="49" charset="-122"/>
                <a:ea typeface="Sarasa Term SC" pitchFamily="49" charset="-122"/>
              </a:rPr>
              <a:t>struct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Ticket</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4EC9B0"/>
                </a:solidFill>
                <a:effectLst/>
                <a:latin typeface="Sarasa Term SC" pitchFamily="49" charset="-122"/>
                <a:ea typeface="Sarasa Term SC" pitchFamily="49" charset="-122"/>
              </a:rPr>
              <a:t>string</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name</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Ticket</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569CD6"/>
                </a:solidFill>
                <a:effectLst/>
                <a:latin typeface="Sarasa Term SC" pitchFamily="49" charset="-122"/>
                <a:ea typeface="Sarasa Term SC" pitchFamily="49" charset="-122"/>
              </a:rPr>
              <a:t>const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4EC9B0"/>
                </a:solidFill>
                <a:effectLst/>
                <a:latin typeface="Sarasa Term SC" pitchFamily="49" charset="-122"/>
                <a:ea typeface="Sarasa Term SC" pitchFamily="49" charset="-122"/>
              </a:rPr>
              <a:t>string</a:t>
            </a:r>
            <a:r>
              <a:rPr lang="en-US" altLang="zh-CN" sz="1200" b="0" dirty="0">
                <a:solidFill>
                  <a:srgbClr val="569CD6"/>
                </a:solidFill>
                <a:effectLst/>
                <a:latin typeface="Sarasa Term SC" pitchFamily="49" charset="-122"/>
                <a:ea typeface="Sarasa Term SC" pitchFamily="49" charset="-122"/>
              </a:rPr>
              <a:t>&amp;</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name_</a:t>
            </a:r>
            <a:r>
              <a:rPr lang="en-US" altLang="zh-CN" sz="1200" b="0" dirty="0">
                <a:solidFill>
                  <a:srgbClr val="CCCCCC"/>
                </a:solidFill>
                <a:effectLst/>
                <a:latin typeface="Sarasa Term SC" pitchFamily="49" charset="-122"/>
                <a:ea typeface="Sarasa Term SC" pitchFamily="49" charset="-122"/>
              </a:rPr>
              <a:t>) : </a:t>
            </a:r>
            <a:r>
              <a:rPr lang="en-US" altLang="zh-CN" sz="1200" b="0" dirty="0">
                <a:solidFill>
                  <a:srgbClr val="9CDCFE"/>
                </a:solidFill>
                <a:effectLst/>
                <a:latin typeface="Sarasa Term SC" pitchFamily="49" charset="-122"/>
                <a:ea typeface="Sarasa Term SC" pitchFamily="49" charset="-122"/>
              </a:rPr>
              <a:t>name</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9CDCFE"/>
                </a:solidFill>
                <a:effectLst/>
                <a:latin typeface="Sarasa Term SC" pitchFamily="49" charset="-122"/>
                <a:ea typeface="Sarasa Term SC" pitchFamily="49" charset="-122"/>
              </a:rPr>
              <a:t>name_</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err="1">
                <a:solidFill>
                  <a:srgbClr val="9CDCFE"/>
                </a:solidFill>
                <a:effectLst/>
                <a:latin typeface="Sarasa Term SC" pitchFamily="49" charset="-122"/>
                <a:ea typeface="Sarasa Term SC" pitchFamily="49" charset="-122"/>
              </a:rPr>
              <a:t>cout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name</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 </a:t>
            </a:r>
            <a:r>
              <a:rPr lang="en-US" altLang="zh-CN" sz="1200" b="0" dirty="0" err="1">
                <a:solidFill>
                  <a:srgbClr val="CE9178"/>
                </a:solidFill>
                <a:effectLst/>
                <a:latin typeface="Sarasa Term SC" pitchFamily="49" charset="-122"/>
                <a:ea typeface="Sarasa Term SC" pitchFamily="49" charset="-122"/>
              </a:rPr>
              <a:t>contructor</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D7BA7D"/>
                </a:solidFill>
                <a:effectLst/>
                <a:latin typeface="Sarasa Term SC" pitchFamily="49" charset="-122"/>
                <a:ea typeface="Sarasa Term SC" pitchFamily="49" charset="-122"/>
              </a:rPr>
              <a:t>\n</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~Ticket</a:t>
            </a:r>
            <a:r>
              <a:rPr lang="en-US" altLang="zh-CN" sz="1200" b="0" dirty="0">
                <a:solidFill>
                  <a:srgbClr val="CCCCCC"/>
                </a:solidFill>
                <a:effectLst/>
                <a:latin typeface="Sarasa Term SC" pitchFamily="49" charset="-122"/>
                <a:ea typeface="Sarasa Term SC" pitchFamily="49" charset="-122"/>
              </a:rPr>
              <a:t>() {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err="1">
                <a:solidFill>
                  <a:srgbClr val="9CDCFE"/>
                </a:solidFill>
                <a:effectLst/>
                <a:latin typeface="Sarasa Term SC" pitchFamily="49" charset="-122"/>
                <a:ea typeface="Sarasa Term SC" pitchFamily="49" charset="-122"/>
              </a:rPr>
              <a:t>cout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name</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 destructor"</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D7BA7D"/>
                </a:solidFill>
                <a:effectLst/>
                <a:latin typeface="Sarasa Term SC" pitchFamily="49" charset="-122"/>
                <a:ea typeface="Sarasa Term SC" pitchFamily="49" charset="-122"/>
              </a:rPr>
              <a:t>\n</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br>
              <a:rPr lang="en-US" altLang="zh-CN" sz="1200" b="0" dirty="0">
                <a:solidFill>
                  <a:srgbClr val="CCCCCC"/>
                </a:solidFill>
                <a:effectLst/>
                <a:latin typeface="Sarasa Term SC" pitchFamily="49" charset="-122"/>
                <a:ea typeface="Sarasa Term SC" pitchFamily="49" charset="-122"/>
              </a:rPr>
            </a:br>
            <a:r>
              <a:rPr lang="en-US" altLang="zh-CN" sz="1200" b="0" dirty="0">
                <a:solidFill>
                  <a:srgbClr val="569CD6"/>
                </a:solidFill>
                <a:effectLst/>
                <a:latin typeface="Sarasa Term SC" pitchFamily="49" charset="-122"/>
                <a:ea typeface="Sarasa Term SC" pitchFamily="49" charset="-122"/>
              </a:rPr>
              <a:t>int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main</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Ticket</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global_ticket</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Ticket</a:t>
            </a:r>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local_ticket</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CE9178"/>
                </a:solidFill>
                <a:effectLst/>
                <a:latin typeface="Sarasa Term SC" pitchFamily="49" charset="-122"/>
                <a:ea typeface="Sarasa Term SC" pitchFamily="49" charset="-122"/>
              </a:rPr>
              <a:t>"local"</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6A9955"/>
                </a:solidFill>
                <a:effectLst/>
                <a:latin typeface="Sarasa Term SC" pitchFamily="49" charset="-122"/>
                <a:ea typeface="Sarasa Term SC" pitchFamily="49" charset="-122"/>
              </a:rPr>
              <a:t> // </a:t>
            </a:r>
            <a:r>
              <a:rPr lang="zh-CN" altLang="en-US" sz="1200" b="0" dirty="0">
                <a:solidFill>
                  <a:srgbClr val="6A9955"/>
                </a:solidFill>
                <a:effectLst/>
                <a:latin typeface="Sarasa Term SC" pitchFamily="49" charset="-122"/>
                <a:ea typeface="Sarasa Term SC" pitchFamily="49" charset="-122"/>
              </a:rPr>
              <a:t>创建局部对象</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global_ticket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586C0"/>
                </a:solidFill>
                <a:effectLst/>
                <a:latin typeface="Sarasa Term SC" pitchFamily="49" charset="-122"/>
                <a:ea typeface="Sarasa Term SC" pitchFamily="49" charset="-122"/>
              </a:rPr>
              <a:t>new</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Ticket</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CE9178"/>
                </a:solidFill>
                <a:effectLst/>
                <a:latin typeface="Sarasa Term SC" pitchFamily="49" charset="-122"/>
                <a:ea typeface="Sarasa Term SC" pitchFamily="49" charset="-122"/>
              </a:rPr>
              <a:t>"global"</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6A9955"/>
                </a:solidFill>
                <a:effectLst/>
                <a:latin typeface="Sarasa Term SC" pitchFamily="49" charset="-122"/>
                <a:ea typeface="Sarasa Term SC" pitchFamily="49" charset="-122"/>
              </a:rPr>
              <a:t> // new</a:t>
            </a:r>
            <a:r>
              <a:rPr lang="zh-CN" altLang="en-US" sz="1200" b="0" dirty="0">
                <a:solidFill>
                  <a:srgbClr val="6A9955"/>
                </a:solidFill>
                <a:effectLst/>
                <a:latin typeface="Sarasa Term SC" pitchFamily="49" charset="-122"/>
                <a:ea typeface="Sarasa Term SC" pitchFamily="49" charset="-122"/>
              </a:rPr>
              <a:t>创建对象</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a:solidFill>
                  <a:srgbClr val="CCCCCC"/>
                </a:solidFill>
                <a:effectLst/>
                <a:latin typeface="Sarasa Term SC" pitchFamily="49" charset="-122"/>
                <a:ea typeface="Sarasa Term SC" pitchFamily="49" charset="-122"/>
              </a:rPr>
              <a:t>}</a:t>
            </a:r>
            <a:r>
              <a:rPr lang="zh-CN" altLang="en-US" sz="1200" b="0" dirty="0">
                <a:solidFill>
                  <a:srgbClr val="6A9955"/>
                </a:solidFill>
                <a:effectLst/>
                <a:latin typeface="Sarasa Term SC" pitchFamily="49" charset="-122"/>
                <a:ea typeface="Sarasa Term SC" pitchFamily="49" charset="-122"/>
              </a:rPr>
              <a:t> </a:t>
            </a:r>
            <a:r>
              <a:rPr lang="en-US" altLang="zh-CN" sz="1200" b="0" dirty="0">
                <a:solidFill>
                  <a:srgbClr val="6A9955"/>
                </a:solidFill>
                <a:effectLst/>
                <a:latin typeface="Sarasa Term SC" pitchFamily="49" charset="-122"/>
                <a:ea typeface="Sarasa Term SC" pitchFamily="49" charset="-122"/>
              </a:rPr>
              <a:t>// </a:t>
            </a:r>
            <a:r>
              <a:rPr lang="zh-CN" altLang="en-US" sz="1200" b="0" dirty="0">
                <a:solidFill>
                  <a:srgbClr val="6A9955"/>
                </a:solidFill>
                <a:effectLst/>
                <a:latin typeface="Sarasa Term SC" pitchFamily="49" charset="-122"/>
                <a:ea typeface="Sarasa Term SC" pitchFamily="49" charset="-122"/>
              </a:rPr>
              <a:t>到达最近大括号末尾，</a:t>
            </a:r>
            <a:r>
              <a:rPr lang="en-US" altLang="zh-CN" sz="1200" b="0" dirty="0" err="1">
                <a:solidFill>
                  <a:srgbClr val="6A9955"/>
                </a:solidFill>
                <a:effectLst/>
                <a:latin typeface="Sarasa Term SC" pitchFamily="49" charset="-122"/>
                <a:ea typeface="Sarasa Term SC" pitchFamily="49" charset="-122"/>
              </a:rPr>
              <a:t>local_ticket</a:t>
            </a:r>
            <a:r>
              <a:rPr lang="zh-CN" altLang="en-US" sz="1200" b="0" dirty="0">
                <a:solidFill>
                  <a:srgbClr val="6A9955"/>
                </a:solidFill>
                <a:effectLst/>
                <a:latin typeface="Sarasa Term SC" pitchFamily="49" charset="-122"/>
                <a:ea typeface="Sarasa Term SC" pitchFamily="49" charset="-122"/>
              </a:rPr>
              <a:t>析构</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a:solidFill>
                  <a:srgbClr val="C586C0"/>
                </a:solidFill>
                <a:effectLst/>
                <a:latin typeface="Sarasa Term SC" pitchFamily="49" charset="-122"/>
                <a:ea typeface="Sarasa Term SC" pitchFamily="49" charset="-122"/>
              </a:rPr>
              <a:t>delete</a:t>
            </a:r>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global_ticket</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6A9955"/>
                </a:solidFill>
                <a:effectLst/>
                <a:latin typeface="Sarasa Term SC" pitchFamily="49" charset="-122"/>
                <a:ea typeface="Sarasa Term SC" pitchFamily="49" charset="-122"/>
              </a:rPr>
              <a:t> // delete</a:t>
            </a:r>
            <a:r>
              <a:rPr lang="zh-CN" altLang="en-US" sz="1200" b="0" dirty="0">
                <a:solidFill>
                  <a:srgbClr val="6A9955"/>
                </a:solidFill>
                <a:effectLst/>
                <a:latin typeface="Sarasa Term SC" pitchFamily="49" charset="-122"/>
                <a:ea typeface="Sarasa Term SC" pitchFamily="49" charset="-122"/>
              </a:rPr>
              <a:t>销毁对象，</a:t>
            </a:r>
            <a:r>
              <a:rPr lang="en-US" altLang="zh-CN" sz="1200" b="0" dirty="0" err="1">
                <a:solidFill>
                  <a:srgbClr val="6A9955"/>
                </a:solidFill>
                <a:effectLst/>
                <a:latin typeface="Sarasa Term SC" pitchFamily="49" charset="-122"/>
                <a:ea typeface="Sarasa Term SC" pitchFamily="49" charset="-122"/>
              </a:rPr>
              <a:t>global_ticket</a:t>
            </a:r>
            <a:r>
              <a:rPr lang="zh-CN" altLang="en-US" sz="1200" b="0" dirty="0">
                <a:solidFill>
                  <a:srgbClr val="6A9955"/>
                </a:solidFill>
                <a:effectLst/>
                <a:latin typeface="Sarasa Term SC" pitchFamily="49" charset="-122"/>
                <a:ea typeface="Sarasa Term SC" pitchFamily="49" charset="-122"/>
              </a:rPr>
              <a:t>指向的对象析构</a:t>
            </a:r>
            <a:endParaRPr lang="zh-CN" altLang="en-US"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p:txBody>
      </p:sp>
      <p:sp>
        <p:nvSpPr>
          <p:cNvPr id="4" name="文本框 3"/>
          <p:cNvSpPr txBox="1"/>
          <p:nvPr/>
        </p:nvSpPr>
        <p:spPr>
          <a:xfrm>
            <a:off x="6580615" y="1833305"/>
            <a:ext cx="2197187" cy="1200329"/>
          </a:xfrm>
          <a:prstGeom prst="rect">
            <a:avLst/>
          </a:prstGeom>
          <a:solidFill>
            <a:schemeClr val="tx1"/>
          </a:solidFill>
        </p:spPr>
        <p:txBody>
          <a:bodyPr wrap="square" rtlCol="0">
            <a:spAutoFit/>
          </a:bodyPr>
          <a:lstStyle/>
          <a:p>
            <a:r>
              <a:rPr lang="es-ES" altLang="zh-CN" dirty="0">
                <a:solidFill>
                  <a:schemeClr val="bg1"/>
                </a:solidFill>
                <a:latin typeface="等距更纱黑体 SC" pitchFamily="49" charset="-122"/>
                <a:ea typeface="等距更纱黑体 SC" pitchFamily="49" charset="-122"/>
                <a:cs typeface="等距更纱黑体 SC" pitchFamily="49" charset="-122"/>
              </a:rPr>
              <a:t>local contructor</a:t>
            </a:r>
            <a:endParaRPr lang="es-ES" altLang="zh-CN" dirty="0">
              <a:solidFill>
                <a:schemeClr val="bg1"/>
              </a:solidFill>
              <a:latin typeface="等距更纱黑体 SC" pitchFamily="49" charset="-122"/>
              <a:ea typeface="等距更纱黑体 SC" pitchFamily="49" charset="-122"/>
              <a:cs typeface="等距更纱黑体 SC" pitchFamily="49" charset="-122"/>
            </a:endParaRPr>
          </a:p>
          <a:p>
            <a:r>
              <a:rPr lang="es-ES" altLang="zh-CN" dirty="0">
                <a:solidFill>
                  <a:schemeClr val="bg1"/>
                </a:solidFill>
                <a:latin typeface="等距更纱黑体 SC" pitchFamily="49" charset="-122"/>
                <a:ea typeface="等距更纱黑体 SC" pitchFamily="49" charset="-122"/>
                <a:cs typeface="等距更纱黑体 SC" pitchFamily="49" charset="-122"/>
              </a:rPr>
              <a:t>global contructor</a:t>
            </a:r>
            <a:endParaRPr lang="es-ES" altLang="zh-CN" dirty="0">
              <a:solidFill>
                <a:schemeClr val="bg1"/>
              </a:solidFill>
              <a:latin typeface="等距更纱黑体 SC" pitchFamily="49" charset="-122"/>
              <a:ea typeface="等距更纱黑体 SC" pitchFamily="49" charset="-122"/>
              <a:cs typeface="等距更纱黑体 SC" pitchFamily="49" charset="-122"/>
            </a:endParaRPr>
          </a:p>
          <a:p>
            <a:r>
              <a:rPr lang="es-ES" altLang="zh-CN" dirty="0">
                <a:solidFill>
                  <a:schemeClr val="bg1"/>
                </a:solidFill>
                <a:latin typeface="等距更纱黑体 SC" pitchFamily="49" charset="-122"/>
                <a:ea typeface="等距更纱黑体 SC" pitchFamily="49" charset="-122"/>
                <a:cs typeface="等距更纱黑体 SC" pitchFamily="49" charset="-122"/>
              </a:rPr>
              <a:t>local destructor</a:t>
            </a:r>
            <a:endParaRPr lang="es-ES" altLang="zh-CN" dirty="0">
              <a:solidFill>
                <a:schemeClr val="bg1"/>
              </a:solidFill>
              <a:latin typeface="等距更纱黑体 SC" pitchFamily="49" charset="-122"/>
              <a:ea typeface="等距更纱黑体 SC" pitchFamily="49" charset="-122"/>
              <a:cs typeface="等距更纱黑体 SC" pitchFamily="49" charset="-122"/>
            </a:endParaRPr>
          </a:p>
          <a:p>
            <a:r>
              <a:rPr lang="es-ES" altLang="zh-CN" dirty="0">
                <a:solidFill>
                  <a:schemeClr val="bg1"/>
                </a:solidFill>
                <a:latin typeface="等距更纱黑体 SC" pitchFamily="49" charset="-122"/>
                <a:ea typeface="等距更纱黑体 SC" pitchFamily="49" charset="-122"/>
                <a:cs typeface="等距更纱黑体 SC" pitchFamily="49" charset="-122"/>
              </a:rPr>
              <a:t>global destructor</a:t>
            </a:r>
            <a:endParaRPr lang="zh-CN" altLang="en-US" dirty="0">
              <a:solidFill>
                <a:schemeClr val="bg1"/>
              </a:solidFill>
              <a:latin typeface="等距更纱黑体 SC" pitchFamily="49" charset="-122"/>
              <a:ea typeface="等距更纱黑体 SC" pitchFamily="49" charset="-122"/>
              <a:cs typeface="等距更纱黑体 SC"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7.4.1  </a:t>
            </a:r>
            <a:r>
              <a:rPr lang="zh-CN" altLang="en-US" sz="2400" dirty="0">
                <a:latin typeface="Times New Roman" pitchFamily="18" charset="0"/>
              </a:rPr>
              <a:t>常对象与常量成员</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“常”代表禁止修改，是一种“限制”，正常对象可以被隐式转换为常对象（施加限制），但常对象必须使用</a:t>
            </a:r>
            <a:r>
              <a:rPr lang="en-US" altLang="zh-CN" dirty="0" err="1">
                <a:latin typeface="Times New Roman" pitchFamily="18" charset="0"/>
              </a:rPr>
              <a:t>const_cast</a:t>
            </a:r>
            <a:r>
              <a:rPr lang="zh-CN" altLang="en-US" dirty="0">
                <a:latin typeface="Times New Roman" pitchFamily="18" charset="0"/>
              </a:rPr>
              <a:t>才能转换为正常对象（解除限制）。</a:t>
            </a:r>
            <a:endParaRPr lang="en-US" altLang="zh-CN" dirty="0">
              <a:latin typeface="Times New Roman" pitchFamily="18" charset="0"/>
            </a:endParaRPr>
          </a:p>
          <a:p>
            <a:pPr marL="114300" indent="0">
              <a:buNone/>
            </a:pPr>
            <a:r>
              <a:rPr lang="zh-CN" altLang="en-US" dirty="0">
                <a:latin typeface="Times New Roman" pitchFamily="18" charset="0"/>
              </a:rPr>
              <a:t>对于一个常对象，其数据成员也都是常对象（除非声明为</a:t>
            </a:r>
            <a:r>
              <a:rPr lang="en-US" altLang="zh-CN" dirty="0">
                <a:latin typeface="Times New Roman" pitchFamily="18" charset="0"/>
              </a:rPr>
              <a:t>mutable</a:t>
            </a:r>
            <a:r>
              <a:rPr lang="zh-CN" altLang="en-US" dirty="0">
                <a:latin typeface="Times New Roman" pitchFamily="18" charset="0"/>
              </a:rPr>
              <a:t>）。</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在成员函数的参数列表后加上“</a:t>
            </a:r>
            <a:r>
              <a:rPr lang="en-US" altLang="zh-CN" dirty="0">
                <a:latin typeface="Times New Roman" pitchFamily="18" charset="0"/>
              </a:rPr>
              <a:t>const</a:t>
            </a:r>
            <a:r>
              <a:rPr lang="zh-CN" altLang="en-US" dirty="0">
                <a:latin typeface="Times New Roman" pitchFamily="18" charset="0"/>
              </a:rPr>
              <a:t>”会使其成为常量成员函数。常量成员函数只能</a:t>
            </a:r>
            <a:r>
              <a:rPr lang="zh-CN" altLang="en-US" b="1" dirty="0">
                <a:latin typeface="Times New Roman" pitchFamily="18" charset="0"/>
              </a:rPr>
              <a:t>以常对象的形式访问</a:t>
            </a:r>
            <a:r>
              <a:rPr lang="zh-CN" altLang="en-US" dirty="0">
                <a:latin typeface="Times New Roman" pitchFamily="18" charset="0"/>
              </a:rPr>
              <a:t>被调用该成员函数的对象，同</a:t>
            </a:r>
            <a:r>
              <a:rPr lang="zh-CN" altLang="en-US" b="1" dirty="0">
                <a:latin typeface="Times New Roman" pitchFamily="18" charset="0"/>
              </a:rPr>
              <a:t>时常对象只能调用常量成员函数</a:t>
            </a:r>
            <a:r>
              <a:rPr lang="zh-CN" altLang="en-US" dirty="0">
                <a:latin typeface="Times New Roman" pitchFamily="18" charset="0"/>
              </a:rPr>
              <a:t>。</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参数列表相同但常量性不同的成员函数可以形成重载。对象为常对象时会调用常量成员函数，否则调用非常量成员函数。可以使用</a:t>
            </a:r>
            <a:r>
              <a:rPr lang="en-US" altLang="zh-CN" dirty="0" err="1">
                <a:latin typeface="Times New Roman" pitchFamily="18" charset="0"/>
              </a:rPr>
              <a:t>const_cast</a:t>
            </a:r>
            <a:r>
              <a:rPr lang="zh-CN" altLang="en-US" dirty="0">
                <a:latin typeface="Times New Roman" pitchFamily="18" charset="0"/>
              </a:rPr>
              <a:t>来显式地将对象转化成常对象，以调用重载中的常量成员函数。</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7.4.1  </a:t>
            </a:r>
            <a:r>
              <a:rPr lang="zh-CN" altLang="en-US" sz="2400" dirty="0">
                <a:latin typeface="Times New Roman" pitchFamily="18" charset="0"/>
              </a:rPr>
              <a:t>常对象与常量成员</a:t>
            </a:r>
            <a:endParaRPr lang="en-US" altLang="zh-CN" sz="2400" dirty="0">
              <a:latin typeface="Times New Roman" pitchFamily="18" charset="0"/>
            </a:endParaRPr>
          </a:p>
          <a:p>
            <a:pPr marL="114300" indent="0">
              <a:buNone/>
            </a:pPr>
            <a:r>
              <a:rPr lang="en-US" altLang="zh-CN" dirty="0">
                <a:latin typeface="Times New Roman" pitchFamily="18" charset="0"/>
              </a:rPr>
              <a:t>                                                                </a:t>
            </a:r>
            <a:r>
              <a:rPr lang="zh-CN" altLang="en-US" dirty="0">
                <a:latin typeface="Times New Roman" pitchFamily="18" charset="0"/>
              </a:rPr>
              <a:t>输出：</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
        <p:nvSpPr>
          <p:cNvPr id="2" name="文本框 1"/>
          <p:cNvSpPr txBox="1"/>
          <p:nvPr/>
        </p:nvSpPr>
        <p:spPr>
          <a:xfrm>
            <a:off x="662398" y="1540511"/>
            <a:ext cx="3455945" cy="4154984"/>
          </a:xfrm>
          <a:prstGeom prst="rect">
            <a:avLst/>
          </a:prstGeom>
          <a:solidFill>
            <a:schemeClr val="tx1"/>
          </a:solidFill>
        </p:spPr>
        <p:txBody>
          <a:bodyPr wrap="square" rtlCol="0">
            <a:spAutoFit/>
          </a:bodyPr>
          <a:lstStyle/>
          <a:p>
            <a:r>
              <a:rPr lang="en-US" altLang="zh-CN" sz="1200" b="0" dirty="0">
                <a:solidFill>
                  <a:srgbClr val="569CD6"/>
                </a:solidFill>
                <a:effectLst/>
                <a:latin typeface="Sarasa Term SC" pitchFamily="49" charset="-122"/>
                <a:ea typeface="Sarasa Term SC" pitchFamily="49" charset="-122"/>
              </a:rPr>
              <a:t>struct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Container</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int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x</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mutable</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int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y</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br>
              <a:rPr lang="en-US" altLang="zh-CN" sz="1200" b="0" dirty="0">
                <a:solidFill>
                  <a:srgbClr val="CCCCCC"/>
                </a:solidFill>
                <a:effectLst/>
                <a:latin typeface="Sarasa Term SC" pitchFamily="49" charset="-122"/>
                <a:ea typeface="Sarasa Term SC" pitchFamily="49" charset="-122"/>
              </a:rPr>
            </a:b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void</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f</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err="1">
                <a:solidFill>
                  <a:srgbClr val="9CDCFE"/>
                </a:solidFill>
                <a:effectLst/>
                <a:latin typeface="Sarasa Term SC" pitchFamily="49" charset="-122"/>
                <a:ea typeface="Sarasa Term SC" pitchFamily="49" charset="-122"/>
              </a:rPr>
              <a:t>cout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"non-const f"</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D7BA7D"/>
                </a:solidFill>
                <a:effectLst/>
                <a:latin typeface="Sarasa Term SC" pitchFamily="49" charset="-122"/>
                <a:ea typeface="Sarasa Term SC" pitchFamily="49" charset="-122"/>
              </a:rPr>
              <a:t>\n</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x</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B5CEA8"/>
                </a:solidFill>
                <a:effectLst/>
                <a:latin typeface="Sarasa Term SC" pitchFamily="49" charset="-122"/>
                <a:ea typeface="Sarasa Term SC" pitchFamily="49" charset="-122"/>
              </a:rPr>
              <a:t>1</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y</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B5CEA8"/>
                </a:solidFill>
                <a:effectLst/>
                <a:latin typeface="Sarasa Term SC" pitchFamily="49" charset="-122"/>
                <a:ea typeface="Sarasa Term SC" pitchFamily="49" charset="-122"/>
              </a:rPr>
              <a:t>1</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br>
              <a:rPr lang="en-US" altLang="zh-CN" sz="1200" b="0" dirty="0">
                <a:solidFill>
                  <a:srgbClr val="CCCCCC"/>
                </a:solidFill>
                <a:effectLst/>
                <a:latin typeface="Sarasa Term SC" pitchFamily="49" charset="-122"/>
                <a:ea typeface="Sarasa Term SC" pitchFamily="49" charset="-122"/>
              </a:rPr>
            </a:b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void</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f</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const</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std</a:t>
            </a:r>
            <a:r>
              <a:rPr lang="en-US" altLang="zh-CN" sz="1200" b="0" dirty="0">
                <a:solidFill>
                  <a:srgbClr val="CCCCCC"/>
                </a:solidFill>
                <a:effectLst/>
                <a:latin typeface="Sarasa Term SC" pitchFamily="49" charset="-122"/>
                <a:ea typeface="Sarasa Term SC" pitchFamily="49" charset="-122"/>
              </a:rPr>
              <a:t>::</a:t>
            </a:r>
            <a:r>
              <a:rPr lang="en-US" altLang="zh-CN" sz="1200" b="0" dirty="0" err="1">
                <a:solidFill>
                  <a:srgbClr val="9CDCFE"/>
                </a:solidFill>
                <a:effectLst/>
                <a:latin typeface="Sarasa Term SC" pitchFamily="49" charset="-122"/>
                <a:ea typeface="Sarasa Term SC" pitchFamily="49" charset="-122"/>
              </a:rPr>
              <a:t>cout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"const f"</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&lt;&lt;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D7BA7D"/>
                </a:solidFill>
                <a:effectLst/>
                <a:latin typeface="Sarasa Term SC" pitchFamily="49" charset="-122"/>
                <a:ea typeface="Sarasa Term SC" pitchFamily="49" charset="-122"/>
              </a:rPr>
              <a:t>\n</a:t>
            </a:r>
            <a:r>
              <a:rPr lang="en-US" altLang="zh-CN" sz="1200" b="0" dirty="0">
                <a:solidFill>
                  <a:srgbClr val="CE9178"/>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6A9955"/>
                </a:solidFill>
                <a:effectLst/>
                <a:latin typeface="Sarasa Term SC" pitchFamily="49" charset="-122"/>
                <a:ea typeface="Sarasa Term SC" pitchFamily="49" charset="-122"/>
              </a:rPr>
              <a:t>        // x = 1; // </a:t>
            </a:r>
            <a:r>
              <a:rPr lang="zh-CN" altLang="en-US" sz="1200" b="0" dirty="0">
                <a:solidFill>
                  <a:srgbClr val="6A9955"/>
                </a:solidFill>
                <a:effectLst/>
                <a:latin typeface="Sarasa Term SC" pitchFamily="49" charset="-122"/>
                <a:ea typeface="Sarasa Term SC" pitchFamily="49" charset="-122"/>
              </a:rPr>
              <a:t>不行</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y</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B5CEA8"/>
                </a:solidFill>
                <a:effectLst/>
                <a:latin typeface="Sarasa Term SC" pitchFamily="49" charset="-122"/>
                <a:ea typeface="Sarasa Term SC" pitchFamily="49" charset="-122"/>
              </a:rPr>
              <a:t>1</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6A9955"/>
                </a:solidFill>
                <a:effectLst/>
                <a:latin typeface="Sarasa Term SC" pitchFamily="49" charset="-122"/>
                <a:ea typeface="Sarasa Term SC" pitchFamily="49" charset="-122"/>
              </a:rPr>
              <a:t> // </a:t>
            </a:r>
            <a:r>
              <a:rPr lang="zh-CN" altLang="en-US" sz="1200" b="0" dirty="0">
                <a:solidFill>
                  <a:srgbClr val="6A9955"/>
                </a:solidFill>
                <a:effectLst/>
                <a:latin typeface="Sarasa Term SC" pitchFamily="49" charset="-122"/>
                <a:ea typeface="Sarasa Term SC" pitchFamily="49" charset="-122"/>
              </a:rPr>
              <a:t>可以</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br>
              <a:rPr lang="en-US" altLang="zh-CN" sz="1200" b="0" dirty="0">
                <a:solidFill>
                  <a:srgbClr val="CCCCCC"/>
                </a:solidFill>
                <a:effectLst/>
                <a:latin typeface="Sarasa Term SC" pitchFamily="49" charset="-122"/>
                <a:ea typeface="Sarasa Term SC" pitchFamily="49" charset="-122"/>
              </a:rPr>
            </a:br>
            <a:r>
              <a:rPr lang="en-US" altLang="zh-CN" sz="1200" b="0" dirty="0">
                <a:solidFill>
                  <a:srgbClr val="569CD6"/>
                </a:solidFill>
                <a:effectLst/>
                <a:latin typeface="Sarasa Term SC" pitchFamily="49" charset="-122"/>
                <a:ea typeface="Sarasa Term SC" pitchFamily="49" charset="-122"/>
              </a:rPr>
              <a:t>int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main</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Container</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c</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B5CEA8"/>
                </a:solidFill>
                <a:effectLst/>
                <a:latin typeface="Sarasa Term SC" pitchFamily="49" charset="-122"/>
                <a:ea typeface="Sarasa Term SC" pitchFamily="49" charset="-122"/>
              </a:rPr>
              <a:t>0</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B5CEA8"/>
                </a:solidFill>
                <a:effectLst/>
                <a:latin typeface="Sarasa Term SC" pitchFamily="49" charset="-122"/>
                <a:ea typeface="Sarasa Term SC" pitchFamily="49" charset="-122"/>
              </a:rPr>
              <a:t>0</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c</a:t>
            </a:r>
            <a:r>
              <a:rPr lang="en-US" altLang="zh-CN" sz="1200" b="0" dirty="0" err="1">
                <a:solidFill>
                  <a:srgbClr val="CCCCCC"/>
                </a:solidFill>
                <a:effectLst/>
                <a:latin typeface="Sarasa Term SC" pitchFamily="49" charset="-122"/>
                <a:ea typeface="Sarasa Term SC" pitchFamily="49" charset="-122"/>
              </a:rPr>
              <a:t>.</a:t>
            </a:r>
            <a:r>
              <a:rPr lang="en-US" altLang="zh-CN" sz="1200" b="0" dirty="0" err="1">
                <a:solidFill>
                  <a:srgbClr val="DCDCAA"/>
                </a:solidFill>
                <a:effectLst/>
                <a:latin typeface="Sarasa Term SC" pitchFamily="49" charset="-122"/>
                <a:ea typeface="Sarasa Term SC" pitchFamily="49" charset="-122"/>
              </a:rPr>
              <a:t>f</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569CD6"/>
                </a:solidFill>
                <a:effectLst/>
                <a:latin typeface="Sarasa Term SC" pitchFamily="49" charset="-122"/>
                <a:ea typeface="Sarasa Term SC" pitchFamily="49" charset="-122"/>
              </a:rPr>
              <a:t>const_cast</a:t>
            </a:r>
            <a:r>
              <a:rPr lang="en-US" altLang="zh-CN" sz="1200" b="0" dirty="0">
                <a:solidFill>
                  <a:srgbClr val="D4D4D4"/>
                </a:solidFill>
                <a:effectLst/>
                <a:latin typeface="Sarasa Term SC" pitchFamily="49" charset="-122"/>
                <a:ea typeface="Sarasa Term SC" pitchFamily="49" charset="-122"/>
              </a:rPr>
              <a:t>&lt;</a:t>
            </a:r>
            <a:r>
              <a:rPr lang="en-US" altLang="zh-CN" sz="1200" b="0" dirty="0">
                <a:solidFill>
                  <a:srgbClr val="569CD6"/>
                </a:solidFill>
                <a:effectLst/>
                <a:latin typeface="Sarasa Term SC" pitchFamily="49" charset="-122"/>
                <a:ea typeface="Sarasa Term SC" pitchFamily="49" charset="-122"/>
              </a:rPr>
              <a:t>const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4EC9B0"/>
                </a:solidFill>
                <a:effectLst/>
                <a:latin typeface="Sarasa Term SC" pitchFamily="49" charset="-122"/>
                <a:ea typeface="Sarasa Term SC" pitchFamily="49" charset="-122"/>
              </a:rPr>
              <a:t>Container</a:t>
            </a:r>
            <a:r>
              <a:rPr lang="en-US" altLang="zh-CN" sz="1200" b="0" dirty="0">
                <a:solidFill>
                  <a:srgbClr val="D4D4D4"/>
                </a:solidFill>
                <a:effectLst/>
                <a:latin typeface="Sarasa Term SC" pitchFamily="49" charset="-122"/>
                <a:ea typeface="Sarasa Term SC" pitchFamily="49" charset="-122"/>
              </a:rPr>
              <a:t>&amp;&gt;</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9CDCFE"/>
                </a:solidFill>
                <a:effectLst/>
                <a:latin typeface="Sarasa Term SC" pitchFamily="49" charset="-122"/>
                <a:ea typeface="Sarasa Term SC" pitchFamily="49" charset="-122"/>
              </a:rPr>
              <a:t>c</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DCDCAA"/>
                </a:solidFill>
                <a:effectLst/>
                <a:latin typeface="Sarasa Term SC" pitchFamily="49" charset="-122"/>
                <a:ea typeface="Sarasa Term SC" pitchFamily="49" charset="-122"/>
              </a:rPr>
              <a:t>f</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p:txBody>
      </p:sp>
      <p:sp>
        <p:nvSpPr>
          <p:cNvPr id="4" name="文本框 3"/>
          <p:cNvSpPr txBox="1"/>
          <p:nvPr/>
        </p:nvSpPr>
        <p:spPr>
          <a:xfrm>
            <a:off x="4319268" y="1871331"/>
            <a:ext cx="1486109" cy="646331"/>
          </a:xfrm>
          <a:prstGeom prst="rect">
            <a:avLst/>
          </a:prstGeom>
          <a:solidFill>
            <a:schemeClr val="tx1"/>
          </a:solidFill>
        </p:spPr>
        <p:txBody>
          <a:bodyPr wrap="square" rtlCol="0">
            <a:spAutoFit/>
          </a:bodyPr>
          <a:lstStyle/>
          <a:p>
            <a:r>
              <a:rPr lang="en-US" altLang="zh-CN" dirty="0">
                <a:solidFill>
                  <a:schemeClr val="bg1"/>
                </a:solidFill>
                <a:latin typeface="等距更纱黑体 SC" pitchFamily="49" charset="-122"/>
                <a:ea typeface="等距更纱黑体 SC" pitchFamily="49" charset="-122"/>
                <a:cs typeface="等距更纱黑体 SC" pitchFamily="49" charset="-122"/>
              </a:rPr>
              <a:t>non-const f</a:t>
            </a:r>
            <a:endParaRPr lang="en-US" altLang="zh-CN" dirty="0">
              <a:solidFill>
                <a:schemeClr val="bg1"/>
              </a:solidFill>
              <a:latin typeface="等距更纱黑体 SC" pitchFamily="49" charset="-122"/>
              <a:ea typeface="等距更纱黑体 SC" pitchFamily="49" charset="-122"/>
              <a:cs typeface="等距更纱黑体 SC" pitchFamily="49" charset="-122"/>
            </a:endParaRPr>
          </a:p>
          <a:p>
            <a:r>
              <a:rPr lang="en-US" altLang="zh-CN" dirty="0">
                <a:solidFill>
                  <a:schemeClr val="bg1"/>
                </a:solidFill>
                <a:latin typeface="等距更纱黑体 SC" pitchFamily="49" charset="-122"/>
                <a:ea typeface="等距更纱黑体 SC" pitchFamily="49" charset="-122"/>
                <a:cs typeface="等距更纱黑体 SC" pitchFamily="49" charset="-122"/>
              </a:rPr>
              <a:t>const f</a:t>
            </a:r>
            <a:endParaRPr lang="zh-CN" altLang="en-US" dirty="0">
              <a:solidFill>
                <a:schemeClr val="bg1"/>
              </a:solidFill>
              <a:latin typeface="等距更纱黑体 SC" pitchFamily="49" charset="-122"/>
              <a:ea typeface="等距更纱黑体 SC" pitchFamily="49" charset="-122"/>
              <a:cs typeface="等距更纱黑体 SC"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7.4.2  </a:t>
            </a:r>
            <a:r>
              <a:rPr lang="zh-CN" altLang="en-US" sz="2400" dirty="0">
                <a:latin typeface="Times New Roman" pitchFamily="18" charset="0"/>
              </a:rPr>
              <a:t>静态成员</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静态成员表示的是一种“性质上来说相当于全局变量</a:t>
            </a:r>
            <a:r>
              <a:rPr lang="en-US" altLang="zh-CN" dirty="0">
                <a:latin typeface="Times New Roman" pitchFamily="18" charset="0"/>
              </a:rPr>
              <a:t>/</a:t>
            </a:r>
            <a:r>
              <a:rPr lang="zh-CN" altLang="en-US" dirty="0">
                <a:latin typeface="Times New Roman" pitchFamily="18" charset="0"/>
              </a:rPr>
              <a:t>函数，但逻辑上来说属于某个类”的关系。</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静态数据成员的声明与定义方式与全局变量几乎完全一致，可以通过</a:t>
            </a:r>
            <a:r>
              <a:rPr lang="en-US" altLang="zh-CN" dirty="0">
                <a:latin typeface="Times New Roman" pitchFamily="18" charset="0"/>
              </a:rPr>
              <a:t>&lt;</a:t>
            </a:r>
            <a:r>
              <a:rPr lang="zh-CN" altLang="en-US" dirty="0">
                <a:latin typeface="Times New Roman" pitchFamily="18" charset="0"/>
              </a:rPr>
              <a:t>类名</a:t>
            </a:r>
            <a:r>
              <a:rPr lang="en-US" altLang="zh-CN" dirty="0">
                <a:latin typeface="Times New Roman" pitchFamily="18" charset="0"/>
              </a:rPr>
              <a:t>::</a:t>
            </a:r>
            <a:r>
              <a:rPr lang="zh-CN" altLang="en-US" dirty="0">
                <a:latin typeface="Times New Roman" pitchFamily="18" charset="0"/>
              </a:rPr>
              <a:t>成员名</a:t>
            </a:r>
            <a:r>
              <a:rPr lang="en-US" altLang="zh-CN" dirty="0">
                <a:latin typeface="Times New Roman" pitchFamily="18" charset="0"/>
              </a:rPr>
              <a:t>&gt;</a:t>
            </a:r>
            <a:r>
              <a:rPr lang="zh-CN" altLang="en-US" dirty="0">
                <a:latin typeface="Times New Roman" pitchFamily="18" charset="0"/>
              </a:rPr>
              <a:t>、</a:t>
            </a:r>
            <a:r>
              <a:rPr lang="en-US" altLang="zh-CN" dirty="0">
                <a:latin typeface="Times New Roman" pitchFamily="18" charset="0"/>
              </a:rPr>
              <a:t>&lt;</a:t>
            </a:r>
            <a:r>
              <a:rPr lang="zh-CN" altLang="en-US" dirty="0">
                <a:latin typeface="Times New Roman" pitchFamily="18" charset="0"/>
              </a:rPr>
              <a:t>对象名</a:t>
            </a:r>
            <a:r>
              <a:rPr lang="en-US" altLang="zh-CN" dirty="0">
                <a:latin typeface="Times New Roman" pitchFamily="18" charset="0"/>
              </a:rPr>
              <a:t>.</a:t>
            </a:r>
            <a:r>
              <a:rPr lang="zh-CN" altLang="en-US" dirty="0">
                <a:latin typeface="Times New Roman" pitchFamily="18" charset="0"/>
              </a:rPr>
              <a:t>成员名</a:t>
            </a:r>
            <a:r>
              <a:rPr lang="en-US" altLang="zh-CN" dirty="0">
                <a:latin typeface="Times New Roman" pitchFamily="18" charset="0"/>
              </a:rPr>
              <a:t>&gt;</a:t>
            </a:r>
            <a:r>
              <a:rPr lang="zh-CN" altLang="en-US" dirty="0">
                <a:latin typeface="Times New Roman" pitchFamily="18" charset="0"/>
              </a:rPr>
              <a:t>访问。</a:t>
            </a:r>
            <a:endParaRPr lang="en-US" altLang="zh-CN" dirty="0">
              <a:latin typeface="Times New Roman" pitchFamily="18" charset="0"/>
            </a:endParaRPr>
          </a:p>
          <a:p>
            <a:pPr marL="114300" indent="0">
              <a:buNone/>
            </a:pPr>
            <a:r>
              <a:rPr lang="zh-CN" altLang="en-US" dirty="0">
                <a:latin typeface="Times New Roman" pitchFamily="18" charset="0"/>
              </a:rPr>
              <a:t>静态成员函数可以通过</a:t>
            </a:r>
            <a:r>
              <a:rPr lang="en-US" altLang="zh-CN" dirty="0">
                <a:latin typeface="Times New Roman" pitchFamily="18" charset="0"/>
              </a:rPr>
              <a:t>&lt;</a:t>
            </a:r>
            <a:r>
              <a:rPr lang="zh-CN" altLang="en-US" dirty="0">
                <a:latin typeface="Times New Roman" pitchFamily="18" charset="0"/>
              </a:rPr>
              <a:t>类名</a:t>
            </a:r>
            <a:r>
              <a:rPr lang="en-US" altLang="zh-CN" dirty="0">
                <a:latin typeface="Times New Roman" pitchFamily="18" charset="0"/>
              </a:rPr>
              <a:t>::</a:t>
            </a:r>
            <a:r>
              <a:rPr lang="zh-CN" altLang="en-US" dirty="0">
                <a:latin typeface="Times New Roman" pitchFamily="18" charset="0"/>
              </a:rPr>
              <a:t>函数名</a:t>
            </a:r>
            <a:r>
              <a:rPr lang="en-US" altLang="zh-CN" dirty="0">
                <a:latin typeface="Times New Roman" pitchFamily="18" charset="0"/>
              </a:rPr>
              <a:t>&gt;</a:t>
            </a:r>
            <a:r>
              <a:rPr lang="zh-CN" altLang="en-US" dirty="0">
                <a:latin typeface="Times New Roman" pitchFamily="18" charset="0"/>
              </a:rPr>
              <a:t>、</a:t>
            </a:r>
            <a:r>
              <a:rPr lang="en-US" altLang="zh-CN" dirty="0">
                <a:latin typeface="Times New Roman" pitchFamily="18" charset="0"/>
              </a:rPr>
              <a:t>&lt;</a:t>
            </a:r>
            <a:r>
              <a:rPr lang="zh-CN" altLang="en-US" dirty="0">
                <a:latin typeface="Times New Roman" pitchFamily="18" charset="0"/>
              </a:rPr>
              <a:t>对象名</a:t>
            </a:r>
            <a:r>
              <a:rPr lang="en-US" altLang="zh-CN" dirty="0">
                <a:latin typeface="Times New Roman" pitchFamily="18" charset="0"/>
              </a:rPr>
              <a:t>.</a:t>
            </a:r>
            <a:r>
              <a:rPr lang="zh-CN" altLang="en-US" dirty="0">
                <a:latin typeface="Times New Roman" pitchFamily="18" charset="0"/>
              </a:rPr>
              <a:t>函数名</a:t>
            </a:r>
            <a:r>
              <a:rPr lang="en-US" altLang="zh-CN" dirty="0">
                <a:latin typeface="Times New Roman" pitchFamily="18" charset="0"/>
              </a:rPr>
              <a:t>&gt;</a:t>
            </a:r>
            <a:r>
              <a:rPr lang="zh-CN" altLang="en-US" dirty="0">
                <a:latin typeface="Times New Roman" pitchFamily="18" charset="0"/>
              </a:rPr>
              <a:t>访问，并不需要具体的对象来调用，因此</a:t>
            </a:r>
            <a:r>
              <a:rPr lang="zh-CN" altLang="en-US" b="1" dirty="0">
                <a:latin typeface="Times New Roman" pitchFamily="18" charset="0"/>
              </a:rPr>
              <a:t>并不会隐式传入</a:t>
            </a:r>
            <a:r>
              <a:rPr lang="en-US" altLang="zh-CN" b="1" dirty="0">
                <a:latin typeface="Times New Roman" pitchFamily="18" charset="0"/>
              </a:rPr>
              <a:t>this</a:t>
            </a:r>
            <a:r>
              <a:rPr lang="zh-CN" altLang="en-US" b="1" dirty="0">
                <a:latin typeface="Times New Roman" pitchFamily="18" charset="0"/>
              </a:rPr>
              <a:t>指针</a:t>
            </a:r>
            <a:r>
              <a:rPr lang="zh-CN" altLang="en-US" dirty="0">
                <a:latin typeface="Times New Roman" pitchFamily="18" charset="0"/>
              </a:rPr>
              <a:t>，但静态成员函数</a:t>
            </a:r>
            <a:r>
              <a:rPr lang="zh-CN" altLang="en-US" b="1" dirty="0">
                <a:latin typeface="Times New Roman" pitchFamily="18" charset="0"/>
              </a:rPr>
              <a:t>可以访问所属类的对象的</a:t>
            </a:r>
            <a:r>
              <a:rPr lang="en-US" altLang="zh-CN" b="1" dirty="0">
                <a:latin typeface="Times New Roman" pitchFamily="18" charset="0"/>
              </a:rPr>
              <a:t>private</a:t>
            </a:r>
            <a:r>
              <a:rPr lang="zh-CN" altLang="en-US" b="1" dirty="0">
                <a:latin typeface="Times New Roman" pitchFamily="18" charset="0"/>
              </a:rPr>
              <a:t>和</a:t>
            </a:r>
            <a:r>
              <a:rPr lang="en-US" altLang="zh-CN" b="1" dirty="0">
                <a:latin typeface="Times New Roman" pitchFamily="18" charset="0"/>
              </a:rPr>
              <a:t>protected</a:t>
            </a:r>
            <a:r>
              <a:rPr lang="zh-CN" altLang="en-US" b="1" dirty="0">
                <a:latin typeface="Times New Roman" pitchFamily="18" charset="0"/>
              </a:rPr>
              <a:t>成员</a:t>
            </a:r>
            <a:r>
              <a:rPr lang="zh-CN" altLang="en-US" dirty="0">
                <a:latin typeface="Times New Roman" pitchFamily="18" charset="0"/>
              </a:rPr>
              <a:t>。</a:t>
            </a:r>
            <a:endParaRPr lang="en-US" altLang="zh-CN" dirty="0">
              <a:latin typeface="Times New Roman" pitchFamily="18" charset="0"/>
            </a:endParaRPr>
          </a:p>
          <a:p>
            <a:pPr marL="114300" indent="0">
              <a:buNone/>
            </a:pPr>
            <a:endParaRPr lang="en-US" altLang="zh-CN" dirty="0">
              <a:latin typeface="Times New Roman" pitchFamily="18" charset="0"/>
            </a:endParaRPr>
          </a:p>
        </p:txBody>
      </p:sp>
      <p:sp>
        <p:nvSpPr>
          <p:cNvPr id="2" name="文本框 1"/>
          <p:cNvSpPr txBox="1"/>
          <p:nvPr/>
        </p:nvSpPr>
        <p:spPr>
          <a:xfrm>
            <a:off x="2568078" y="4479851"/>
            <a:ext cx="3990754" cy="1754326"/>
          </a:xfrm>
          <a:prstGeom prst="rect">
            <a:avLst/>
          </a:prstGeom>
          <a:solidFill>
            <a:schemeClr val="tx1"/>
          </a:solidFill>
        </p:spPr>
        <p:txBody>
          <a:bodyPr wrap="square" rtlCol="0">
            <a:spAutoFit/>
          </a:bodyPr>
          <a:lstStyle/>
          <a:p>
            <a:r>
              <a:rPr lang="en-US" altLang="zh-CN" sz="1200" b="0" dirty="0">
                <a:solidFill>
                  <a:srgbClr val="569CD6"/>
                </a:solidFill>
                <a:effectLst/>
                <a:latin typeface="Sarasa Term SC" pitchFamily="49" charset="-122"/>
                <a:ea typeface="Sarasa Term SC" pitchFamily="49" charset="-122"/>
              </a:rPr>
              <a:t>struct</a:t>
            </a:r>
            <a:r>
              <a:rPr lang="en-US" altLang="zh-CN" sz="1200" b="0" dirty="0">
                <a:solidFill>
                  <a:srgbClr val="CCCCCC"/>
                </a:solidFill>
                <a:effectLst/>
                <a:latin typeface="Sarasa Term SC" pitchFamily="49" charset="-122"/>
                <a:ea typeface="Sarasa Term SC" pitchFamily="49" charset="-122"/>
              </a:rPr>
              <a:t> </a:t>
            </a:r>
            <a:r>
              <a:rPr lang="en-US" altLang="zh-CN" sz="1200" b="0" dirty="0" err="1">
                <a:solidFill>
                  <a:srgbClr val="4EC9B0"/>
                </a:solidFill>
                <a:effectLst/>
                <a:latin typeface="Sarasa Term SC" pitchFamily="49" charset="-122"/>
                <a:ea typeface="Sarasa Term SC" pitchFamily="49" charset="-122"/>
              </a:rPr>
              <a:t>ShyMan</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569CD6"/>
                </a:solidFill>
                <a:effectLst/>
                <a:latin typeface="Sarasa Term SC" pitchFamily="49" charset="-122"/>
                <a:ea typeface="Sarasa Term SC" pitchFamily="49" charset="-122"/>
              </a:rPr>
              <a:t>private:</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int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thought</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569CD6"/>
                </a:solidFill>
                <a:effectLst/>
                <a:latin typeface="Sarasa Term SC" pitchFamily="49" charset="-122"/>
                <a:ea typeface="Sarasa Term SC" pitchFamily="49" charset="-122"/>
              </a:rPr>
              <a:t>public:</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static</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569CD6"/>
                </a:solidFill>
                <a:effectLst/>
                <a:latin typeface="Sarasa Term SC" pitchFamily="49" charset="-122"/>
                <a:ea typeface="Sarasa Term SC" pitchFamily="49" charset="-122"/>
              </a:rPr>
              <a:t>void</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CDCAA"/>
                </a:solidFill>
                <a:effectLst/>
                <a:latin typeface="Sarasa Term SC" pitchFamily="49" charset="-122"/>
                <a:ea typeface="Sarasa Term SC" pitchFamily="49" charset="-122"/>
              </a:rPr>
              <a:t>think</a:t>
            </a:r>
            <a:r>
              <a:rPr lang="en-US" altLang="zh-CN" sz="1200" b="0" dirty="0">
                <a:solidFill>
                  <a:srgbClr val="CCCCCC"/>
                </a:solidFill>
                <a:effectLst/>
                <a:latin typeface="Sarasa Term SC" pitchFamily="49" charset="-122"/>
                <a:ea typeface="Sarasa Term SC" pitchFamily="49" charset="-122"/>
              </a:rPr>
              <a:t>(</a:t>
            </a:r>
            <a:r>
              <a:rPr lang="en-US" altLang="zh-CN" sz="1200" b="0" dirty="0" err="1">
                <a:solidFill>
                  <a:srgbClr val="4EC9B0"/>
                </a:solidFill>
                <a:effectLst/>
                <a:latin typeface="Sarasa Term SC" pitchFamily="49" charset="-122"/>
                <a:ea typeface="Sarasa Term SC" pitchFamily="49" charset="-122"/>
              </a:rPr>
              <a:t>ShyMan</a:t>
            </a:r>
            <a:r>
              <a:rPr lang="en-US" altLang="zh-CN" sz="1200" b="0" dirty="0">
                <a:solidFill>
                  <a:srgbClr val="569CD6"/>
                </a:solidFill>
                <a:effectLst/>
                <a:latin typeface="Sarasa Term SC" pitchFamily="49" charset="-122"/>
                <a:ea typeface="Sarasa Term SC" pitchFamily="49" charset="-122"/>
              </a:rPr>
              <a:t>&amp;</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9CDCFE"/>
                </a:solidFill>
                <a:effectLst/>
                <a:latin typeface="Sarasa Term SC" pitchFamily="49" charset="-122"/>
                <a:ea typeface="Sarasa Term SC" pitchFamily="49" charset="-122"/>
              </a:rPr>
              <a:t>man</a:t>
            </a:r>
            <a:r>
              <a:rPr lang="en-US" altLang="zh-CN" sz="1200" b="0" dirty="0">
                <a:solidFill>
                  <a:srgbClr val="CCCCCC"/>
                </a:solidFill>
                <a:effectLst/>
                <a:latin typeface="Sarasa Term SC" pitchFamily="49" charset="-122"/>
                <a:ea typeface="Sarasa Term SC" pitchFamily="49" charset="-122"/>
              </a:rPr>
              <a:t>) {</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6A9955"/>
                </a:solidFill>
                <a:effectLst/>
                <a:latin typeface="Sarasa Term SC" pitchFamily="49" charset="-122"/>
                <a:ea typeface="Sarasa Term SC" pitchFamily="49" charset="-122"/>
              </a:rPr>
              <a:t>        //this-&gt;thought = 42; // </a:t>
            </a:r>
            <a:r>
              <a:rPr lang="zh-CN" altLang="en-US" sz="1200" b="0" dirty="0">
                <a:solidFill>
                  <a:srgbClr val="6A9955"/>
                </a:solidFill>
                <a:effectLst/>
                <a:latin typeface="Sarasa Term SC" pitchFamily="49" charset="-122"/>
                <a:ea typeface="Sarasa Term SC" pitchFamily="49" charset="-122"/>
              </a:rPr>
              <a:t>不行，</a:t>
            </a:r>
            <a:r>
              <a:rPr lang="en-US" altLang="zh-CN" sz="1200" b="0" dirty="0">
                <a:solidFill>
                  <a:srgbClr val="6A9955"/>
                </a:solidFill>
                <a:effectLst/>
                <a:latin typeface="Sarasa Term SC" pitchFamily="49" charset="-122"/>
                <a:ea typeface="Sarasa Term SC" pitchFamily="49" charset="-122"/>
              </a:rPr>
              <a:t>this</a:t>
            </a:r>
            <a:r>
              <a:rPr lang="zh-CN" altLang="en-US" sz="1200" b="0" dirty="0">
                <a:solidFill>
                  <a:srgbClr val="6A9955"/>
                </a:solidFill>
                <a:effectLst/>
                <a:latin typeface="Sarasa Term SC" pitchFamily="49" charset="-122"/>
                <a:ea typeface="Sarasa Term SC" pitchFamily="49" charset="-122"/>
              </a:rPr>
              <a:t>不传入</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err="1">
                <a:solidFill>
                  <a:srgbClr val="9CDCFE"/>
                </a:solidFill>
                <a:effectLst/>
                <a:latin typeface="Sarasa Term SC" pitchFamily="49" charset="-122"/>
                <a:ea typeface="Sarasa Term SC" pitchFamily="49" charset="-122"/>
              </a:rPr>
              <a:t>man</a:t>
            </a:r>
            <a:r>
              <a:rPr lang="en-US" altLang="zh-CN" sz="1200" b="0" dirty="0" err="1">
                <a:solidFill>
                  <a:srgbClr val="CCCCCC"/>
                </a:solidFill>
                <a:effectLst/>
                <a:latin typeface="Sarasa Term SC" pitchFamily="49" charset="-122"/>
                <a:ea typeface="Sarasa Term SC" pitchFamily="49" charset="-122"/>
              </a:rPr>
              <a:t>.</a:t>
            </a:r>
            <a:r>
              <a:rPr lang="en-US" altLang="zh-CN" sz="1200" b="0" dirty="0" err="1">
                <a:solidFill>
                  <a:srgbClr val="9CDCFE"/>
                </a:solidFill>
                <a:effectLst/>
                <a:latin typeface="Sarasa Term SC" pitchFamily="49" charset="-122"/>
                <a:ea typeface="Sarasa Term SC" pitchFamily="49" charset="-122"/>
              </a:rPr>
              <a:t>thought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D4D4D4"/>
                </a:solidFill>
                <a:effectLst/>
                <a:latin typeface="Sarasa Term SC" pitchFamily="49" charset="-122"/>
                <a:ea typeface="Sarasa Term SC" pitchFamily="49" charset="-122"/>
              </a:rPr>
              <a:t>=</a:t>
            </a:r>
            <a:r>
              <a:rPr lang="en-US" altLang="zh-CN" sz="1200" b="0" dirty="0">
                <a:solidFill>
                  <a:srgbClr val="CCCCCC"/>
                </a:solidFill>
                <a:effectLst/>
                <a:latin typeface="Sarasa Term SC" pitchFamily="49" charset="-122"/>
                <a:ea typeface="Sarasa Term SC" pitchFamily="49" charset="-122"/>
              </a:rPr>
              <a:t> </a:t>
            </a:r>
            <a:r>
              <a:rPr lang="en-US" altLang="zh-CN" sz="1200" b="0" dirty="0">
                <a:solidFill>
                  <a:srgbClr val="B5CEA8"/>
                </a:solidFill>
                <a:effectLst/>
                <a:latin typeface="Sarasa Term SC" pitchFamily="49" charset="-122"/>
                <a:ea typeface="Sarasa Term SC" pitchFamily="49" charset="-122"/>
              </a:rPr>
              <a:t>42</a:t>
            </a:r>
            <a:r>
              <a:rPr lang="en-US" altLang="zh-CN" sz="1200" b="0" dirty="0">
                <a:solidFill>
                  <a:srgbClr val="CCCCCC"/>
                </a:solidFill>
                <a:effectLst/>
                <a:latin typeface="Sarasa Term SC" pitchFamily="49" charset="-122"/>
                <a:ea typeface="Sarasa Term SC" pitchFamily="49" charset="-122"/>
              </a:rPr>
              <a:t>;</a:t>
            </a:r>
            <a:r>
              <a:rPr lang="en-US" altLang="zh-CN" sz="1200" b="0" dirty="0">
                <a:solidFill>
                  <a:srgbClr val="6A9955"/>
                </a:solidFill>
                <a:effectLst/>
                <a:latin typeface="Sarasa Term SC" pitchFamily="49" charset="-122"/>
                <a:ea typeface="Sarasa Term SC" pitchFamily="49" charset="-122"/>
              </a:rPr>
              <a:t> // </a:t>
            </a:r>
            <a:r>
              <a:rPr lang="zh-CN" altLang="en-US" sz="1200" b="0" dirty="0">
                <a:solidFill>
                  <a:srgbClr val="6A9955"/>
                </a:solidFill>
                <a:effectLst/>
                <a:latin typeface="Sarasa Term SC" pitchFamily="49" charset="-122"/>
                <a:ea typeface="Sarasa Term SC" pitchFamily="49" charset="-122"/>
              </a:rPr>
              <a:t>可以访问</a:t>
            </a:r>
            <a:endParaRPr lang="zh-CN" altLang="en-US" sz="1200" b="0" dirty="0">
              <a:solidFill>
                <a:srgbClr val="CCCCCC"/>
              </a:solidFill>
              <a:effectLst/>
              <a:latin typeface="Sarasa Term SC" pitchFamily="49" charset="-122"/>
              <a:ea typeface="Sarasa Term SC" pitchFamily="49" charset="-122"/>
            </a:endParaRPr>
          </a:p>
          <a:p>
            <a:r>
              <a:rPr lang="zh-CN" altLang="en-US" sz="1200" b="0" dirty="0">
                <a:solidFill>
                  <a:srgbClr val="CCCCCC"/>
                </a:solidFill>
                <a:effectLst/>
                <a:latin typeface="Sarasa Term SC" pitchFamily="49" charset="-122"/>
                <a:ea typeface="Sarasa Term SC" pitchFamily="49" charset="-122"/>
              </a:rPr>
              <a:t>    </a:t>
            </a:r>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a:p>
            <a:r>
              <a:rPr lang="en-US" altLang="zh-CN" sz="1200" b="0" dirty="0">
                <a:solidFill>
                  <a:srgbClr val="CCCCCC"/>
                </a:solidFill>
                <a:effectLst/>
                <a:latin typeface="Sarasa Term SC" pitchFamily="49" charset="-122"/>
                <a:ea typeface="Sarasa Term SC" pitchFamily="49" charset="-122"/>
              </a:rPr>
              <a:t>};</a:t>
            </a:r>
            <a:endParaRPr lang="en-US" altLang="zh-CN" sz="1200" b="0" dirty="0">
              <a:solidFill>
                <a:srgbClr val="CCCCCC"/>
              </a:solidFill>
              <a:effectLst/>
              <a:latin typeface="Sarasa Term SC" pitchFamily="49" charset="-122"/>
              <a:ea typeface="Sarasa Term SC"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7.5  </a:t>
            </a:r>
            <a:r>
              <a:rPr lang="zh-CN" altLang="en-US" sz="2400" dirty="0">
                <a:latin typeface="Times New Roman" pitchFamily="18" charset="0"/>
              </a:rPr>
              <a:t>友元</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友元仅代表“赋予访问权限”，除此以外友元类</a:t>
            </a:r>
            <a:r>
              <a:rPr lang="en-US" altLang="zh-CN" dirty="0">
                <a:latin typeface="Times New Roman" pitchFamily="18" charset="0"/>
              </a:rPr>
              <a:t>/</a:t>
            </a:r>
            <a:r>
              <a:rPr lang="zh-CN" altLang="en-US" dirty="0">
                <a:latin typeface="Times New Roman" pitchFamily="18" charset="0"/>
              </a:rPr>
              <a:t>函数和友元声明所在类</a:t>
            </a:r>
            <a:r>
              <a:rPr lang="zh-CN" altLang="en-US" b="1" dirty="0">
                <a:latin typeface="Times New Roman" pitchFamily="18" charset="0"/>
              </a:rPr>
              <a:t>没有任何关系</a:t>
            </a:r>
            <a:r>
              <a:rPr lang="zh-CN" altLang="en-US" dirty="0">
                <a:latin typeface="Times New Roman" pitchFamily="18" charset="0"/>
              </a:rPr>
              <a:t>。友元类</a:t>
            </a:r>
            <a:r>
              <a:rPr lang="en-US" altLang="zh-CN" dirty="0">
                <a:latin typeface="Times New Roman" pitchFamily="18" charset="0"/>
              </a:rPr>
              <a:t>/</a:t>
            </a:r>
            <a:r>
              <a:rPr lang="zh-CN" altLang="en-US" dirty="0">
                <a:latin typeface="Times New Roman" pitchFamily="18" charset="0"/>
              </a:rPr>
              <a:t>函数</a:t>
            </a:r>
            <a:r>
              <a:rPr lang="zh-CN" altLang="en-US" b="1" dirty="0">
                <a:latin typeface="Times New Roman" pitchFamily="18" charset="0"/>
              </a:rPr>
              <a:t>不是类的成员</a:t>
            </a:r>
            <a:r>
              <a:rPr lang="zh-CN" altLang="en-US" dirty="0">
                <a:latin typeface="Times New Roman" pitchFamily="18" charset="0"/>
              </a:rPr>
              <a:t>。</a:t>
            </a:r>
            <a:endParaRPr lang="en-US" altLang="zh-CN" dirty="0">
              <a:latin typeface="Times New Roman" pitchFamily="18" charset="0"/>
            </a:endParaRPr>
          </a:p>
          <a:p>
            <a:pPr marL="114300" indent="0" algn="ctr">
              <a:buNone/>
            </a:pPr>
            <a:r>
              <a:rPr lang="zh-CN" altLang="en-US" dirty="0">
                <a:latin typeface="Times New Roman" pitchFamily="18" charset="0"/>
              </a:rPr>
              <a:t>不等式秒了：</a:t>
            </a:r>
            <a:r>
              <a:rPr lang="zh-CN" altLang="en-US" b="1" dirty="0">
                <a:latin typeface="Times New Roman" pitchFamily="18" charset="0"/>
              </a:rPr>
              <a:t>友元有访问权限 </a:t>
            </a:r>
            <a:r>
              <a:rPr lang="en-US" altLang="zh-CN" b="1" dirty="0">
                <a:latin typeface="Times New Roman" pitchFamily="18" charset="0"/>
              </a:rPr>
              <a:t>!= </a:t>
            </a:r>
            <a:r>
              <a:rPr lang="zh-CN" altLang="en-US" b="1" dirty="0">
                <a:latin typeface="Times New Roman" pitchFamily="18" charset="0"/>
              </a:rPr>
              <a:t>类的实例包含友元</a:t>
            </a:r>
            <a:endParaRPr lang="en-US" altLang="zh-CN" b="1"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友元关系单向且不可传递，友元的子类不是友元。</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i="1" dirty="0">
                <a:latin typeface="Times New Roman" pitchFamily="18" charset="0"/>
              </a:rPr>
              <a:t>官方课件的神圣定义</a:t>
            </a:r>
            <a:r>
              <a:rPr lang="zh-CN" altLang="en-US" dirty="0">
                <a:latin typeface="Times New Roman" pitchFamily="18" charset="0"/>
              </a:rPr>
              <a:t>：友元</a:t>
            </a:r>
            <a:r>
              <a:rPr lang="zh-CN" altLang="en-US" b="1" dirty="0">
                <a:latin typeface="Times New Roman" pitchFamily="18" charset="0"/>
              </a:rPr>
              <a:t>破坏了</a:t>
            </a:r>
            <a:r>
              <a:rPr lang="zh-CN" altLang="en-US" dirty="0">
                <a:latin typeface="Times New Roman" pitchFamily="18" charset="0"/>
              </a:rPr>
              <a:t>类的封装性。</a:t>
            </a: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7.6  </a:t>
            </a:r>
            <a:r>
              <a:rPr lang="zh-CN" altLang="en-US" sz="2400" dirty="0">
                <a:latin typeface="Times New Roman" pitchFamily="18" charset="0"/>
              </a:rPr>
              <a:t>类与类之间的关系</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数据成员关系：见前述“对象构造的流程”与“对象析构的流程”。</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嵌套类关系：在</a:t>
            </a:r>
            <a:r>
              <a:rPr lang="en-US" altLang="zh-CN" dirty="0">
                <a:latin typeface="Times New Roman" pitchFamily="18" charset="0"/>
              </a:rPr>
              <a:t>C++</a:t>
            </a:r>
            <a:r>
              <a:rPr lang="zh-CN" altLang="en-US" dirty="0">
                <a:latin typeface="Times New Roman" pitchFamily="18" charset="0"/>
              </a:rPr>
              <a:t>中，嵌套类仅代表“嵌套类挂在外层类的名字下”。从访问权限来说，如果嵌套类位于外层类的</a:t>
            </a:r>
            <a:r>
              <a:rPr lang="en-US" altLang="zh-CN" dirty="0">
                <a:latin typeface="Times New Roman" pitchFamily="18" charset="0"/>
              </a:rPr>
              <a:t>private</a:t>
            </a:r>
            <a:r>
              <a:rPr lang="zh-CN" altLang="en-US" dirty="0">
                <a:latin typeface="Times New Roman" pitchFamily="18" charset="0"/>
              </a:rPr>
              <a:t>或</a:t>
            </a:r>
            <a:r>
              <a:rPr lang="en-US" altLang="zh-CN" dirty="0">
                <a:latin typeface="Times New Roman" pitchFamily="18" charset="0"/>
              </a:rPr>
              <a:t>protected</a:t>
            </a:r>
            <a:r>
              <a:rPr lang="zh-CN" altLang="en-US" dirty="0">
                <a:latin typeface="Times New Roman" pitchFamily="18" charset="0"/>
              </a:rPr>
              <a:t>部分，那么它不能在外层类外访问，同时，嵌套类可以访问外层类的</a:t>
            </a:r>
            <a:r>
              <a:rPr lang="en-US" altLang="zh-CN" dirty="0">
                <a:latin typeface="Times New Roman" pitchFamily="18" charset="0"/>
              </a:rPr>
              <a:t>private</a:t>
            </a:r>
            <a:r>
              <a:rPr lang="zh-CN" altLang="en-US" dirty="0">
                <a:latin typeface="Times New Roman" pitchFamily="18" charset="0"/>
              </a:rPr>
              <a:t>和</a:t>
            </a:r>
            <a:r>
              <a:rPr lang="en-US" altLang="zh-CN" dirty="0">
                <a:latin typeface="Times New Roman" pitchFamily="18" charset="0"/>
              </a:rPr>
              <a:t>protected</a:t>
            </a:r>
            <a:r>
              <a:rPr lang="zh-CN" altLang="en-US" dirty="0">
                <a:latin typeface="Times New Roman" pitchFamily="18" charset="0"/>
              </a:rPr>
              <a:t>成员。</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en-US" altLang="zh-CN" dirty="0">
                <a:latin typeface="Times New Roman" pitchFamily="18" charset="0"/>
              </a:rPr>
              <a:t>C++</a:t>
            </a:r>
            <a:r>
              <a:rPr lang="zh-CN" altLang="en-US" dirty="0">
                <a:latin typeface="Times New Roman" pitchFamily="18" charset="0"/>
              </a:rPr>
              <a:t>中的嵌套类相当于</a:t>
            </a:r>
            <a:r>
              <a:rPr lang="en-US" altLang="zh-CN" dirty="0">
                <a:latin typeface="Times New Roman" pitchFamily="18" charset="0"/>
              </a:rPr>
              <a:t>Java</a:t>
            </a:r>
            <a:r>
              <a:rPr lang="zh-CN" altLang="en-US" dirty="0">
                <a:latin typeface="Times New Roman" pitchFamily="18" charset="0"/>
              </a:rPr>
              <a:t>中的静态内部类，而</a:t>
            </a:r>
            <a:r>
              <a:rPr lang="en-US" altLang="zh-CN" dirty="0">
                <a:latin typeface="Times New Roman" pitchFamily="18" charset="0"/>
              </a:rPr>
              <a:t>Java</a:t>
            </a:r>
            <a:r>
              <a:rPr lang="zh-CN" altLang="en-US" dirty="0">
                <a:latin typeface="Times New Roman" pitchFamily="18" charset="0"/>
              </a:rPr>
              <a:t>的非静态内部类在</a:t>
            </a:r>
            <a:r>
              <a:rPr lang="en-US" altLang="zh-CN" dirty="0">
                <a:latin typeface="Times New Roman" pitchFamily="18" charset="0"/>
              </a:rPr>
              <a:t>C++</a:t>
            </a:r>
            <a:r>
              <a:rPr lang="zh-CN" altLang="en-US" dirty="0">
                <a:latin typeface="Times New Roman" pitchFamily="18" charset="0"/>
              </a:rPr>
              <a:t>中没有对应的机制。</a:t>
            </a:r>
            <a:r>
              <a:rPr lang="en-US" altLang="zh-CN" dirty="0">
                <a:latin typeface="Times New Roman" pitchFamily="18" charset="0"/>
              </a:rPr>
              <a:t>C++</a:t>
            </a:r>
            <a:r>
              <a:rPr lang="zh-CN" altLang="en-US" dirty="0">
                <a:latin typeface="Times New Roman" pitchFamily="18" charset="0"/>
              </a:rPr>
              <a:t>中，嵌套类实例与外层类实例没有任何关系。 可以理解为嵌套类自动成为外层类的友元。</a:t>
            </a: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7.7  </a:t>
            </a:r>
            <a:r>
              <a:rPr lang="zh-CN" altLang="en-US" sz="2400" dirty="0">
                <a:latin typeface="Times New Roman" pitchFamily="18" charset="0"/>
              </a:rPr>
              <a:t>运算符重载</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运算符重载可以以非成员函数或类的成员函数方式定义。在类的成员函数形式中，</a:t>
            </a:r>
            <a:r>
              <a:rPr lang="en-US" altLang="zh-CN" dirty="0">
                <a:latin typeface="Times New Roman" pitchFamily="18" charset="0"/>
              </a:rPr>
              <a:t>this</a:t>
            </a:r>
            <a:r>
              <a:rPr lang="zh-CN" altLang="en-US" dirty="0">
                <a:latin typeface="Times New Roman" pitchFamily="18" charset="0"/>
              </a:rPr>
              <a:t>为隐式第一运算分量。</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b="1" dirty="0">
                <a:latin typeface="Times New Roman" pitchFamily="18" charset="0"/>
              </a:rPr>
              <a:t>不可自创新的运算符，被重载的运算符的优先级、结合性、运算分量个数不变。</a:t>
            </a:r>
            <a:endParaRPr lang="en-US" altLang="zh-CN" b="1" dirty="0">
              <a:latin typeface="Times New Roman" pitchFamily="18" charset="0"/>
            </a:endParaRPr>
          </a:p>
          <a:p>
            <a:pPr marL="114300" indent="0">
              <a:buNone/>
            </a:pPr>
            <a:endParaRPr lang="en-US" altLang="zh-CN" dirty="0">
              <a:latin typeface="Times New Roman" pitchFamily="18" charset="0"/>
            </a:endParaRPr>
          </a:p>
          <a:p>
            <a:r>
              <a:rPr lang="zh-CN" altLang="en-US" dirty="0">
                <a:latin typeface="Times New Roman" pitchFamily="18" charset="0"/>
              </a:rPr>
              <a:t>官方课件将非成员函数形式的运算符重载称为“以类的友元函数定义”，但事实上它们并不必须是友元。这个说法可能是因为运算符重载的实现很多情况下都需要访问类的</a:t>
            </a:r>
            <a:r>
              <a:rPr lang="en-US" altLang="zh-CN" dirty="0">
                <a:latin typeface="Times New Roman" pitchFamily="18" charset="0"/>
              </a:rPr>
              <a:t>private/protected</a:t>
            </a:r>
            <a:r>
              <a:rPr lang="zh-CN" altLang="en-US" dirty="0">
                <a:latin typeface="Times New Roman" pitchFamily="18" charset="0"/>
              </a:rPr>
              <a:t>成员，因此需要被声明为友元。</a:t>
            </a:r>
            <a:endParaRPr lang="en-US" altLang="zh-CN" dirty="0">
              <a:latin typeface="Times New Roman" pitchFamily="18" charset="0"/>
            </a:endParaRPr>
          </a:p>
          <a:p>
            <a:r>
              <a:rPr lang="zh-CN" altLang="en-US" dirty="0">
                <a:latin typeface="Times New Roman" pitchFamily="18" charset="0"/>
              </a:rPr>
              <a:t>官方课件提到“</a:t>
            </a:r>
            <a:r>
              <a:rPr lang="en-US" altLang="zh-CN" dirty="0">
                <a:latin typeface="Times New Roman" pitchFamily="18" charset="0"/>
              </a:rPr>
              <a:t>typedef</a:t>
            </a:r>
            <a:r>
              <a:rPr lang="zh-CN" altLang="en-US" dirty="0">
                <a:latin typeface="Times New Roman" pitchFamily="18" charset="0"/>
              </a:rPr>
              <a:t>不能以友元身份重载”，但</a:t>
            </a:r>
            <a:r>
              <a:rPr lang="en-US" altLang="zh-CN" dirty="0">
                <a:latin typeface="Times New Roman" pitchFamily="18" charset="0"/>
              </a:rPr>
              <a:t>typedef</a:t>
            </a:r>
            <a:r>
              <a:rPr lang="zh-CN" altLang="en-US" dirty="0">
                <a:latin typeface="Times New Roman" pitchFamily="18" charset="0"/>
              </a:rPr>
              <a:t>根本不是运算符，我认为这里指的是类型转换运算符，即</a:t>
            </a:r>
            <a:r>
              <a:rPr lang="en-US" altLang="zh-CN" dirty="0">
                <a:latin typeface="Times New Roman" pitchFamily="18" charset="0"/>
              </a:rPr>
              <a:t>operator &lt;</a:t>
            </a:r>
            <a:r>
              <a:rPr lang="zh-CN" altLang="en-US" dirty="0">
                <a:latin typeface="Times New Roman" pitchFamily="18" charset="0"/>
              </a:rPr>
              <a:t>类型名</a:t>
            </a:r>
            <a:r>
              <a:rPr lang="en-US" altLang="zh-CN" dirty="0">
                <a:latin typeface="Times New Roman" pitchFamily="18" charset="0"/>
              </a:rPr>
              <a:t>&gt;</a:t>
            </a:r>
            <a:r>
              <a:rPr lang="zh-CN" altLang="en-US" dirty="0">
                <a:latin typeface="Times New Roman" pitchFamily="18" charset="0"/>
              </a:rPr>
              <a:t>，重载这一运算符可以定制用</a:t>
            </a:r>
            <a:r>
              <a:rPr lang="en-US" altLang="zh-CN" dirty="0" err="1">
                <a:latin typeface="Times New Roman" pitchFamily="18" charset="0"/>
              </a:rPr>
              <a:t>static_cast</a:t>
            </a:r>
            <a:r>
              <a:rPr lang="zh-CN" altLang="en-US" dirty="0">
                <a:latin typeface="Times New Roman" pitchFamily="18" charset="0"/>
              </a:rPr>
              <a:t>转换该类对象到某一类型的操作。</a:t>
            </a: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7.8.1  </a:t>
            </a:r>
            <a:r>
              <a:rPr lang="zh-CN" altLang="en-US" sz="2400" dirty="0">
                <a:latin typeface="Times New Roman" pitchFamily="18" charset="0"/>
              </a:rPr>
              <a:t>链表</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具体实现请看官方课件或搜索</a:t>
            </a:r>
            <a:r>
              <a:rPr lang="en-US" altLang="zh-CN" dirty="0">
                <a:latin typeface="Times New Roman" pitchFamily="18" charset="0"/>
              </a:rPr>
              <a:t>B</a:t>
            </a:r>
            <a:r>
              <a:rPr lang="zh-CN" altLang="en-US" dirty="0">
                <a:latin typeface="Times New Roman" pitchFamily="18" charset="0"/>
              </a:rPr>
              <a:t>站大学，以下列出链表与数组的性质对比。</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graphicFrame>
        <p:nvGraphicFramePr>
          <p:cNvPr id="2" name="表格 3"/>
          <p:cNvGraphicFramePr>
            <a:graphicFrameLocks noGrp="1"/>
          </p:cNvGraphicFramePr>
          <p:nvPr/>
        </p:nvGraphicFramePr>
        <p:xfrm>
          <a:off x="1212587" y="2553960"/>
          <a:ext cx="6701736" cy="3250248"/>
        </p:xfrm>
        <a:graphic>
          <a:graphicData uri="http://schemas.openxmlformats.org/drawingml/2006/table">
            <a:tbl>
              <a:tblPr firstRow="1" bandRow="1">
                <a:tableStyleId>{5C22544A-7EE6-4342-B048-85BDC9FD1C3A}</a:tableStyleId>
              </a:tblPr>
              <a:tblGrid>
                <a:gridCol w="2233912"/>
                <a:gridCol w="2233912"/>
                <a:gridCol w="2233912"/>
              </a:tblGrid>
              <a:tr h="390684">
                <a:tc>
                  <a:txBody>
                    <a:bodyPr/>
                    <a:lstStyle/>
                    <a:p>
                      <a:pPr algn="ct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链表</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数组</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数据分布</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不连续</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连续</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在已知位置插入</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aseline="0" dirty="0">
                          <a:solidFill>
                            <a:schemeClr val="tx1"/>
                          </a:solidFill>
                          <a:latin typeface="Times New Roman" pitchFamily="18" charset="0"/>
                        </a:rPr>
                        <a:t>O(1)</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取决于具体位置，最坏</a:t>
                      </a:r>
                      <a:r>
                        <a:rPr lang="en-US" altLang="zh-CN" sz="1800" baseline="0" dirty="0">
                          <a:solidFill>
                            <a:schemeClr val="tx1"/>
                          </a:solidFill>
                          <a:latin typeface="Times New Roman" pitchFamily="18" charset="0"/>
                        </a:rPr>
                        <a:t>O(n)</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访问指定下标</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取决于具体位置，最坏</a:t>
                      </a:r>
                      <a:r>
                        <a:rPr lang="en-US" altLang="zh-CN" sz="1800" baseline="0" dirty="0">
                          <a:solidFill>
                            <a:schemeClr val="tx1"/>
                          </a:solidFill>
                          <a:latin typeface="Times New Roman" pitchFamily="18" charset="0"/>
                        </a:rPr>
                        <a:t>O(n)</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baseline="0" dirty="0">
                          <a:solidFill>
                            <a:schemeClr val="tx1"/>
                          </a:solidFill>
                          <a:latin typeface="Times New Roman" pitchFamily="18" charset="0"/>
                        </a:rPr>
                        <a:t>O(1)</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扩容</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分配新节点即可</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需要重新分配容量更大的数组，并且需要复制已有元素到新分配的内存</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第七章  类</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7.8.2  </a:t>
            </a:r>
            <a:r>
              <a:rPr lang="zh-CN" altLang="en-US" sz="2400" dirty="0">
                <a:latin typeface="Times New Roman" pitchFamily="18" charset="0"/>
              </a:rPr>
              <a:t>栈和队列</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具体实现请看官方课件或搜索</a:t>
            </a:r>
            <a:r>
              <a:rPr lang="en-US" altLang="zh-CN" dirty="0">
                <a:latin typeface="Times New Roman" pitchFamily="18" charset="0"/>
              </a:rPr>
              <a:t>B</a:t>
            </a:r>
            <a:r>
              <a:rPr lang="zh-CN" altLang="en-US" dirty="0">
                <a:latin typeface="Times New Roman" pitchFamily="18" charset="0"/>
              </a:rPr>
              <a:t>站大学，以下列出栈与队列的性质对比。</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注：队列可以用环形数组实现</a:t>
            </a:r>
            <a:r>
              <a:rPr lang="en-US" altLang="zh-CN" dirty="0">
                <a:latin typeface="Times New Roman" pitchFamily="18" charset="0"/>
              </a:rPr>
              <a:t>O(1)</a:t>
            </a:r>
            <a:r>
              <a:rPr lang="zh-CN" altLang="en-US" dirty="0">
                <a:latin typeface="Times New Roman" pitchFamily="18" charset="0"/>
              </a:rPr>
              <a:t>的出队操作，但存储空间仍受限制。</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graphicFrame>
        <p:nvGraphicFramePr>
          <p:cNvPr id="2" name="表格 3"/>
          <p:cNvGraphicFramePr>
            <a:graphicFrameLocks noGrp="1"/>
          </p:cNvGraphicFramePr>
          <p:nvPr/>
        </p:nvGraphicFramePr>
        <p:xfrm>
          <a:off x="1212587" y="2553960"/>
          <a:ext cx="6701736" cy="2610168"/>
        </p:xfrm>
        <a:graphic>
          <a:graphicData uri="http://schemas.openxmlformats.org/drawingml/2006/table">
            <a:tbl>
              <a:tblPr firstRow="1" bandRow="1">
                <a:tableStyleId>{5C22544A-7EE6-4342-B048-85BDC9FD1C3A}</a:tableStyleId>
              </a:tblPr>
              <a:tblGrid>
                <a:gridCol w="2233912"/>
                <a:gridCol w="2233912"/>
                <a:gridCol w="2233912"/>
              </a:tblGrid>
              <a:tr h="390684">
                <a:tc>
                  <a:txBody>
                    <a:bodyPr/>
                    <a:lstStyle/>
                    <a:p>
                      <a:pPr algn="ct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栈</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队列</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进出顺序</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后入先出</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先入先出</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推荐使用的底层数据结构</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数组</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800" baseline="0" dirty="0">
                          <a:solidFill>
                            <a:schemeClr val="tx1"/>
                          </a:solidFill>
                          <a:latin typeface="Times New Roman" pitchFamily="18" charset="0"/>
                        </a:rPr>
                        <a:t>链表</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0684">
                <a:tc>
                  <a:txBody>
                    <a:bodyPr/>
                    <a:lstStyle/>
                    <a:p>
                      <a:r>
                        <a:rPr lang="zh-CN" altLang="en-US" sz="1800" baseline="0" dirty="0">
                          <a:solidFill>
                            <a:schemeClr val="tx1"/>
                          </a:solidFill>
                          <a:latin typeface="Times New Roman" pitchFamily="18" charset="0"/>
                        </a:rPr>
                        <a:t>定义的操作</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baseline="0" dirty="0">
                          <a:solidFill>
                            <a:schemeClr val="tx1"/>
                          </a:solidFill>
                          <a:latin typeface="Times New Roman" pitchFamily="18" charset="0"/>
                        </a:rPr>
                        <a:t>压入栈：向容器的末尾添加一个元素</a:t>
                      </a:r>
                      <a:endParaRPr lang="en-US" altLang="zh-CN" sz="1800" baseline="0" dirty="0">
                        <a:solidFill>
                          <a:schemeClr val="tx1"/>
                        </a:solidFill>
                        <a:latin typeface="Times New Roman" pitchFamily="18" charset="0"/>
                      </a:endParaRPr>
                    </a:p>
                    <a:p>
                      <a:pPr algn="l"/>
                      <a:r>
                        <a:rPr lang="zh-CN" altLang="en-US" sz="1800" baseline="0" dirty="0">
                          <a:solidFill>
                            <a:schemeClr val="tx1"/>
                          </a:solidFill>
                          <a:latin typeface="Times New Roman" pitchFamily="18" charset="0"/>
                        </a:rPr>
                        <a:t>弹出栈：移除容器末尾的元素</a:t>
                      </a:r>
                      <a:endParaRPr lang="en-US" altLang="zh-CN"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800" baseline="0" dirty="0">
                          <a:solidFill>
                            <a:schemeClr val="tx1"/>
                          </a:solidFill>
                          <a:latin typeface="Times New Roman" pitchFamily="18" charset="0"/>
                        </a:rPr>
                        <a:t>入队：向容器的开头添加一个元素</a:t>
                      </a:r>
                      <a:endParaRPr lang="en-US" altLang="zh-CN" sz="1800" baseline="0" dirty="0">
                        <a:solidFill>
                          <a:schemeClr val="tx1"/>
                        </a:solidFill>
                        <a:latin typeface="Times New Roman" pitchFamily="18" charset="0"/>
                      </a:endParaRPr>
                    </a:p>
                    <a:p>
                      <a:pPr algn="l"/>
                      <a:r>
                        <a:rPr lang="zh-CN" altLang="en-US" sz="1800" baseline="0" dirty="0">
                          <a:solidFill>
                            <a:schemeClr val="tx1"/>
                          </a:solidFill>
                          <a:latin typeface="Times New Roman" pitchFamily="18" charset="0"/>
                        </a:rPr>
                        <a:t>出队：移除容器末尾的元素</a:t>
                      </a:r>
                      <a:endParaRPr lang="zh-CN" altLang="en-US" sz="1800" baseline="0" dirty="0">
                        <a:solidFill>
                          <a:schemeClr val="tx1"/>
                        </a:solidFill>
                        <a:latin typeface="Times New Roman"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第八章  类的多态</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8.1  </a:t>
            </a:r>
            <a:r>
              <a:rPr lang="zh-CN" altLang="en-US" sz="2400" dirty="0">
                <a:latin typeface="Times New Roman" pitchFamily="18" charset="0"/>
              </a:rPr>
              <a:t>类的继承</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继承：子类拥有一个父类的子对象，可以使用有权限访问的父类成员，子类指针</a:t>
            </a:r>
            <a:r>
              <a:rPr lang="en-US" altLang="zh-CN" dirty="0">
                <a:latin typeface="Times New Roman" pitchFamily="18" charset="0"/>
              </a:rPr>
              <a:t>/</a:t>
            </a:r>
            <a:r>
              <a:rPr lang="zh-CN" altLang="en-US" dirty="0">
                <a:latin typeface="Times New Roman" pitchFamily="18" charset="0"/>
              </a:rPr>
              <a:t>引用可以隐式转化为父类指针</a:t>
            </a:r>
            <a:r>
              <a:rPr lang="en-US" altLang="zh-CN" dirty="0">
                <a:latin typeface="Times New Roman" pitchFamily="18" charset="0"/>
              </a:rPr>
              <a:t>/</a:t>
            </a:r>
            <a:r>
              <a:rPr lang="zh-CN" altLang="en-US" dirty="0">
                <a:latin typeface="Times New Roman" pitchFamily="18" charset="0"/>
              </a:rPr>
              <a:t>引用。</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继承权限表：</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graphicFrame>
        <p:nvGraphicFramePr>
          <p:cNvPr id="4" name="表格 4"/>
          <p:cNvGraphicFramePr>
            <a:graphicFrameLocks noGrp="1"/>
          </p:cNvGraphicFramePr>
          <p:nvPr/>
        </p:nvGraphicFramePr>
        <p:xfrm>
          <a:off x="1067210" y="3144166"/>
          <a:ext cx="6096000" cy="163068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pPr algn="r"/>
                      <a:r>
                        <a:rPr lang="zh-CN" altLang="en-US" baseline="0" dirty="0">
                          <a:solidFill>
                            <a:schemeClr val="tx1"/>
                          </a:solidFill>
                          <a:latin typeface="Times New Roman" pitchFamily="18" charset="0"/>
                        </a:rPr>
                        <a:t>父类权限</a:t>
                      </a:r>
                      <a:endParaRPr lang="en-US" altLang="zh-CN" baseline="0" dirty="0">
                        <a:solidFill>
                          <a:schemeClr val="tx1"/>
                        </a:solidFill>
                        <a:latin typeface="Times New Roman" pitchFamily="18" charset="0"/>
                      </a:endParaRPr>
                    </a:p>
                    <a:p>
                      <a:r>
                        <a:rPr lang="zh-CN" altLang="en-US" baseline="0" dirty="0">
                          <a:solidFill>
                            <a:schemeClr val="tx1"/>
                          </a:solidFill>
                          <a:latin typeface="Times New Roman" pitchFamily="18" charset="0"/>
                        </a:rPr>
                        <a:t>继承方式</a:t>
                      </a:r>
                      <a:endParaRPr lang="zh-CN" altLang="en-US"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public</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protected</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private</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altLang="zh-CN" sz="1800" baseline="0" dirty="0">
                          <a:solidFill>
                            <a:schemeClr val="tx1"/>
                          </a:solidFill>
                          <a:latin typeface="Times New Roman" pitchFamily="18" charset="0"/>
                        </a:rPr>
                        <a:t>public</a:t>
                      </a:r>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public</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protected</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r>
              <a:tr h="370840">
                <a:tc>
                  <a:txBody>
                    <a:bodyPr/>
                    <a:lstStyle/>
                    <a:p>
                      <a:r>
                        <a:rPr lang="en-US" altLang="zh-CN" sz="1800" baseline="0" dirty="0">
                          <a:solidFill>
                            <a:schemeClr val="tx1"/>
                          </a:solidFill>
                          <a:latin typeface="Times New Roman" pitchFamily="18" charset="0"/>
                        </a:rPr>
                        <a:t>protected</a:t>
                      </a:r>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protected</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0" baseline="0" dirty="0">
                          <a:solidFill>
                            <a:schemeClr val="tx1"/>
                          </a:solidFill>
                          <a:latin typeface="Times New Roman" pitchFamily="18" charset="0"/>
                        </a:rPr>
                        <a:t>protected</a:t>
                      </a: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endParaRPr lang="zh-CN" altLang="en-US" sz="1800" b="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r>
              <a:tr h="370840">
                <a:tc>
                  <a:txBody>
                    <a:bodyPr/>
                    <a:lstStyle/>
                    <a:p>
                      <a:r>
                        <a:rPr lang="en-US" altLang="zh-CN" sz="1800" baseline="0" dirty="0">
                          <a:solidFill>
                            <a:schemeClr val="tx1"/>
                          </a:solidFill>
                          <a:latin typeface="Times New Roman" pitchFamily="18" charset="0"/>
                        </a:rPr>
                        <a:t>private</a:t>
                      </a:r>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aseline="0" dirty="0">
                          <a:solidFill>
                            <a:schemeClr val="tx1"/>
                          </a:solidFill>
                          <a:latin typeface="Times New Roman" pitchFamily="18" charset="0"/>
                        </a:rPr>
                        <a:t>private</a:t>
                      </a:r>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charset="0"/>
                        <a:buNone/>
                        <a:defRPr/>
                      </a:pPr>
                      <a:r>
                        <a:rPr lang="en-US" altLang="zh-CN" sz="1800" baseline="0" dirty="0">
                          <a:solidFill>
                            <a:schemeClr val="tx1"/>
                          </a:solidFill>
                          <a:latin typeface="Times New Roman" pitchFamily="18" charset="0"/>
                        </a:rPr>
                        <a:t>private</a:t>
                      </a:r>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800" baseline="0" dirty="0">
                        <a:solidFill>
                          <a:schemeClr val="tx1"/>
                        </a:solidFill>
                        <a:latin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w="12700" cap="flat" cmpd="sng" algn="ctr">
                      <a:solidFill>
                        <a:schemeClr val="tx1"/>
                      </a:solidFill>
                      <a:prstDash val="solid"/>
                      <a:round/>
                      <a:headEnd type="none" w="med" len="med"/>
                      <a:tailEnd type="none" w="med" len="med"/>
                    </a:lnBlToTr>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第八章  类的多态</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8.2  </a:t>
            </a:r>
            <a:r>
              <a:rPr lang="zh-CN" altLang="en-US" sz="2400" dirty="0">
                <a:latin typeface="Times New Roman" pitchFamily="18" charset="0"/>
              </a:rPr>
              <a:t>派生类的构造与析构</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派生类的构造：在分配内存之后、成员按照初始化列表构造之前执行父类的构造函数。如果父类无默认（无参）构造函数，其参数需要在子类初始化列表里以</a:t>
            </a:r>
            <a:r>
              <a:rPr lang="en-US" altLang="zh-CN" dirty="0">
                <a:latin typeface="Times New Roman" pitchFamily="18" charset="0"/>
              </a:rPr>
              <a:t>&lt;</a:t>
            </a:r>
            <a:r>
              <a:rPr lang="zh-CN" altLang="en-US" dirty="0">
                <a:latin typeface="Times New Roman" pitchFamily="18" charset="0"/>
              </a:rPr>
              <a:t>父类名</a:t>
            </a:r>
            <a:r>
              <a:rPr lang="en-US" altLang="zh-CN" dirty="0">
                <a:latin typeface="Times New Roman" pitchFamily="18" charset="0"/>
              </a:rPr>
              <a:t>&gt;(&lt;</a:t>
            </a:r>
            <a:r>
              <a:rPr lang="zh-CN" altLang="en-US" dirty="0">
                <a:latin typeface="Times New Roman" pitchFamily="18" charset="0"/>
              </a:rPr>
              <a:t>父类初始化参数</a:t>
            </a:r>
            <a:r>
              <a:rPr lang="en-US" altLang="zh-CN" dirty="0">
                <a:latin typeface="Times New Roman" pitchFamily="18" charset="0"/>
              </a:rPr>
              <a:t>&gt;)</a:t>
            </a:r>
            <a:r>
              <a:rPr lang="zh-CN" altLang="en-US" dirty="0">
                <a:latin typeface="Times New Roman" pitchFamily="18" charset="0"/>
              </a:rPr>
              <a:t>的形式给出。</a:t>
            </a:r>
            <a:endParaRPr lang="en-US" altLang="zh-CN" dirty="0">
              <a:latin typeface="Times New Roman" pitchFamily="18" charset="0"/>
            </a:endParaRPr>
          </a:p>
          <a:p>
            <a:pPr marL="114300" indent="0">
              <a:buNone/>
            </a:pPr>
            <a:r>
              <a:rPr lang="zh-CN" altLang="en-US" dirty="0">
                <a:latin typeface="Times New Roman" pitchFamily="18" charset="0"/>
              </a:rPr>
              <a:t>派生类的析构：在成员析构之后，内存释放之前执行父类的析构函数。</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第八章  类的多态</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8.3  </a:t>
            </a:r>
            <a:r>
              <a:rPr lang="zh-CN" altLang="en-US" sz="2400" dirty="0">
                <a:latin typeface="Times New Roman" pitchFamily="18" charset="0"/>
              </a:rPr>
              <a:t>虚基类与虚拟继承</a:t>
            </a:r>
            <a:endParaRPr lang="en-US" altLang="zh-CN" dirty="0">
              <a:latin typeface="Times New Roman" pitchFamily="18" charset="0"/>
            </a:endParaRPr>
          </a:p>
          <a:p>
            <a:pPr marL="114300" indent="0">
              <a:buNone/>
            </a:pPr>
            <a:endParaRPr lang="en-US" altLang="zh-CN" sz="1800" dirty="0">
              <a:latin typeface="Times New Roman" pitchFamily="18" charset="0"/>
            </a:endParaRPr>
          </a:p>
          <a:p>
            <a:pPr marL="114300" indent="0">
              <a:buNone/>
            </a:pPr>
            <a:r>
              <a:rPr lang="zh-CN" altLang="en-US" sz="1800" dirty="0">
                <a:latin typeface="Times New Roman" pitchFamily="18" charset="0"/>
              </a:rPr>
              <a:t>虚基类与虚拟继承避免了菱形继承情况下基类子对象的重复。被虚拟继承的类在所有子类中都只有一个子对象。</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注：以下内容建议看完下一节再返回来看。</a:t>
            </a:r>
            <a:endParaRPr lang="en-US" altLang="zh-CN" dirty="0">
              <a:latin typeface="Times New Roman" pitchFamily="18" charset="0"/>
            </a:endParaRPr>
          </a:p>
          <a:p>
            <a:pPr marL="114300" indent="0">
              <a:buNone/>
            </a:pPr>
            <a:endParaRPr lang="en-US" altLang="zh-CN" sz="1800" dirty="0">
              <a:latin typeface="Times New Roman" pitchFamily="18" charset="0"/>
            </a:endParaRPr>
          </a:p>
          <a:p>
            <a:pPr marL="114300" indent="0">
              <a:buNone/>
            </a:pPr>
            <a:r>
              <a:rPr lang="zh-CN" altLang="en-US" sz="1800" dirty="0">
                <a:latin typeface="Times New Roman" pitchFamily="18" charset="0"/>
              </a:rPr>
              <a:t>虚拟继承也用到了“动态多态”特性，这是因为：为了保证所有子类中都只有一份被虚拟继承的父类子对象，中间子类对象相对于父类子对象的位置是不确定的，是取决于它是最终子类的子对象还是被直接创建的。这种情况下中间，子类对象也需要携带一份“虚基类表”，在使用父类成员时查找虚基类表来确定父类对象真正的位置。</a:t>
            </a:r>
            <a:r>
              <a:rPr lang="zh-CN" altLang="en-US" dirty="0">
                <a:latin typeface="Times New Roman" pitchFamily="18" charset="0"/>
              </a:rPr>
              <a:t>这个过程需要在程序真正运行时读取具体对象的数据，是“动态的”。</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第八章  类的多态</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8.3  </a:t>
            </a:r>
            <a:r>
              <a:rPr lang="zh-CN" altLang="en-US" sz="2400" dirty="0">
                <a:latin typeface="Times New Roman" pitchFamily="18" charset="0"/>
              </a:rPr>
              <a:t>虚基类与虚拟继承</a:t>
            </a:r>
            <a:endParaRPr lang="en-US" altLang="zh-CN" dirty="0">
              <a:latin typeface="Times New Roman" pitchFamily="18" charset="0"/>
            </a:endParaRPr>
          </a:p>
          <a:p>
            <a:pPr marL="114300" indent="0">
              <a:buNone/>
            </a:pPr>
            <a:endParaRPr lang="en-US" altLang="zh-CN" sz="1800" dirty="0">
              <a:latin typeface="Times New Roman" pitchFamily="18" charset="0"/>
            </a:endParaRPr>
          </a:p>
          <a:p>
            <a:pPr marL="114300" indent="0">
              <a:buNone/>
            </a:pPr>
            <a:r>
              <a:rPr lang="zh-CN" altLang="en-US" dirty="0">
                <a:latin typeface="Times New Roman" pitchFamily="18" charset="0"/>
              </a:rPr>
              <a:t>考虑以下继承：</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创建一个</a:t>
            </a:r>
            <a:r>
              <a:rPr lang="en-US" altLang="zh-CN" dirty="0">
                <a:latin typeface="Times New Roman" pitchFamily="18" charset="0"/>
              </a:rPr>
              <a:t>D</a:t>
            </a:r>
            <a:r>
              <a:rPr lang="zh-CN" altLang="en-US" dirty="0">
                <a:latin typeface="Times New Roman" pitchFamily="18" charset="0"/>
              </a:rPr>
              <a:t>类对象，其存储结构为：</a:t>
            </a:r>
            <a:r>
              <a:rPr lang="en-US" altLang="zh-CN" dirty="0">
                <a:latin typeface="Times New Roman" pitchFamily="18" charset="0"/>
              </a:rPr>
              <a:t>( ( (A) BC ) D )</a:t>
            </a:r>
            <a:endParaRPr lang="en-US" altLang="zh-CN" dirty="0">
              <a:latin typeface="Times New Roman" pitchFamily="18" charset="0"/>
            </a:endParaRPr>
          </a:p>
          <a:p>
            <a:pPr marL="114300" indent="0">
              <a:buNone/>
            </a:pPr>
            <a:r>
              <a:rPr lang="zh-CN" altLang="en-US" dirty="0">
                <a:latin typeface="Times New Roman" pitchFamily="18" charset="0"/>
              </a:rPr>
              <a:t>创建一个</a:t>
            </a:r>
            <a:r>
              <a:rPr lang="en-US" altLang="zh-CN" dirty="0">
                <a:latin typeface="Times New Roman" pitchFamily="18" charset="0"/>
              </a:rPr>
              <a:t>C</a:t>
            </a:r>
            <a:r>
              <a:rPr lang="zh-CN" altLang="en-US" dirty="0">
                <a:latin typeface="Times New Roman" pitchFamily="18" charset="0"/>
              </a:rPr>
              <a:t>类对象，其存储结构为：</a:t>
            </a:r>
            <a:r>
              <a:rPr lang="en-US" altLang="zh-CN" dirty="0">
                <a:latin typeface="Times New Roman" pitchFamily="18" charset="0"/>
              </a:rPr>
              <a:t>( (A) C )</a:t>
            </a:r>
            <a:endParaRPr lang="en-US" altLang="zh-CN" dirty="0">
              <a:latin typeface="Times New Roman" pitchFamily="18" charset="0"/>
            </a:endParaRPr>
          </a:p>
          <a:p>
            <a:pPr marL="114300" indent="0">
              <a:buNone/>
            </a:pPr>
            <a:r>
              <a:rPr lang="zh-CN" altLang="en-US" dirty="0">
                <a:latin typeface="Times New Roman" pitchFamily="18" charset="0"/>
              </a:rPr>
              <a:t>显然</a:t>
            </a:r>
            <a:r>
              <a:rPr lang="en-US" altLang="zh-CN" dirty="0">
                <a:latin typeface="Times New Roman" pitchFamily="18" charset="0"/>
              </a:rPr>
              <a:t>D</a:t>
            </a:r>
            <a:r>
              <a:rPr lang="zh-CN" altLang="en-US" dirty="0">
                <a:latin typeface="Times New Roman" pitchFamily="18" charset="0"/>
              </a:rPr>
              <a:t>类对象中的</a:t>
            </a:r>
            <a:r>
              <a:rPr lang="en-US" altLang="zh-CN" dirty="0">
                <a:latin typeface="Times New Roman" pitchFamily="18" charset="0"/>
              </a:rPr>
              <a:t>C</a:t>
            </a:r>
            <a:r>
              <a:rPr lang="zh-CN" altLang="en-US" dirty="0">
                <a:latin typeface="Times New Roman" pitchFamily="18" charset="0"/>
              </a:rPr>
              <a:t>类子对象的布局和直接创建的</a:t>
            </a:r>
            <a:r>
              <a:rPr lang="en-US" altLang="zh-CN" dirty="0">
                <a:latin typeface="Times New Roman" pitchFamily="18" charset="0"/>
              </a:rPr>
              <a:t>C</a:t>
            </a:r>
            <a:r>
              <a:rPr lang="zh-CN" altLang="en-US" dirty="0">
                <a:latin typeface="Times New Roman" pitchFamily="18" charset="0"/>
              </a:rPr>
              <a:t>类对象的布局是不同的。</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88087" y="2020193"/>
            <a:ext cx="3264620" cy="250453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第八章  类的多态</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8.4  </a:t>
            </a:r>
            <a:r>
              <a:rPr lang="zh-CN" altLang="en-US" sz="2400" dirty="0">
                <a:latin typeface="Times New Roman" pitchFamily="18" charset="0"/>
              </a:rPr>
              <a:t>多态与虚函数</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sz="1800" dirty="0">
                <a:latin typeface="Times New Roman" pitchFamily="18" charset="0"/>
              </a:rPr>
              <a:t>虚函数实现了“运行时多态”，又称“动态多态”。</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注：与“运行时”相对的是“编译时”，这两个概念可以简单理解为：只看源代码而不给具体状况就可以推出的是编译时，必须运行程序才能得知的是运行时。编译时又称“静态”，运行时又称“动态”。</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对于非虚拟成员函数，调用子类的成员函数还是父类的成员函数完全由调用时对象声明的类型决定。而对于虚拟成员函数，真正调用的成员函数只取决于对象创建时的类型。</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对于非虚拟成员函数，对象声明的类型可以在编译时决定，所以调用的成员函数在程序中是固定的、“静态的”。而对于虚拟成员函数，对象在创建时会内置一份表明自身真实类型的“虚表”，调用时会根据虚表查找真正调用的成员函数，这个过程需要在程序真正运行时读取具体对象的数据，是“动态的”。</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第九章  模板</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9.1  </a:t>
            </a:r>
            <a:r>
              <a:rPr lang="zh-CN" altLang="en-US" sz="2400" dirty="0">
                <a:latin typeface="Times New Roman" pitchFamily="18" charset="0"/>
              </a:rPr>
              <a:t>函数模板</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模板</a:t>
            </a:r>
            <a:r>
              <a:rPr lang="zh-CN" altLang="en-US" sz="1800" dirty="0">
                <a:latin typeface="Times New Roman" pitchFamily="18" charset="0"/>
              </a:rPr>
              <a:t>实现了“编译时多态”，又称“静态多态”。</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sz="1800" dirty="0">
                <a:latin typeface="Times New Roman" pitchFamily="18" charset="0"/>
              </a:rPr>
              <a:t>调用形式：</a:t>
            </a:r>
            <a:r>
              <a:rPr lang="en-US" altLang="zh-CN" sz="1800" dirty="0">
                <a:latin typeface="Times New Roman" pitchFamily="18" charset="0"/>
              </a:rPr>
              <a:t>[</a:t>
            </a:r>
            <a:r>
              <a:rPr lang="zh-CN" altLang="en-US" sz="1800" dirty="0">
                <a:latin typeface="Times New Roman" pitchFamily="18" charset="0"/>
              </a:rPr>
              <a:t>模板名</a:t>
            </a:r>
            <a:r>
              <a:rPr lang="en-US" altLang="zh-CN" sz="1800" dirty="0">
                <a:latin typeface="Times New Roman" pitchFamily="18" charset="0"/>
              </a:rPr>
              <a:t>]&lt;</a:t>
            </a:r>
            <a:r>
              <a:rPr lang="zh-CN" altLang="en-US" dirty="0">
                <a:latin typeface="Times New Roman" pitchFamily="18" charset="0"/>
              </a:rPr>
              <a:t>模板</a:t>
            </a:r>
            <a:r>
              <a:rPr lang="zh-CN" altLang="en-US" sz="1800" dirty="0">
                <a:latin typeface="Times New Roman" pitchFamily="18" charset="0"/>
              </a:rPr>
              <a:t>参数</a:t>
            </a:r>
            <a:r>
              <a:rPr lang="en-US" altLang="zh-CN" sz="1800" dirty="0">
                <a:latin typeface="Times New Roman" pitchFamily="18" charset="0"/>
              </a:rPr>
              <a:t>&gt;(</a:t>
            </a:r>
            <a:r>
              <a:rPr lang="zh-CN" altLang="en-US" sz="1800" dirty="0">
                <a:latin typeface="Times New Roman" pitchFamily="18" charset="0"/>
              </a:rPr>
              <a:t>函数参数</a:t>
            </a:r>
            <a:r>
              <a:rPr lang="en-US" altLang="zh-CN" sz="1800" dirty="0">
                <a:latin typeface="Times New Roman" pitchFamily="18" charset="0"/>
              </a:rPr>
              <a:t>)  </a:t>
            </a:r>
            <a:r>
              <a:rPr lang="zh-CN" altLang="en-US" sz="1800" dirty="0">
                <a:latin typeface="Times New Roman" pitchFamily="18" charset="0"/>
              </a:rPr>
              <a:t>例如：</a:t>
            </a:r>
            <a:r>
              <a:rPr lang="en-US" altLang="zh-CN" sz="1800" dirty="0">
                <a:latin typeface="Times New Roman" pitchFamily="18" charset="0"/>
              </a:rPr>
              <a:t>f&lt;int&gt;(10)</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模板的参数必须在编译期确定，编译器会根据传入的不同的模板参数生成不同的特化函数，这些特化函数都是不同的函数。</a:t>
            </a:r>
            <a:endParaRPr lang="en-US" altLang="zh-CN" dirty="0">
              <a:latin typeface="Times New Roman" pitchFamily="18" charset="0"/>
            </a:endParaRPr>
          </a:p>
          <a:p>
            <a:pPr marL="114300" indent="0">
              <a:buNone/>
            </a:pPr>
            <a:endParaRPr lang="en-US" altLang="zh-CN" sz="1800" dirty="0">
              <a:latin typeface="Times New Roman" pitchFamily="18" charset="0"/>
            </a:endParaRPr>
          </a:p>
          <a:p>
            <a:pPr marL="114300" indent="0">
              <a:buNone/>
            </a:pPr>
            <a:r>
              <a:rPr lang="zh-CN" altLang="en-US" sz="1800" dirty="0">
                <a:latin typeface="Times New Roman" pitchFamily="18" charset="0"/>
              </a:rPr>
              <a:t>函数模板可以重载。在具体调用时，会先匹配非模板重载函数，最后匹配模板。</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sz="1800" dirty="0">
                <a:latin typeface="Times New Roman" pitchFamily="18" charset="0"/>
              </a:rPr>
              <a:t>函数模板的模板参数可以通过调用时给出的实参自动推导，此时模板参数可以省略。若这种自动推导不能做到，那么必须显式给出函数模板的类型参数。</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sz="1800" dirty="0">
                <a:latin typeface="Times New Roman" pitchFamily="18" charset="0"/>
              </a:rPr>
              <a:t>函数模板的模板参数不仅可以是类型，也可以是非类型的编译时常量。</a:t>
            </a:r>
            <a:endParaRPr lang="en-US" altLang="zh-CN" sz="1800"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第九章  模板</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9.2~9.4  </a:t>
            </a:r>
            <a:r>
              <a:rPr lang="zh-CN" altLang="en-US" sz="2400" dirty="0">
                <a:latin typeface="Times New Roman" pitchFamily="18" charset="0"/>
              </a:rPr>
              <a:t>类模板</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与函数模板相同，编译器会根据传入的不同的模板参数生成不同的特化类，这些特化类都是不同的类，它们之间</a:t>
            </a:r>
            <a:r>
              <a:rPr lang="zh-CN" altLang="en-US" b="1" dirty="0">
                <a:latin typeface="Times New Roman" pitchFamily="18" charset="0"/>
              </a:rPr>
              <a:t>不存在任何继承关系，也不能相互隐式转换</a:t>
            </a:r>
            <a:r>
              <a:rPr lang="zh-CN" altLang="en-US" dirty="0">
                <a:latin typeface="Times New Roman" pitchFamily="18" charset="0"/>
              </a:rPr>
              <a:t>。</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类模板的成员函数也可以是函数模板，这种情况下，即使类模板的模板参数已经确定了，这个模板成员函数的模板参数也没有确定。</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同理，友元也可以是函数</a:t>
            </a:r>
            <a:r>
              <a:rPr lang="en-US" altLang="zh-CN" dirty="0">
                <a:latin typeface="Times New Roman" pitchFamily="18" charset="0"/>
              </a:rPr>
              <a:t>/</a:t>
            </a:r>
            <a:r>
              <a:rPr lang="zh-CN" altLang="en-US" dirty="0">
                <a:latin typeface="Times New Roman" pitchFamily="18" charset="0"/>
              </a:rPr>
              <a:t>类模板。</a:t>
            </a:r>
            <a:endParaRPr lang="en-US" altLang="zh-CN" dirty="0">
              <a:latin typeface="Times New Roman" pitchFamily="18" charset="0"/>
            </a:endParaRPr>
          </a:p>
          <a:p>
            <a:pPr marL="114300" indent="0">
              <a:buNone/>
            </a:pP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14:cpLocks xmlns:a14="http://schemas.microsoft.com/office/drawing/2010/main" noGrp="1"/>
          </p:cNvSpPr>
          <p:nvPr>
            <p:ph type="title"/>
          </p:nvPr>
        </p:nvSpPr>
        <p:spPr/>
        <p:txBody>
          <a:bodyPr/>
          <a:lstStyle/>
          <a:p>
            <a:r>
              <a:rPr lang="zh-CN" altLang="en-US" dirty="0"/>
              <a:t>第九章  模板</a:t>
            </a:r>
            <a:endParaRPr lang="zh-CN" altLang="en-US" dirty="0"/>
          </a:p>
        </p:txBody>
      </p:sp>
      <p:sp>
        <p:nvSpPr>
          <p:cNvPr id="3" name="内容占位符 2"/>
          <p:cNvSpPr>
            <a14:cpLocks xmlns:a14="http://schemas.microsoft.com/office/drawing/2010/main" noGrp="1"/>
          </p:cNvSpPr>
          <p:nvPr>
            <p:ph sz="quarter" idx="14"/>
          </p:nvPr>
        </p:nvSpPr>
        <p:spPr>
          <a:xfrm>
            <a:off x="461473" y="986401"/>
            <a:ext cx="8203964" cy="5428799"/>
          </a:xfrm>
        </p:spPr>
        <p:txBody>
          <a:bodyPr/>
          <a:lstStyle/>
          <a:p>
            <a:pPr marL="114300" indent="0">
              <a:buNone/>
            </a:pPr>
            <a:r>
              <a:rPr lang="en-US" altLang="zh-CN" sz="2400" dirty="0">
                <a:latin typeface="Times New Roman" pitchFamily="18" charset="0"/>
              </a:rPr>
              <a:t>9.5  </a:t>
            </a:r>
            <a:r>
              <a:rPr lang="zh-CN" altLang="en-US" sz="2400" dirty="0">
                <a:latin typeface="Times New Roman" pitchFamily="18" charset="0"/>
              </a:rPr>
              <a:t>类模板的特化</a:t>
            </a:r>
            <a:endParaRPr lang="en-US" altLang="zh-CN" sz="2400" dirty="0">
              <a:latin typeface="Times New Roman" pitchFamily="18" charset="0"/>
            </a:endParaRPr>
          </a:p>
          <a:p>
            <a:pPr marL="114300" indent="0">
              <a:buNone/>
            </a:pPr>
            <a:endParaRPr lang="en-US" altLang="zh-CN" dirty="0">
              <a:latin typeface="Times New Roman" pitchFamily="18" charset="0"/>
            </a:endParaRPr>
          </a:p>
          <a:p>
            <a:pPr marL="114300" indent="0">
              <a:buNone/>
            </a:pPr>
            <a:r>
              <a:rPr lang="zh-CN" altLang="en-US" dirty="0">
                <a:latin typeface="Times New Roman" pitchFamily="18" charset="0"/>
              </a:rPr>
              <a:t>类模板可以“全特化”或“偏特化”。</a:t>
            </a:r>
            <a:endParaRPr lang="en-US" altLang="zh-CN" dirty="0">
              <a:latin typeface="Times New Roman" pitchFamily="18" charset="0"/>
            </a:endParaRPr>
          </a:p>
          <a:p>
            <a:pPr marL="114300" indent="0">
              <a:buNone/>
            </a:pPr>
            <a:r>
              <a:rPr lang="en-US" altLang="zh-CN" dirty="0">
                <a:latin typeface="Times New Roman" pitchFamily="18" charset="0"/>
              </a:rPr>
              <a:t>*</a:t>
            </a:r>
            <a:r>
              <a:rPr lang="zh-CN" altLang="en-US">
                <a:latin typeface="Times New Roman" pitchFamily="18" charset="0"/>
              </a:rPr>
              <a:t>没活了，这段看具体讲解</a:t>
            </a:r>
            <a:r>
              <a:rPr lang="en-US" altLang="zh-CN">
                <a:latin typeface="Times New Roman" pitchFamily="18" charset="0"/>
              </a:rPr>
              <a:t>*</a:t>
            </a:r>
            <a:endParaRPr lang="en-US" altLang="zh-CN" dirty="0">
              <a:latin typeface="Times New Roman" pitchFamily="18" charset="0"/>
            </a:endParaRPr>
          </a:p>
          <a:p>
            <a:pPr marL="114300" indent="0">
              <a:buNone/>
            </a:pPr>
            <a:endParaRPr lang="en-US" altLang="zh-CN" dirty="0">
              <a:latin typeface="Times New Roman"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南开大学毕业答辩">
  <a:themeElements>
    <a:clrScheme name="自定义 2">
      <a:dk1>
        <a:srgbClr val="000000"/>
      </a:dk1>
      <a:lt1>
        <a:srgbClr val="FFFFFF"/>
      </a:lt1>
      <a:dk2>
        <a:srgbClr val="7E0C6E"/>
      </a:dk2>
      <a:lt2>
        <a:srgbClr val="5DFFEA"/>
      </a:lt2>
      <a:accent1>
        <a:srgbClr val="FFFBF0"/>
      </a:accent1>
      <a:accent2>
        <a:srgbClr val="B7B7B7"/>
      </a:accent2>
      <a:accent3>
        <a:srgbClr val="FB8C00"/>
      </a:accent3>
      <a:accent4>
        <a:srgbClr val="80CBC4"/>
      </a:accent4>
      <a:accent5>
        <a:srgbClr val="AF4345"/>
      </a:accent5>
      <a:accent6>
        <a:srgbClr val="F58F8F"/>
      </a:accent6>
      <a:hlink>
        <a:srgbClr val="00B050"/>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全屏显示(4:3)</PresentationFormat>
  <Paragraphs>324</Paragraphs>
  <Slides>0</Slides>
  <Notes>22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宋体</vt:lpstr>
      <vt:lpstr>Wingdings</vt:lpstr>
      <vt:lpstr>Old Standard TT</vt:lpstr>
      <vt:lpstr>微软雅黑</vt:lpstr>
      <vt:lpstr>Microsoft YaHei UI Light</vt:lpstr>
      <vt:lpstr>楷体</vt:lpstr>
      <vt:lpstr>Consolas</vt:lpstr>
      <vt:lpstr>微软雅黑 Light</vt:lpstr>
      <vt:lpstr>Times New Roman</vt:lpstr>
      <vt:lpstr>Sarasa Term SC</vt:lpstr>
      <vt:lpstr>等距更纱黑体 SC</vt:lpstr>
      <vt:lpstr>南开大学毕业答辩</vt:lpstr>
      <vt:lpstr>速通高级语言程序设计2-2</vt:lpstr>
      <vt:lpstr>第七章  类</vt:lpstr>
      <vt:lpstr>第七章  类</vt:lpstr>
      <vt:lpstr>第七章  类</vt:lpstr>
      <vt:lpstr>第七章  类</vt:lpstr>
      <vt:lpstr>第七章  类</vt:lpstr>
      <vt:lpstr>第七章  类</vt:lpstr>
      <vt:lpstr>第七章  类</vt:lpstr>
      <vt:lpstr>第七章  类</vt:lpstr>
      <vt:lpstr>第七章  类</vt:lpstr>
      <vt:lpstr>第七章  类</vt:lpstr>
      <vt:lpstr>第七章  类</vt:lpstr>
      <vt:lpstr>第七章  类</vt:lpstr>
      <vt:lpstr>第八章  类的多态</vt:lpstr>
      <vt:lpstr>第八章  类的多态</vt:lpstr>
      <vt:lpstr>第八章  类的多态</vt:lpstr>
      <vt:lpstr>第八章  类的多态</vt:lpstr>
      <vt:lpstr>第八章  类的多态</vt:lpstr>
      <vt:lpstr>第九章  模板</vt:lpstr>
      <vt:lpstr>第九章  模板</vt:lpstr>
      <vt:lpstr>第九章  模板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南开大学毕业答辩</dc:title>
  <dc:creator>New Future</dc:creator>
  <cp:lastModifiedBy>iPad</cp:lastModifiedBy>
  <cp:revision>518</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t-weliu@microsoft.com</vt:lpwstr>
  </property>
  <property fmtid="{D5CDD505-2E9C-101B-9397-08002B2CF9AE}" pid="5" name="MSIP_Label_f42aa342-8706-4288-bd11-ebb85995028c_SetDate">
    <vt:lpwstr>2018-05-14T05:51:31.7397428Z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y fmtid="{D5CDD505-2E9C-101B-9397-08002B2CF9AE}" pid="10" name="Tfs.IsStoryboard">
    <vt:bool>true</vt:bool>
  </property>
  <property fmtid="{D5CDD505-2E9C-101B-9397-08002B2CF9AE}" pid="11" name="ICV">
    <vt:lpwstr>3191455D065045528DC420CD51DE9692_12</vt:lpwstr>
  </property>
  <property fmtid="{D5CDD505-2E9C-101B-9397-08002B2CF9AE}" pid="12" name="KSOProductBuildVer">
    <vt:lpwstr>2052-12.12.1</vt:lpwstr>
  </property>
</Properties>
</file>