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44"/>
  </p:notesMasterIdLst>
  <p:sldIdLst>
    <p:sldId id="257" r:id="rId3"/>
    <p:sldId id="264" r:id="rId4"/>
    <p:sldId id="259" r:id="rId5"/>
    <p:sldId id="353" r:id="rId6"/>
    <p:sldId id="354" r:id="rId7"/>
    <p:sldId id="355" r:id="rId8"/>
    <p:sldId id="260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19" r:id="rId17"/>
    <p:sldId id="261" r:id="rId18"/>
    <p:sldId id="320" r:id="rId19"/>
    <p:sldId id="326" r:id="rId20"/>
    <p:sldId id="327" r:id="rId21"/>
    <p:sldId id="335" r:id="rId22"/>
    <p:sldId id="328" r:id="rId23"/>
    <p:sldId id="329" r:id="rId24"/>
    <p:sldId id="330" r:id="rId25"/>
    <p:sldId id="331" r:id="rId26"/>
    <p:sldId id="332" r:id="rId27"/>
    <p:sldId id="333" r:id="rId28"/>
    <p:sldId id="336" r:id="rId29"/>
    <p:sldId id="337" r:id="rId30"/>
    <p:sldId id="334" r:id="rId31"/>
    <p:sldId id="338" r:id="rId32"/>
    <p:sldId id="342" r:id="rId33"/>
    <p:sldId id="340" r:id="rId34"/>
    <p:sldId id="344" r:id="rId35"/>
    <p:sldId id="345" r:id="rId36"/>
    <p:sldId id="343" r:id="rId37"/>
    <p:sldId id="347" r:id="rId38"/>
    <p:sldId id="346" r:id="rId39"/>
    <p:sldId id="349" r:id="rId40"/>
    <p:sldId id="318" r:id="rId41"/>
    <p:sldId id="351" r:id="rId42"/>
    <p:sldId id="317" r:id="rId43"/>
  </p:sldIdLst>
  <p:sldSz cx="12192000" cy="6858000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0C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72" d="100"/>
          <a:sy n="72" d="100"/>
        </p:scale>
        <p:origin x="2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commentAuthors" Target="commentAuthor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E6EB5681-8F76-4D16-80E6-CD43E177CF72}" type="doc">
      <dgm:prSet loTypeId="urn:microsoft.com/office/officeart/2005/8/layout/hierarchy2#1" loCatId="hierarchy" qsTypeId="urn:microsoft.com/office/officeart/2005/8/quickstyle/simple1#3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0991026E-8BCA-4EAB-B21A-9657D8FD7BBF}" type="pres">
      <dgm:prSet presAssocID="{E6EB5681-8F76-4D16-80E6-CD43E177CF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2EB43B17-51E6-4BC7-A2AB-4148F8FED691}" type="presOf" srcId="{E6EB5681-8F76-4D16-80E6-CD43E177CF72}" destId="{0991026E-8BCA-4EAB-B21A-9657D8FD7BBF}" srcOrd="0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5123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5123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5123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图片占位符 20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231317"/>
          </a:xfrm>
          <a:custGeom>
            <a:avLst/>
            <a:gdLst>
              <a:gd name="connsiteX0" fmla="*/ 0 w 12192000"/>
              <a:gd name="connsiteY0" fmla="*/ 0 h 3231317"/>
              <a:gd name="connsiteX1" fmla="*/ 12192000 w 12192000"/>
              <a:gd name="connsiteY1" fmla="*/ 0 h 3231317"/>
              <a:gd name="connsiteX2" fmla="*/ 12192000 w 12192000"/>
              <a:gd name="connsiteY2" fmla="*/ 2308286 h 3231317"/>
              <a:gd name="connsiteX3" fmla="*/ 12093033 w 12192000"/>
              <a:gd name="connsiteY3" fmla="*/ 2303337 h 3231317"/>
              <a:gd name="connsiteX4" fmla="*/ 4642234 w 12192000"/>
              <a:gd name="connsiteY4" fmla="*/ 3231317 h 3231317"/>
              <a:gd name="connsiteX5" fmla="*/ 5679 w 12192000"/>
              <a:gd name="connsiteY5" fmla="*/ 2268360 h 3231317"/>
              <a:gd name="connsiteX6" fmla="*/ 0 w 12192000"/>
              <a:gd name="connsiteY6" fmla="*/ 2268711 h 3231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231317">
                <a:moveTo>
                  <a:pt x="0" y="0"/>
                </a:moveTo>
                <a:lnTo>
                  <a:pt x="12192000" y="0"/>
                </a:lnTo>
                <a:lnTo>
                  <a:pt x="12192000" y="2308286"/>
                </a:lnTo>
                <a:lnTo>
                  <a:pt x="12093033" y="2303337"/>
                </a:lnTo>
                <a:cubicBezTo>
                  <a:pt x="10288644" y="2254112"/>
                  <a:pt x="6566549" y="3231317"/>
                  <a:pt x="4642234" y="3231317"/>
                </a:cubicBezTo>
                <a:cubicBezTo>
                  <a:pt x="3283401" y="3168810"/>
                  <a:pt x="1073245" y="2241350"/>
                  <a:pt x="5679" y="2268360"/>
                </a:cubicBezTo>
                <a:lnTo>
                  <a:pt x="0" y="22687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zh-CN" altLang="en-US"/>
              <a:t>单击图标添加图片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>
          <a:blip r:embed="rId2" cstate="email"/>
          <a:stretch>
            <a:fillRect t="3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/>
        </p:nvGrpSpPr>
        <p:grpSpPr>
          <a:xfrm>
            <a:off x="4100159" y="822519"/>
            <a:ext cx="3991682" cy="5543161"/>
            <a:chOff x="4100159" y="822519"/>
            <a:chExt cx="3991682" cy="5543161"/>
          </a:xfrm>
        </p:grpSpPr>
        <p:sp>
          <p:nvSpPr>
            <p:cNvPr id="14" name="矩形: 圆角 13"/>
            <p:cNvSpPr/>
            <p:nvPr userDrawn="1"/>
          </p:nvSpPr>
          <p:spPr>
            <a:xfrm>
              <a:off x="4100160" y="822519"/>
              <a:ext cx="3991681" cy="5543161"/>
            </a:xfrm>
            <a:prstGeom prst="roundRect">
              <a:avLst>
                <a:gd name="adj" fmla="val 1319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17500" dist="50800" dir="5400000" algn="ctr" rotWithShape="0">
                <a:srgbClr val="000000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 rot="16200000">
              <a:off x="5625711" y="1806380"/>
              <a:ext cx="940578" cy="3991681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>
              <a:outerShdw blurRad="254000" dist="50800" dir="5400000" algn="ctr" rotWithShape="0">
                <a:srgbClr val="000000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5395732" y="1456971"/>
              <a:ext cx="1400537" cy="140053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/>
        </p:nvGrpSpPr>
        <p:grpSpPr>
          <a:xfrm>
            <a:off x="550954" y="754638"/>
            <a:ext cx="11077392" cy="5755123"/>
            <a:chOff x="557304" y="551438"/>
            <a:chExt cx="11077392" cy="5755123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557304" y="551438"/>
              <a:ext cx="11077392" cy="5755123"/>
            </a:xfrm>
            <a:prstGeom prst="rect">
              <a:avLst/>
            </a:prstGeom>
          </p:spPr>
        </p:pic>
        <p:grpSp>
          <p:nvGrpSpPr>
            <p:cNvPr id="8" name="组合 7"/>
            <p:cNvGrpSpPr/>
            <p:nvPr userDrawn="1"/>
          </p:nvGrpSpPr>
          <p:grpSpPr>
            <a:xfrm>
              <a:off x="1505312" y="591588"/>
              <a:ext cx="2901588" cy="5593313"/>
              <a:chOff x="1505312" y="591588"/>
              <a:chExt cx="2901588" cy="5593313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505312" y="591588"/>
                <a:ext cx="2901588" cy="5593313"/>
                <a:chOff x="1505312" y="591588"/>
                <a:chExt cx="2901588" cy="5593313"/>
              </a:xfrm>
            </p:grpSpPr>
            <p:pic>
              <p:nvPicPr>
                <p:cNvPr id="14" name="图片 13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6360" t="7890" r="52105" b="1089"/>
                <a:stretch>
                  <a:fillRect/>
                </a:stretch>
              </p:blipFill>
              <p:spPr>
                <a:xfrm>
                  <a:off x="1505312" y="601546"/>
                  <a:ext cx="2901588" cy="5583355"/>
                </a:xfrm>
                <a:custGeom>
                  <a:avLst/>
                  <a:gdLst>
                    <a:gd name="connsiteX0" fmla="*/ 0 w 2901588"/>
                    <a:gd name="connsiteY0" fmla="*/ 0 h 5583355"/>
                    <a:gd name="connsiteX1" fmla="*/ 2901588 w 2901588"/>
                    <a:gd name="connsiteY1" fmla="*/ 0 h 5583355"/>
                    <a:gd name="connsiteX2" fmla="*/ 2901588 w 2901588"/>
                    <a:gd name="connsiteY2" fmla="*/ 5583355 h 5583355"/>
                    <a:gd name="connsiteX3" fmla="*/ 0 w 2901588"/>
                    <a:gd name="connsiteY3" fmla="*/ 5583355 h 55833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01588" h="5583355">
                      <a:moveTo>
                        <a:pt x="0" y="0"/>
                      </a:moveTo>
                      <a:lnTo>
                        <a:pt x="2901588" y="0"/>
                      </a:lnTo>
                      <a:lnTo>
                        <a:pt x="2901588" y="5583355"/>
                      </a:lnTo>
                      <a:lnTo>
                        <a:pt x="0" y="5583355"/>
                      </a:lnTo>
                      <a:close/>
                    </a:path>
                  </a:pathLst>
                </a:custGeom>
              </p:spPr>
            </p:pic>
            <p:sp>
              <p:nvSpPr>
                <p:cNvPr id="15" name="矩形 14"/>
                <p:cNvSpPr/>
                <p:nvPr/>
              </p:nvSpPr>
              <p:spPr>
                <a:xfrm>
                  <a:off x="1505312" y="591588"/>
                  <a:ext cx="2901588" cy="5583355"/>
                </a:xfrm>
                <a:prstGeom prst="rect">
                  <a:avLst/>
                </a:prstGeom>
                <a:solidFill>
                  <a:schemeClr val="accent1">
                    <a:alpha val="77000"/>
                  </a:schemeClr>
                </a:solidFill>
                <a:ln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2168706" y="1244600"/>
                <a:ext cx="1409700" cy="1409700"/>
                <a:chOff x="1892300" y="958850"/>
                <a:chExt cx="2032000" cy="2032000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1962150" y="1028700"/>
                  <a:ext cx="1892300" cy="18923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3" name="图片 1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92300" y="958850"/>
                  <a:ext cx="2032000" cy="2032000"/>
                </a:xfrm>
                <a:prstGeom prst="rect">
                  <a:avLst/>
                </a:prstGeom>
              </p:spPr>
            </p:pic>
          </p:grpSp>
          <p:sp>
            <p:nvSpPr>
              <p:cNvPr id="11" name="文本框 10"/>
              <p:cNvSpPr txBox="1"/>
              <p:nvPr/>
            </p:nvSpPr>
            <p:spPr>
              <a:xfrm>
                <a:off x="2168706" y="2702758"/>
                <a:ext cx="1173736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800" b="1" dirty="0">
                    <a:solidFill>
                      <a:schemeClr val="bg1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目</a:t>
                </a:r>
                <a:endParaRPr lang="en-US" altLang="zh-CN" sz="880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  <a:p>
                <a:r>
                  <a:rPr lang="zh-CN" altLang="en-US" sz="8800" b="1" dirty="0">
                    <a:solidFill>
                      <a:schemeClr val="bg1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录</a:t>
                </a: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pattFill prst="openDmn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91"/>
          <a:stretch>
            <a:fillRect/>
          </a:stretch>
        </p:blipFill>
        <p:spPr>
          <a:xfrm>
            <a:off x="-13017" y="653221"/>
            <a:ext cx="3973608" cy="6397807"/>
          </a:xfrm>
          <a:custGeom>
            <a:avLst/>
            <a:gdLst>
              <a:gd name="connsiteX0" fmla="*/ 0 w 3119123"/>
              <a:gd name="connsiteY0" fmla="*/ 0 h 5022022"/>
              <a:gd name="connsiteX1" fmla="*/ 3119123 w 3119123"/>
              <a:gd name="connsiteY1" fmla="*/ 0 h 5022022"/>
              <a:gd name="connsiteX2" fmla="*/ 3119123 w 3119123"/>
              <a:gd name="connsiteY2" fmla="*/ 5022022 h 5022022"/>
              <a:gd name="connsiteX3" fmla="*/ 0 w 3119123"/>
              <a:gd name="connsiteY3" fmla="*/ 5022022 h 5022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9123" h="5022022">
                <a:moveTo>
                  <a:pt x="0" y="0"/>
                </a:moveTo>
                <a:lnTo>
                  <a:pt x="3119123" y="0"/>
                </a:lnTo>
                <a:lnTo>
                  <a:pt x="3119123" y="5022022"/>
                </a:lnTo>
                <a:lnTo>
                  <a:pt x="0" y="5022022"/>
                </a:lnTo>
                <a:close/>
              </a:path>
            </a:pathLst>
          </a:cu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2510" y="0"/>
            <a:ext cx="5814093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6273803" y="0"/>
            <a:ext cx="5930900" cy="6858000"/>
          </a:xfrm>
          <a:custGeom>
            <a:avLst/>
            <a:gdLst>
              <a:gd name="connsiteX0" fmla="*/ 0 w 4934423"/>
              <a:gd name="connsiteY0" fmla="*/ 0 h 6858000"/>
              <a:gd name="connsiteX1" fmla="*/ 4934423 w 4934423"/>
              <a:gd name="connsiteY1" fmla="*/ 0 h 6858000"/>
              <a:gd name="connsiteX2" fmla="*/ 4934423 w 4934423"/>
              <a:gd name="connsiteY2" fmla="*/ 6858000 h 6858000"/>
              <a:gd name="connsiteX3" fmla="*/ 0 w 4934423"/>
              <a:gd name="connsiteY3" fmla="*/ 6858000 h 6858000"/>
              <a:gd name="connsiteX4" fmla="*/ 159373 w 4934423"/>
              <a:gd name="connsiteY4" fmla="*/ 6706052 h 6858000"/>
              <a:gd name="connsiteX5" fmla="*/ 1516772 w 4934423"/>
              <a:gd name="connsiteY5" fmla="*/ 3429000 h 6858000"/>
              <a:gd name="connsiteX6" fmla="*/ 159373 w 4934423"/>
              <a:gd name="connsiteY6" fmla="*/ 151948 h 6858000"/>
              <a:gd name="connsiteX7" fmla="*/ 0 w 4934423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34423" h="6858000">
                <a:moveTo>
                  <a:pt x="0" y="0"/>
                </a:moveTo>
                <a:lnTo>
                  <a:pt x="4934423" y="0"/>
                </a:lnTo>
                <a:lnTo>
                  <a:pt x="4934423" y="6858000"/>
                </a:lnTo>
                <a:lnTo>
                  <a:pt x="0" y="6858000"/>
                </a:lnTo>
                <a:lnTo>
                  <a:pt x="159373" y="6706052"/>
                </a:lnTo>
                <a:cubicBezTo>
                  <a:pt x="998044" y="5867381"/>
                  <a:pt x="1516772" y="4708769"/>
                  <a:pt x="1516772" y="3429000"/>
                </a:cubicBezTo>
                <a:cubicBezTo>
                  <a:pt x="1516772" y="2149232"/>
                  <a:pt x="998044" y="990619"/>
                  <a:pt x="159373" y="151948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55000"/>
                </a:schemeClr>
              </a:gs>
              <a:gs pos="75000">
                <a:schemeClr val="accent1">
                  <a:alpha val="9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2" name="椭圆 11"/>
          <p:cNvSpPr/>
          <p:nvPr userDrawn="1"/>
        </p:nvSpPr>
        <p:spPr>
          <a:xfrm>
            <a:off x="-363418" y="-651026"/>
            <a:ext cx="8160051" cy="8160051"/>
          </a:xfrm>
          <a:prstGeom prst="ellipse">
            <a:avLst/>
          </a:prstGeom>
          <a:noFill/>
          <a:ln>
            <a:gradFill flip="none" rotWithShape="1">
              <a:gsLst>
                <a:gs pos="77000">
                  <a:schemeClr val="accent1"/>
                </a:gs>
                <a:gs pos="73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11517"/>
            <a:ext cx="2146573" cy="61878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61"/>
          <a:stretch>
            <a:fillRect/>
          </a:stretch>
        </p:blipFill>
        <p:spPr>
          <a:xfrm>
            <a:off x="6301409" y="4199181"/>
            <a:ext cx="5890591" cy="2658818"/>
          </a:xfrm>
          <a:custGeom>
            <a:avLst/>
            <a:gdLst>
              <a:gd name="connsiteX0" fmla="*/ 1724914 w 5890591"/>
              <a:gd name="connsiteY0" fmla="*/ 0 h 2658818"/>
              <a:gd name="connsiteX1" fmla="*/ 5890591 w 5890591"/>
              <a:gd name="connsiteY1" fmla="*/ 0 h 2658818"/>
              <a:gd name="connsiteX2" fmla="*/ 5890591 w 5890591"/>
              <a:gd name="connsiteY2" fmla="*/ 2658818 h 2658818"/>
              <a:gd name="connsiteX3" fmla="*/ 0 w 5890591"/>
              <a:gd name="connsiteY3" fmla="*/ 2658818 h 2658818"/>
              <a:gd name="connsiteX4" fmla="*/ 0 w 5890591"/>
              <a:gd name="connsiteY4" fmla="*/ 2642831 h 2658818"/>
              <a:gd name="connsiteX5" fmla="*/ 171403 w 5890591"/>
              <a:gd name="connsiteY5" fmla="*/ 2506870 h 2658818"/>
              <a:gd name="connsiteX6" fmla="*/ 1689751 w 5890591"/>
              <a:gd name="connsiteY6" fmla="*/ 163822 h 265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0591" h="2658818">
                <a:moveTo>
                  <a:pt x="1724914" y="0"/>
                </a:moveTo>
                <a:lnTo>
                  <a:pt x="5890591" y="0"/>
                </a:lnTo>
                <a:lnTo>
                  <a:pt x="5890591" y="2658818"/>
                </a:lnTo>
                <a:lnTo>
                  <a:pt x="0" y="2658818"/>
                </a:lnTo>
                <a:lnTo>
                  <a:pt x="0" y="2642831"/>
                </a:lnTo>
                <a:lnTo>
                  <a:pt x="171403" y="2506870"/>
                </a:lnTo>
                <a:cubicBezTo>
                  <a:pt x="927429" y="1877867"/>
                  <a:pt x="1467145" y="1068897"/>
                  <a:pt x="1689751" y="163822"/>
                </a:cubicBez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435100" y="1676400"/>
            <a:ext cx="3035300" cy="3771900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365250" y="1676400"/>
            <a:ext cx="5842000" cy="1651000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1"/>
          </p:nvPr>
        </p:nvSpPr>
        <p:spPr>
          <a:xfrm>
            <a:off x="4946650" y="3797300"/>
            <a:ext cx="5842000" cy="1651000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056372" y="1676400"/>
            <a:ext cx="2635250" cy="3111500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1"/>
          </p:nvPr>
        </p:nvSpPr>
        <p:spPr>
          <a:xfrm>
            <a:off x="4759325" y="1676400"/>
            <a:ext cx="2635250" cy="3111500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2"/>
          </p:nvPr>
        </p:nvSpPr>
        <p:spPr>
          <a:xfrm>
            <a:off x="8462277" y="1676400"/>
            <a:ext cx="2635250" cy="3111500"/>
          </a:xfrm>
          <a:prstGeom prst="rect">
            <a:avLst/>
          </a:prstGeom>
          <a:ln w="57150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图片占位符 24"/>
          <p:cNvSpPr>
            <a:spLocks noGrp="1"/>
          </p:cNvSpPr>
          <p:nvPr>
            <p:ph type="pic" sz="quarter" idx="12"/>
          </p:nvPr>
        </p:nvSpPr>
        <p:spPr>
          <a:xfrm>
            <a:off x="8370890" y="3902079"/>
            <a:ext cx="1317622" cy="1317622"/>
          </a:xfrm>
          <a:custGeom>
            <a:avLst/>
            <a:gdLst>
              <a:gd name="connsiteX0" fmla="*/ 658811 w 1317622"/>
              <a:gd name="connsiteY0" fmla="*/ 0 h 1317622"/>
              <a:gd name="connsiteX1" fmla="*/ 1317622 w 1317622"/>
              <a:gd name="connsiteY1" fmla="*/ 658811 h 1317622"/>
              <a:gd name="connsiteX2" fmla="*/ 658811 w 1317622"/>
              <a:gd name="connsiteY2" fmla="*/ 1317622 h 1317622"/>
              <a:gd name="connsiteX3" fmla="*/ 0 w 1317622"/>
              <a:gd name="connsiteY3" fmla="*/ 658811 h 1317622"/>
              <a:gd name="connsiteX4" fmla="*/ 658811 w 1317622"/>
              <a:gd name="connsiteY4" fmla="*/ 0 h 131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7622" h="1317622">
                <a:moveTo>
                  <a:pt x="658811" y="0"/>
                </a:moveTo>
                <a:cubicBezTo>
                  <a:pt x="1022662" y="0"/>
                  <a:pt x="1317622" y="294960"/>
                  <a:pt x="1317622" y="658811"/>
                </a:cubicBezTo>
                <a:cubicBezTo>
                  <a:pt x="1317622" y="1022662"/>
                  <a:pt x="1022662" y="1317622"/>
                  <a:pt x="658811" y="1317622"/>
                </a:cubicBezTo>
                <a:cubicBezTo>
                  <a:pt x="294960" y="1317622"/>
                  <a:pt x="0" y="1022662"/>
                  <a:pt x="0" y="658811"/>
                </a:cubicBezTo>
                <a:cubicBezTo>
                  <a:pt x="0" y="294960"/>
                  <a:pt x="294960" y="0"/>
                  <a:pt x="658811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图片占位符 23"/>
          <p:cNvSpPr>
            <a:spLocks noGrp="1"/>
          </p:cNvSpPr>
          <p:nvPr>
            <p:ph type="pic" sz="quarter" idx="11"/>
          </p:nvPr>
        </p:nvSpPr>
        <p:spPr>
          <a:xfrm>
            <a:off x="7390611" y="2205970"/>
            <a:ext cx="1317622" cy="1317622"/>
          </a:xfrm>
          <a:custGeom>
            <a:avLst/>
            <a:gdLst>
              <a:gd name="connsiteX0" fmla="*/ 658811 w 1317622"/>
              <a:gd name="connsiteY0" fmla="*/ 0 h 1317622"/>
              <a:gd name="connsiteX1" fmla="*/ 1317622 w 1317622"/>
              <a:gd name="connsiteY1" fmla="*/ 658811 h 1317622"/>
              <a:gd name="connsiteX2" fmla="*/ 658811 w 1317622"/>
              <a:gd name="connsiteY2" fmla="*/ 1317622 h 1317622"/>
              <a:gd name="connsiteX3" fmla="*/ 0 w 1317622"/>
              <a:gd name="connsiteY3" fmla="*/ 658811 h 1317622"/>
              <a:gd name="connsiteX4" fmla="*/ 658811 w 1317622"/>
              <a:gd name="connsiteY4" fmla="*/ 0 h 131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7622" h="1317622">
                <a:moveTo>
                  <a:pt x="658811" y="0"/>
                </a:moveTo>
                <a:cubicBezTo>
                  <a:pt x="1022662" y="0"/>
                  <a:pt x="1317622" y="294960"/>
                  <a:pt x="1317622" y="658811"/>
                </a:cubicBezTo>
                <a:cubicBezTo>
                  <a:pt x="1317622" y="1022662"/>
                  <a:pt x="1022662" y="1317622"/>
                  <a:pt x="658811" y="1317622"/>
                </a:cubicBezTo>
                <a:cubicBezTo>
                  <a:pt x="294960" y="1317622"/>
                  <a:pt x="0" y="1022662"/>
                  <a:pt x="0" y="658811"/>
                </a:cubicBezTo>
                <a:cubicBezTo>
                  <a:pt x="0" y="294960"/>
                  <a:pt x="294960" y="0"/>
                  <a:pt x="658811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22"/>
          <p:cNvSpPr>
            <a:spLocks noGrp="1"/>
          </p:cNvSpPr>
          <p:nvPr>
            <p:ph type="pic" sz="quarter" idx="13"/>
          </p:nvPr>
        </p:nvSpPr>
        <p:spPr>
          <a:xfrm>
            <a:off x="5418139" y="1514479"/>
            <a:ext cx="1317622" cy="1317622"/>
          </a:xfrm>
          <a:custGeom>
            <a:avLst/>
            <a:gdLst>
              <a:gd name="connsiteX0" fmla="*/ 658811 w 1317622"/>
              <a:gd name="connsiteY0" fmla="*/ 0 h 1317622"/>
              <a:gd name="connsiteX1" fmla="*/ 1317622 w 1317622"/>
              <a:gd name="connsiteY1" fmla="*/ 658811 h 1317622"/>
              <a:gd name="connsiteX2" fmla="*/ 658811 w 1317622"/>
              <a:gd name="connsiteY2" fmla="*/ 1317622 h 1317622"/>
              <a:gd name="connsiteX3" fmla="*/ 0 w 1317622"/>
              <a:gd name="connsiteY3" fmla="*/ 658811 h 1317622"/>
              <a:gd name="connsiteX4" fmla="*/ 658811 w 1317622"/>
              <a:gd name="connsiteY4" fmla="*/ 0 h 131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7622" h="1317622">
                <a:moveTo>
                  <a:pt x="658811" y="0"/>
                </a:moveTo>
                <a:cubicBezTo>
                  <a:pt x="1022662" y="0"/>
                  <a:pt x="1317622" y="294960"/>
                  <a:pt x="1317622" y="658811"/>
                </a:cubicBezTo>
                <a:cubicBezTo>
                  <a:pt x="1317622" y="1022662"/>
                  <a:pt x="1022662" y="1317622"/>
                  <a:pt x="658811" y="1317622"/>
                </a:cubicBezTo>
                <a:cubicBezTo>
                  <a:pt x="294960" y="1317622"/>
                  <a:pt x="0" y="1022662"/>
                  <a:pt x="0" y="658811"/>
                </a:cubicBezTo>
                <a:cubicBezTo>
                  <a:pt x="0" y="294960"/>
                  <a:pt x="294960" y="0"/>
                  <a:pt x="658811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21"/>
          <p:cNvSpPr>
            <a:spLocks noGrp="1"/>
          </p:cNvSpPr>
          <p:nvPr>
            <p:ph type="pic" sz="quarter" idx="14"/>
          </p:nvPr>
        </p:nvSpPr>
        <p:spPr>
          <a:xfrm>
            <a:off x="3445668" y="2205970"/>
            <a:ext cx="1317622" cy="1317622"/>
          </a:xfrm>
          <a:custGeom>
            <a:avLst/>
            <a:gdLst>
              <a:gd name="connsiteX0" fmla="*/ 658811 w 1317622"/>
              <a:gd name="connsiteY0" fmla="*/ 0 h 1317622"/>
              <a:gd name="connsiteX1" fmla="*/ 1317622 w 1317622"/>
              <a:gd name="connsiteY1" fmla="*/ 658811 h 1317622"/>
              <a:gd name="connsiteX2" fmla="*/ 658811 w 1317622"/>
              <a:gd name="connsiteY2" fmla="*/ 1317622 h 1317622"/>
              <a:gd name="connsiteX3" fmla="*/ 0 w 1317622"/>
              <a:gd name="connsiteY3" fmla="*/ 658811 h 1317622"/>
              <a:gd name="connsiteX4" fmla="*/ 658811 w 1317622"/>
              <a:gd name="connsiteY4" fmla="*/ 0 h 131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7622" h="1317622">
                <a:moveTo>
                  <a:pt x="658811" y="0"/>
                </a:moveTo>
                <a:cubicBezTo>
                  <a:pt x="1022662" y="0"/>
                  <a:pt x="1317622" y="294960"/>
                  <a:pt x="1317622" y="658811"/>
                </a:cubicBezTo>
                <a:cubicBezTo>
                  <a:pt x="1317622" y="1022662"/>
                  <a:pt x="1022662" y="1317622"/>
                  <a:pt x="658811" y="1317622"/>
                </a:cubicBezTo>
                <a:cubicBezTo>
                  <a:pt x="294960" y="1317622"/>
                  <a:pt x="0" y="1022662"/>
                  <a:pt x="0" y="658811"/>
                </a:cubicBezTo>
                <a:cubicBezTo>
                  <a:pt x="0" y="294960"/>
                  <a:pt x="294960" y="0"/>
                  <a:pt x="658811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0"/>
          </p:nvPr>
        </p:nvSpPr>
        <p:spPr>
          <a:xfrm>
            <a:off x="2465389" y="3902079"/>
            <a:ext cx="1317622" cy="1317622"/>
          </a:xfrm>
          <a:custGeom>
            <a:avLst/>
            <a:gdLst>
              <a:gd name="connsiteX0" fmla="*/ 658811 w 1317622"/>
              <a:gd name="connsiteY0" fmla="*/ 0 h 1317622"/>
              <a:gd name="connsiteX1" fmla="*/ 1317622 w 1317622"/>
              <a:gd name="connsiteY1" fmla="*/ 658811 h 1317622"/>
              <a:gd name="connsiteX2" fmla="*/ 658811 w 1317622"/>
              <a:gd name="connsiteY2" fmla="*/ 1317622 h 1317622"/>
              <a:gd name="connsiteX3" fmla="*/ 0 w 1317622"/>
              <a:gd name="connsiteY3" fmla="*/ 658811 h 1317622"/>
              <a:gd name="connsiteX4" fmla="*/ 658811 w 1317622"/>
              <a:gd name="connsiteY4" fmla="*/ 0 h 131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7622" h="1317622">
                <a:moveTo>
                  <a:pt x="658811" y="0"/>
                </a:moveTo>
                <a:cubicBezTo>
                  <a:pt x="1022662" y="0"/>
                  <a:pt x="1317622" y="294960"/>
                  <a:pt x="1317622" y="658811"/>
                </a:cubicBezTo>
                <a:cubicBezTo>
                  <a:pt x="1317622" y="1022662"/>
                  <a:pt x="1022662" y="1317622"/>
                  <a:pt x="658811" y="1317622"/>
                </a:cubicBezTo>
                <a:cubicBezTo>
                  <a:pt x="294960" y="1317622"/>
                  <a:pt x="0" y="1022662"/>
                  <a:pt x="0" y="658811"/>
                </a:cubicBezTo>
                <a:cubicBezTo>
                  <a:pt x="0" y="294960"/>
                  <a:pt x="294960" y="0"/>
                  <a:pt x="658811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片占位符 16"/>
          <p:cNvSpPr>
            <a:spLocks noGrp="1"/>
          </p:cNvSpPr>
          <p:nvPr>
            <p:ph type="pic" sz="quarter" idx="10"/>
          </p:nvPr>
        </p:nvSpPr>
        <p:spPr>
          <a:xfrm>
            <a:off x="3024573" y="1394838"/>
            <a:ext cx="966334" cy="966334"/>
          </a:xfrm>
          <a:custGeom>
            <a:avLst/>
            <a:gdLst>
              <a:gd name="connsiteX0" fmla="*/ 483167 w 966334"/>
              <a:gd name="connsiteY0" fmla="*/ 0 h 966334"/>
              <a:gd name="connsiteX1" fmla="*/ 966334 w 966334"/>
              <a:gd name="connsiteY1" fmla="*/ 483167 h 966334"/>
              <a:gd name="connsiteX2" fmla="*/ 483167 w 966334"/>
              <a:gd name="connsiteY2" fmla="*/ 966334 h 966334"/>
              <a:gd name="connsiteX3" fmla="*/ 0 w 966334"/>
              <a:gd name="connsiteY3" fmla="*/ 483167 h 966334"/>
              <a:gd name="connsiteX4" fmla="*/ 483167 w 966334"/>
              <a:gd name="connsiteY4" fmla="*/ 0 h 966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6334" h="966334">
                <a:moveTo>
                  <a:pt x="483167" y="0"/>
                </a:moveTo>
                <a:cubicBezTo>
                  <a:pt x="750013" y="0"/>
                  <a:pt x="966334" y="216321"/>
                  <a:pt x="966334" y="483167"/>
                </a:cubicBezTo>
                <a:cubicBezTo>
                  <a:pt x="966334" y="750013"/>
                  <a:pt x="750013" y="966334"/>
                  <a:pt x="483167" y="966334"/>
                </a:cubicBezTo>
                <a:cubicBezTo>
                  <a:pt x="216321" y="966334"/>
                  <a:pt x="0" y="750013"/>
                  <a:pt x="0" y="483167"/>
                </a:cubicBezTo>
                <a:cubicBezTo>
                  <a:pt x="0" y="216321"/>
                  <a:pt x="216321" y="0"/>
                  <a:pt x="48316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1"/>
          </p:nvPr>
        </p:nvSpPr>
        <p:spPr>
          <a:xfrm>
            <a:off x="3024573" y="3149033"/>
            <a:ext cx="966334" cy="966334"/>
          </a:xfrm>
          <a:custGeom>
            <a:avLst/>
            <a:gdLst>
              <a:gd name="connsiteX0" fmla="*/ 483167 w 966334"/>
              <a:gd name="connsiteY0" fmla="*/ 0 h 966334"/>
              <a:gd name="connsiteX1" fmla="*/ 966334 w 966334"/>
              <a:gd name="connsiteY1" fmla="*/ 483167 h 966334"/>
              <a:gd name="connsiteX2" fmla="*/ 483167 w 966334"/>
              <a:gd name="connsiteY2" fmla="*/ 966334 h 966334"/>
              <a:gd name="connsiteX3" fmla="*/ 0 w 966334"/>
              <a:gd name="connsiteY3" fmla="*/ 483167 h 966334"/>
              <a:gd name="connsiteX4" fmla="*/ 483167 w 966334"/>
              <a:gd name="connsiteY4" fmla="*/ 0 h 966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6334" h="966334">
                <a:moveTo>
                  <a:pt x="483167" y="0"/>
                </a:moveTo>
                <a:cubicBezTo>
                  <a:pt x="750013" y="0"/>
                  <a:pt x="966334" y="216321"/>
                  <a:pt x="966334" y="483167"/>
                </a:cubicBezTo>
                <a:cubicBezTo>
                  <a:pt x="966334" y="750013"/>
                  <a:pt x="750013" y="966334"/>
                  <a:pt x="483167" y="966334"/>
                </a:cubicBezTo>
                <a:cubicBezTo>
                  <a:pt x="216321" y="966334"/>
                  <a:pt x="0" y="750013"/>
                  <a:pt x="0" y="483167"/>
                </a:cubicBezTo>
                <a:cubicBezTo>
                  <a:pt x="0" y="216321"/>
                  <a:pt x="216321" y="0"/>
                  <a:pt x="48316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2"/>
          </p:nvPr>
        </p:nvSpPr>
        <p:spPr>
          <a:xfrm>
            <a:off x="3024573" y="4903227"/>
            <a:ext cx="966334" cy="966334"/>
          </a:xfrm>
          <a:custGeom>
            <a:avLst/>
            <a:gdLst>
              <a:gd name="connsiteX0" fmla="*/ 483167 w 966334"/>
              <a:gd name="connsiteY0" fmla="*/ 0 h 966334"/>
              <a:gd name="connsiteX1" fmla="*/ 966334 w 966334"/>
              <a:gd name="connsiteY1" fmla="*/ 483167 h 966334"/>
              <a:gd name="connsiteX2" fmla="*/ 483167 w 966334"/>
              <a:gd name="connsiteY2" fmla="*/ 966334 h 966334"/>
              <a:gd name="connsiteX3" fmla="*/ 0 w 966334"/>
              <a:gd name="connsiteY3" fmla="*/ 483167 h 966334"/>
              <a:gd name="connsiteX4" fmla="*/ 483167 w 966334"/>
              <a:gd name="connsiteY4" fmla="*/ 0 h 966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6334" h="966334">
                <a:moveTo>
                  <a:pt x="483167" y="0"/>
                </a:moveTo>
                <a:cubicBezTo>
                  <a:pt x="750013" y="0"/>
                  <a:pt x="966334" y="216321"/>
                  <a:pt x="966334" y="483167"/>
                </a:cubicBezTo>
                <a:cubicBezTo>
                  <a:pt x="966334" y="750013"/>
                  <a:pt x="750013" y="966334"/>
                  <a:pt x="483167" y="966334"/>
                </a:cubicBezTo>
                <a:cubicBezTo>
                  <a:pt x="216321" y="966334"/>
                  <a:pt x="0" y="750013"/>
                  <a:pt x="0" y="483167"/>
                </a:cubicBezTo>
                <a:cubicBezTo>
                  <a:pt x="0" y="216321"/>
                  <a:pt x="216321" y="0"/>
                  <a:pt x="48316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CD0CA6-CE23-4018-9B49-CEB199C64A14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CBB53F-E9F2-4444-96CA-E16B3F9388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CD0CA6-CE23-4018-9B49-CEB199C64A14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CBB53F-E9F2-4444-96CA-E16B3F9388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CD0CA6-CE23-4018-9B49-CEB199C64A14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CBB53F-E9F2-4444-96CA-E16B3F9388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CD0CA6-CE23-4018-9B49-CEB199C64A14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CBB53F-E9F2-4444-96CA-E16B3F9388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CD0CA6-CE23-4018-9B49-CEB199C64A14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CBB53F-E9F2-4444-96CA-E16B3F9388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离页连接符 6"/>
          <p:cNvSpPr/>
          <p:nvPr userDrawn="1"/>
        </p:nvSpPr>
        <p:spPr>
          <a:xfrm rot="16200000">
            <a:off x="82032" y="171968"/>
            <a:ext cx="509036" cy="673100"/>
          </a:xfrm>
          <a:prstGeom prst="flowChartOffpageConnector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174" y="225254"/>
            <a:ext cx="1865584" cy="537783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21.pn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20.png"/><Relationship Id="rId4" Type="http://schemas.openxmlformats.org/officeDocument/2006/relationships/diagramLayout" Target="../diagrams/layout5.xml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18.png"/><Relationship Id="rId12" Type="http://schemas.openxmlformats.org/officeDocument/2006/relationships/image" Target="../media/image25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7.xml"/><Relationship Id="rId11" Type="http://schemas.openxmlformats.org/officeDocument/2006/relationships/image" Target="../media/image24.png"/><Relationship Id="rId5" Type="http://schemas.openxmlformats.org/officeDocument/2006/relationships/diagramColors" Target="../diagrams/colors7.xml"/><Relationship Id="rId10" Type="http://schemas.openxmlformats.org/officeDocument/2006/relationships/image" Target="../media/image19.png"/><Relationship Id="rId4" Type="http://schemas.openxmlformats.org/officeDocument/2006/relationships/diagramQuickStyle" Target="../diagrams/quickStyle7.xml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26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10" Type="http://schemas.openxmlformats.org/officeDocument/2006/relationships/image" Target="../media/image29.png"/><Relationship Id="rId4" Type="http://schemas.openxmlformats.org/officeDocument/2006/relationships/diagramQuickStyle" Target="../diagrams/quickStyle8.xml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38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diagramLayout" Target="../diagrams/layout10.xml"/><Relationship Id="rId7" Type="http://schemas.openxmlformats.org/officeDocument/2006/relationships/image" Target="../media/image39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10" Type="http://schemas.openxmlformats.org/officeDocument/2006/relationships/image" Target="../media/image42.emf"/><Relationship Id="rId4" Type="http://schemas.openxmlformats.org/officeDocument/2006/relationships/diagramQuickStyle" Target="../diagrams/quickStyle10.xml"/><Relationship Id="rId9" Type="http://schemas.openxmlformats.org/officeDocument/2006/relationships/image" Target="../media/image41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diagramLayout" Target="../diagrams/layout11.xml"/><Relationship Id="rId7" Type="http://schemas.openxmlformats.org/officeDocument/2006/relationships/image" Target="../media/image43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10" Type="http://schemas.openxmlformats.org/officeDocument/2006/relationships/image" Target="../media/image46.emf"/><Relationship Id="rId4" Type="http://schemas.openxmlformats.org/officeDocument/2006/relationships/diagramQuickStyle" Target="../diagrams/quickStyle11.xml"/><Relationship Id="rId9" Type="http://schemas.openxmlformats.org/officeDocument/2006/relationships/image" Target="../media/image45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diagramLayout" Target="../diagrams/layout12.xml"/><Relationship Id="rId7" Type="http://schemas.openxmlformats.org/officeDocument/2006/relationships/image" Target="../media/image47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10" Type="http://schemas.openxmlformats.org/officeDocument/2006/relationships/image" Target="../media/image50.emf"/><Relationship Id="rId4" Type="http://schemas.openxmlformats.org/officeDocument/2006/relationships/diagramQuickStyle" Target="../diagrams/quickStyle12.xml"/><Relationship Id="rId9" Type="http://schemas.openxmlformats.org/officeDocument/2006/relationships/image" Target="../media/image49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diagramLayout" Target="../diagrams/layout13.xml"/><Relationship Id="rId7" Type="http://schemas.openxmlformats.org/officeDocument/2006/relationships/image" Target="../media/image40.emf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Relationship Id="rId9" Type="http://schemas.openxmlformats.org/officeDocument/2006/relationships/image" Target="../media/image48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diagramLayout" Target="../diagrams/layout14.xml"/><Relationship Id="rId7" Type="http://schemas.openxmlformats.org/officeDocument/2006/relationships/image" Target="../media/image51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10" Type="http://schemas.openxmlformats.org/officeDocument/2006/relationships/image" Target="../media/image54.emf"/><Relationship Id="rId4" Type="http://schemas.openxmlformats.org/officeDocument/2006/relationships/diagramQuickStyle" Target="../diagrams/quickStyle14.xml"/><Relationship Id="rId9" Type="http://schemas.openxmlformats.org/officeDocument/2006/relationships/image" Target="../media/image53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diagramLayout" Target="../diagrams/layout15.xml"/><Relationship Id="rId7" Type="http://schemas.openxmlformats.org/officeDocument/2006/relationships/image" Target="../media/image55.emf"/><Relationship Id="rId12" Type="http://schemas.openxmlformats.org/officeDocument/2006/relationships/image" Target="../media/image60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5.xml"/><Relationship Id="rId11" Type="http://schemas.openxmlformats.org/officeDocument/2006/relationships/image" Target="../media/image59.png"/><Relationship Id="rId5" Type="http://schemas.openxmlformats.org/officeDocument/2006/relationships/diagramColors" Target="../diagrams/colors15.xml"/><Relationship Id="rId10" Type="http://schemas.openxmlformats.org/officeDocument/2006/relationships/image" Target="../media/image58.png"/><Relationship Id="rId4" Type="http://schemas.openxmlformats.org/officeDocument/2006/relationships/diagramQuickStyle" Target="../diagrams/quickStyle15.xml"/><Relationship Id="rId9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diagramLayout" Target="../diagrams/layout16.xml"/><Relationship Id="rId7" Type="http://schemas.openxmlformats.org/officeDocument/2006/relationships/image" Target="../media/image62.emf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64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3" Type="http://schemas.openxmlformats.org/officeDocument/2006/relationships/diagramLayout" Target="../diagrams/layout18.xml"/><Relationship Id="rId7" Type="http://schemas.openxmlformats.org/officeDocument/2006/relationships/image" Target="../media/image65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3" Type="http://schemas.openxmlformats.org/officeDocument/2006/relationships/diagramLayout" Target="../diagrams/layout19.xml"/><Relationship Id="rId7" Type="http://schemas.openxmlformats.org/officeDocument/2006/relationships/image" Target="../media/image67.emf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10" Type="http://schemas.openxmlformats.org/officeDocument/2006/relationships/image" Target="../media/image70.emf"/><Relationship Id="rId4" Type="http://schemas.openxmlformats.org/officeDocument/2006/relationships/diagramQuickStyle" Target="../diagrams/quickStyle19.xml"/><Relationship Id="rId9" Type="http://schemas.openxmlformats.org/officeDocument/2006/relationships/image" Target="../media/image69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7" Type="http://schemas.openxmlformats.org/officeDocument/2006/relationships/image" Target="../media/image71.pn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3" Type="http://schemas.openxmlformats.org/officeDocument/2006/relationships/diagramLayout" Target="../diagrams/layout21.xml"/><Relationship Id="rId7" Type="http://schemas.openxmlformats.org/officeDocument/2006/relationships/image" Target="../media/image72.emf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slideLayout" Target="../slideLayouts/slideLayout17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7" Type="http://schemas.openxmlformats.org/officeDocument/2006/relationships/image" Target="../media/image73.png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3" Type="http://schemas.openxmlformats.org/officeDocument/2006/relationships/diagramLayout" Target="../diagrams/layout23.xml"/><Relationship Id="rId7" Type="http://schemas.openxmlformats.org/officeDocument/2006/relationships/image" Target="../media/image74.pn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Relationship Id="rId9" Type="http://schemas.openxmlformats.org/officeDocument/2006/relationships/image" Target="../media/image76.emf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4.xml"/><Relationship Id="rId3" Type="http://schemas.openxmlformats.org/officeDocument/2006/relationships/slideLayout" Target="../slideLayouts/slideLayout12.xml"/><Relationship Id="rId7" Type="http://schemas.openxmlformats.org/officeDocument/2006/relationships/diagramColors" Target="../diagrams/colors24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diagramQuickStyle" Target="../diagrams/quickStyle24.xml"/><Relationship Id="rId11" Type="http://schemas.openxmlformats.org/officeDocument/2006/relationships/image" Target="../media/image78.emf"/><Relationship Id="rId5" Type="http://schemas.openxmlformats.org/officeDocument/2006/relationships/diagramLayout" Target="../diagrams/layout24.xml"/><Relationship Id="rId10" Type="http://schemas.openxmlformats.org/officeDocument/2006/relationships/image" Target="../media/image77.emf"/><Relationship Id="rId4" Type="http://schemas.openxmlformats.org/officeDocument/2006/relationships/diagramData" Target="../diagrams/data24.xml"/><Relationship Id="rId9" Type="http://schemas.openxmlformats.org/officeDocument/2006/relationships/image" Target="../media/image7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7" Type="http://schemas.openxmlformats.org/officeDocument/2006/relationships/image" Target="../media/image73.png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3" Type="http://schemas.openxmlformats.org/officeDocument/2006/relationships/diagramLayout" Target="../diagrams/layout26.xml"/><Relationship Id="rId7" Type="http://schemas.openxmlformats.org/officeDocument/2006/relationships/image" Target="../media/image79.png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Relationship Id="rId9" Type="http://schemas.openxmlformats.org/officeDocument/2006/relationships/image" Target="../media/image81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diagramLayout" Target="../diagrams/layout27.xml"/><Relationship Id="rId7" Type="http://schemas.openxmlformats.org/officeDocument/2006/relationships/image" Target="../media/image82.png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7.xml"/><Relationship Id="rId11" Type="http://schemas.openxmlformats.org/officeDocument/2006/relationships/image" Target="../media/image86.emf"/><Relationship Id="rId5" Type="http://schemas.openxmlformats.org/officeDocument/2006/relationships/diagramColors" Target="../diagrams/colors27.xml"/><Relationship Id="rId10" Type="http://schemas.openxmlformats.org/officeDocument/2006/relationships/image" Target="../media/image85.emf"/><Relationship Id="rId4" Type="http://schemas.openxmlformats.org/officeDocument/2006/relationships/diagramQuickStyle" Target="../diagrams/quickStyle27.xml"/><Relationship Id="rId9" Type="http://schemas.openxmlformats.org/officeDocument/2006/relationships/image" Target="../media/image84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3" Type="http://schemas.openxmlformats.org/officeDocument/2006/relationships/diagramLayout" Target="../diagrams/layout28.xml"/><Relationship Id="rId7" Type="http://schemas.openxmlformats.org/officeDocument/2006/relationships/image" Target="../media/image87.png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8.xml"/><Relationship Id="rId11" Type="http://schemas.openxmlformats.org/officeDocument/2006/relationships/image" Target="../media/image91.emf"/><Relationship Id="rId5" Type="http://schemas.openxmlformats.org/officeDocument/2006/relationships/diagramColors" Target="../diagrams/colors28.xml"/><Relationship Id="rId10" Type="http://schemas.openxmlformats.org/officeDocument/2006/relationships/image" Target="../media/image90.emf"/><Relationship Id="rId4" Type="http://schemas.openxmlformats.org/officeDocument/2006/relationships/diagramQuickStyle" Target="../diagrams/quickStyle28.xml"/><Relationship Id="rId9" Type="http://schemas.openxmlformats.org/officeDocument/2006/relationships/image" Target="../media/image89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3" Type="http://schemas.openxmlformats.org/officeDocument/2006/relationships/diagramLayout" Target="../diagrams/layout29.xml"/><Relationship Id="rId7" Type="http://schemas.openxmlformats.org/officeDocument/2006/relationships/image" Target="../media/image92.emf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Relationship Id="rId9" Type="http://schemas.openxmlformats.org/officeDocument/2006/relationships/image" Target="../media/image94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emf"/><Relationship Id="rId3" Type="http://schemas.openxmlformats.org/officeDocument/2006/relationships/diagramLayout" Target="../diagrams/layout30.xml"/><Relationship Id="rId7" Type="http://schemas.openxmlformats.org/officeDocument/2006/relationships/image" Target="../media/image95.emf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Relationship Id="rId9" Type="http://schemas.openxmlformats.org/officeDocument/2006/relationships/image" Target="../media/image97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2537618"/>
            <a:ext cx="213245" cy="17827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内容占位符 14"/>
          <p:cNvSpPr txBox="1"/>
          <p:nvPr/>
        </p:nvSpPr>
        <p:spPr>
          <a:xfrm>
            <a:off x="733425" y="2513965"/>
            <a:ext cx="6472555" cy="18065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500" dirty="0">
                <a:ea typeface="微软雅黑" panose="020B0503020204020204" charset="-122"/>
              </a:rPr>
              <a:t>基于</a:t>
            </a:r>
            <a:r>
              <a:rPr lang="en-US" altLang="zh-CN" sz="3500" dirty="0">
                <a:ea typeface="微软雅黑" panose="020B0503020204020204" charset="-122"/>
              </a:rPr>
              <a:t> Simulink </a:t>
            </a:r>
            <a:r>
              <a:rPr lang="zh-CN" altLang="en-US" sz="3500" dirty="0">
                <a:ea typeface="微软雅黑" panose="020B0503020204020204" charset="-122"/>
              </a:rPr>
              <a:t>的转速、电流</a:t>
            </a:r>
          </a:p>
          <a:p>
            <a:pPr algn="dist"/>
            <a:r>
              <a:rPr lang="zh-CN" altLang="en-US" sz="3500" dirty="0">
                <a:ea typeface="微软雅黑" panose="020B0503020204020204" charset="-122"/>
              </a:rPr>
              <a:t>双闭环直流调速系统的</a:t>
            </a:r>
          </a:p>
          <a:p>
            <a:pPr algn="ctr"/>
            <a:r>
              <a:rPr lang="zh-CN" altLang="en-US" sz="3500" dirty="0">
                <a:ea typeface="微软雅黑" panose="020B0503020204020204" charset="-122"/>
              </a:rPr>
              <a:t>建模与仿真</a:t>
            </a:r>
          </a:p>
        </p:txBody>
      </p:sp>
      <p:sp>
        <p:nvSpPr>
          <p:cNvPr id="7" name="内容占位符 14"/>
          <p:cNvSpPr txBox="1"/>
          <p:nvPr/>
        </p:nvSpPr>
        <p:spPr>
          <a:xfrm>
            <a:off x="660400" y="4613592"/>
            <a:ext cx="6472255" cy="25881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dirty="0">
                <a:ea typeface="微软雅黑" panose="020B0503020204020204" charset="-122"/>
              </a:rPr>
              <a:t>小组成员：</a:t>
            </a:r>
            <a:r>
              <a:rPr lang="en-US" altLang="zh-CN" sz="2000" dirty="0">
                <a:ea typeface="微软雅黑" panose="020B0503020204020204" charset="-122"/>
              </a:rPr>
              <a:t>2212067 </a:t>
            </a:r>
            <a:r>
              <a:rPr lang="zh-CN" altLang="en-US" sz="2000" dirty="0">
                <a:ea typeface="微软雅黑" panose="020B0503020204020204" charset="-122"/>
              </a:rPr>
              <a:t>姚力瑗</a:t>
            </a:r>
            <a:endParaRPr lang="en-US" altLang="zh-CN" sz="2000" dirty="0"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ea typeface="微软雅黑" panose="020B0503020204020204" charset="-122"/>
              </a:rPr>
              <a:t>	     2213864 </a:t>
            </a:r>
            <a:r>
              <a:rPr lang="zh-CN" altLang="en-US" sz="2000" dirty="0">
                <a:ea typeface="微软雅黑" panose="020B0503020204020204" charset="-122"/>
              </a:rPr>
              <a:t>刘浩刚</a:t>
            </a:r>
            <a:endParaRPr lang="en-US" altLang="zh-CN" sz="2000" dirty="0"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ea typeface="微软雅黑" panose="020B0503020204020204" charset="-122"/>
              </a:rPr>
              <a:t>日期：</a:t>
            </a:r>
            <a:r>
              <a:rPr lang="en-US" altLang="zh-CN" sz="2000">
                <a:ea typeface="微软雅黑" panose="020B0503020204020204" charset="-122"/>
              </a:rPr>
              <a:t>2024.12.4</a:t>
            </a:r>
            <a:endParaRPr lang="zh-CN" altLang="en-US" sz="2000" dirty="0"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1-文本框"/>
          <p:cNvSpPr txBox="1"/>
          <p:nvPr/>
        </p:nvSpPr>
        <p:spPr>
          <a:xfrm>
            <a:off x="5070475" y="1184275"/>
            <a:ext cx="4292600" cy="6629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 spc="0">
                <a:solidFill>
                  <a:srgbClr val="FFFFFF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+mn-cs"/>
                <a:sym typeface="阿里巴巴普惠体 R" panose="00020600040101010101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 dirty="0">
                <a:solidFill>
                  <a:schemeClr val="accent1"/>
                </a:solidFill>
                <a:ea typeface="微软雅黑" panose="020B0503020204020204" charset="-122"/>
              </a:rPr>
              <a:t>01</a:t>
            </a:r>
            <a:r>
              <a:rPr lang="zh-CN" altLang="en-US" sz="3600" b="1" dirty="0">
                <a:solidFill>
                  <a:schemeClr val="accent1"/>
                </a:solidFill>
                <a:ea typeface="微软雅黑" panose="020B0503020204020204" charset="-122"/>
              </a:rPr>
              <a:t>丨基本原理</a:t>
            </a:r>
          </a:p>
          <a:p>
            <a:r>
              <a:rPr lang="en-US" altLang="zh-CN" sz="3600" b="1" dirty="0">
                <a:solidFill>
                  <a:schemeClr val="accent1"/>
                </a:solidFill>
                <a:ea typeface="微软雅黑" panose="020B0503020204020204" charset="-122"/>
              </a:rPr>
              <a:t>   </a:t>
            </a:r>
            <a:endParaRPr lang="zh-CN" altLang="en-US" sz="3600" b="1" dirty="0">
              <a:solidFill>
                <a:schemeClr val="accent1"/>
              </a:solidFill>
              <a:ea typeface="微软雅黑" panose="020B0503020204020204" charset="-122"/>
            </a:endParaRPr>
          </a:p>
          <a:p>
            <a:r>
              <a:rPr lang="en-US" altLang="zh-CN" sz="3600" b="1" dirty="0">
                <a:solidFill>
                  <a:schemeClr val="accent1"/>
                </a:solidFill>
                <a:ea typeface="微软雅黑" panose="020B0503020204020204" charset="-122"/>
              </a:rPr>
              <a:t>   </a:t>
            </a:r>
          </a:p>
        </p:txBody>
      </p:sp>
      <p:sp>
        <p:nvSpPr>
          <p:cNvPr id="19" name="标题1-文本框"/>
          <p:cNvSpPr txBox="1"/>
          <p:nvPr/>
        </p:nvSpPr>
        <p:spPr>
          <a:xfrm>
            <a:off x="5070475" y="2769235"/>
            <a:ext cx="6750685" cy="5232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 spc="0">
                <a:solidFill>
                  <a:srgbClr val="FFFFFF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+mn-cs"/>
                <a:sym typeface="阿里巴巴普惠体 R" panose="00020600040101010101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 dirty="0">
                <a:solidFill>
                  <a:schemeClr val="accent1"/>
                </a:solidFill>
                <a:ea typeface="微软雅黑" panose="020B0503020204020204" charset="-122"/>
              </a:rPr>
              <a:t>02</a:t>
            </a:r>
            <a:r>
              <a:rPr lang="zh-CN" altLang="en-US" sz="3600" b="1" dirty="0">
                <a:solidFill>
                  <a:schemeClr val="accent1"/>
                </a:solidFill>
                <a:ea typeface="微软雅黑" panose="020B0503020204020204" charset="-122"/>
              </a:rPr>
              <a:t>丨理论建模</a:t>
            </a:r>
          </a:p>
        </p:txBody>
      </p:sp>
      <p:sp>
        <p:nvSpPr>
          <p:cNvPr id="20" name="标题1-文本框"/>
          <p:cNvSpPr txBox="1"/>
          <p:nvPr/>
        </p:nvSpPr>
        <p:spPr>
          <a:xfrm>
            <a:off x="5166179" y="4487555"/>
            <a:ext cx="5449500" cy="52322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 spc="0">
                <a:solidFill>
                  <a:srgbClr val="FFFFFF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+mn-cs"/>
                <a:sym typeface="阿里巴巴普惠体 R" panose="00020600040101010101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 dirty="0">
                <a:solidFill>
                  <a:schemeClr val="accent1"/>
                </a:solidFill>
                <a:ea typeface="微软雅黑" panose="020B0503020204020204" charset="-122"/>
              </a:rPr>
              <a:t>03</a:t>
            </a:r>
            <a:r>
              <a:rPr lang="zh-CN" altLang="en-US" sz="3600" b="1" dirty="0">
                <a:solidFill>
                  <a:schemeClr val="accent1"/>
                </a:solidFill>
                <a:ea typeface="微软雅黑" panose="020B0503020204020204" charset="-122"/>
              </a:rPr>
              <a:t>丨</a:t>
            </a:r>
            <a:r>
              <a:rPr lang="zh-CN" altLang="en-US" sz="3600" b="1" dirty="0">
                <a:solidFill>
                  <a:schemeClr val="accent1"/>
                </a:solidFill>
                <a:ea typeface="微软雅黑" panose="020B0503020204020204" charset="-122"/>
                <a:sym typeface="+mn-ea"/>
              </a:rPr>
              <a:t>仿真与结果分析</a:t>
            </a:r>
            <a:endParaRPr lang="zh-CN" altLang="en-US" sz="3600" b="1" dirty="0">
              <a:solidFill>
                <a:schemeClr val="accent1"/>
              </a:solidFill>
              <a:ea typeface="微软雅黑" panose="020B0503020204020204" charset="-122"/>
            </a:endParaRPr>
          </a:p>
          <a:p>
            <a:endParaRPr lang="zh-CN" altLang="en-US" sz="3600" b="1" dirty="0">
              <a:solidFill>
                <a:schemeClr val="accent1"/>
              </a:solidFill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51525" y="1847215"/>
            <a:ext cx="34220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7E0C6E"/>
                </a:solidFill>
              </a:rPr>
              <a:t>组成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7E0C6E"/>
                </a:solidFill>
              </a:rPr>
              <a:t>结构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7E0C6E"/>
                </a:solidFill>
              </a:rPr>
              <a:t>工程设计步骤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843905" y="3429000"/>
            <a:ext cx="44221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7E0C6E"/>
                </a:solidFill>
              </a:rPr>
              <a:t>电机参数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7E0C6E"/>
                </a:solidFill>
              </a:rPr>
              <a:t>电流调节器的设计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7E0C6E"/>
                </a:solidFill>
              </a:rPr>
              <a:t>转速调节器的设计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895975" y="5147310"/>
            <a:ext cx="34220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7E0C6E"/>
                </a:solidFill>
              </a:rPr>
              <a:t>电流环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7E0C6E"/>
                </a:solidFill>
              </a:rPr>
              <a:t>转速环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7E0C6E"/>
                </a:solidFill>
              </a:rPr>
              <a:t>抗扰分析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7E0C6E"/>
                </a:solidFill>
              </a:rPr>
              <a:t>跟踪信号分析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形 21" descr="书籍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1699400"/>
            <a:ext cx="914400" cy="914400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5638800" y="5666872"/>
            <a:ext cx="795948" cy="65258"/>
            <a:chOff x="5543550" y="5666872"/>
            <a:chExt cx="795948" cy="65258"/>
          </a:xfrm>
        </p:grpSpPr>
        <p:sp>
          <p:nvSpPr>
            <p:cNvPr id="10" name="圆角矩形 59"/>
            <p:cNvSpPr/>
            <p:nvPr/>
          </p:nvSpPr>
          <p:spPr>
            <a:xfrm>
              <a:off x="5543550" y="5666872"/>
              <a:ext cx="265316" cy="6525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368300" dir="5400000" algn="ctr" rotWithShape="0">
                <a:srgbClr val="FD4979">
                  <a:alpha val="4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ea typeface="微软雅黑" panose="020B0503020204020204" charset="-122"/>
              </a:endParaRPr>
            </a:p>
          </p:txBody>
        </p:sp>
        <p:sp>
          <p:nvSpPr>
            <p:cNvPr id="24" name="圆角矩形 59"/>
            <p:cNvSpPr/>
            <p:nvPr/>
          </p:nvSpPr>
          <p:spPr>
            <a:xfrm>
              <a:off x="5808866" y="5666872"/>
              <a:ext cx="265316" cy="6525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6000"/>
              </a:schemeClr>
            </a:solidFill>
            <a:ln>
              <a:noFill/>
            </a:ln>
            <a:effectLst>
              <a:outerShdw blurRad="368300" dir="5400000" algn="ctr" rotWithShape="0">
                <a:srgbClr val="FD4979">
                  <a:alpha val="4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ea typeface="微软雅黑" panose="020B0503020204020204" charset="-122"/>
              </a:endParaRPr>
            </a:p>
          </p:txBody>
        </p:sp>
        <p:sp>
          <p:nvSpPr>
            <p:cNvPr id="25" name="圆角矩形 59"/>
            <p:cNvSpPr/>
            <p:nvPr/>
          </p:nvSpPr>
          <p:spPr>
            <a:xfrm>
              <a:off x="6074182" y="5666872"/>
              <a:ext cx="265316" cy="6525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6000"/>
              </a:schemeClr>
            </a:solidFill>
            <a:ln>
              <a:noFill/>
            </a:ln>
            <a:effectLst>
              <a:outerShdw blurRad="368300" dir="5400000" algn="ctr" rotWithShape="0">
                <a:srgbClr val="FD4979">
                  <a:alpha val="4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4892607" y="3429000"/>
            <a:ext cx="2418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ea typeface="微软雅黑" panose="020B0503020204020204" charset="-122"/>
              </a:rPr>
              <a:t>Part 1</a:t>
            </a:r>
            <a:endParaRPr lang="zh-CN" altLang="en-US" sz="3600" b="1" dirty="0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514850" y="4408541"/>
            <a:ext cx="3162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1"/>
                </a:solidFill>
                <a:ea typeface="微软雅黑" panose="020B0503020204020204" charset="-122"/>
              </a:rPr>
              <a:t>基本原理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1.1</a:t>
            </a:r>
            <a:r>
              <a:rPr lang="zh-CN" altLang="en-US" sz="3200" b="1" dirty="0">
                <a:ea typeface="微软雅黑" panose="020B0503020204020204" charset="-122"/>
              </a:rPr>
              <a:t>组成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185035" y="4147820"/>
            <a:ext cx="79921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使转速和电流两个负反馈调节系统独立发挥作用，系统中设置了两个调节器分别控制转速和电流，并通过嵌套连接实现相互作用。在本系统中，转速调节器的输出作为电流调节器的输入，电流调节器的输出控制电力电子变换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UPE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，从而实现对直流电动机的控制，如图所示。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从闭环系统结构上看，电流环负反馈调节系统位于内环，转速环负反馈调节系统位于外环，形成了双闭环直流调速系统。</a:t>
            </a: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635" y="1641475"/>
            <a:ext cx="4183380" cy="2323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1.2</a:t>
            </a:r>
            <a:r>
              <a:rPr lang="zh-CN" altLang="en-US" sz="3200" b="1" dirty="0">
                <a:ea typeface="微软雅黑" panose="020B0503020204020204" charset="-122"/>
              </a:rPr>
              <a:t>结构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185035" y="4147820"/>
            <a:ext cx="79921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在最大电枢电流受限时，应充分利用直流电动机的过载能力，以实现较大加速度启动。当电动机达到稳态转速后，电流应迅速下降，确保输出转矩与负载转矩平衡，进入稳定运行。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为了获得良好的静态和动态性能，转速和电流调节器通常采用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调节器。双闭环直流调速系统的电路原理图如图所示，图中标出了调节器输入输出电压的实际极性，考虑了运算放大器的倒相作用。</a:t>
            </a:r>
          </a:p>
        </p:txBody>
      </p:sp>
      <p:pic>
        <p:nvPicPr>
          <p:cNvPr id="4" name="图片 2"/>
          <p:cNvPicPr/>
          <p:nvPr/>
        </p:nvPicPr>
        <p:blipFill>
          <a:blip r:embed="rId7"/>
          <a:stretch>
            <a:fillRect/>
          </a:stretch>
        </p:blipFill>
        <p:spPr>
          <a:xfrm>
            <a:off x="3368675" y="1464310"/>
            <a:ext cx="5454015" cy="268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1.3</a:t>
            </a:r>
            <a:r>
              <a:rPr lang="zh-CN" altLang="en-US" sz="3200" b="1" dirty="0">
                <a:ea typeface="微软雅黑" panose="020B0503020204020204" charset="-122"/>
              </a:rPr>
              <a:t>工程设计步骤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185035" y="4147820"/>
            <a:ext cx="79921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双闭环调速系统的动态校正按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先内环后外环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的顺序进行：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从电流环开始，通过对已知系统的固有特性进行变换和近似，简化调节器结构。</a:t>
            </a:r>
          </a:p>
          <a:p>
            <a:pPr indent="45720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根据控制对象选择电流调节器类型，并根据动态性能指标确定其参数。</a:t>
            </a:r>
          </a:p>
          <a:p>
            <a:pPr indent="45720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在动态过程中，外环对内环的影响可以忽略，内环是外环的一部分。电流环设计完成后，将其等效为转速环（外环）的一个环节，随后设计转速环。</a:t>
            </a:r>
          </a:p>
        </p:txBody>
      </p:sp>
      <p:pic>
        <p:nvPicPr>
          <p:cNvPr id="3" name="图片 3"/>
          <p:cNvPicPr/>
          <p:nvPr/>
        </p:nvPicPr>
        <p:blipFill>
          <a:blip r:embed="rId7"/>
          <a:stretch>
            <a:fillRect/>
          </a:stretch>
        </p:blipFill>
        <p:spPr>
          <a:xfrm>
            <a:off x="2730500" y="1758950"/>
            <a:ext cx="6900545" cy="2322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形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1699400"/>
            <a:ext cx="914400" cy="91440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5697855" y="5666872"/>
            <a:ext cx="795948" cy="65258"/>
            <a:chOff x="5543550" y="5666872"/>
            <a:chExt cx="795948" cy="65258"/>
          </a:xfrm>
        </p:grpSpPr>
        <p:sp>
          <p:nvSpPr>
            <p:cNvPr id="15" name="圆角矩形 59"/>
            <p:cNvSpPr/>
            <p:nvPr/>
          </p:nvSpPr>
          <p:spPr>
            <a:xfrm>
              <a:off x="5543550" y="5666872"/>
              <a:ext cx="265316" cy="6525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368300" dir="5400000" algn="ctr" rotWithShape="0">
                <a:srgbClr val="FD4979">
                  <a:alpha val="4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圆角矩形 59"/>
            <p:cNvSpPr/>
            <p:nvPr/>
          </p:nvSpPr>
          <p:spPr>
            <a:xfrm>
              <a:off x="5808866" y="5666872"/>
              <a:ext cx="265316" cy="6525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368300" dir="5400000" algn="ctr" rotWithShape="0">
                <a:srgbClr val="FD4979">
                  <a:alpha val="4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9" name="圆角矩形 59"/>
            <p:cNvSpPr/>
            <p:nvPr/>
          </p:nvSpPr>
          <p:spPr>
            <a:xfrm>
              <a:off x="6074182" y="5666872"/>
              <a:ext cx="265316" cy="6525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6000"/>
              </a:schemeClr>
            </a:solidFill>
            <a:ln>
              <a:noFill/>
            </a:ln>
            <a:effectLst>
              <a:outerShdw blurRad="368300" dir="5400000" algn="ctr" rotWithShape="0">
                <a:srgbClr val="FD4979">
                  <a:alpha val="4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4892607" y="3429000"/>
            <a:ext cx="2418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ea typeface="微软雅黑" panose="020B0503020204020204" charset="-122"/>
              </a:rPr>
              <a:t>Part 2</a:t>
            </a:r>
            <a:endParaRPr lang="zh-CN" altLang="en-US" sz="3600" b="1" dirty="0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474665" y="4383687"/>
            <a:ext cx="34630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3600" b="1" dirty="0">
                <a:solidFill>
                  <a:schemeClr val="accent1"/>
                </a:solidFill>
                <a:ea typeface="微软雅黑" panose="020B0503020204020204" charset="-122"/>
                <a:sym typeface="+mn-ea"/>
              </a:rPr>
              <a:t>理论建模</a:t>
            </a:r>
            <a:endParaRPr lang="zh-CN" sz="3600" b="1" dirty="0">
              <a:solidFill>
                <a:schemeClr val="accent1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2130" y="2036445"/>
            <a:ext cx="2563495" cy="2195830"/>
          </a:xfrm>
        </p:spPr>
        <p:txBody>
          <a:bodyPr anchor="b" anchorCtr="0"/>
          <a:lstStyle/>
          <a:p>
            <a:pPr algn="ctr"/>
            <a:r>
              <a:rPr lang="zh-CN" sz="3600" b="1" dirty="0">
                <a:solidFill>
                  <a:schemeClr val="accent1"/>
                </a:solidFill>
                <a:latin typeface="+mn-lt"/>
                <a:ea typeface="微软雅黑" panose="020B0503020204020204" charset="-122"/>
                <a:cs typeface="+mn-cs"/>
              </a:rPr>
              <a:t>理论建模</a:t>
            </a:r>
            <a:endParaRPr lang="zh-CN" altLang="en-US" sz="3600" b="1" dirty="0">
              <a:solidFill>
                <a:schemeClr val="accent1"/>
              </a:solidFill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754380" y="4300855"/>
            <a:ext cx="2157095" cy="1250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1804670" y="945198"/>
            <a:ext cx="8893175" cy="4967605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95650" y="1519555"/>
            <a:ext cx="7992110" cy="3230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2.1</a:t>
            </a:r>
            <a:r>
              <a:rPr lang="zh-CN" altLang="en-US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电机参数</a:t>
            </a:r>
          </a:p>
          <a:p>
            <a:pPr indent="0">
              <a:buFont typeface="Wingdings" panose="05000000000000000000" charset="0"/>
              <a:buNone/>
            </a:pPr>
            <a:endParaRPr lang="zh-CN" altLang="en-US" sz="2000" b="1" kern="1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2.2</a:t>
            </a:r>
            <a:r>
              <a:rPr lang="zh-CN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电流调节器的设计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2.2.1</a:t>
            </a: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确定时间常数</a:t>
            </a:r>
          </a:p>
          <a:p>
            <a:pPr indent="0">
              <a:buFont typeface="Wingdings" panose="05000000000000000000" charset="0"/>
              <a:buNone/>
            </a:pP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2.2.2</a:t>
            </a: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电流调节器的结构与参数选择</a:t>
            </a:r>
          </a:p>
          <a:p>
            <a:pPr indent="0">
              <a:buFont typeface="Wingdings" panose="05000000000000000000" charset="0"/>
              <a:buNone/>
            </a:pP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、按照典型</a:t>
            </a:r>
            <a:r>
              <a:rPr lang="en-US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Ⅰ</a:t>
            </a: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型系统校正</a:t>
            </a:r>
          </a:p>
          <a:p>
            <a:pPr indent="0">
              <a:buFont typeface="Wingdings" panose="05000000000000000000" charset="0"/>
              <a:buNone/>
            </a:pP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   2</a:t>
            </a: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、按照典型</a:t>
            </a:r>
            <a:r>
              <a:rPr lang="en-US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Ⅱ</a:t>
            </a: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型系统校正</a:t>
            </a:r>
          </a:p>
          <a:p>
            <a:pPr indent="0">
              <a:buFont typeface="Wingdings" panose="05000000000000000000" charset="0"/>
              <a:buNone/>
            </a:pPr>
            <a:endParaRPr lang="zh-CN" altLang="en-US" kern="1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2.3</a:t>
            </a:r>
            <a:r>
              <a:rPr lang="zh-CN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转速调节器的设计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2.3.1</a:t>
            </a: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确定时间常数</a:t>
            </a:r>
            <a:endParaRPr lang="zh-CN" altLang="en-US" kern="1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2.3.2</a:t>
            </a: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转速调节器的结构与参数选择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2.1</a:t>
            </a:r>
            <a:r>
              <a:rPr lang="zh-CN" altLang="en-US" sz="3200" b="1" dirty="0">
                <a:ea typeface="微软雅黑" panose="020B0503020204020204" charset="-122"/>
              </a:rPr>
              <a:t>电机参数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461135" y="1563370"/>
            <a:ext cx="502094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已知：</a:t>
            </a:r>
          </a:p>
          <a:p>
            <a:pPr lvl="1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反电动势系数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C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0.1459 Vmin/r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电磁时间常数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T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= 0.0144 s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机电时间常数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T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0.18 s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电阻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R  = 2 Ω</a:t>
            </a: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5825" y="2961640"/>
            <a:ext cx="7880350" cy="31140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6164580" y="1840865"/>
            <a:ext cx="50209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PWM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变换器开关频率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f   = 8k Hz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滞后时间常数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T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0.000125 s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放大增益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K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107.5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转速反馈系数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α  = 0.002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495" y="3808730"/>
            <a:ext cx="3674745" cy="85661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23595" y="135255"/>
            <a:ext cx="8305800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2.2</a:t>
            </a:r>
            <a:r>
              <a:rPr lang="zh-CN" altLang="en-US" sz="3200" b="1" dirty="0">
                <a:ea typeface="微软雅黑" panose="020B0503020204020204" charset="-122"/>
              </a:rPr>
              <a:t>电流调节器的设计</a:t>
            </a:r>
            <a:r>
              <a:rPr lang="en-US" altLang="zh-CN" sz="3200" b="1" dirty="0">
                <a:ea typeface="微软雅黑" panose="020B0503020204020204" charset="-122"/>
              </a:rPr>
              <a:t> —— </a:t>
            </a:r>
            <a:r>
              <a:rPr lang="zh-CN" altLang="en-US" sz="3200" b="1" dirty="0">
                <a:ea typeface="微软雅黑" panose="020B0503020204020204" charset="-122"/>
              </a:rPr>
              <a:t>典型</a:t>
            </a:r>
            <a:r>
              <a:rPr lang="en-US" altLang="zh-CN" sz="3200" b="1" dirty="0">
                <a:ea typeface="微软雅黑" panose="020B0503020204020204" charset="-122"/>
              </a:rPr>
              <a:t>I</a:t>
            </a:r>
            <a:r>
              <a:rPr lang="zh-CN" altLang="en-US" sz="3200" b="1" dirty="0">
                <a:ea typeface="微软雅黑" panose="020B0503020204020204" charset="-122"/>
              </a:rPr>
              <a:t>型系统校正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461135" y="1563370"/>
            <a:ext cx="7992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电流环简化：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1135" y="1931670"/>
            <a:ext cx="4069080" cy="133413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5883275" y="3429000"/>
            <a:ext cx="7992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ACR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(S) = 		PI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调节器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2940" y="3324860"/>
            <a:ext cx="1095375" cy="6191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764530" y="4075430"/>
            <a:ext cx="7992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开环传递函数：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764530" y="4677410"/>
            <a:ext cx="7992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为提高快速性，选取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τ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T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0.0144 s</a:t>
            </a:r>
          </a:p>
        </p:txBody>
      </p:sp>
      <p:pic>
        <p:nvPicPr>
          <p:cNvPr id="2" name="图片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90040" y="3429000"/>
            <a:ext cx="3900805" cy="963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0040" y="4677410"/>
            <a:ext cx="3900805" cy="1173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595" y="135255"/>
            <a:ext cx="8305800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2.2</a:t>
            </a:r>
            <a:r>
              <a:rPr lang="zh-CN" altLang="en-US" sz="3200" b="1" dirty="0">
                <a:ea typeface="微软雅黑" panose="020B0503020204020204" charset="-122"/>
              </a:rPr>
              <a:t>电流调节器的设计</a:t>
            </a:r>
            <a:r>
              <a:rPr lang="en-US" altLang="zh-CN" sz="3200" b="1" dirty="0">
                <a:ea typeface="微软雅黑" panose="020B0503020204020204" charset="-122"/>
              </a:rPr>
              <a:t> —— </a:t>
            </a:r>
            <a:r>
              <a:rPr lang="zh-CN" altLang="en-US" sz="3200" b="1" dirty="0">
                <a:ea typeface="微软雅黑" panose="020B0503020204020204" charset="-122"/>
              </a:rPr>
              <a:t>典型</a:t>
            </a:r>
            <a:r>
              <a:rPr lang="en-US" altLang="zh-CN" sz="3200" b="1" dirty="0">
                <a:ea typeface="微软雅黑" panose="020B0503020204020204" charset="-122"/>
              </a:rPr>
              <a:t>I</a:t>
            </a:r>
            <a:r>
              <a:rPr lang="zh-CN" altLang="en-US" sz="3200" b="1" dirty="0">
                <a:ea typeface="微软雅黑" panose="020B0503020204020204" charset="-122"/>
              </a:rPr>
              <a:t>型系统校正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461135" y="1563370"/>
            <a:ext cx="599122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参数的确定：</a:t>
            </a:r>
          </a:p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电流滤波时间常数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T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oi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0.0002 s,	(1~2)T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</a:p>
          <a:p>
            <a:pPr lvl="1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T∑i = Ts+ Toi=0.000125s+0.0002s=0.000325s</a:t>
            </a:r>
          </a:p>
          <a:p>
            <a:pPr lvl="1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接下来通过具体选择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来得出参数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，根据截止频率和相角裕度相关式得出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值的抉择会带来快速性和稳定性之间的矛盾，即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值越大，系统响应越快，但越不稳定。所以应该根据工艺具体需求进行选择。</a:t>
            </a:r>
          </a:p>
          <a:p>
            <a:pPr lvl="1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为对比不同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K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</a:t>
            </a:r>
            <a:r>
              <a:rPr lang="zh-CN" altLang="en-US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∑i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仿真的效果</a:t>
            </a:r>
          </a:p>
          <a:p>
            <a:pPr lvl="1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选取K</a:t>
            </a:r>
            <a:r>
              <a:rPr lang="zh-CN" altLang="en-US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</a:t>
            </a:r>
            <a:r>
              <a:rPr lang="zh-CN" altLang="en-US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∑i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 0.25/0.5/1.0 三组数据进行仿真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870" y="1413510"/>
            <a:ext cx="3011170" cy="46697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595" y="135255"/>
            <a:ext cx="8305800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2.2</a:t>
            </a:r>
            <a:r>
              <a:rPr lang="zh-CN" altLang="en-US" sz="3200" b="1" dirty="0">
                <a:ea typeface="微软雅黑" panose="020B0503020204020204" charset="-122"/>
              </a:rPr>
              <a:t>电流调节器的设计</a:t>
            </a:r>
            <a:r>
              <a:rPr lang="en-US" altLang="zh-CN" sz="3200" b="1" dirty="0">
                <a:ea typeface="微软雅黑" panose="020B0503020204020204" charset="-122"/>
              </a:rPr>
              <a:t> —— </a:t>
            </a:r>
            <a:r>
              <a:rPr lang="zh-CN" altLang="en-US" sz="3200" b="1" dirty="0">
                <a:ea typeface="微软雅黑" panose="020B0503020204020204" charset="-122"/>
              </a:rPr>
              <a:t>典型</a:t>
            </a:r>
            <a:r>
              <a:rPr lang="en-US" altLang="zh-CN" sz="3200" b="1" dirty="0">
                <a:ea typeface="微软雅黑" panose="020B0503020204020204" charset="-122"/>
              </a:rPr>
              <a:t>II</a:t>
            </a:r>
            <a:r>
              <a:rPr lang="zh-CN" altLang="en-US" sz="3200" b="1" dirty="0">
                <a:ea typeface="微软雅黑" panose="020B0503020204020204" charset="-122"/>
              </a:rPr>
              <a:t>型系统校正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461135" y="1563370"/>
            <a:ext cx="7992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电流环简化：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1135" y="1931670"/>
            <a:ext cx="4936490" cy="16186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组合 2"/>
          <p:cNvGrpSpPr/>
          <p:nvPr/>
        </p:nvGrpSpPr>
        <p:grpSpPr>
          <a:xfrm>
            <a:off x="1480185" y="4057015"/>
            <a:ext cx="4121150" cy="855980"/>
            <a:chOff x="2301" y="6388"/>
            <a:chExt cx="6490" cy="134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8"/>
            <a:srcRect r="73855"/>
            <a:stretch>
              <a:fillRect/>
            </a:stretch>
          </p:blipFill>
          <p:spPr>
            <a:xfrm>
              <a:off x="5002" y="6388"/>
              <a:ext cx="1513" cy="1349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2301" y="6791"/>
              <a:ext cx="259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开环传递函数：</a:t>
              </a:r>
            </a:p>
          </p:txBody>
        </p:sp>
        <p:pic>
          <p:nvPicPr>
            <p:cNvPr id="32" name="图片 2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617" y="6677"/>
              <a:ext cx="2175" cy="9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" name="组合 15"/>
          <p:cNvGrpSpPr/>
          <p:nvPr/>
        </p:nvGrpSpPr>
        <p:grpSpPr>
          <a:xfrm>
            <a:off x="1461135" y="3550285"/>
            <a:ext cx="7992110" cy="618490"/>
            <a:chOff x="2301" y="5591"/>
            <a:chExt cx="12586" cy="974"/>
          </a:xfrm>
        </p:grpSpPr>
        <p:sp>
          <p:nvSpPr>
            <p:cNvPr id="8" name="文本框 7"/>
            <p:cNvSpPr txBox="1"/>
            <p:nvPr/>
          </p:nvSpPr>
          <p:spPr>
            <a:xfrm>
              <a:off x="2301" y="5808"/>
              <a:ext cx="1258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</a:t>
              </a:r>
              <a:r>
                <a:rPr lang="en-US" altLang="zh-CN" baseline="-25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ACR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(S) =		PI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调节器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267" y="5591"/>
              <a:ext cx="1725" cy="975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7625" y="2062480"/>
            <a:ext cx="4591050" cy="117157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480820" y="5078730"/>
            <a:ext cx="1650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闭环传递函数：</a:t>
            </a:r>
          </a:p>
        </p:txBody>
      </p:sp>
      <p:pic>
        <p:nvPicPr>
          <p:cNvPr id="39" name="图片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50895" y="4965700"/>
            <a:ext cx="549021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595" y="135255"/>
            <a:ext cx="8305800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2.2</a:t>
            </a:r>
            <a:r>
              <a:rPr lang="zh-CN" altLang="en-US" sz="3200" b="1" dirty="0">
                <a:ea typeface="微软雅黑" panose="020B0503020204020204" charset="-122"/>
              </a:rPr>
              <a:t>电流调节器的设计</a:t>
            </a:r>
            <a:r>
              <a:rPr lang="en-US" altLang="zh-CN" sz="3200" b="1" dirty="0">
                <a:ea typeface="微软雅黑" panose="020B0503020204020204" charset="-122"/>
              </a:rPr>
              <a:t> —— </a:t>
            </a:r>
            <a:r>
              <a:rPr lang="zh-CN" altLang="en-US" sz="3200" b="1" dirty="0">
                <a:ea typeface="微软雅黑" panose="020B0503020204020204" charset="-122"/>
              </a:rPr>
              <a:t>典型</a:t>
            </a:r>
            <a:r>
              <a:rPr lang="en-US" altLang="zh-CN" sz="3200" b="1" dirty="0">
                <a:ea typeface="微软雅黑" panose="020B0503020204020204" charset="-122"/>
              </a:rPr>
              <a:t>II</a:t>
            </a:r>
            <a:r>
              <a:rPr lang="zh-CN" altLang="en-US" sz="3200" b="1" dirty="0">
                <a:ea typeface="微软雅黑" panose="020B0503020204020204" charset="-122"/>
              </a:rPr>
              <a:t>型系统校正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461135" y="1563370"/>
            <a:ext cx="7992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参数的确定：</a:t>
            </a:r>
          </a:p>
        </p:txBody>
      </p:sp>
      <p:pic>
        <p:nvPicPr>
          <p:cNvPr id="34" name="图片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3265" y="1931670"/>
            <a:ext cx="1107440" cy="440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图片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1395" y="1857375"/>
            <a:ext cx="1784350" cy="6356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文本框 16"/>
          <p:cNvSpPr txBox="1"/>
          <p:nvPr/>
        </p:nvSpPr>
        <p:spPr>
          <a:xfrm>
            <a:off x="1853565" y="2417445"/>
            <a:ext cx="85680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无特殊要求时，一般选择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h = 5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，但查表得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h=5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时电流超调量达到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37.6%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，不能满足电流环对跟随性能指标的要求。在给定之后加入低通滤波环节可抑制超调。</a:t>
            </a: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电流环小时间常数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T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∑i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T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T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oi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0.000325 s </a:t>
            </a: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电流环输入滤波时间常数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T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4T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∑i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 0.0013s</a:t>
            </a: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为对比不同滤波常数的差别，选取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T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/ T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∑i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 0 ~ 6</a:t>
            </a:r>
          </a:p>
        </p:txBody>
      </p:sp>
      <p:pic>
        <p:nvPicPr>
          <p:cNvPr id="37" name="图片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8035" y="3815080"/>
            <a:ext cx="5027295" cy="2166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图片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1135" y="3938905"/>
            <a:ext cx="4406900" cy="2018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595" y="135255"/>
            <a:ext cx="8305800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2.3</a:t>
            </a:r>
            <a:r>
              <a:rPr lang="zh-CN" altLang="en-US" sz="3200" b="1" dirty="0">
                <a:ea typeface="微软雅黑" panose="020B0503020204020204" charset="-122"/>
              </a:rPr>
              <a:t>转速调节器的设计</a:t>
            </a:r>
            <a:r>
              <a:rPr lang="en-US" altLang="zh-CN" sz="3200" b="1" dirty="0">
                <a:ea typeface="微软雅黑" panose="020B0503020204020204" charset="-122"/>
              </a:rPr>
              <a:t> —— </a:t>
            </a:r>
            <a:r>
              <a:rPr lang="zh-CN" altLang="en-US" sz="3200" b="1" dirty="0">
                <a:ea typeface="微软雅黑" panose="020B0503020204020204" charset="-122"/>
              </a:rPr>
              <a:t>典型</a:t>
            </a:r>
            <a:r>
              <a:rPr lang="en-US" altLang="zh-CN" sz="3200" b="1" dirty="0">
                <a:ea typeface="微软雅黑" panose="020B0503020204020204" charset="-122"/>
              </a:rPr>
              <a:t>II</a:t>
            </a:r>
            <a:r>
              <a:rPr lang="zh-CN" altLang="en-US" sz="3200" b="1" dirty="0">
                <a:ea typeface="微软雅黑" panose="020B0503020204020204" charset="-122"/>
              </a:rPr>
              <a:t>型系统校正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61135" y="1563370"/>
            <a:ext cx="79921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电流环简化：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电流环选取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型校正结果，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选取K</a:t>
            </a:r>
            <a:r>
              <a:rPr lang="zh-CN" altLang="en-US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</a:t>
            </a:r>
            <a:r>
              <a:rPr lang="zh-CN" altLang="en-US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∑i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 0.5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，等效传递函数为：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557780" y="3260725"/>
            <a:ext cx="7992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		PI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调节器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1461135" y="3550285"/>
            <a:ext cx="8437245" cy="1510665"/>
            <a:chOff x="2301" y="6384"/>
            <a:chExt cx="13287" cy="2379"/>
          </a:xfrm>
        </p:grpSpPr>
        <p:grpSp>
          <p:nvGrpSpPr>
            <p:cNvPr id="21" name="组合 20"/>
            <p:cNvGrpSpPr/>
            <p:nvPr/>
          </p:nvGrpSpPr>
          <p:grpSpPr>
            <a:xfrm>
              <a:off x="2301" y="6384"/>
              <a:ext cx="11068" cy="1306"/>
              <a:chOff x="2301" y="6384"/>
              <a:chExt cx="11068" cy="1306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2301" y="6791"/>
                <a:ext cx="1106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开环传递函数：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						   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又：</a:t>
                </a:r>
              </a:p>
            </p:txBody>
          </p:sp>
          <p:pic>
            <p:nvPicPr>
              <p:cNvPr id="19" name="图片 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885" y="6384"/>
                <a:ext cx="7839" cy="13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2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64" y="6660"/>
              <a:ext cx="2125" cy="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文本框 22"/>
            <p:cNvSpPr txBox="1"/>
            <p:nvPr/>
          </p:nvSpPr>
          <p:spPr>
            <a:xfrm>
              <a:off x="4659" y="7905"/>
              <a:ext cx="111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所以：</a:t>
              </a:r>
            </a:p>
          </p:txBody>
        </p:sp>
        <p:pic>
          <p:nvPicPr>
            <p:cNvPr id="24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77" y="7719"/>
              <a:ext cx="2984" cy="10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365" y="2197100"/>
            <a:ext cx="1162050" cy="52832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2030095" y="2296795"/>
            <a:ext cx="7992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ACR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(S) = 	      = 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8505" y="2159000"/>
            <a:ext cx="1095375" cy="619125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1461135" y="2780665"/>
            <a:ext cx="7992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转速环设计：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0180" y="2359025"/>
            <a:ext cx="4076700" cy="1228725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461135" y="5037455"/>
            <a:ext cx="46342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转速滤波时间常数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T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on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0.04 s,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转速环小时间常数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T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∑n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T + T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on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0.046 s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14515" y="5063490"/>
            <a:ext cx="46342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无特殊要求时，一般选择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h = 5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计算得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τ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=0.20325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=4.85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8025" y="3234055"/>
            <a:ext cx="6441440" cy="4889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51610" y="5692775"/>
            <a:ext cx="9088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同时我们将对比转速环有无输入滤波的仿真效果，突出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型系统输入滤波的重要性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2130" y="2036445"/>
            <a:ext cx="2563495" cy="2195830"/>
          </a:xfrm>
        </p:spPr>
        <p:txBody>
          <a:bodyPr anchor="b" anchorCtr="0"/>
          <a:lstStyle/>
          <a:p>
            <a:pPr algn="ctr"/>
            <a:r>
              <a:rPr lang="zh-CN" sz="3600" b="1" dirty="0">
                <a:solidFill>
                  <a:schemeClr val="accent1"/>
                </a:solidFill>
                <a:latin typeface="+mn-lt"/>
                <a:ea typeface="微软雅黑" panose="020B0503020204020204" charset="-122"/>
                <a:cs typeface="+mn-cs"/>
              </a:rPr>
              <a:t>理论建模</a:t>
            </a:r>
            <a:endParaRPr lang="zh-CN" altLang="en-US" sz="3600" b="1" dirty="0">
              <a:solidFill>
                <a:schemeClr val="accent1"/>
              </a:solidFill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754380" y="4300855"/>
            <a:ext cx="2157095" cy="1250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1804670" y="945198"/>
            <a:ext cx="8893175" cy="4967605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95650" y="1321435"/>
            <a:ext cx="7992110" cy="4215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2.1</a:t>
            </a:r>
            <a:r>
              <a:rPr lang="zh-CN" altLang="en-US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电机参数</a:t>
            </a:r>
          </a:p>
          <a:p>
            <a:pPr indent="0">
              <a:buFont typeface="Wingdings" panose="05000000000000000000" charset="0"/>
              <a:buNone/>
            </a:pPr>
            <a:endParaRPr lang="zh-CN" altLang="en-US" sz="2000" b="1" kern="1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2.2</a:t>
            </a:r>
            <a:r>
              <a:rPr lang="zh-CN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电流调节器的设计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2.2.1</a:t>
            </a: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确定时间常数</a:t>
            </a:r>
          </a:p>
          <a:p>
            <a:pPr indent="0">
              <a:buFont typeface="Wingdings" panose="05000000000000000000" charset="0"/>
              <a:buNone/>
            </a:pP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2.2.2</a:t>
            </a: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电流调节器的结构与参数选择</a:t>
            </a:r>
          </a:p>
          <a:p>
            <a:pPr indent="0">
              <a:buFont typeface="Wingdings" panose="05000000000000000000" charset="0"/>
              <a:buNone/>
            </a:pP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、按照典型</a:t>
            </a:r>
            <a:r>
              <a:rPr lang="en-US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Ⅰ</a:t>
            </a: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型系统校正</a:t>
            </a:r>
          </a:p>
          <a:p>
            <a:pPr indent="0">
              <a:buFont typeface="Wingdings" panose="05000000000000000000" charset="0"/>
              <a:buNone/>
            </a:pP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                      a.</a:t>
            </a: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电流环的简化</a:t>
            </a:r>
          </a:p>
          <a:p>
            <a:pPr indent="0">
              <a:buFont typeface="Wingdings" panose="05000000000000000000" charset="0"/>
              <a:buNone/>
            </a:pP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                      b.</a:t>
            </a: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电流调节器的参数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    2</a:t>
            </a: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、按照典型</a:t>
            </a:r>
            <a:r>
              <a:rPr lang="en-US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Ⅱ</a:t>
            </a: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型系统校正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                       </a:t>
            </a:r>
            <a:r>
              <a:rPr lang="en-US" altLang="zh-CN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a.</a:t>
            </a: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电流环的简化</a:t>
            </a:r>
            <a:endParaRPr lang="zh-CN" altLang="en-US" sz="1600" kern="1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                      b.</a:t>
            </a: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电流调节器的参数</a:t>
            </a:r>
            <a:endParaRPr lang="zh-CN" altLang="en-US" kern="1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kern="1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2.3</a:t>
            </a:r>
            <a:r>
              <a:rPr lang="zh-CN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转速调节器的设计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2.3.1</a:t>
            </a: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确定时间常数</a:t>
            </a:r>
            <a:endParaRPr lang="zh-CN" altLang="en-US" kern="1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2.3.2</a:t>
            </a: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转速调节器的结构与参数选择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形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1699400"/>
            <a:ext cx="914400" cy="91440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5683250" y="5666872"/>
            <a:ext cx="795948" cy="65258"/>
            <a:chOff x="5543550" y="5666872"/>
            <a:chExt cx="795948" cy="65258"/>
          </a:xfrm>
        </p:grpSpPr>
        <p:sp>
          <p:nvSpPr>
            <p:cNvPr id="15" name="圆角矩形 59"/>
            <p:cNvSpPr/>
            <p:nvPr/>
          </p:nvSpPr>
          <p:spPr>
            <a:xfrm>
              <a:off x="5543550" y="5666872"/>
              <a:ext cx="265316" cy="6525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368300" dir="5400000" algn="ctr" rotWithShape="0">
                <a:srgbClr val="FD4979">
                  <a:alpha val="4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圆角矩形 59"/>
            <p:cNvSpPr/>
            <p:nvPr/>
          </p:nvSpPr>
          <p:spPr>
            <a:xfrm>
              <a:off x="5808866" y="5666872"/>
              <a:ext cx="265316" cy="6525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368300" dir="5400000" algn="ctr" rotWithShape="0">
                <a:srgbClr val="FD4979">
                  <a:alpha val="4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9" name="圆角矩形 59"/>
            <p:cNvSpPr/>
            <p:nvPr/>
          </p:nvSpPr>
          <p:spPr>
            <a:xfrm>
              <a:off x="6074182" y="5666872"/>
              <a:ext cx="265316" cy="6525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368300" dir="5400000" algn="ctr" rotWithShape="0">
                <a:srgbClr val="FD4979">
                  <a:alpha val="4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4892607" y="3429000"/>
            <a:ext cx="2418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ea typeface="微软雅黑" panose="020B0503020204020204" charset="-122"/>
              </a:rPr>
              <a:t>Part 3</a:t>
            </a:r>
            <a:endParaRPr lang="zh-CN" altLang="en-US" sz="3600" b="1" dirty="0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14850" y="4408541"/>
            <a:ext cx="31623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3600" b="1" dirty="0">
                <a:solidFill>
                  <a:schemeClr val="accent1"/>
                </a:solidFill>
                <a:ea typeface="微软雅黑" panose="020B0503020204020204" charset="-122"/>
                <a:sym typeface="+mn-ea"/>
              </a:rPr>
              <a:t>仿真与</a:t>
            </a:r>
          </a:p>
          <a:p>
            <a:pPr algn="ctr"/>
            <a:r>
              <a:rPr lang="zh-CN" sz="3600" b="1" dirty="0">
                <a:solidFill>
                  <a:schemeClr val="accent1"/>
                </a:solidFill>
                <a:ea typeface="微软雅黑" panose="020B0503020204020204" charset="-122"/>
                <a:sym typeface="+mn-ea"/>
              </a:rPr>
              <a:t>结果分析</a:t>
            </a:r>
            <a:endParaRPr lang="zh-CN" sz="3600" b="1" dirty="0">
              <a:solidFill>
                <a:schemeClr val="accent1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2130" y="2036445"/>
            <a:ext cx="2563495" cy="2195830"/>
          </a:xfrm>
        </p:spPr>
        <p:txBody>
          <a:bodyPr anchor="b" anchorCtr="0"/>
          <a:lstStyle/>
          <a:p>
            <a:pPr algn="ctr"/>
            <a:r>
              <a:rPr lang="zh-CN" sz="3600" b="1" dirty="0">
                <a:solidFill>
                  <a:schemeClr val="accent1"/>
                </a:solidFill>
                <a:latin typeface="+mn-lt"/>
                <a:ea typeface="微软雅黑" panose="020B0503020204020204" charset="-122"/>
                <a:cs typeface="+mn-cs"/>
              </a:rPr>
              <a:t>仿真</a:t>
            </a:r>
            <a:br>
              <a:rPr lang="zh-CN" sz="3600" b="1" dirty="0">
                <a:solidFill>
                  <a:schemeClr val="accent1"/>
                </a:solidFill>
                <a:latin typeface="+mn-lt"/>
                <a:ea typeface="微软雅黑" panose="020B0503020204020204" charset="-122"/>
                <a:cs typeface="+mn-cs"/>
              </a:rPr>
            </a:br>
            <a:r>
              <a:rPr lang="zh-CN" sz="3600" b="1" dirty="0">
                <a:solidFill>
                  <a:schemeClr val="accent1"/>
                </a:solidFill>
                <a:latin typeface="+mn-lt"/>
                <a:ea typeface="微软雅黑" panose="020B0503020204020204" charset="-122"/>
                <a:cs typeface="+mn-cs"/>
              </a:rPr>
              <a:t>与</a:t>
            </a:r>
            <a:br>
              <a:rPr lang="zh-CN" sz="3600" b="1" dirty="0">
                <a:solidFill>
                  <a:schemeClr val="accent1"/>
                </a:solidFill>
                <a:latin typeface="+mn-lt"/>
                <a:ea typeface="微软雅黑" panose="020B0503020204020204" charset="-122"/>
                <a:cs typeface="+mn-cs"/>
              </a:rPr>
            </a:br>
            <a:r>
              <a:rPr lang="zh-CN" sz="3600" b="1" dirty="0">
                <a:solidFill>
                  <a:schemeClr val="accent1"/>
                </a:solidFill>
                <a:latin typeface="+mn-lt"/>
                <a:ea typeface="微软雅黑" panose="020B0503020204020204" charset="-122"/>
                <a:cs typeface="+mn-cs"/>
              </a:rPr>
              <a:t>结果分析</a:t>
            </a:r>
            <a:endParaRPr lang="zh-CN" altLang="en-US" sz="3600" b="1" dirty="0">
              <a:solidFill>
                <a:schemeClr val="accent1"/>
              </a:solidFill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754380" y="4300855"/>
            <a:ext cx="2157095" cy="1250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1804670" y="945198"/>
            <a:ext cx="8893175" cy="4967605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95650" y="1150620"/>
            <a:ext cx="7992110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3.1</a:t>
            </a:r>
            <a:r>
              <a:rPr lang="zh-CN" altLang="en-US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电流环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3.1.1</a:t>
            </a: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按照典型</a:t>
            </a:r>
            <a:r>
              <a:rPr lang="en-US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Ⅰ</a:t>
            </a: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型系统校正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3.1.2</a:t>
            </a: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按照典型Ⅱ型系统校正</a:t>
            </a:r>
            <a:endParaRPr lang="zh-CN" altLang="en-US" sz="2000" b="1" kern="1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zh-CN" sz="2000" b="1" kern="1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3.2</a:t>
            </a:r>
            <a:r>
              <a:rPr lang="zh-CN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转速环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endParaRPr lang="zh-CN" altLang="en-US" kern="1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3.3</a:t>
            </a:r>
            <a:r>
              <a:rPr lang="zh-CN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抗扰分析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3.3.1</a:t>
            </a: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抗负载扰动</a:t>
            </a:r>
            <a:endParaRPr lang="zh-CN" altLang="en-US" kern="1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3.3.2</a:t>
            </a: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抗电网电压扰动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3.3.3</a:t>
            </a: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反馈回路扰动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        a. </a:t>
            </a: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转速反馈回路扰动</a:t>
            </a:r>
          </a:p>
          <a:p>
            <a:pPr indent="0">
              <a:buFont typeface="Wingdings" panose="05000000000000000000" charset="0"/>
              <a:buNone/>
            </a:pPr>
            <a:r>
              <a:rPr lang="en-US" altLang="zh-CN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        b. </a:t>
            </a:r>
            <a:r>
              <a:rPr lang="zh-CN" altLang="en-US" sz="1600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电流反馈回路扰动</a:t>
            </a:r>
          </a:p>
          <a:p>
            <a:pPr indent="0">
              <a:buFont typeface="Wingdings" panose="05000000000000000000" charset="0"/>
              <a:buNone/>
            </a:pPr>
            <a:endParaRPr lang="zh-CN" altLang="en-US" sz="1600" kern="1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3.4</a:t>
            </a:r>
            <a:r>
              <a:rPr lang="zh-CN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跟踪信号分析</a:t>
            </a:r>
          </a:p>
          <a:p>
            <a:pPr indent="0">
              <a:buFont typeface="Wingdings" panose="05000000000000000000" charset="0"/>
              <a:buNone/>
            </a:pPr>
            <a:r>
              <a:rPr lang="zh-CN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000" b="1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3.4.1</a:t>
            </a: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正弦信号</a:t>
            </a:r>
          </a:p>
          <a:p>
            <a:pPr indent="0">
              <a:buFont typeface="Wingdings" panose="05000000000000000000" charset="0"/>
              <a:buNone/>
            </a:pP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3.4.2</a:t>
            </a:r>
            <a:r>
              <a:rPr lang="zh-CN" altLang="en-US" kern="1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斜坡信号</a:t>
            </a:r>
            <a:endParaRPr lang="zh-CN" altLang="en-US" b="1" kern="1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</a:t>
            </a:r>
            <a:r>
              <a:rPr lang="zh-CN" altLang="en-US" sz="3200" b="1" dirty="0">
                <a:ea typeface="微软雅黑" panose="020B0503020204020204" charset="-122"/>
              </a:rPr>
              <a:t>.1电流环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8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7810" y="1656715"/>
            <a:ext cx="6418580" cy="20980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784600" y="3860800"/>
            <a:ext cx="39700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/>
              <a:t>电流环的仿真模型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096135" y="4378960"/>
            <a:ext cx="76212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</a:t>
            </a:r>
            <a:r>
              <a:rPr lang="zh-CN" altLang="en-US"/>
              <a:t>其中，积分器</a:t>
            </a:r>
            <a:r>
              <a:rPr lang="en-US" altLang="zh-CN"/>
              <a:t>Integrator Limited</a:t>
            </a:r>
            <a:r>
              <a:rPr lang="zh-CN" altLang="en-US"/>
              <a:t>环节的饱和上界取</a:t>
            </a:r>
            <a:r>
              <a:rPr lang="en-US" altLang="zh-CN"/>
              <a:t>15</a:t>
            </a:r>
            <a:r>
              <a:rPr lang="zh-CN" altLang="en-US"/>
              <a:t>，饱和下界取</a:t>
            </a:r>
            <a:r>
              <a:rPr lang="en-US" altLang="zh-CN"/>
              <a:t>-15</a:t>
            </a:r>
            <a:r>
              <a:rPr lang="zh-CN" altLang="en-US"/>
              <a:t>，积分从</a:t>
            </a:r>
            <a:r>
              <a:rPr lang="en-US" altLang="zh-CN"/>
              <a:t>0</a:t>
            </a:r>
            <a:r>
              <a:rPr lang="zh-CN" altLang="en-US"/>
              <a:t>开始；饱和环节</a:t>
            </a:r>
            <a:r>
              <a:rPr lang="en-US" altLang="zh-CN"/>
              <a:t>Saturation</a:t>
            </a:r>
            <a:r>
              <a:rPr lang="zh-CN" altLang="en-US"/>
              <a:t>的上限取</a:t>
            </a:r>
            <a:r>
              <a:rPr lang="en-US" altLang="zh-CN"/>
              <a:t>15</a:t>
            </a:r>
            <a:r>
              <a:rPr lang="zh-CN" altLang="en-US"/>
              <a:t>，下限取</a:t>
            </a:r>
            <a:r>
              <a:rPr lang="en-US" altLang="zh-CN"/>
              <a:t>-15</a:t>
            </a:r>
            <a:r>
              <a:rPr lang="zh-CN" altLang="en-US"/>
              <a:t>；阶跃模块（</a:t>
            </a:r>
            <a:r>
              <a:rPr lang="en-US" altLang="zh-CN"/>
              <a:t>Step</a:t>
            </a:r>
            <a:r>
              <a:rPr lang="zh-CN" altLang="en-US"/>
              <a:t>）中阶跃时刻改为</a:t>
            </a:r>
            <a:r>
              <a:rPr lang="en-US" altLang="zh-CN"/>
              <a:t>0</a:t>
            </a:r>
            <a:r>
              <a:rPr lang="zh-CN" altLang="en-US"/>
              <a:t>，阶跃值取</a:t>
            </a:r>
            <a:r>
              <a:rPr lang="en-US" altLang="zh-CN"/>
              <a:t>2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ea typeface="微软雅黑" panose="020B0503020204020204" charset="-122"/>
              </a:rPr>
              <a:t>KIT∑i=0.25</a:t>
            </a:r>
            <a:r>
              <a:rPr lang="zh-CN" altLang="en-US">
                <a:ea typeface="微软雅黑" panose="020B0503020204020204" charset="-122"/>
              </a:rPr>
              <a:t>时，根据理论建模的表</a:t>
            </a:r>
            <a:r>
              <a:rPr lang="en-US" altLang="zh-CN">
                <a:ea typeface="微软雅黑" panose="020B0503020204020204" charset="-122"/>
              </a:rPr>
              <a:t>1</a:t>
            </a:r>
            <a:r>
              <a:rPr lang="zh-CN" altLang="en-US">
                <a:ea typeface="微软雅黑" panose="020B0503020204020204" charset="-122"/>
              </a:rPr>
              <a:t>得参数</a:t>
            </a:r>
            <a:r>
              <a:rPr lang="en-US" altLang="zh-CN">
                <a:ea typeface="微软雅黑" panose="020B0503020204020204" charset="-122"/>
              </a:rPr>
              <a:t>Ki=4.12</a:t>
            </a:r>
            <a:r>
              <a:rPr lang="zh-CN" altLang="en-US">
                <a:ea typeface="微软雅黑" panose="020B0503020204020204" charset="-122"/>
              </a:rPr>
              <a:t>，</a:t>
            </a:r>
            <a:r>
              <a:rPr lang="en-US" altLang="zh-CN">
                <a:ea typeface="微软雅黑" panose="020B0503020204020204" charset="-122"/>
              </a:rPr>
              <a:t>τi=0.0144</a:t>
            </a:r>
            <a:r>
              <a:rPr lang="zh-CN" altLang="en-US">
                <a:ea typeface="微软雅黑" panose="020B0503020204020204" charset="-122"/>
              </a:rPr>
              <a:t>。即</a:t>
            </a:r>
            <a:r>
              <a:rPr lang="en-US" altLang="zh-CN">
                <a:ea typeface="微软雅黑" panose="020B0503020204020204" charset="-122"/>
              </a:rPr>
              <a:t>PI</a:t>
            </a:r>
            <a:r>
              <a:rPr lang="zh-CN" altLang="en-US">
                <a:ea typeface="微软雅黑" panose="020B0503020204020204" charset="-122"/>
              </a:rPr>
              <a:t>调节器中取</a:t>
            </a:r>
            <a:r>
              <a:rPr lang="en-US" altLang="zh-CN">
                <a:ea typeface="微软雅黑" panose="020B0503020204020204" charset="-122"/>
              </a:rPr>
              <a:t>4.12</a:t>
            </a:r>
            <a:r>
              <a:rPr lang="zh-CN" altLang="en-US">
                <a:ea typeface="微软雅黑" panose="020B0503020204020204" charset="-122"/>
              </a:rPr>
              <a:t>，取</a:t>
            </a:r>
            <a:r>
              <a:rPr lang="en-US" altLang="zh-CN">
                <a:ea typeface="微软雅黑" panose="020B0503020204020204" charset="-122"/>
              </a:rPr>
              <a:t>286.11</a:t>
            </a:r>
            <a:r>
              <a:rPr lang="zh-CN" altLang="en-US">
                <a:ea typeface="微软雅黑" panose="020B0503020204020204" charset="-122"/>
              </a:rPr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3.1.1 </a:t>
            </a:r>
            <a:r>
              <a:rPr lang="zh-CN" altLang="en-US" sz="3200" b="1" dirty="0">
                <a:ea typeface="微软雅黑" panose="020B0503020204020204" charset="-122"/>
              </a:rPr>
              <a:t>按照典型</a:t>
            </a:r>
            <a:r>
              <a:rPr lang="en-US" altLang="en-US" sz="3200" b="1" dirty="0">
                <a:ea typeface="微软雅黑" panose="020B0503020204020204" charset="-122"/>
              </a:rPr>
              <a:t>Ⅰ</a:t>
            </a:r>
            <a:r>
              <a:rPr lang="zh-CN" altLang="en-US" sz="3200" b="1" dirty="0">
                <a:ea typeface="微软雅黑" panose="020B0503020204020204" charset="-122"/>
              </a:rPr>
              <a:t>型系统校正电流环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9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8085" y="1496695"/>
            <a:ext cx="7012940" cy="1786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图片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5875" y="3283585"/>
            <a:ext cx="3397885" cy="2548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6450" y="4426585"/>
            <a:ext cx="6245225" cy="2787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6450" y="3522980"/>
            <a:ext cx="6245225" cy="7073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6779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ea typeface="微软雅黑" panose="020B0503020204020204" charset="-122"/>
              </a:rPr>
              <a:t>KIT∑i=0.25</a:t>
            </a:r>
            <a:r>
              <a:rPr lang="zh-CN" altLang="en-US">
                <a:ea typeface="微软雅黑" panose="020B0503020204020204" charset="-122"/>
              </a:rPr>
              <a:t>时，根据理论建模的表</a:t>
            </a:r>
            <a:r>
              <a:rPr lang="en-US" altLang="zh-CN">
                <a:ea typeface="微软雅黑" panose="020B0503020204020204" charset="-122"/>
              </a:rPr>
              <a:t>1</a:t>
            </a:r>
            <a:r>
              <a:rPr lang="zh-CN" altLang="en-US">
                <a:ea typeface="微软雅黑" panose="020B0503020204020204" charset="-122"/>
              </a:rPr>
              <a:t>得参数</a:t>
            </a:r>
            <a:r>
              <a:rPr lang="en-US" altLang="zh-CN">
                <a:ea typeface="微软雅黑" panose="020B0503020204020204" charset="-122"/>
              </a:rPr>
              <a:t>Ki=4.12</a:t>
            </a:r>
            <a:r>
              <a:rPr lang="zh-CN" altLang="en-US">
                <a:ea typeface="微软雅黑" panose="020B0503020204020204" charset="-122"/>
              </a:rPr>
              <a:t>，</a:t>
            </a:r>
            <a:r>
              <a:rPr lang="en-US" altLang="zh-CN">
                <a:ea typeface="微软雅黑" panose="020B0503020204020204" charset="-122"/>
              </a:rPr>
              <a:t>τi=0.0144</a:t>
            </a:r>
            <a:r>
              <a:rPr lang="zh-CN" altLang="en-US">
                <a:ea typeface="微软雅黑" panose="020B0503020204020204" charset="-122"/>
              </a:rPr>
              <a:t>。即</a:t>
            </a:r>
            <a:r>
              <a:rPr lang="en-US" altLang="zh-CN">
                <a:ea typeface="微软雅黑" panose="020B0503020204020204" charset="-122"/>
              </a:rPr>
              <a:t>PI</a:t>
            </a:r>
            <a:r>
              <a:rPr lang="zh-CN" altLang="en-US">
                <a:ea typeface="微软雅黑" panose="020B0503020204020204" charset="-122"/>
              </a:rPr>
              <a:t>调节器中取</a:t>
            </a:r>
            <a:r>
              <a:rPr lang="en-US" altLang="zh-CN">
                <a:ea typeface="微软雅黑" panose="020B0503020204020204" charset="-122"/>
              </a:rPr>
              <a:t>4.12</a:t>
            </a:r>
            <a:r>
              <a:rPr lang="zh-CN" altLang="en-US">
                <a:ea typeface="微软雅黑" panose="020B0503020204020204" charset="-122"/>
              </a:rPr>
              <a:t>，取</a:t>
            </a:r>
            <a:r>
              <a:rPr lang="en-US" altLang="zh-CN">
                <a:ea typeface="微软雅黑" panose="020B0503020204020204" charset="-122"/>
              </a:rPr>
              <a:t>286.11</a:t>
            </a:r>
            <a:r>
              <a:rPr lang="zh-CN" altLang="en-US">
                <a:ea typeface="微软雅黑" panose="020B0503020204020204" charset="-122"/>
              </a:rPr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3.1.1 </a:t>
            </a:r>
            <a:r>
              <a:rPr lang="zh-CN" altLang="en-US" sz="3200" b="1" dirty="0">
                <a:ea typeface="微软雅黑" panose="020B0503020204020204" charset="-122"/>
              </a:rPr>
              <a:t>按照典型</a:t>
            </a:r>
            <a:r>
              <a:rPr lang="en-US" altLang="en-US" sz="3200" b="1" dirty="0">
                <a:ea typeface="微软雅黑" panose="020B0503020204020204" charset="-122"/>
              </a:rPr>
              <a:t>Ⅰ</a:t>
            </a:r>
            <a:r>
              <a:rPr lang="zh-CN" altLang="en-US" sz="3200" b="1" dirty="0">
                <a:ea typeface="微软雅黑" panose="020B0503020204020204" charset="-122"/>
              </a:rPr>
              <a:t>型系统校正电流环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4" name="图片 24"/>
          <p:cNvPicPr/>
          <p:nvPr/>
        </p:nvPicPr>
        <p:blipFill>
          <a:blip r:embed="rId7"/>
          <a:stretch>
            <a:fillRect/>
          </a:stretch>
        </p:blipFill>
        <p:spPr>
          <a:xfrm>
            <a:off x="2385695" y="1534160"/>
            <a:ext cx="6872400" cy="17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5715" y="3283585"/>
            <a:ext cx="3340735" cy="250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1040" y="3538855"/>
            <a:ext cx="6436360" cy="7289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1040" y="4350385"/>
            <a:ext cx="6435725" cy="2482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微软雅黑" panose="020B0503020204020204" charset="-122"/>
              </a:rPr>
              <a:t>分析结果可以得出，超调量为</a:t>
            </a:r>
            <a:r>
              <a:rPr lang="en-US" altLang="zh-CN">
                <a:ea typeface="微软雅黑" panose="020B0503020204020204" charset="-122"/>
              </a:rPr>
              <a:t>25%</a:t>
            </a:r>
            <a:r>
              <a:rPr lang="zh-CN" altLang="en-US">
                <a:ea typeface="微软雅黑" panose="020B0503020204020204" charset="-122"/>
              </a:rPr>
              <a:t>，上升时间为</a:t>
            </a:r>
            <a:r>
              <a:rPr lang="en-US" altLang="zh-CN">
                <a:ea typeface="微软雅黑" panose="020B0503020204020204" charset="-122"/>
              </a:rPr>
              <a:t>0.0005s</a:t>
            </a:r>
            <a:r>
              <a:rPr lang="zh-CN" altLang="en-US">
                <a:ea typeface="微软雅黑" panose="020B0503020204020204" charset="-122"/>
              </a:rPr>
              <a:t>。超调量最大，响应最快。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  <a:sym typeface="+mn-ea"/>
              </a:rPr>
              <a:t>3.1.1 </a:t>
            </a:r>
            <a:r>
              <a:rPr lang="zh-CN" altLang="en-US" sz="3200" b="1" dirty="0">
                <a:ea typeface="微软雅黑" panose="020B0503020204020204" charset="-122"/>
                <a:sym typeface="+mn-ea"/>
              </a:rPr>
              <a:t>按照典型</a:t>
            </a:r>
            <a:r>
              <a:rPr lang="en-US" altLang="en-US" sz="3200" b="1" dirty="0">
                <a:ea typeface="微软雅黑" panose="020B0503020204020204" charset="-122"/>
                <a:sym typeface="+mn-ea"/>
              </a:rPr>
              <a:t>Ⅰ</a:t>
            </a:r>
            <a:r>
              <a:rPr lang="zh-CN" altLang="en-US" sz="3200" b="1" dirty="0">
                <a:ea typeface="微软雅黑" panose="020B0503020204020204" charset="-122"/>
                <a:sym typeface="+mn-ea"/>
              </a:rPr>
              <a:t>型系统校正电流环</a:t>
            </a:r>
            <a:endParaRPr lang="zh-CN" altLang="en-US" sz="3200" b="1" dirty="0">
              <a:ea typeface="微软雅黑" panose="020B0503020204020204" charset="-122"/>
            </a:endParaRP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5" name="图片 1"/>
          <p:cNvPicPr/>
          <p:nvPr/>
        </p:nvPicPr>
        <p:blipFill>
          <a:blip r:embed="rId7"/>
          <a:stretch>
            <a:fillRect/>
          </a:stretch>
        </p:blipFill>
        <p:spPr>
          <a:xfrm>
            <a:off x="2514600" y="1527810"/>
            <a:ext cx="6938645" cy="1801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图片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0180" y="3329305"/>
            <a:ext cx="3345815" cy="2508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1700" y="3515995"/>
            <a:ext cx="6245860" cy="7073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1700" y="4235450"/>
            <a:ext cx="6148705" cy="4667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  <a:sym typeface="+mn-ea"/>
              </a:rPr>
              <a:t>3.1.1 </a:t>
            </a:r>
            <a:r>
              <a:rPr lang="zh-CN" altLang="en-US" sz="3200" b="1" dirty="0">
                <a:ea typeface="微软雅黑" panose="020B0503020204020204" charset="-122"/>
                <a:sym typeface="+mn-ea"/>
              </a:rPr>
              <a:t>按照典型</a:t>
            </a:r>
            <a:r>
              <a:rPr lang="en-US" altLang="en-US" sz="3200" b="1" dirty="0">
                <a:ea typeface="微软雅黑" panose="020B0503020204020204" charset="-122"/>
                <a:sym typeface="+mn-ea"/>
              </a:rPr>
              <a:t>Ⅰ</a:t>
            </a:r>
            <a:r>
              <a:rPr lang="zh-CN" altLang="en-US" sz="3200" b="1" dirty="0">
                <a:ea typeface="微软雅黑" panose="020B0503020204020204" charset="-122"/>
                <a:sym typeface="+mn-ea"/>
              </a:rPr>
              <a:t>型系统校正电流环</a:t>
            </a:r>
            <a:endParaRPr lang="zh-CN" altLang="en-US" sz="3200" b="1" dirty="0">
              <a:ea typeface="微软雅黑" panose="020B0503020204020204" charset="-122"/>
            </a:endParaRP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5720" y="1701165"/>
            <a:ext cx="3141345" cy="2357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8505" y="1736090"/>
            <a:ext cx="3168650" cy="2376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图片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6995" y="1741170"/>
            <a:ext cx="3147695" cy="23609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829435" y="4608830"/>
            <a:ext cx="83623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       </a:t>
            </a:r>
            <a:r>
              <a:rPr lang="zh-CN" altLang="en-US">
                <a:solidFill>
                  <a:schemeClr val="tx1"/>
                </a:solidFill>
              </a:rPr>
              <a:t>分析上述三次结果可以得出，快速性和稳定性是相互矛盾的。快速性的提高同时伴随着稳定性的下降。在</a:t>
            </a:r>
            <a:r>
              <a:rPr lang="en-US" altLang="zh-CN">
                <a:solidFill>
                  <a:schemeClr val="tx1"/>
                </a:solidFill>
              </a:rPr>
              <a:t>KIT</a:t>
            </a:r>
            <a:r>
              <a:rPr lang="en-US" altLang="zh-CN" baseline="-25000">
                <a:solidFill>
                  <a:schemeClr val="tx1"/>
                </a:solidFill>
              </a:rPr>
              <a:t>∑i</a:t>
            </a:r>
            <a:r>
              <a:rPr lang="en-US" altLang="zh-CN">
                <a:solidFill>
                  <a:schemeClr val="tx1"/>
                </a:solidFill>
              </a:rPr>
              <a:t>=0.5</a:t>
            </a:r>
            <a:r>
              <a:rPr lang="zh-CN" altLang="en-US">
                <a:solidFill>
                  <a:schemeClr val="tx1"/>
                </a:solidFill>
              </a:rPr>
              <a:t>时，快速性和稳定性较好地被同时兼顾。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微软雅黑" panose="020B0503020204020204" charset="-122"/>
              </a:rPr>
              <a:t>分析结果知，</a:t>
            </a:r>
            <a:r>
              <a:rPr lang="en-US" altLang="zh-CN">
                <a:ea typeface="微软雅黑" panose="020B0503020204020204" charset="-122"/>
              </a:rPr>
              <a:t>h=5</a:t>
            </a:r>
            <a:r>
              <a:rPr lang="zh-CN" altLang="en-US">
                <a:ea typeface="微软雅黑" panose="020B0503020204020204" charset="-122"/>
              </a:rPr>
              <a:t>时电流超调量较大为</a:t>
            </a:r>
            <a:r>
              <a:rPr lang="en-US" altLang="zh-CN">
                <a:ea typeface="微软雅黑" panose="020B0503020204020204" charset="-122"/>
              </a:rPr>
              <a:t>35%</a:t>
            </a:r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3.1.2 </a:t>
            </a:r>
            <a:r>
              <a:rPr lang="zh-CN" altLang="en-US" sz="3200" b="1" dirty="0">
                <a:ea typeface="微软雅黑" panose="020B0503020204020204" charset="-122"/>
              </a:rPr>
              <a:t>按照典型</a:t>
            </a:r>
            <a:r>
              <a:rPr lang="en-US" altLang="en-US" sz="3200" b="1" dirty="0">
                <a:ea typeface="微软雅黑" panose="020B0503020204020204" charset="-122"/>
              </a:rPr>
              <a:t>Ⅱ</a:t>
            </a:r>
            <a:r>
              <a:rPr lang="zh-CN" altLang="en-US" sz="3200" b="1" dirty="0">
                <a:ea typeface="微软雅黑" panose="020B0503020204020204" charset="-122"/>
              </a:rPr>
              <a:t>型系统校正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2" name="图片 42"/>
          <p:cNvPicPr/>
          <p:nvPr/>
        </p:nvPicPr>
        <p:blipFill>
          <a:blip r:embed="rId7"/>
          <a:stretch>
            <a:fillRect/>
          </a:stretch>
        </p:blipFill>
        <p:spPr>
          <a:xfrm>
            <a:off x="2379980" y="1624330"/>
            <a:ext cx="7165975" cy="1856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0945" y="3216910"/>
            <a:ext cx="3629025" cy="2722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6295" y="3429000"/>
            <a:ext cx="6403975" cy="9645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0470" y="4509135"/>
            <a:ext cx="6889750" cy="2654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  <a:sym typeface="+mn-ea"/>
              </a:rPr>
              <a:t>3.1.2 </a:t>
            </a:r>
            <a:r>
              <a:rPr lang="zh-CN" altLang="en-US" sz="3200" b="1" dirty="0">
                <a:ea typeface="微软雅黑" panose="020B0503020204020204" charset="-122"/>
                <a:sym typeface="+mn-ea"/>
              </a:rPr>
              <a:t>按照典型</a:t>
            </a:r>
            <a:r>
              <a:rPr lang="en-US" altLang="en-US" sz="3200" b="1" dirty="0">
                <a:ea typeface="微软雅黑" panose="020B0503020204020204" charset="-122"/>
                <a:sym typeface="+mn-ea"/>
              </a:rPr>
              <a:t>Ⅱ</a:t>
            </a:r>
            <a:r>
              <a:rPr lang="zh-CN" altLang="en-US" sz="3200" b="1" dirty="0">
                <a:ea typeface="微软雅黑" panose="020B0503020204020204" charset="-122"/>
                <a:sym typeface="+mn-ea"/>
              </a:rPr>
              <a:t>型系统校正</a:t>
            </a:r>
            <a:endParaRPr lang="zh-CN" altLang="en-US" sz="3200" b="1" dirty="0">
              <a:ea typeface="微软雅黑" panose="020B0503020204020204" charset="-122"/>
            </a:endParaRP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0060" y="1591310"/>
            <a:ext cx="8270240" cy="628015"/>
          </a:xfrm>
          <a:prstGeom prst="rect">
            <a:avLst/>
          </a:prstGeom>
        </p:spPr>
      </p:pic>
      <p:pic>
        <p:nvPicPr>
          <p:cNvPr id="43" name="图片 43"/>
          <p:cNvPicPr/>
          <p:nvPr/>
        </p:nvPicPr>
        <p:blipFill>
          <a:blip r:embed="rId8"/>
          <a:stretch>
            <a:fillRect/>
          </a:stretch>
        </p:blipFill>
        <p:spPr>
          <a:xfrm>
            <a:off x="1424940" y="2219325"/>
            <a:ext cx="4283710" cy="1299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图片 44"/>
          <p:cNvPicPr/>
          <p:nvPr/>
        </p:nvPicPr>
        <p:blipFill>
          <a:blip r:embed="rId9"/>
          <a:stretch>
            <a:fillRect/>
          </a:stretch>
        </p:blipFill>
        <p:spPr>
          <a:xfrm>
            <a:off x="1424940" y="3429000"/>
            <a:ext cx="4284345" cy="1277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图片 45"/>
          <p:cNvPicPr/>
          <p:nvPr/>
        </p:nvPicPr>
        <p:blipFill>
          <a:blip r:embed="rId10"/>
          <a:stretch>
            <a:fillRect/>
          </a:stretch>
        </p:blipFill>
        <p:spPr>
          <a:xfrm>
            <a:off x="1529715" y="4635500"/>
            <a:ext cx="4088130" cy="1461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图片 46"/>
          <p:cNvPicPr/>
          <p:nvPr/>
        </p:nvPicPr>
        <p:blipFill>
          <a:blip r:embed="rId11"/>
          <a:stretch>
            <a:fillRect/>
          </a:stretch>
        </p:blipFill>
        <p:spPr>
          <a:xfrm>
            <a:off x="6276975" y="2219325"/>
            <a:ext cx="4272280" cy="1299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图片 47"/>
          <p:cNvPicPr/>
          <p:nvPr/>
        </p:nvPicPr>
        <p:blipFill>
          <a:blip r:embed="rId12"/>
          <a:stretch>
            <a:fillRect/>
          </a:stretch>
        </p:blipFill>
        <p:spPr>
          <a:xfrm>
            <a:off x="6276975" y="3518535"/>
            <a:ext cx="4271645" cy="1252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10"/>
          <p:cNvPicPr/>
          <p:nvPr/>
        </p:nvPicPr>
        <p:blipFill>
          <a:blip r:embed="rId13"/>
          <a:stretch>
            <a:fillRect/>
          </a:stretch>
        </p:blipFill>
        <p:spPr>
          <a:xfrm>
            <a:off x="6276975" y="4672330"/>
            <a:ext cx="4272280" cy="142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  <a:sym typeface="+mn-ea"/>
              </a:rPr>
              <a:t>3.1.2 </a:t>
            </a:r>
            <a:r>
              <a:rPr lang="zh-CN" altLang="en-US" sz="3200" b="1" dirty="0">
                <a:ea typeface="微软雅黑" panose="020B0503020204020204" charset="-122"/>
                <a:sym typeface="+mn-ea"/>
              </a:rPr>
              <a:t>按照典型</a:t>
            </a:r>
            <a:r>
              <a:rPr lang="en-US" altLang="en-US" sz="3200" b="1" dirty="0">
                <a:ea typeface="微软雅黑" panose="020B0503020204020204" charset="-122"/>
                <a:sym typeface="+mn-ea"/>
              </a:rPr>
              <a:t>Ⅱ</a:t>
            </a:r>
            <a:r>
              <a:rPr lang="zh-CN" altLang="en-US" sz="3200" b="1" dirty="0">
                <a:ea typeface="微软雅黑" panose="020B0503020204020204" charset="-122"/>
                <a:sym typeface="+mn-ea"/>
              </a:rPr>
              <a:t>型系统校正</a:t>
            </a:r>
            <a:endParaRPr lang="zh-CN" altLang="en-US" sz="3200" b="1" dirty="0">
              <a:ea typeface="微软雅黑" panose="020B0503020204020204" charset="-122"/>
            </a:endParaRP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8" name="图片 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8795" y="1823085"/>
            <a:ext cx="4051935" cy="303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图片 4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5720" y="1898650"/>
            <a:ext cx="3950970" cy="296354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066290" y="5053330"/>
            <a:ext cx="79997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  </a:t>
            </a:r>
            <a:r>
              <a:rPr lang="zh-CN" altLang="en-US"/>
              <a:t>对比上述对比图可以看出，相比无滤波环节，加入输入滤波环节确实有效降低了阶跃响应的超调量，但会增加上升时间和调节时间。且当</a:t>
            </a:r>
            <a:r>
              <a:rPr lang="en-US" altLang="zh-CN"/>
              <a:t>Tin</a:t>
            </a:r>
            <a:r>
              <a:rPr lang="zh-CN" altLang="en-US"/>
              <a:t>与</a:t>
            </a:r>
            <a:r>
              <a:rPr lang="en-US" altLang="zh-CN"/>
              <a:t>T</a:t>
            </a:r>
            <a:r>
              <a:rPr lang="zh-CN" altLang="en-US"/>
              <a:t>比值为</a:t>
            </a:r>
            <a:r>
              <a:rPr lang="en-US" altLang="zh-CN"/>
              <a:t>4</a:t>
            </a:r>
            <a:r>
              <a:rPr lang="zh-CN" altLang="en-US"/>
              <a:t>时，系统的超调量最小为</a:t>
            </a:r>
            <a:r>
              <a:rPr lang="en-US" altLang="zh-CN"/>
              <a:t>0.8%</a:t>
            </a:r>
            <a:r>
              <a:rPr lang="zh-CN" altLang="en-US"/>
              <a:t>，调节时间也最短为</a:t>
            </a:r>
            <a:r>
              <a:rPr lang="en-US" altLang="zh-CN"/>
              <a:t>0.004s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</a:t>
            </a:r>
            <a:r>
              <a:rPr lang="zh-CN" altLang="en-US" sz="3200" b="1" dirty="0">
                <a:ea typeface="微软雅黑" panose="020B0503020204020204" charset="-122"/>
              </a:rPr>
              <a:t>.</a:t>
            </a:r>
            <a:r>
              <a:rPr lang="en-US" altLang="zh-CN" sz="3200" b="1" dirty="0">
                <a:ea typeface="微软雅黑" panose="020B0503020204020204" charset="-122"/>
              </a:rPr>
              <a:t>2</a:t>
            </a:r>
            <a:r>
              <a:rPr lang="zh-CN" altLang="en-US" sz="3200" b="1" dirty="0">
                <a:ea typeface="微软雅黑" panose="020B0503020204020204" charset="-122"/>
              </a:rPr>
              <a:t>转速环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1100" y="2468245"/>
            <a:ext cx="7289165" cy="2298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</a:t>
            </a:r>
            <a:r>
              <a:rPr lang="zh-CN" altLang="en-US" sz="3200" b="1" dirty="0">
                <a:ea typeface="微软雅黑" panose="020B0503020204020204" charset="-122"/>
              </a:rPr>
              <a:t>.</a:t>
            </a:r>
            <a:r>
              <a:rPr lang="en-US" altLang="zh-CN" sz="3200" b="1" dirty="0">
                <a:ea typeface="微软雅黑" panose="020B0503020204020204" charset="-122"/>
              </a:rPr>
              <a:t>2</a:t>
            </a:r>
            <a:r>
              <a:rPr lang="zh-CN" altLang="en-US" sz="3200" b="1" dirty="0">
                <a:ea typeface="微软雅黑" panose="020B0503020204020204" charset="-122"/>
              </a:rPr>
              <a:t>转速环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0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7945" y="1881505"/>
            <a:ext cx="6835140" cy="2220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5840" y="4486910"/>
            <a:ext cx="7759700" cy="8788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</a:t>
            </a:r>
            <a:r>
              <a:rPr lang="zh-CN" altLang="en-US" sz="3200" b="1" dirty="0">
                <a:ea typeface="微软雅黑" panose="020B0503020204020204" charset="-122"/>
              </a:rPr>
              <a:t>.</a:t>
            </a:r>
            <a:r>
              <a:rPr lang="en-US" altLang="zh-CN" sz="3200" b="1" dirty="0">
                <a:ea typeface="微软雅黑" panose="020B0503020204020204" charset="-122"/>
              </a:rPr>
              <a:t>2</a:t>
            </a:r>
            <a:r>
              <a:rPr lang="zh-CN" altLang="en-US" sz="3200" b="1" dirty="0">
                <a:ea typeface="微软雅黑" panose="020B0503020204020204" charset="-122"/>
              </a:rPr>
              <a:t>转速环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2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1020" y="1603375"/>
            <a:ext cx="3126105" cy="2345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6225" y="3986530"/>
            <a:ext cx="7378065" cy="284480"/>
          </a:xfrm>
          <a:prstGeom prst="rect">
            <a:avLst/>
          </a:prstGeom>
        </p:spPr>
      </p:pic>
      <p:pic>
        <p:nvPicPr>
          <p:cNvPr id="20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9350" y="1603375"/>
            <a:ext cx="3213100" cy="2339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7275" y="3986530"/>
            <a:ext cx="7378065" cy="2844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273300" y="4756785"/>
            <a:ext cx="72440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ASR</a:t>
            </a:r>
            <a:r>
              <a:rPr lang="zh-CN" altLang="en-US"/>
              <a:t>调节器经历了不饱和、饱和、退饱和三个阶段，转速很快到达</a:t>
            </a:r>
            <a:r>
              <a:rPr lang="en-US" altLang="zh-CN"/>
              <a:t>1000r/min</a:t>
            </a:r>
            <a:r>
              <a:rPr lang="zh-CN" altLang="en-US"/>
              <a:t>附近并保持稳定，这说明双闭环直流调速系统结构设计合理。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</a:t>
            </a:r>
            <a:r>
              <a:rPr lang="zh-CN" altLang="en-US" sz="3200" b="1" dirty="0">
                <a:ea typeface="微软雅黑" panose="020B0503020204020204" charset="-122"/>
              </a:rPr>
              <a:t>.</a:t>
            </a:r>
            <a:r>
              <a:rPr lang="en-US" altLang="zh-CN" sz="3200" b="1" dirty="0">
                <a:ea typeface="微软雅黑" panose="020B0503020204020204" charset="-122"/>
              </a:rPr>
              <a:t>2</a:t>
            </a:r>
            <a:r>
              <a:rPr lang="zh-CN" altLang="en-US" sz="3200" b="1" dirty="0">
                <a:ea typeface="微软雅黑" panose="020B0503020204020204" charset="-122"/>
              </a:rPr>
              <a:t>转速环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680845" y="1704975"/>
            <a:ext cx="87477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 </a:t>
            </a:r>
            <a:r>
              <a:rPr lang="zh-CN" altLang="en-US"/>
              <a:t>但是其转速超调量较大为</a:t>
            </a:r>
            <a:r>
              <a:rPr lang="en-US" altLang="zh-CN"/>
              <a:t>38%</a:t>
            </a:r>
            <a:r>
              <a:rPr lang="zh-CN" altLang="en-US"/>
              <a:t>，所以考虑在增加输入滤波环节，同样在</a:t>
            </a:r>
            <a:r>
              <a:rPr lang="en-US" altLang="zh-CN"/>
              <a:t>h=5</a:t>
            </a:r>
            <a:r>
              <a:rPr lang="zh-CN" altLang="en-US"/>
              <a:t>的前提下取</a:t>
            </a:r>
            <a:r>
              <a:rPr lang="en-US" altLang="zh-CN"/>
              <a:t>Tin=4T∑i=0.184s</a:t>
            </a:r>
            <a:r>
              <a:rPr lang="zh-CN" altLang="en-US"/>
              <a:t>（该结论在电流环的</a:t>
            </a:r>
            <a:r>
              <a:rPr lang="en-US" altLang="zh-CN"/>
              <a:t>II</a:t>
            </a:r>
            <a:r>
              <a:rPr lang="zh-CN" altLang="en-US"/>
              <a:t>型校正中已用仿真实例验证过，在此不再再次验证）</a:t>
            </a:r>
          </a:p>
        </p:txBody>
      </p:sp>
      <p:pic>
        <p:nvPicPr>
          <p:cNvPr id="60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4110" y="2553335"/>
            <a:ext cx="7208520" cy="33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</a:t>
            </a:r>
            <a:r>
              <a:rPr lang="zh-CN" altLang="en-US" sz="3200" b="1" dirty="0">
                <a:ea typeface="微软雅黑" panose="020B0503020204020204" charset="-122"/>
              </a:rPr>
              <a:t>.</a:t>
            </a:r>
            <a:r>
              <a:rPr lang="en-US" altLang="zh-CN" sz="3200" b="1" dirty="0">
                <a:ea typeface="微软雅黑" panose="020B0503020204020204" charset="-122"/>
              </a:rPr>
              <a:t>2</a:t>
            </a:r>
            <a:r>
              <a:rPr lang="zh-CN" altLang="en-US" sz="3200" b="1" dirty="0">
                <a:ea typeface="微软雅黑" panose="020B0503020204020204" charset="-122"/>
              </a:rPr>
              <a:t>转速环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1" name="图片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1165" y="1722755"/>
            <a:ext cx="3152775" cy="236601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884805" y="5023485"/>
            <a:ext cx="6028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</a:t>
            </a:r>
            <a:r>
              <a:rPr lang="zh-CN" altLang="en-US"/>
              <a:t>转速环校正加入滤波环节后转速超调量仅为</a:t>
            </a:r>
            <a:r>
              <a:rPr lang="en-US" altLang="zh-CN"/>
              <a:t>3%</a:t>
            </a:r>
            <a:r>
              <a:rPr lang="zh-CN" altLang="en-US"/>
              <a:t>。对比发现相比无滤波时系统的超调量大大减小。</a:t>
            </a:r>
          </a:p>
        </p:txBody>
      </p:sp>
      <p:pic>
        <p:nvPicPr>
          <p:cNvPr id="52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9335" y="1722755"/>
            <a:ext cx="3126105" cy="234505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699385" y="4191000"/>
            <a:ext cx="2447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加入滤波前的转速响应曲线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345680" y="4191000"/>
            <a:ext cx="2447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加入滤波后的转速响应曲线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3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45530" y="188030"/>
            <a:ext cx="10800000" cy="792000"/>
          </a:xfrm>
        </p:spPr>
        <p:txBody>
          <a:bodyPr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3200" b="1" dirty="0">
                <a:latin typeface="+mn-lt"/>
                <a:ea typeface="微软雅黑" panose="020B0503020204020204" charset="-122"/>
                <a:cs typeface="+mn-cs"/>
              </a:rPr>
              <a:t>3.3抗扰分析</a:t>
            </a: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8502607" y="3906333"/>
            <a:ext cx="2790030" cy="191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a. 转速反馈回路扰动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b. 电流反馈回路扰动</a:t>
            </a:r>
          </a:p>
        </p:txBody>
      </p:sp>
      <p:sp>
        <p:nvSpPr>
          <p:cNvPr id="7" name="Oval 11"/>
          <p:cNvSpPr/>
          <p:nvPr>
            <p:custDataLst>
              <p:tags r:id="rId4"/>
            </p:custDataLst>
          </p:nvPr>
        </p:nvSpPr>
        <p:spPr>
          <a:xfrm>
            <a:off x="1899757" y="2082405"/>
            <a:ext cx="789643" cy="789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latin typeface="+mn-ea"/>
                <a:cs typeface="+mn-ea"/>
                <a:sym typeface="+mn-ea"/>
              </a:rPr>
              <a:t>01</a:t>
            </a:r>
          </a:p>
        </p:txBody>
      </p:sp>
      <p:cxnSp>
        <p:nvCxnSpPr>
          <p:cNvPr id="16" name="直接连接符 15"/>
          <p:cNvCxnSpPr/>
          <p:nvPr>
            <p:custDataLst>
              <p:tags r:id="rId5"/>
            </p:custDataLst>
          </p:nvPr>
        </p:nvCxnSpPr>
        <p:spPr>
          <a:xfrm>
            <a:off x="4195544" y="3353820"/>
            <a:ext cx="0" cy="2412276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6"/>
            </p:custDataLst>
          </p:nvPr>
        </p:nvCxnSpPr>
        <p:spPr>
          <a:xfrm>
            <a:off x="7997090" y="3353820"/>
            <a:ext cx="0" cy="2412276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1"/>
          <p:cNvSpPr/>
          <p:nvPr>
            <p:custDataLst>
              <p:tags r:id="rId7"/>
            </p:custDataLst>
          </p:nvPr>
        </p:nvSpPr>
        <p:spPr>
          <a:xfrm>
            <a:off x="5701302" y="2082405"/>
            <a:ext cx="789643" cy="7896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latin typeface="+mn-ea"/>
                <a:cs typeface="+mn-ea"/>
                <a:sym typeface="+mn-ea"/>
              </a:rPr>
              <a:t>02</a:t>
            </a:r>
          </a:p>
        </p:txBody>
      </p:sp>
      <p:sp>
        <p:nvSpPr>
          <p:cNvPr id="20" name="Oval 11"/>
          <p:cNvSpPr/>
          <p:nvPr>
            <p:custDataLst>
              <p:tags r:id="rId8"/>
            </p:custDataLst>
          </p:nvPr>
        </p:nvSpPr>
        <p:spPr>
          <a:xfrm>
            <a:off x="9502847" y="2082405"/>
            <a:ext cx="789643" cy="789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latin typeface="+mn-ea"/>
                <a:cs typeface="+mn-ea"/>
                <a:sym typeface="+mn-ea"/>
              </a:rPr>
              <a:t>03</a:t>
            </a:r>
          </a:p>
        </p:txBody>
      </p:sp>
      <p:sp>
        <p:nvSpPr>
          <p:cNvPr id="22" name="矩形 21"/>
          <p:cNvSpPr/>
          <p:nvPr>
            <p:custDataLst>
              <p:tags r:id="rId9"/>
            </p:custDataLst>
          </p:nvPr>
        </p:nvSpPr>
        <p:spPr>
          <a:xfrm>
            <a:off x="900152" y="3232521"/>
            <a:ext cx="2790030" cy="39882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3.3.1抗负载扰动</a:t>
            </a:r>
          </a:p>
        </p:txBody>
      </p:sp>
      <p:sp>
        <p:nvSpPr>
          <p:cNvPr id="23" name="矩形 22"/>
          <p:cNvSpPr/>
          <p:nvPr>
            <p:custDataLst>
              <p:tags r:id="rId10"/>
            </p:custDataLst>
          </p:nvPr>
        </p:nvSpPr>
        <p:spPr>
          <a:xfrm>
            <a:off x="4701062" y="3232521"/>
            <a:ext cx="2790030" cy="39882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3.3.2抗电网电压扰动</a:t>
            </a:r>
            <a:endParaRPr lang="zh-CN" altLang="en-US" sz="22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11"/>
            </p:custDataLst>
          </p:nvPr>
        </p:nvSpPr>
        <p:spPr>
          <a:xfrm>
            <a:off x="8502607" y="3232521"/>
            <a:ext cx="2790030" cy="39882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3.3.3反馈回路扰动</a:t>
            </a: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3.3.1</a:t>
            </a:r>
            <a:r>
              <a:rPr lang="zh-CN" altLang="en-US" sz="3200" b="1" dirty="0">
                <a:ea typeface="微软雅黑" panose="020B0503020204020204" charset="-122"/>
              </a:rPr>
              <a:t>抗负载扰动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722120" y="1933575"/>
            <a:ext cx="8747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 </a:t>
            </a:r>
            <a:r>
              <a:rPr lang="zh-CN" altLang="en-US"/>
              <a:t>负载扰动作用在电流环之后，转速调节器</a:t>
            </a:r>
            <a:r>
              <a:rPr lang="en-US" altLang="zh-CN"/>
              <a:t>ASR</a:t>
            </a:r>
            <a:r>
              <a:rPr lang="zh-CN" altLang="en-US"/>
              <a:t>主要产生抗负载扰动的作用。</a:t>
            </a:r>
          </a:p>
        </p:txBody>
      </p:sp>
      <p:pic>
        <p:nvPicPr>
          <p:cNvPr id="53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5560" y="2883535"/>
            <a:ext cx="4501515" cy="201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3.3.1</a:t>
            </a:r>
            <a:r>
              <a:rPr lang="zh-CN" altLang="en-US" sz="3200" b="1" dirty="0">
                <a:ea typeface="微软雅黑" panose="020B0503020204020204" charset="-122"/>
              </a:rPr>
              <a:t>抗负载扰动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011555" y="1575435"/>
            <a:ext cx="8747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</a:t>
            </a:r>
            <a:r>
              <a:rPr lang="en-US" altLang="zh-CN" b="1"/>
              <a:t> a.</a:t>
            </a:r>
            <a:r>
              <a:rPr lang="zh-CN" altLang="en-US" b="1"/>
              <a:t>遇到负载突然增大干扰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95425" y="2163445"/>
            <a:ext cx="34372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扰动时间：</a:t>
            </a:r>
            <a:r>
              <a:rPr lang="en-US" altLang="zh-CN"/>
              <a:t>2s</a:t>
            </a:r>
            <a:r>
              <a:rPr lang="zh-CN" altLang="en-US"/>
              <a:t>处</a:t>
            </a:r>
            <a:r>
              <a:rPr lang="en-US" altLang="zh-CN"/>
              <a:t> 5A</a:t>
            </a:r>
            <a:r>
              <a:rPr lang="zh-CN" altLang="en-US"/>
              <a:t>电流扰动</a:t>
            </a:r>
          </a:p>
          <a:p>
            <a:r>
              <a:rPr lang="zh-CN" altLang="en-US"/>
              <a:t>扰动位置：</a:t>
            </a:r>
          </a:p>
        </p:txBody>
      </p:sp>
      <p:pic>
        <p:nvPicPr>
          <p:cNvPr id="55" name="图片 5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2270" y="2977515"/>
            <a:ext cx="2920365" cy="1176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0930" y="1943735"/>
            <a:ext cx="2797810" cy="209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图片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6845" y="1943735"/>
            <a:ext cx="2784475" cy="20891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5211445" y="4129405"/>
            <a:ext cx="22999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负载突然增大的电流响应曲线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150225" y="4129405"/>
            <a:ext cx="21755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负载突然增大的转速响应曲线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096135" y="4778375"/>
            <a:ext cx="78574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</a:t>
            </a:r>
            <a:r>
              <a:rPr lang="zh-CN" altLang="en-US"/>
              <a:t>负载突然增加时，电动机需要产生更大的转矩来克服负载，因此电枢电流会突然增加。因为电动机需要消耗更多的能量来克服负载，转速会突然下降。转速调节器（</a:t>
            </a:r>
            <a:r>
              <a:rPr lang="en-US" altLang="zh-CN"/>
              <a:t>ASR</a:t>
            </a:r>
            <a:r>
              <a:rPr lang="zh-CN" altLang="en-US"/>
              <a:t>）检测到转速的下降，并通过调整电流调节器的给定值来恢复转速到设定值，本系统具有良好的抗扰性能。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3.3.1</a:t>
            </a:r>
            <a:r>
              <a:rPr lang="zh-CN" altLang="en-US" sz="3200" b="1" dirty="0">
                <a:ea typeface="微软雅黑" panose="020B0503020204020204" charset="-122"/>
              </a:rPr>
              <a:t>抗负载扰动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011555" y="1575435"/>
            <a:ext cx="8747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</a:t>
            </a:r>
            <a:r>
              <a:rPr lang="en-US" altLang="zh-CN" b="1"/>
              <a:t> b.</a:t>
            </a:r>
            <a:r>
              <a:rPr lang="zh-CN" altLang="en-US" b="1"/>
              <a:t>遇到负载突然减小干扰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95425" y="2163445"/>
            <a:ext cx="34372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扰动时间：</a:t>
            </a:r>
            <a:r>
              <a:rPr lang="en-US" altLang="zh-CN"/>
              <a:t>2s</a:t>
            </a:r>
            <a:r>
              <a:rPr lang="zh-CN" altLang="en-US"/>
              <a:t>处</a:t>
            </a:r>
            <a:r>
              <a:rPr lang="en-US" altLang="zh-CN"/>
              <a:t> -8A</a:t>
            </a:r>
            <a:r>
              <a:rPr lang="zh-CN" altLang="en-US"/>
              <a:t>电流扰动</a:t>
            </a:r>
          </a:p>
          <a:p>
            <a:r>
              <a:rPr lang="zh-CN" altLang="en-US"/>
              <a:t>扰动位置：</a:t>
            </a: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211445" y="4129405"/>
            <a:ext cx="22999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负载突然减小的电流响应曲线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8150225" y="4129405"/>
            <a:ext cx="21755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负载突然减小的转速响应曲线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096135" y="4778375"/>
            <a:ext cx="78574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</a:t>
            </a:r>
            <a:r>
              <a:rPr lang="zh-CN" altLang="en-US"/>
              <a:t>负载突然减少，电流会立即减小，因为电动机产生的转矩不再需要那么大。由于电动机不再需要克服那么大的阻力，其转速会立即增加。转速调节器（</a:t>
            </a:r>
            <a:r>
              <a:rPr lang="en-US" altLang="zh-CN"/>
              <a:t>ASR</a:t>
            </a:r>
            <a:r>
              <a:rPr lang="zh-CN" altLang="en-US"/>
              <a:t>）会检测到转速的上升，并通过调整</a:t>
            </a:r>
            <a:r>
              <a:rPr lang="en-US" altLang="zh-CN"/>
              <a:t>ACR</a:t>
            </a:r>
            <a:r>
              <a:rPr lang="zh-CN" altLang="en-US"/>
              <a:t>的给定值来将转速拉回到设定值，本系统具有良好的抗扰性能。</a:t>
            </a:r>
          </a:p>
        </p:txBody>
      </p:sp>
      <p:pic>
        <p:nvPicPr>
          <p:cNvPr id="58" name="图片 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6240" y="2874010"/>
            <a:ext cx="2900680" cy="11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图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2990" y="1943735"/>
            <a:ext cx="2797810" cy="209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图片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7160" y="1943735"/>
            <a:ext cx="2797810" cy="209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3.3.2</a:t>
            </a:r>
            <a:r>
              <a:rPr lang="zh-CN" altLang="en-US" sz="3200" b="1" dirty="0">
                <a:ea typeface="微软雅黑" panose="020B0503020204020204" charset="-122"/>
              </a:rPr>
              <a:t>抗负电网电压扰动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3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5560" y="2927350"/>
            <a:ext cx="4501515" cy="201739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2157095" y="1779905"/>
            <a:ext cx="76542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</a:t>
            </a:r>
            <a:r>
              <a:rPr lang="zh-CN" altLang="en-US"/>
              <a:t>电网电压扰动直接影响电力电子变换器的输入电压，导致电枢电流的变化，进而影响转速可以通过电流反馈得到比较及时的调节，使抗扰性能得到改善。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3.3.2</a:t>
            </a:r>
            <a:r>
              <a:rPr lang="zh-CN" altLang="en-US" sz="3200" b="1" dirty="0">
                <a:ea typeface="微软雅黑" panose="020B0503020204020204" charset="-122"/>
              </a:rPr>
              <a:t>抗电网电压扰动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526540" y="1724660"/>
            <a:ext cx="36601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扰动时间：</a:t>
            </a:r>
            <a:r>
              <a:rPr lang="en-US" altLang="zh-CN"/>
              <a:t>2s</a:t>
            </a:r>
            <a:r>
              <a:rPr lang="zh-CN" altLang="en-US"/>
              <a:t>时</a:t>
            </a:r>
            <a:r>
              <a:rPr lang="en-US" altLang="zh-CN"/>
              <a:t>+5V</a:t>
            </a:r>
            <a:r>
              <a:rPr lang="zh-CN" altLang="en-US"/>
              <a:t>电网电压扰动</a:t>
            </a:r>
          </a:p>
          <a:p>
            <a:r>
              <a:rPr lang="zh-CN" altLang="en-US"/>
              <a:t>扰动位置：</a:t>
            </a:r>
          </a:p>
        </p:txBody>
      </p:sp>
      <p:pic>
        <p:nvPicPr>
          <p:cNvPr id="61" name="图片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5600" y="2573655"/>
            <a:ext cx="3024505" cy="1309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图片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1770" y="1724660"/>
            <a:ext cx="2719705" cy="2040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图片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1480" y="1724660"/>
            <a:ext cx="2702560" cy="20269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5687695" y="3894455"/>
            <a:ext cx="225552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/>
              <a:t>电网电压扰动的电流响应曲线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404860" y="3894455"/>
            <a:ext cx="225552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/>
              <a:t>电网电压扰动的转速响应曲线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379980" y="4469765"/>
            <a:ext cx="73755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</a:t>
            </a:r>
            <a:r>
              <a:rPr lang="zh-CN" altLang="en-US"/>
              <a:t>当电网电压突然上升时，电枢电压增加，电流突然增大，转速却保持稳定。本系统具有良好的抗扰性能，</a:t>
            </a:r>
            <a:r>
              <a:rPr lang="en-US" altLang="zh-CN"/>
              <a:t>ACR</a:t>
            </a:r>
            <a:r>
              <a:rPr lang="zh-CN" altLang="en-US"/>
              <a:t>能够在电网电压扰动时迅速调整电流和转速，使系统保持稳定运行。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3.3.3</a:t>
            </a:r>
            <a:r>
              <a:rPr lang="zh-CN" altLang="en-US" sz="3200" b="1" dirty="0">
                <a:ea typeface="微软雅黑" panose="020B0503020204020204" charset="-122"/>
              </a:rPr>
              <a:t>反馈回路扰动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011555" y="1575435"/>
            <a:ext cx="8747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</a:t>
            </a:r>
            <a:r>
              <a:rPr lang="en-US" altLang="zh-CN" b="1"/>
              <a:t> a.</a:t>
            </a:r>
            <a:r>
              <a:rPr lang="zh-CN" altLang="en-US" b="1"/>
              <a:t>转速反馈回路扰动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32890" y="2091055"/>
            <a:ext cx="30727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扰动信号：</a:t>
            </a:r>
            <a:r>
              <a:rPr lang="en-US" altLang="zh-CN"/>
              <a:t>0s</a:t>
            </a:r>
            <a:r>
              <a:rPr lang="zh-CN" altLang="en-US"/>
              <a:t>时阶跃</a:t>
            </a:r>
            <a:r>
              <a:rPr lang="en-US" altLang="zh-CN"/>
              <a:t>20</a:t>
            </a:r>
          </a:p>
          <a:p>
            <a:r>
              <a:rPr lang="zh-CN" altLang="en-US"/>
              <a:t>扰动位置：</a:t>
            </a:r>
          </a:p>
        </p:txBody>
      </p:sp>
      <p:pic>
        <p:nvPicPr>
          <p:cNvPr id="59" name="图片 13"/>
          <p:cNvPicPr>
            <a:picLocks noChangeAspect="1"/>
          </p:cNvPicPr>
          <p:nvPr/>
        </p:nvPicPr>
        <p:blipFill>
          <a:blip r:embed="rId7"/>
          <a:srcRect r="14757"/>
          <a:stretch>
            <a:fillRect/>
          </a:stretch>
        </p:blipFill>
        <p:spPr>
          <a:xfrm>
            <a:off x="1666240" y="2883535"/>
            <a:ext cx="3068955" cy="107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图片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6980" y="1943735"/>
            <a:ext cx="2890520" cy="2167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图片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3225" y="1943735"/>
            <a:ext cx="2890520" cy="2167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0075" y="4205605"/>
            <a:ext cx="5270500" cy="203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79180" y="4205605"/>
            <a:ext cx="5270500" cy="2032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42135" y="4747895"/>
            <a:ext cx="8382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</a:t>
            </a:r>
            <a:r>
              <a:rPr lang="zh-CN" altLang="en-US"/>
              <a:t>增加扰动后，转速稳定在</a:t>
            </a:r>
            <a:r>
              <a:rPr lang="en-US" altLang="zh-CN"/>
              <a:t>1020r/min</a:t>
            </a:r>
            <a:r>
              <a:rPr lang="zh-CN" altLang="en-US"/>
              <a:t>，表明转速环反馈扰动不会被消除，而是会反映在转速上，影响稳态转速。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3.3.3</a:t>
            </a:r>
            <a:r>
              <a:rPr lang="zh-CN" altLang="en-US" sz="3200" b="1" dirty="0">
                <a:ea typeface="微软雅黑" panose="020B0503020204020204" charset="-122"/>
              </a:rPr>
              <a:t>反馈回路扰动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011555" y="1575435"/>
            <a:ext cx="8747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</a:t>
            </a:r>
            <a:r>
              <a:rPr lang="en-US" altLang="zh-CN" b="1"/>
              <a:t> b.</a:t>
            </a:r>
            <a:r>
              <a:rPr lang="zh-CN" altLang="en-US" b="1"/>
              <a:t>电流反馈回路扰动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32890" y="2091055"/>
            <a:ext cx="30727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扰动信号：</a:t>
            </a:r>
            <a:r>
              <a:rPr lang="en-US" altLang="zh-CN"/>
              <a:t>2s</a:t>
            </a:r>
            <a:r>
              <a:rPr lang="zh-CN" altLang="en-US"/>
              <a:t>时阶跃</a:t>
            </a:r>
            <a:r>
              <a:rPr lang="en-US" altLang="zh-CN"/>
              <a:t>20</a:t>
            </a:r>
          </a:p>
          <a:p>
            <a:r>
              <a:rPr lang="zh-CN" altLang="en-US"/>
              <a:t>扰动位置：</a:t>
            </a:r>
          </a:p>
        </p:txBody>
      </p:sp>
      <p:pic>
        <p:nvPicPr>
          <p:cNvPr id="69" name="图片 18"/>
          <p:cNvPicPr>
            <a:picLocks noChangeAspect="1"/>
          </p:cNvPicPr>
          <p:nvPr/>
        </p:nvPicPr>
        <p:blipFill>
          <a:blip r:embed="rId7"/>
          <a:srcRect r="16600"/>
          <a:stretch>
            <a:fillRect/>
          </a:stretch>
        </p:blipFill>
        <p:spPr>
          <a:xfrm>
            <a:off x="1623060" y="2883535"/>
            <a:ext cx="2968625" cy="824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图片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2550" y="1979930"/>
            <a:ext cx="2860675" cy="2145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图片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4350" y="1979930"/>
            <a:ext cx="2860040" cy="214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31250" y="4208780"/>
            <a:ext cx="5270500" cy="2032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3890" y="4208780"/>
            <a:ext cx="5270500" cy="2032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853565" y="4764405"/>
            <a:ext cx="8322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 </a:t>
            </a:r>
            <a:r>
              <a:rPr lang="zh-CN" altLang="en-US"/>
              <a:t>增加扰动后，电流环会有较大的阶跃超调，导致转速环也出现转速的增大，但最终电流和转速都没有出现稳态误差，说明电流反馈的扰动不影响电流和转速的稳态值。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微软雅黑" panose="020B0503020204020204" charset="-122"/>
              </a:rPr>
              <a:t>跟踪正弦信号的输入输出转速对比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3.4</a:t>
            </a:r>
            <a:r>
              <a:rPr lang="zh-CN" altLang="en-US" sz="3200" b="1" dirty="0">
                <a:ea typeface="微软雅黑" panose="020B0503020204020204" charset="-122"/>
              </a:rPr>
              <a:t>跟踪信号分析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496060" y="1623695"/>
            <a:ext cx="2925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3.4.1正弦信号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636395" y="2098040"/>
            <a:ext cx="83921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跟踪正弦信号，模拟震荡系统对转速的要求。</a:t>
            </a:r>
          </a:p>
          <a:p>
            <a:r>
              <a:rPr lang="zh-CN" altLang="en-US"/>
              <a:t>正弦信号：振幅</a:t>
            </a:r>
            <a:r>
              <a:rPr lang="en-US" altLang="zh-CN"/>
              <a:t>0.05</a:t>
            </a:r>
            <a:r>
              <a:rPr lang="zh-CN" altLang="en-US"/>
              <a:t>，正偏置</a:t>
            </a:r>
            <a:r>
              <a:rPr lang="en-US" altLang="zh-CN"/>
              <a:t>2</a:t>
            </a:r>
            <a:r>
              <a:rPr lang="zh-CN" altLang="en-US"/>
              <a:t>，频率</a:t>
            </a:r>
            <a:r>
              <a:rPr lang="en-US" altLang="zh-CN"/>
              <a:t>5rad/s</a:t>
            </a:r>
            <a:r>
              <a:rPr lang="zh-CN" altLang="en-US"/>
              <a:t>。</a:t>
            </a:r>
          </a:p>
        </p:txBody>
      </p:sp>
      <p:pic>
        <p:nvPicPr>
          <p:cNvPr id="77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6060" y="2802890"/>
            <a:ext cx="2976880" cy="2232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0585" y="2849245"/>
            <a:ext cx="2880995" cy="2160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图片 63"/>
          <p:cNvPicPr/>
          <p:nvPr/>
        </p:nvPicPr>
        <p:blipFill>
          <a:blip r:embed="rId9"/>
          <a:stretch>
            <a:fillRect/>
          </a:stretch>
        </p:blipFill>
        <p:spPr>
          <a:xfrm>
            <a:off x="7769225" y="2849245"/>
            <a:ext cx="282956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853565" y="5116195"/>
            <a:ext cx="4487545" cy="27114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atin typeface="Calibri" panose="020F0502020204030204"/>
                <a:ea typeface="宋体" panose="02010600030101010101" pitchFamily="2" charset="-122"/>
              </a:rPr>
              <a:t>跟踪正弦信号的电流响应曲线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021580" y="5097780"/>
            <a:ext cx="27476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Calibri" panose="020F0502020204030204"/>
                <a:ea typeface="宋体" panose="02010600030101010101" pitchFamily="2" charset="-122"/>
              </a:rPr>
              <a:t>跟踪正弦信号的转速响应曲线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858125" y="5111750"/>
            <a:ext cx="29241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Calibri" panose="020F0502020204030204"/>
                <a:ea typeface="宋体" panose="02010600030101010101" pitchFamily="2" charset="-122"/>
              </a:rPr>
              <a:t>跟踪正弦信号的输入输出转速对比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636395" y="5387340"/>
            <a:ext cx="83921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 </a:t>
            </a:r>
            <a:r>
              <a:rPr lang="zh-CN" altLang="en-US"/>
              <a:t>仿真结果表明，转速响应超调小、响应快，有一定的静差，转闭环系统能够跟踪正弦信号。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127760" y="1381760"/>
            <a:ext cx="9936480" cy="4752340"/>
          </a:xfrm>
          <a:prstGeom prst="roundRect">
            <a:avLst>
              <a:gd name="adj" fmla="val 14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微软雅黑" panose="020B0503020204020204" charset="-122"/>
              </a:rPr>
              <a:t>跟踪正弦信号的输入输出转速对比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23449" y="13531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ea typeface="微软雅黑" panose="020B0503020204020204" charset="-122"/>
              </a:rPr>
              <a:t>3.4</a:t>
            </a:r>
            <a:r>
              <a:rPr lang="zh-CN" altLang="en-US" sz="3200" b="1" dirty="0">
                <a:ea typeface="微软雅黑" panose="020B0503020204020204" charset="-122"/>
              </a:rPr>
              <a:t>跟踪信号分析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853436" y="4635189"/>
          <a:ext cx="2931803" cy="1253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496060" y="1623695"/>
            <a:ext cx="2925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3.4.2</a:t>
            </a:r>
            <a:r>
              <a:rPr lang="zh-CN" altLang="en-US" b="1"/>
              <a:t>斜坡</a:t>
            </a:r>
            <a:r>
              <a:rPr lang="en-US" altLang="zh-CN" b="1"/>
              <a:t>信号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636395" y="2098040"/>
            <a:ext cx="83921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跟踪斜坡信号，模拟加速过程。</a:t>
            </a:r>
          </a:p>
          <a:p>
            <a:r>
              <a:rPr lang="zh-CN" altLang="en-US"/>
              <a:t>斜坡信号：斜率为</a:t>
            </a:r>
            <a:r>
              <a:rPr lang="en-US" altLang="zh-CN"/>
              <a:t>1 </a:t>
            </a:r>
            <a:r>
              <a:rPr lang="zh-CN" altLang="en-US"/>
              <a:t>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53565" y="5116195"/>
            <a:ext cx="4487545" cy="27114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atin typeface="Calibri" panose="020F0502020204030204"/>
                <a:ea typeface="宋体" panose="02010600030101010101" pitchFamily="2" charset="-122"/>
              </a:rPr>
              <a:t>跟踪斜坡信号的电流响应曲线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021580" y="5097780"/>
            <a:ext cx="27476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Calibri" panose="020F0502020204030204"/>
                <a:ea typeface="宋体" panose="02010600030101010101" pitchFamily="2" charset="-122"/>
              </a:rPr>
              <a:t>跟踪斜坡信号的转速响应曲线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858125" y="5111750"/>
            <a:ext cx="29241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Calibri" panose="020F0502020204030204"/>
                <a:ea typeface="宋体" panose="02010600030101010101" pitchFamily="2" charset="-122"/>
              </a:rPr>
              <a:t>跟踪斜坡信号的输入输出转速对比</a:t>
            </a:r>
          </a:p>
        </p:txBody>
      </p:sp>
      <p:pic>
        <p:nvPicPr>
          <p:cNvPr id="80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4010" y="2891790"/>
            <a:ext cx="2817495" cy="2113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300" y="2907030"/>
            <a:ext cx="2818130" cy="2113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图片 70"/>
          <p:cNvPicPr/>
          <p:nvPr/>
        </p:nvPicPr>
        <p:blipFill>
          <a:blip r:embed="rId9"/>
          <a:stretch>
            <a:fillRect/>
          </a:stretch>
        </p:blipFill>
        <p:spPr>
          <a:xfrm>
            <a:off x="7929245" y="2907665"/>
            <a:ext cx="2769870" cy="211391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1636395" y="5387340"/>
            <a:ext cx="83921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  </a:t>
            </a:r>
            <a:r>
              <a:rPr lang="zh-CN" altLang="en-US">
                <a:sym typeface="+mn-ea"/>
              </a:rPr>
              <a:t>仿真结果表明，转速响应无超调、响应快，有一定的静差，转闭环系统能够跟踪斜坡信号。</a:t>
            </a:r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2537618"/>
            <a:ext cx="213245" cy="17827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614045" y="2537302"/>
            <a:ext cx="6472255" cy="1242639"/>
            <a:chOff x="2859872" y="2733461"/>
            <a:chExt cx="6472255" cy="1242639"/>
          </a:xfrm>
        </p:grpSpPr>
        <p:sp>
          <p:nvSpPr>
            <p:cNvPr id="5" name="内容占位符 14"/>
            <p:cNvSpPr txBox="1"/>
            <p:nvPr/>
          </p:nvSpPr>
          <p:spPr>
            <a:xfrm>
              <a:off x="2859872" y="2733461"/>
              <a:ext cx="5732011" cy="896937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400" b="1" kern="1200">
                  <a:solidFill>
                    <a:srgbClr val="7E0C6E"/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r>
                <a:rPr lang="zh-CN" altLang="en-US" dirty="0">
                  <a:ea typeface="微软雅黑" panose="020B0503020204020204" charset="-122"/>
                </a:rPr>
                <a:t>感谢您的聆听</a:t>
              </a:r>
            </a:p>
          </p:txBody>
        </p:sp>
        <p:sp>
          <p:nvSpPr>
            <p:cNvPr id="6" name="内容占位符 14"/>
            <p:cNvSpPr txBox="1"/>
            <p:nvPr/>
          </p:nvSpPr>
          <p:spPr>
            <a:xfrm>
              <a:off x="2859872" y="3543408"/>
              <a:ext cx="6472255" cy="432692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400" b="1" kern="1200">
                  <a:solidFill>
                    <a:srgbClr val="7E0C6E"/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400" spc="100" dirty="0">
                  <a:solidFill>
                    <a:srgbClr val="7E0C6E">
                      <a:alpha val="55000"/>
                    </a:srgbClr>
                  </a:solidFill>
                  <a:ea typeface="微软雅黑" panose="020B0503020204020204" charset="-122"/>
                </a:rPr>
                <a:t>THANKS FOR YOU LISTENING</a:t>
              </a:r>
              <a:endParaRPr lang="zh-CN" altLang="en-US" sz="2400" spc="100" dirty="0">
                <a:solidFill>
                  <a:srgbClr val="7E0C6E">
                    <a:alpha val="55000"/>
                  </a:srgbClr>
                </a:solidFill>
                <a:ea typeface="微软雅黑" panose="020B0503020204020204" charset="-122"/>
              </a:endParaRPr>
            </a:p>
          </p:txBody>
        </p:sp>
      </p:grpSp>
      <p:sp>
        <p:nvSpPr>
          <p:cNvPr id="8" name="内容占位符 14"/>
          <p:cNvSpPr txBox="1"/>
          <p:nvPr/>
        </p:nvSpPr>
        <p:spPr>
          <a:xfrm>
            <a:off x="660400" y="4320857"/>
            <a:ext cx="6472255" cy="25881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dirty="0">
                <a:ea typeface="微软雅黑" panose="020B0503020204020204" charset="-122"/>
              </a:rPr>
              <a:t>小组成员：</a:t>
            </a:r>
            <a:r>
              <a:rPr lang="en-US" altLang="zh-CN" sz="2000" dirty="0">
                <a:ea typeface="微软雅黑" panose="020B0503020204020204" charset="-122"/>
                <a:sym typeface="+mn-ea"/>
              </a:rPr>
              <a:t>2212067 </a:t>
            </a:r>
            <a:r>
              <a:rPr lang="zh-CN" altLang="en-US" sz="2000" dirty="0">
                <a:ea typeface="微软雅黑" panose="020B0503020204020204" charset="-122"/>
                <a:sym typeface="+mn-ea"/>
              </a:rPr>
              <a:t>姚力瑗</a:t>
            </a:r>
            <a:endParaRPr lang="en-US" altLang="zh-CN" sz="2000" dirty="0"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ea typeface="微软雅黑" panose="020B0503020204020204" charset="-122"/>
                <a:sym typeface="+mn-ea"/>
              </a:rPr>
              <a:t>	     2213864 </a:t>
            </a:r>
            <a:r>
              <a:rPr lang="zh-CN" altLang="en-US" sz="2000" dirty="0">
                <a:ea typeface="微软雅黑" panose="020B0503020204020204" charset="-122"/>
                <a:sym typeface="+mn-ea"/>
              </a:rPr>
              <a:t>刘浩刚</a:t>
            </a:r>
            <a:endParaRPr lang="zh-CN" altLang="en-US" sz="2000" dirty="0"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ea typeface="微软雅黑" panose="020B0503020204020204" charset="-122"/>
                <a:sym typeface="+mn-ea"/>
              </a:rPr>
              <a:t>         </a:t>
            </a:r>
          </a:p>
          <a:p>
            <a:pPr>
              <a:lnSpc>
                <a:spcPct val="130000"/>
              </a:lnSpc>
            </a:pPr>
            <a:r>
              <a:rPr lang="zh-CN" altLang="en-US" sz="2000" dirty="0">
                <a:ea typeface="微软雅黑" panose="020B0503020204020204" charset="-122"/>
              </a:rPr>
              <a:t>日期：</a:t>
            </a:r>
            <a:r>
              <a:rPr lang="en-US" altLang="zh-CN" sz="2000" dirty="0">
                <a:ea typeface="微软雅黑" panose="020B0503020204020204" charset="-122"/>
              </a:rPr>
              <a:t>2024.12.4</a:t>
            </a:r>
            <a:endParaRPr lang="zh-CN" altLang="en-US" sz="2000" dirty="0"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mMyYzI2Y2M4MWQwOWMzNzdlNzY1ZGU2NTU5OTg5N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8441_1"/>
  <p:tag name="KSO_WM_TEMPLATE_SUBCATEGORY" val="0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1"/>
  <p:tag name="KSO_WM_SLIDE_SIZE" val="801*391"/>
  <p:tag name="KSO_WM_SLIDE_POSITION" val="41*74"/>
  <p:tag name="KSO_WM_TAG_VERSION" val="3.0"/>
  <p:tag name="KSO_WM_BEAUTIFY_FLAG" val="#wm#"/>
  <p:tag name="KSO_WM_TEMPLATE_CATEGORY" val="custom"/>
  <p:tag name="KSO_WM_TEMPLATE_INDEX" val="20238441"/>
  <p:tag name="KSO_WM_SLIDE_LAYOUT" val="a_f"/>
  <p:tag name="KSO_WM_SLIDE_LAYOUT_CNT" val="1_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441_1*a*1"/>
  <p:tag name="KSO_WM_TEMPLATE_CATEGORY" val="custom"/>
  <p:tag name="KSO_WM_TEMPLATE_INDEX" val="20238441"/>
  <p:tag name="KSO_WM_UNIT_LAYERLEVEL" val="1"/>
  <p:tag name="KSO_WM_TAG_VERSION" val="3.0"/>
  <p:tag name="KSO_WM_BEAUTIFY_FLAG" val="#wm#"/>
  <p:tag name="KSO_WM_UNIT_PRESET_TEXT" val="单击此处添加标题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441_1*i*1"/>
  <p:tag name="KSO_WM_TEMPLATE_CATEGORY" val="custom"/>
  <p:tag name="KSO_WM_TEMPLATE_INDEX" val="2023844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441_1*i*2"/>
  <p:tag name="KSO_WM_TEMPLATE_CATEGORY" val="custom"/>
  <p:tag name="KSO_WM_TEMPLATE_INDEX" val="20238441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8441_1"/>
  <p:tag name="KSO_WM_TEMPLATE_SUBCATEGORY" val="0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1"/>
  <p:tag name="KSO_WM_SLIDE_SIZE" val="801*391"/>
  <p:tag name="KSO_WM_SLIDE_POSITION" val="41*74"/>
  <p:tag name="KSO_WM_TAG_VERSION" val="3.0"/>
  <p:tag name="KSO_WM_BEAUTIFY_FLAG" val="#wm#"/>
  <p:tag name="KSO_WM_TEMPLATE_CATEGORY" val="custom"/>
  <p:tag name="KSO_WM_TEMPLATE_INDEX" val="20238441"/>
  <p:tag name="KSO_WM_SLIDE_LAYOUT" val="a_f"/>
  <p:tag name="KSO_WM_SLIDE_LAYOUT_CNT" val="1_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441_1*a*1"/>
  <p:tag name="KSO_WM_TEMPLATE_CATEGORY" val="custom"/>
  <p:tag name="KSO_WM_TEMPLATE_INDEX" val="20238441"/>
  <p:tag name="KSO_WM_UNIT_LAYERLEVEL" val="1"/>
  <p:tag name="KSO_WM_TAG_VERSION" val="3.0"/>
  <p:tag name="KSO_WM_BEAUTIFY_FLAG" val="#wm#"/>
  <p:tag name="KSO_WM_UNIT_PRESET_TEXT" val="单击此处添加标题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441_1*i*1"/>
  <p:tag name="KSO_WM_TEMPLATE_CATEGORY" val="custom"/>
  <p:tag name="KSO_WM_TEMPLATE_INDEX" val="2023844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441_1*i*2"/>
  <p:tag name="KSO_WM_TEMPLATE_CATEGORY" val="custom"/>
  <p:tag name="KSO_WM_TEMPLATE_INDEX" val="20238441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8441_1"/>
  <p:tag name="KSO_WM_TEMPLATE_SUBCATEGORY" val="0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1"/>
  <p:tag name="KSO_WM_SLIDE_SIZE" val="801*391"/>
  <p:tag name="KSO_WM_SLIDE_POSITION" val="41*74"/>
  <p:tag name="KSO_WM_TAG_VERSION" val="3.0"/>
  <p:tag name="KSO_WM_BEAUTIFY_FLAG" val="#wm#"/>
  <p:tag name="KSO_WM_TEMPLATE_CATEGORY" val="custom"/>
  <p:tag name="KSO_WM_TEMPLATE_INDEX" val="20238441"/>
  <p:tag name="KSO_WM_SLIDE_LAYOUT" val="a_f"/>
  <p:tag name="KSO_WM_SLIDE_LAYOUT_CNT" val="1_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441_1*a*1"/>
  <p:tag name="KSO_WM_TEMPLATE_CATEGORY" val="custom"/>
  <p:tag name="KSO_WM_TEMPLATE_INDEX" val="20238441"/>
  <p:tag name="KSO_WM_UNIT_LAYERLEVEL" val="1"/>
  <p:tag name="KSO_WM_TAG_VERSION" val="3.0"/>
  <p:tag name="KSO_WM_BEAUTIFY_FLAG" val="#wm#"/>
  <p:tag name="KSO_WM_UNIT_PRESET_TEXT" val="单击此处添加标题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441_1*i*1"/>
  <p:tag name="KSO_WM_TEMPLATE_CATEGORY" val="custom"/>
  <p:tag name="KSO_WM_TEMPLATE_INDEX" val="2023844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441_1*i*2"/>
  <p:tag name="KSO_WM_TEMPLATE_CATEGORY" val="custom"/>
  <p:tag name="KSO_WM_TEMPLATE_INDEX" val="20238441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964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3"/>
  <p:tag name="KSO_WM_SLIDE_SIZE" val="816.972*324.528"/>
  <p:tag name="KSO_WM_SLIDE_POSITION" val="71.5139*148.871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964"/>
  <p:tag name="KSO_WM_SLIDE_LAYOUT" val="a_l"/>
  <p:tag name="KSO_WM_SLIDE_LAYOUT_CNT" val="1_1"/>
  <p:tag name="KSO_WM_SPECIAL_SOURCE" val="bdnul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64_3*a*1"/>
  <p:tag name="KSO_WM_TEMPLATE_CATEGORY" val="diagram"/>
  <p:tag name="KSO_WM_TEMPLATE_INDEX" val="20231964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964_2*l_h_f*1_3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0.87811023622046,&quot;top&quot;:148.86721139021748,&quot;width&quot;:818.305905511810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扼要地阐述。根据需要可酌情增减文字，以便观者准确地理解您传达的思想。单击此处添加文本具体内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4_2*l_h_i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0.87811023622046,&quot;top&quot;:148.86721139021748,&quot;width&quot;:818.305905511810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64_2*l_h_i*1_2_2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0.87811023622046,&quot;top&quot;:148.86721139021748,&quot;width&quot;:818.305905511810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964_2*l_h_i*1_3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0.87811023622046,&quot;top&quot;:148.86721139021748,&quot;width&quot;:818.305905511810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4_2*l_h_i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0.87811023622046,&quot;top&quot;:148.86721139021748,&quot;width&quot;:818.3059055118109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ID" val="diagram20231964_2*l_h_i*1_3_2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0.87811023622046,&quot;top&quot;:148.86721139021748,&quot;width&quot;:818.305905511810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4_2*l_h_a*1_1_1"/>
  <p:tag name="KSO_WM_TEMPLATE_CATEGORY" val="diagram"/>
  <p:tag name="KSO_WM_TEMPLATE_INDEX" val="2023196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0.87811023622046,&quot;top&quot;:148.86721139021748,&quot;width&quot;:818.305905511810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PRESET_TEXT" val="此处添加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4_2*l_h_a*1_2_1"/>
  <p:tag name="KSO_WM_TEMPLATE_CATEGORY" val="diagram"/>
  <p:tag name="KSO_WM_TEMPLATE_INDEX" val="2023196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0.87811023622046,&quot;top&quot;:148.86721139021748,&quot;width&quot;:818.305905511810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964_2*l_h_a*1_3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0.87811023622046,&quot;top&quot;:148.86721139021748,&quot;width&quot;:818.305905511810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8,&quot;left&quot;:385.9,&quot;top&quot;:153.05,&quot;width&quot;:445.7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8,&quot;left&quot;:385.9,&quot;top&quot;:153.05,&quot;width&quot;:445.7}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3组-姚力瑗、刘子豪、孙乃川  -  已修复</Template>
  <TotalTime>8</TotalTime>
  <Words>2259</Words>
  <Application>Microsoft Office PowerPoint</Application>
  <PresentationFormat>宽屏</PresentationFormat>
  <Paragraphs>226</Paragraphs>
  <Slides>41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49" baseType="lpstr">
      <vt:lpstr>等线</vt:lpstr>
      <vt:lpstr>方正姚体</vt:lpstr>
      <vt:lpstr>微软雅黑</vt:lpstr>
      <vt:lpstr>Arial</vt:lpstr>
      <vt:lpstr>Calibri</vt:lpstr>
      <vt:lpstr>Wingdings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理论建模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理论建模</vt:lpstr>
      <vt:lpstr>PowerPoint 演示文稿</vt:lpstr>
      <vt:lpstr>仿真 与 结果分析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3.3抗扰分析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子豪 刘</dc:creator>
  <cp:lastModifiedBy>家兴 殷</cp:lastModifiedBy>
  <cp:revision>14</cp:revision>
  <dcterms:created xsi:type="dcterms:W3CDTF">2024-10-19T08:25:00Z</dcterms:created>
  <dcterms:modified xsi:type="dcterms:W3CDTF">2025-10-05T00:30:04Z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6D7EBB0F02E748749DCA8A7A7EA9D28C_12</vt:lpwstr>
  </property>
  <property fmtid="{D5CDD505-2E9C-101B-9397-08002B2CF9AE}" pid="3" name="KSOProductBuildVer">
    <vt:lpwstr>2052-12.1.0.18912</vt:lpwstr>
  </property>
</Properties>
</file>