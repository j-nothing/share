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3"/>
    <p:sldId id="261" r:id="rId4"/>
    <p:sldId id="263" r:id="rId5"/>
    <p:sldId id="264" r:id="rId6"/>
    <p:sldId id="262" r:id="rId7"/>
    <p:sldId id="258" r:id="rId8"/>
    <p:sldId id="259" r:id="rId9"/>
    <p:sldId id="260" r:id="rId10"/>
  </p:sldIdLst>
  <p:sldSz cx="9144000" cy="6858000" type="screen4x3"/>
  <p:notesSz cx="6858000" cy="9144000"/>
  <p:custDataLst>
    <p:tags r:id="rId15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E0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87" d="100"/>
          <a:sy n="87" d="100"/>
        </p:scale>
        <p:origin x="17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3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4946B05-E0D3-4D5B-ACB0-A9CFA1EA5A5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 userDrawn="1"/>
        </p:nvGrpSpPr>
        <p:grpSpPr>
          <a:xfrm>
            <a:off x="-6350" y="0"/>
            <a:ext cx="9150350" cy="6861175"/>
            <a:chOff x="-4" y="0"/>
            <a:chExt cx="5764" cy="4322"/>
          </a:xfrm>
        </p:grpSpPr>
        <p:sp>
          <p:nvSpPr>
            <p:cNvPr id="18" name="AutoShape 3"/>
            <p:cNvSpPr>
              <a:spLocks noChangeArrowheads="1"/>
            </p:cNvSpPr>
            <p:nvPr/>
          </p:nvSpPr>
          <p:spPr bwMode="auto">
            <a:xfrm>
              <a:off x="0" y="0"/>
              <a:ext cx="5760" cy="2833"/>
            </a:xfrm>
            <a:prstGeom prst="roundRect">
              <a:avLst>
                <a:gd name="adj" fmla="val 32"/>
              </a:avLst>
            </a:prstGeom>
            <a:solidFill>
              <a:srgbClr val="800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AutoShape 4"/>
            <p:cNvSpPr>
              <a:spLocks noChangeArrowheads="1"/>
            </p:cNvSpPr>
            <p:nvPr/>
          </p:nvSpPr>
          <p:spPr bwMode="auto">
            <a:xfrm>
              <a:off x="1269" y="2672"/>
              <a:ext cx="4491" cy="104"/>
            </a:xfrm>
            <a:prstGeom prst="roundRect">
              <a:avLst>
                <a:gd name="adj" fmla="val 958"/>
              </a:avLst>
            </a:prstGeom>
            <a:solidFill>
              <a:srgbClr val="B6C9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AutoShape 5"/>
            <p:cNvSpPr>
              <a:spLocks noChangeArrowheads="1"/>
            </p:cNvSpPr>
            <p:nvPr/>
          </p:nvSpPr>
          <p:spPr bwMode="auto">
            <a:xfrm>
              <a:off x="722" y="2771"/>
              <a:ext cx="5038" cy="61"/>
            </a:xfrm>
            <a:prstGeom prst="roundRect">
              <a:avLst>
                <a:gd name="adj" fmla="val 1667"/>
              </a:avLst>
            </a:prstGeom>
            <a:solidFill>
              <a:srgbClr val="6484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pic>
          <p:nvPicPr>
            <p:cNvPr id="2054" name="Picture 7" descr="image0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" y="3231"/>
              <a:ext cx="1677" cy="52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2" name="Text Box 10"/>
            <p:cNvSpPr txBox="1">
              <a:spLocks noChangeArrowheads="1"/>
            </p:cNvSpPr>
            <p:nvPr/>
          </p:nvSpPr>
          <p:spPr bwMode="auto">
            <a:xfrm>
              <a:off x="-4" y="4110"/>
              <a:ext cx="5764" cy="212"/>
            </a:xfrm>
            <a:prstGeom prst="rect">
              <a:avLst/>
            </a:prstGeom>
            <a:solidFill>
              <a:srgbClr val="800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rPr>
                <a:t>		  	            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</p:grpSp>
      <p:grpSp>
        <p:nvGrpSpPr>
          <p:cNvPr id="2056" name="Group 11"/>
          <p:cNvGrpSpPr/>
          <p:nvPr userDrawn="1"/>
        </p:nvGrpSpPr>
        <p:grpSpPr>
          <a:xfrm>
            <a:off x="1141413" y="2422525"/>
            <a:ext cx="8004175" cy="277813"/>
            <a:chOff x="719" y="1526"/>
            <a:chExt cx="5042" cy="175"/>
          </a:xfrm>
        </p:grpSpPr>
        <p:sp>
          <p:nvSpPr>
            <p:cNvPr id="2057" name="Line 12"/>
            <p:cNvSpPr/>
            <p:nvPr/>
          </p:nvSpPr>
          <p:spPr>
            <a:xfrm flipH="1">
              <a:off x="719" y="1526"/>
              <a:ext cx="5042" cy="1"/>
            </a:xfrm>
            <a:prstGeom prst="line">
              <a:avLst/>
            </a:prstGeom>
            <a:ln w="9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58" name="Line 13"/>
            <p:cNvSpPr/>
            <p:nvPr/>
          </p:nvSpPr>
          <p:spPr>
            <a:xfrm>
              <a:off x="1266" y="1528"/>
              <a:ext cx="1" cy="173"/>
            </a:xfrm>
            <a:prstGeom prst="line">
              <a:avLst/>
            </a:prstGeom>
            <a:ln w="9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9" name="AutoShape 19"/>
          <p:cNvSpPr>
            <a:spLocks noChangeArrowheads="1"/>
          </p:cNvSpPr>
          <p:nvPr userDrawn="1"/>
        </p:nvSpPr>
        <p:spPr bwMode="auto">
          <a:xfrm>
            <a:off x="4687888" y="4486275"/>
            <a:ext cx="4456113" cy="61913"/>
          </a:xfrm>
          <a:prstGeom prst="roundRect">
            <a:avLst>
              <a:gd name="adj" fmla="val 2630"/>
            </a:avLst>
          </a:prstGeom>
          <a:solidFill>
            <a:srgbClr val="4D44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60" name="图片 1" descr="screenshot-ai.nankai.edu.cn-2022.09.10-15_15_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82913" y="4951413"/>
            <a:ext cx="6162675" cy="9763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58" name="Rectangle 14"/>
          <p:cNvSpPr>
            <a:spLocks noGrp="1" noChangeArrowheads="1"/>
          </p:cNvSpPr>
          <p:nvPr>
            <p:ph type="ctrTitle"/>
          </p:nvPr>
        </p:nvSpPr>
        <p:spPr>
          <a:xfrm>
            <a:off x="903288" y="981075"/>
            <a:ext cx="7772400" cy="1470025"/>
          </a:xfrm>
        </p:spPr>
        <p:txBody>
          <a:bodyPr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pPr lvl="0" fontAlgn="base"/>
            <a:r>
              <a:rPr lang="zh-CN" altLang="en-US" strike="noStrike" noProof="0"/>
              <a:t>单击此处编辑母版标题样式</a:t>
            </a:r>
            <a:endParaRPr lang="zh-CN" altLang="en-US" strike="noStrike" noProof="0"/>
          </a:p>
        </p:txBody>
      </p:sp>
      <p:sp>
        <p:nvSpPr>
          <p:cNvPr id="6159" name="Rectangle 15"/>
          <p:cNvSpPr>
            <a:spLocks noGrp="1" noChangeArrowheads="1"/>
          </p:cNvSpPr>
          <p:nvPr>
            <p:ph type="subTitle" idx="1"/>
          </p:nvPr>
        </p:nvSpPr>
        <p:spPr>
          <a:xfrm>
            <a:off x="2124075" y="2579688"/>
            <a:ext cx="5680075" cy="1752600"/>
          </a:xfrm>
        </p:spPr>
        <p:txBody>
          <a:bodyPr/>
          <a:lstStyle>
            <a:lvl1pPr marL="0" indent="0">
              <a:buFontTx/>
              <a:buNone/>
              <a:defRPr sz="2100">
                <a:solidFill>
                  <a:schemeClr val="bg1"/>
                </a:solidFill>
              </a:defRPr>
            </a:lvl1pPr>
          </a:lstStyle>
          <a:p>
            <a:pPr lvl="0" fontAlgn="base"/>
            <a:r>
              <a:rPr lang="zh-CN" altLang="en-US" strike="noStrike" noProof="0"/>
              <a:t>单击此处编辑母版副标题样式</a:t>
            </a:r>
            <a:endParaRPr lang="zh-CN" altLang="en-US" strike="noStrike" noProof="0"/>
          </a:p>
        </p:txBody>
      </p:sp>
      <p:sp>
        <p:nvSpPr>
          <p:cNvPr id="3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0BE0CE2-CEF6-4F34-B83E-87CB4E2F74BF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D73BDC4-E429-45B5-BBDD-2DAADE01FF0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D73BDC4-E429-45B5-BBDD-2DAADE01FF0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71550" y="1600200"/>
            <a:ext cx="388461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08563" y="1600200"/>
            <a:ext cx="388461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D73BDC4-E429-45B5-BBDD-2DAADE01FF0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D73BDC4-E429-45B5-BBDD-2DAADE01FF0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D73BDC4-E429-45B5-BBDD-2DAADE01FF0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D73BDC4-E429-45B5-BBDD-2DAADE01FF0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D73BDC4-E429-45B5-BBDD-2DAADE01FF0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rgbClr val="28287A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D73BDC4-E429-45B5-BBDD-2DAADE01FF0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D73BDC4-E429-45B5-BBDD-2DAADE01FF0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13563" y="274638"/>
            <a:ext cx="1979612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71550" y="274638"/>
            <a:ext cx="5789613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D73BDC4-E429-45B5-BBDD-2DAADE01FF0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1550" y="274638"/>
            <a:ext cx="7848600" cy="1143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71550" y="1600200"/>
            <a:ext cx="3884613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08563" y="1600200"/>
            <a:ext cx="3884612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D73BDC4-E429-45B5-BBDD-2DAADE01FF0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4.png"/><Relationship Id="rId13" Type="http://schemas.openxmlformats.org/officeDocument/2006/relationships/image" Target="../media/image3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971550" y="274638"/>
            <a:ext cx="7848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971550" y="1600200"/>
            <a:ext cx="7921625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D73BDC4-E429-45B5-BBDD-2DAADE01FF0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31" name="Group 7"/>
          <p:cNvGrpSpPr/>
          <p:nvPr/>
        </p:nvGrpSpPr>
        <p:grpSpPr>
          <a:xfrm>
            <a:off x="4763" y="549275"/>
            <a:ext cx="9144000" cy="6308725"/>
            <a:chOff x="3" y="346"/>
            <a:chExt cx="5760" cy="3974"/>
          </a:xfrm>
        </p:grpSpPr>
        <p:sp>
          <p:nvSpPr>
            <p:cNvPr id="1032" name="AutoShape 8"/>
            <p:cNvSpPr>
              <a:spLocks noChangeArrowheads="1"/>
            </p:cNvSpPr>
            <p:nvPr/>
          </p:nvSpPr>
          <p:spPr bwMode="auto">
            <a:xfrm>
              <a:off x="3" y="4234"/>
              <a:ext cx="5760" cy="58"/>
            </a:xfrm>
            <a:prstGeom prst="roundRect">
              <a:avLst>
                <a:gd name="adj" fmla="val 1722"/>
              </a:avLst>
            </a:prstGeom>
            <a:solidFill>
              <a:srgbClr val="800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3" name="AutoShape 9"/>
            <p:cNvSpPr>
              <a:spLocks noChangeArrowheads="1"/>
            </p:cNvSpPr>
            <p:nvPr/>
          </p:nvSpPr>
          <p:spPr bwMode="auto">
            <a:xfrm>
              <a:off x="347" y="4291"/>
              <a:ext cx="5413" cy="29"/>
            </a:xfrm>
            <a:prstGeom prst="roundRect">
              <a:avLst>
                <a:gd name="adj" fmla="val 3569"/>
              </a:avLst>
            </a:prstGeom>
            <a:solidFill>
              <a:srgbClr val="9933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4" name="AutoShape 10"/>
            <p:cNvSpPr>
              <a:spLocks noChangeArrowheads="1"/>
            </p:cNvSpPr>
            <p:nvPr/>
          </p:nvSpPr>
          <p:spPr bwMode="auto">
            <a:xfrm>
              <a:off x="963" y="4130"/>
              <a:ext cx="4800" cy="104"/>
            </a:xfrm>
            <a:prstGeom prst="roundRect">
              <a:avLst>
                <a:gd name="adj" fmla="val 958"/>
              </a:avLst>
            </a:prstGeom>
            <a:solidFill>
              <a:srgbClr val="CC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pic>
          <p:nvPicPr>
            <p:cNvPr id="1035" name="Picture 11" descr="231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422" y="3970"/>
              <a:ext cx="1224" cy="14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36" name="Picture 12" descr="image00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16" y="346"/>
              <a:ext cx="496" cy="49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37" name="Line 13"/>
            <p:cNvSpPr/>
            <p:nvPr/>
          </p:nvSpPr>
          <p:spPr>
            <a:xfrm>
              <a:off x="384" y="1178"/>
              <a:ext cx="1" cy="2615"/>
            </a:xfrm>
            <a:prstGeom prst="line">
              <a:avLst/>
            </a:prstGeom>
            <a:ln w="18360" cap="flat" cmpd="sng">
              <a:solidFill>
                <a:srgbClr val="6B6C69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1038" name="AutoShape 16"/>
            <p:cNvSpPr/>
            <p:nvPr/>
          </p:nvSpPr>
          <p:spPr>
            <a:xfrm flipV="1">
              <a:off x="703" y="890"/>
              <a:ext cx="4808" cy="4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47483646" y="0"/>
                </a:cxn>
                <a:cxn ang="0">
                  <a:pos x="2147483646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147483646" y="0"/>
                </a:cxn>
              </a:cxnLst>
              <a:rect l="0" t="0" r="0" b="0"/>
              <a:pathLst>
                <a:path w="1000" h="1000" stroke="0">
                  <a:moveTo>
                    <a:pt x="0" y="0"/>
                  </a:moveTo>
                  <a:lnTo>
                    <a:pt x="585" y="0"/>
                  </a:lnTo>
                  <a:lnTo>
                    <a:pt x="585" y="1000"/>
                  </a:lnTo>
                  <a:lnTo>
                    <a:pt x="0" y="1000"/>
                  </a:lnTo>
                  <a:lnTo>
                    <a:pt x="0" y="0"/>
                  </a:lnTo>
                  <a:close/>
                </a:path>
                <a:path w="1000" h="1000">
                  <a:moveTo>
                    <a:pt x="0" y="0"/>
                  </a:moveTo>
                  <a:lnTo>
                    <a:pt x="1000" y="0"/>
                  </a:lnTo>
                </a:path>
              </a:pathLst>
            </a:custGeom>
            <a:solidFill>
              <a:srgbClr val="C365BC"/>
            </a:solidFill>
            <a:ln w="9525" cap="flat" cmpd="sng">
              <a:solidFill>
                <a:srgbClr val="C365B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28287A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28287A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28287A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28287A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28287A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28287A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28287A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28287A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28287A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000">
          <a:solidFill>
            <a:srgbClr val="28287A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600">
          <a:solidFill>
            <a:srgbClr val="28287A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8287A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900">
          <a:solidFill>
            <a:srgbClr val="28287A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rgbClr val="28287A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28287A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28287A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28287A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28287A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2"/>
          <p:cNvSpPr>
            <a:spLocks noGrp="1"/>
          </p:cNvSpPr>
          <p:nvPr>
            <p:ph type="ctr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>
              <a:buClrTx/>
              <a:buSzTx/>
              <a:buFontTx/>
            </a:pPr>
            <a:r>
              <a:rPr lang="en-US" altLang="zh-CN" dirty="0">
                <a:latin typeface="+mj-lt"/>
                <a:ea typeface="+mj-ea"/>
                <a:cs typeface="+mj-cs"/>
              </a:rPr>
              <a:t>《创新研究与训练》</a:t>
            </a:r>
            <a:br>
              <a:rPr lang="en-US" altLang="zh-CN" dirty="0">
                <a:latin typeface="+mj-lt"/>
                <a:ea typeface="+mj-ea"/>
                <a:cs typeface="+mj-cs"/>
              </a:rPr>
            </a:br>
            <a:r>
              <a:rPr lang="en-US" altLang="zh-CN" dirty="0">
                <a:latin typeface="+mj-lt"/>
                <a:ea typeface="+mj-ea"/>
                <a:cs typeface="+mj-cs"/>
              </a:rPr>
              <a:t>期末成绩评分原则及标准</a:t>
            </a:r>
            <a:endParaRPr lang="en-US" altLang="zh-CN" dirty="0">
              <a:latin typeface="+mj-lt"/>
              <a:ea typeface="+mj-ea"/>
              <a:cs typeface="+mj-cs"/>
            </a:endParaRPr>
          </a:p>
        </p:txBody>
      </p:sp>
      <p:sp>
        <p:nvSpPr>
          <p:cNvPr id="4099" name="Rectangle 3"/>
          <p:cNvSpPr>
            <a:spLocks noGrp="1"/>
          </p:cNvSpPr>
          <p:nvPr>
            <p:ph type="subTitle" idx="1"/>
          </p:nvPr>
        </p:nvSpPr>
        <p:spPr/>
        <p:txBody>
          <a:bodyPr vert="horz" wrap="square" lIns="91440" tIns="45720" rIns="91440" bIns="45720" anchor="t" anchorCtr="0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100" b="0" i="0" u="none" strike="noStrike" kern="0" cap="none" spc="0" normalizeH="0" baseline="0" noProof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授课学期：2025-2026-(1)  </a:t>
            </a:r>
            <a:endParaRPr kumimoji="0" lang="en-US" altLang="zh-CN" sz="2100" b="0" i="0" u="none" strike="noStrike" kern="0" cap="none" spc="0" normalizeH="0" baseline="0" noProof="1">
              <a:solidFill>
                <a:schemeClr val="bg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100" b="0" i="0" u="none" strike="noStrike" kern="0" cap="none" spc="0" normalizeH="0" baseline="0" noProof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授课教师：赵新                             </a:t>
            </a:r>
            <a:endParaRPr kumimoji="0" lang="en-US" altLang="zh-CN" sz="2100" b="0" i="0" u="none" strike="noStrike" kern="0" cap="none" spc="0" normalizeH="0" baseline="0" noProof="1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ym typeface="+mn-ea"/>
              </a:rPr>
              <a:t>课程目标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本课程是人工智能学院自动化与智能科学类学生的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专业必修课程</a:t>
            </a:r>
            <a:r>
              <a:rPr lang="zh-CN" altLang="en-US" sz="2000" dirty="0"/>
              <a:t>，教学基本目标是通过本课程的学习，培养学生对创新研究的兴趣，让学生对人工智能领域及其前沿问题有更深入的接触、对书本知识如何应用到实际的科研工作有更明确的理解，使学生在学习及科研过程中如何发现问题、归纳问题以及如何解决问题的能力有进一步的提高。让学生在对科研工作有着进一步的理解的同时，培养基本的科研思维能力、创新能力以及团队协作能力，为学生将来的就业打下坚实的基础。</a:t>
            </a:r>
            <a:endParaRPr lang="zh-CN" altLang="en-US" sz="2000" dirty="0"/>
          </a:p>
          <a:p>
            <a:endParaRPr lang="zh-CN" alt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ym typeface="+mn-ea"/>
              </a:rPr>
              <a:t>课程目标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根据学科发展最新进展，邀请6名左右（每年依据情况略有调整）本科学科和行业专家， 结合自动化和智能科学的实际工程问题，开展相关讲座，对学生进行培训和指导。讲座和培训指导内容包括以下方面（具体内容围绕讲座专家的科研项目进行讲授）：</a:t>
            </a:r>
            <a:endParaRPr lang="zh-CN" altLang="en-US" sz="2000" dirty="0"/>
          </a:p>
          <a:p>
            <a:pPr lvl="1">
              <a:lnSpc>
                <a:spcPct val="150000"/>
              </a:lnSpc>
            </a:pPr>
            <a:r>
              <a:rPr lang="zh-CN" altLang="en-US" sz="1730" dirty="0"/>
              <a:t>机器人构型的创新及优化设计</a:t>
            </a:r>
            <a:endParaRPr lang="zh-CN" altLang="en-US" sz="1730" dirty="0"/>
          </a:p>
          <a:p>
            <a:pPr lvl="1">
              <a:lnSpc>
                <a:spcPct val="150000"/>
              </a:lnSpc>
            </a:pPr>
            <a:r>
              <a:rPr lang="zh-CN" altLang="en-US" sz="1730" dirty="0"/>
              <a:t>机器人等系统动力学及新型控制方法</a:t>
            </a:r>
            <a:endParaRPr lang="zh-CN" altLang="en-US" sz="1730" dirty="0"/>
          </a:p>
          <a:p>
            <a:pPr lvl="1">
              <a:lnSpc>
                <a:spcPct val="150000"/>
              </a:lnSpc>
            </a:pPr>
            <a:r>
              <a:rPr lang="zh-CN" altLang="en-US" sz="1730" dirty="0"/>
              <a:t>群智能技术相关理、方法及应用</a:t>
            </a:r>
            <a:endParaRPr lang="zh-CN" altLang="en-US" sz="1730" dirty="0"/>
          </a:p>
          <a:p>
            <a:pPr lvl="1">
              <a:lnSpc>
                <a:spcPct val="150000"/>
              </a:lnSpc>
            </a:pPr>
            <a:r>
              <a:rPr lang="zh-CN" altLang="en-US" sz="1730" dirty="0"/>
              <a:t>新型人机交互设备和交互过程中的安全机制</a:t>
            </a:r>
            <a:endParaRPr lang="zh-CN" altLang="en-US" sz="1730" dirty="0"/>
          </a:p>
          <a:p>
            <a:pPr lvl="1">
              <a:lnSpc>
                <a:spcPct val="150000"/>
              </a:lnSpc>
            </a:pPr>
            <a:r>
              <a:rPr lang="zh-CN" altLang="en-US" sz="1730" dirty="0"/>
              <a:t>先进控制理论、智能控制方法及其应用</a:t>
            </a:r>
            <a:endParaRPr lang="zh-CN" altLang="en-US" sz="1730" dirty="0"/>
          </a:p>
          <a:p>
            <a:pPr lvl="1">
              <a:lnSpc>
                <a:spcPct val="150000"/>
              </a:lnSpc>
            </a:pPr>
            <a:r>
              <a:rPr lang="en-US" altLang="zh-CN" sz="1730" dirty="0"/>
              <a:t>   </a:t>
            </a:r>
            <a:r>
              <a:rPr lang="zh-CN" altLang="en-US" sz="1730" dirty="0"/>
              <a:t>人工智能最新理论、方法及其在行业中的应用</a:t>
            </a:r>
            <a:endParaRPr lang="zh-CN" altLang="en-US" sz="17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ym typeface="+mn-ea"/>
              </a:rPr>
              <a:t>课程目标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000"/>
              <a:t>《创新》课程的教学目标与具体教学措施可分为如下4条：	</a:t>
            </a:r>
            <a:endParaRPr lang="zh-CN" altLang="en-US" sz="2000"/>
          </a:p>
          <a:p>
            <a:pPr>
              <a:lnSpc>
                <a:spcPct val="13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000" b="1"/>
              <a:t>目标1：</a:t>
            </a:r>
            <a:r>
              <a:rPr lang="zh-CN" altLang="en-US" sz="2000"/>
              <a:t>熟悉自动化、智能科学的新技术，针对本领域的复杂工程问题，能够在设计环节融入创新理念；</a:t>
            </a:r>
            <a:endParaRPr lang="zh-CN" altLang="en-US" sz="2000"/>
          </a:p>
          <a:p>
            <a:pPr>
              <a:lnSpc>
                <a:spcPct val="13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000" b="1"/>
              <a:t>目标2：</a:t>
            </a:r>
            <a:r>
              <a:rPr lang="zh-CN" altLang="en-US" sz="2000"/>
              <a:t>能够在自动化及其相关工程实践中体会工程职业道德和规范的内涵，并激发遵守和履行责任的信念。</a:t>
            </a:r>
            <a:endParaRPr lang="zh-CN" altLang="en-US" sz="2000"/>
          </a:p>
          <a:p>
            <a:pPr>
              <a:lnSpc>
                <a:spcPct val="13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000" b="1"/>
              <a:t>目标3：</a:t>
            </a:r>
            <a:r>
              <a:rPr lang="zh-CN" altLang="en-US" sz="2000"/>
              <a:t>具备一定的市场经济的知识，理解自动化及其相关工程项目的实施过程，掌握项目中涉及的管理原理与经济决策方法方面的知识；能够在多学科背景下，将工程管理原理与经济决策方法应用于工程实践。</a:t>
            </a:r>
            <a:endParaRPr lang="zh-CN" altLang="en-US" sz="2000"/>
          </a:p>
          <a:p>
            <a:pPr>
              <a:lnSpc>
                <a:spcPct val="13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000" b="1"/>
              <a:t>目标4：</a:t>
            </a:r>
            <a:r>
              <a:rPr lang="zh-CN" altLang="en-US" sz="2000"/>
              <a:t>能够有效地选择和获取新知识，适应技术发展和社会进步，支撑个人发展规划。</a:t>
            </a:r>
            <a:endParaRPr lang="zh-CN" altLang="en-US" sz="2000"/>
          </a:p>
          <a:p>
            <a:endParaRPr lang="zh-CN" altLang="en-US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ym typeface="+mn-ea"/>
              </a:rPr>
              <a:t>支持毕业指标点</a:t>
            </a:r>
            <a:endParaRPr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1055370" y="1528445"/>
            <a:ext cx="775271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sz="2000" b="1">
                <a:ea typeface="宋体" panose="02010600030101010101" pitchFamily="2" charset="-122"/>
              </a:rPr>
              <a:t>课程目标与毕业要求对应关系</a:t>
            </a:r>
            <a:endParaRPr lang="zh-CN" altLang="en-US" sz="2000" b="1">
              <a:ea typeface="宋体" panose="02010600030101010101" pitchFamily="2" charset="-122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292860" y="1917065"/>
          <a:ext cx="7278370" cy="46062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7825"/>
                <a:gridCol w="5630545"/>
              </a:tblGrid>
              <a:tr h="30289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课程目标</a:t>
                      </a:r>
                      <a:endParaRPr lang="en-US" altLang="en-US" sz="1600" b="1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毕业要求指标点</a:t>
                      </a:r>
                      <a:endParaRPr lang="en-US" altLang="en-US" sz="1600" b="1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1031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目标</a:t>
                      </a:r>
                      <a:r>
                        <a:rPr lang="en-US" sz="16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en-US" sz="1600" b="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毕业要求</a:t>
                      </a:r>
                      <a:r>
                        <a:rPr lang="en-US" sz="1600" b="1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3 </a:t>
                      </a:r>
                      <a:r>
                        <a:rPr lang="en-US" sz="16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设计/开发解决方案</a:t>
                      </a:r>
                      <a:endParaRPr lang="en-US" sz="1600" b="1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indent="0" algn="l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指标点3</a:t>
                      </a:r>
                      <a:r>
                        <a:rPr lang="en-US" sz="16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.2 </a:t>
                      </a: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能针对特定需求分析，提出系统科学且富有创新性的解决方案，并完成智能模块或系统的设计与实现，能够用图纸、报告或实物等形式呈现设计成果。</a:t>
                      </a:r>
                      <a:endParaRPr lang="en-US" altLang="en-US" sz="1600" b="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1031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目标</a:t>
                      </a:r>
                      <a:r>
                        <a:rPr lang="en-US" sz="16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en-US" altLang="en-US" sz="1600" b="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毕业要求</a:t>
                      </a:r>
                      <a:r>
                        <a:rPr lang="en-US" sz="1600" b="1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8</a:t>
                      </a:r>
                      <a:r>
                        <a:rPr lang="en-US" sz="16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职业规范</a:t>
                      </a:r>
                      <a:endParaRPr lang="en-US" sz="1600" b="1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indent="0" algn="l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指标点8</a:t>
                      </a:r>
                      <a:r>
                        <a:rPr lang="en-US" sz="16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.2 </a:t>
                      </a: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能够在智能科学与技术工程实践中理解并自觉遵守诚实公正、诚信守则的工程职业道德和规范，重视知识产权保护，不损害公众、国家利益。</a:t>
                      </a:r>
                      <a:endParaRPr lang="en-US" altLang="en-US" sz="1600" b="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51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目标</a:t>
                      </a:r>
                      <a:r>
                        <a:rPr lang="en-US" sz="16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en-US" altLang="en-US" sz="1600" b="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毕业要求</a:t>
                      </a:r>
                      <a:r>
                        <a:rPr lang="en-US" sz="1600" b="1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11 </a:t>
                      </a:r>
                      <a:r>
                        <a:rPr lang="en-US" sz="16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项目管理</a:t>
                      </a:r>
                      <a:endParaRPr lang="en-US" sz="1600" b="1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indent="0" algn="l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指标点1</a:t>
                      </a:r>
                      <a:r>
                        <a:rPr lang="en-US" sz="16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1.2 </a:t>
                      </a: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能够在多学科背景下，将工程管理原理与经济决策方法应用于工程实践。</a:t>
                      </a:r>
                      <a:endParaRPr 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indent="0" algn="l">
                        <a:buNone/>
                      </a:pPr>
                      <a:endParaRPr lang="en-US" altLang="en-US" sz="1600" b="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0741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目标</a:t>
                      </a:r>
                      <a:r>
                        <a:rPr lang="en-US" sz="16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en-US" altLang="en-US" sz="1600" b="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毕业要求</a:t>
                      </a:r>
                      <a:r>
                        <a:rPr lang="en-US" sz="1600" b="1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12 </a:t>
                      </a:r>
                      <a:r>
                        <a:rPr lang="en-US" sz="16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终身学习</a:t>
                      </a:r>
                      <a:endParaRPr lang="en-US" sz="1600" b="1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indent="0" algn="l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指标点</a:t>
                      </a:r>
                      <a:r>
                        <a:rPr lang="en-US" sz="16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12.2 </a:t>
                      </a: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能够有效地选择和获取新知识，适应技术发展和社会进步，支撑个人发展规划。</a:t>
                      </a:r>
                      <a:endParaRPr lang="en-US" altLang="en-US" sz="1600" b="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sz="3200" b="1"/>
              <a:t>考核方式</a:t>
            </a:r>
            <a:endParaRPr lang="zh-CN" altLang="en-US" sz="3200" b="1"/>
          </a:p>
        </p:txBody>
      </p:sp>
      <p:sp>
        <p:nvSpPr>
          <p:cNvPr id="6146" name="内容占位符 2"/>
          <p:cNvSpPr>
            <a:spLocks noGrp="1"/>
          </p:cNvSpPr>
          <p:nvPr>
            <p:ph idx="1"/>
          </p:nvPr>
        </p:nvSpPr>
        <p:spPr/>
        <p:txBody>
          <a:bodyPr anchor="t" anchorCtr="0"/>
          <a:lstStyle/>
          <a:p>
            <a:r>
              <a:rPr lang="zh-CN" altLang="en-US" sz="2000" dirty="0"/>
              <a:t>本课程采用</a:t>
            </a:r>
            <a:r>
              <a:rPr lang="zh-CN" altLang="en-US" sz="2000" b="1" dirty="0">
                <a:solidFill>
                  <a:srgbClr val="00B050"/>
                </a:solidFill>
              </a:rPr>
              <a:t>过程化考核</a:t>
            </a:r>
            <a:r>
              <a:rPr lang="zh-CN" altLang="en-US" sz="2000" dirty="0"/>
              <a:t>方式，学生</a:t>
            </a:r>
            <a:r>
              <a:rPr lang="zh-CN" altLang="en-US" sz="2000" b="1" dirty="0"/>
              <a:t>最终考核成绩</a:t>
            </a:r>
            <a:r>
              <a:rPr lang="zh-CN" altLang="en-US" sz="2000" dirty="0"/>
              <a:t>由</a:t>
            </a:r>
            <a:r>
              <a:rPr lang="zh-CN" altLang="en-US" sz="2000" b="1" dirty="0">
                <a:solidFill>
                  <a:srgbClr val="FF0000"/>
                </a:solidFill>
              </a:rPr>
              <a:t>四次课程报告成绩</a:t>
            </a:r>
            <a:r>
              <a:rPr lang="zh-CN" altLang="en-US" sz="2000" dirty="0"/>
              <a:t>和</a:t>
            </a:r>
            <a:r>
              <a:rPr lang="zh-CN" altLang="en-US" sz="2000" b="1" dirty="0">
                <a:solidFill>
                  <a:srgbClr val="FF0000"/>
                </a:solidFill>
              </a:rPr>
              <a:t>平时出勤</a:t>
            </a:r>
            <a:r>
              <a:rPr lang="zh-CN" altLang="en-US" sz="2000" dirty="0"/>
              <a:t>和</a:t>
            </a:r>
            <a:r>
              <a:rPr lang="zh-CN" altLang="en-US" sz="2000" b="1" dirty="0">
                <a:solidFill>
                  <a:srgbClr val="FF0000"/>
                </a:solidFill>
              </a:rPr>
              <a:t>课堂表现</a:t>
            </a:r>
            <a:r>
              <a:rPr lang="zh-CN" altLang="en-US" sz="2000" dirty="0"/>
              <a:t>的平时成绩组成。</a:t>
            </a:r>
            <a:endParaRPr lang="zh-CN" altLang="en-US" sz="2000" dirty="0"/>
          </a:p>
          <a:p>
            <a:r>
              <a:rPr lang="zh-CN" altLang="en-US" sz="2000" dirty="0"/>
              <a:t>课程报告要求学生在六个专题中任选其中四个专题，每个专题写一份4000字以上的规范学术报告，报告主题紧密围绕授课内容展开分析、思考、考证、评论、批评、建议等，要求与学生学业规划相结合。</a:t>
            </a:r>
            <a:endParaRPr lang="zh-CN" altLang="en-US" sz="2000" dirty="0"/>
          </a:p>
          <a:p>
            <a:r>
              <a:rPr lang="zh-CN" altLang="en-US" sz="2000" dirty="0"/>
              <a:t>创新研究与训练成绩=课程报告60%+平时成绩40%</a:t>
            </a:r>
            <a:endParaRPr lang="zh-CN" altLang="en-US" sz="2000" dirty="0"/>
          </a:p>
          <a:p>
            <a:endParaRPr lang="zh-CN" altLang="en-US" sz="2000" dirty="0"/>
          </a:p>
        </p:txBody>
      </p:sp>
      <p:sp>
        <p:nvSpPr>
          <p:cNvPr id="6147" name="文本框 99"/>
          <p:cNvSpPr txBox="1"/>
          <p:nvPr/>
        </p:nvSpPr>
        <p:spPr>
          <a:xfrm>
            <a:off x="2355850" y="3932238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/>
            <a:r>
              <a:rPr lang="zh-CN" altLang="zh-CN" b="1">
                <a:latin typeface="Arial" panose="020B0604020202020204" pitchFamily="34" charset="0"/>
                <a:ea typeface="宋体" panose="02010600030101010101" pitchFamily="2" charset="-122"/>
              </a:rPr>
              <a:t>考核环节占比</a:t>
            </a:r>
            <a:endParaRPr lang="zh-CN" altLang="en-US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6148" name="表格 6147"/>
          <p:cNvGraphicFramePr/>
          <p:nvPr>
            <p:custDataLst>
              <p:tags r:id="rId1"/>
            </p:custDataLst>
          </p:nvPr>
        </p:nvGraphicFramePr>
        <p:xfrm>
          <a:off x="1939925" y="4292600"/>
          <a:ext cx="5911850" cy="2087563"/>
        </p:xfrm>
        <a:graphic>
          <a:graphicData uri="http://schemas.openxmlformats.org/drawingml/2006/table">
            <a:tbl>
              <a:tblPr/>
              <a:tblGrid>
                <a:gridCol w="815975"/>
                <a:gridCol w="2667000"/>
                <a:gridCol w="803275"/>
                <a:gridCol w="1625600"/>
              </a:tblGrid>
              <a:tr h="260350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fontAlgn="base">
                        <a:buNone/>
                      </a:pPr>
                      <a:r>
                        <a:rPr lang="en-US" altLang="zh-CN" sz="1200" b="1" dirty="0" err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序号</a:t>
                      </a:r>
                      <a:endParaRPr lang="en-US" altLang="en-US" sz="1200" b="1" dirty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8C2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fontAlgn="base">
                        <a:buNone/>
                      </a:pPr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评估环节与内容</a:t>
                      </a:r>
                      <a:endParaRPr lang="en-US" altLang="en-US" sz="1200" b="1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8C2"/>
                    </a:solidFill>
                  </a:tcPr>
                </a:tc>
                <a:tc gridSpan="2"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fontAlgn="base">
                        <a:buNone/>
                      </a:pPr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成绩占比</a:t>
                      </a:r>
                      <a:endParaRPr lang="en-US" altLang="en-US" sz="1200" b="1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8C2"/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61938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fontAlgn="base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</a:t>
                      </a:r>
                      <a:endParaRPr lang="en-US" altLang="en-US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0E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fontAlgn="base"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课程学习总结报告1</a:t>
                      </a:r>
                      <a:endParaRPr lang="en-US" altLang="en-US" sz="120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0E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fontAlgn="base"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15%</a:t>
                      </a:r>
                      <a:endParaRPr lang="en-US" altLang="en-US" sz="1200">
                        <a:solidFill>
                          <a:srgbClr val="00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0EC"/>
                    </a:solidFill>
                  </a:tcPr>
                </a:tc>
                <a:tc rowSpan="4"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fontAlgn="base"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课程报告60%</a:t>
                      </a:r>
                      <a:endParaRPr lang="en-US" altLang="en-US" sz="1400" dirty="0">
                        <a:solidFill>
                          <a:srgbClr val="000000"/>
                        </a:solidFill>
                        <a:latin typeface="Times New Roman" panose="02020603050405020304" charset="0"/>
                        <a:ea typeface="仿宋_GB2312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0EC"/>
                    </a:solidFill>
                  </a:tcPr>
                </a:tc>
              </a:tr>
              <a:tr h="260350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fontAlgn="base"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2</a:t>
                      </a:r>
                      <a:endParaRPr lang="en-US" altLang="en-US" sz="120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0E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fontAlgn="base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课程学习总结报告2</a:t>
                      </a:r>
                      <a:endParaRPr lang="en-US" altLang="en-US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0E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fontAlgn="base"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15%</a:t>
                      </a:r>
                      <a:endParaRPr lang="en-US" altLang="en-US" sz="1200">
                        <a:solidFill>
                          <a:srgbClr val="00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0EC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261937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fontAlgn="base"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3</a:t>
                      </a:r>
                      <a:endParaRPr lang="en-US" altLang="en-US" sz="120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0E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fontAlgn="base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课程学习总结报告3</a:t>
                      </a:r>
                      <a:endParaRPr lang="en-US" altLang="en-US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0E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fontAlgn="base"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15%</a:t>
                      </a:r>
                      <a:endParaRPr lang="en-US" altLang="en-US" sz="1200">
                        <a:solidFill>
                          <a:srgbClr val="00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0EC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260350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fontAlgn="base"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4</a:t>
                      </a:r>
                      <a:endParaRPr lang="en-US" altLang="en-US" sz="1200">
                        <a:solidFill>
                          <a:srgbClr val="00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0E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fontAlgn="base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课程学习总结报告4</a:t>
                      </a:r>
                      <a:endParaRPr lang="en-US" altLang="en-US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0E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fontAlgn="base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15%</a:t>
                      </a:r>
                      <a:endParaRPr lang="en-US" altLang="en-US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0EC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60350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fontAlgn="base"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5</a:t>
                      </a:r>
                      <a:endParaRPr lang="en-US" altLang="en-US" sz="1200">
                        <a:solidFill>
                          <a:srgbClr val="00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0E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fontAlgn="base">
                        <a:buNone/>
                      </a:pPr>
                      <a:r>
                        <a:rPr lang="en-US" altLang="zh-CN" sz="1200" dirty="0" err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出勤</a:t>
                      </a:r>
                      <a:endParaRPr lang="en-US" altLang="en-US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0E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fontAlgn="base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4%×6</a:t>
                      </a:r>
                      <a:endParaRPr lang="en-US" altLang="en-US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0EC"/>
                    </a:solidFill>
                  </a:tcPr>
                </a:tc>
                <a:tc rowSpan="3"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fontAlgn="base"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平时成绩40%</a:t>
                      </a:r>
                      <a:endParaRPr lang="en-US" altLang="en-US" sz="1400" dirty="0">
                        <a:solidFill>
                          <a:srgbClr val="000000"/>
                        </a:solidFill>
                        <a:latin typeface="Times New Roman" panose="02020603050405020304" charset="0"/>
                        <a:ea typeface="仿宋_GB2312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0EC"/>
                    </a:solidFill>
                  </a:tcPr>
                </a:tc>
              </a:tr>
              <a:tr h="261938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fontAlgn="base"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6</a:t>
                      </a:r>
                      <a:endParaRPr lang="en-US" altLang="en-US" sz="120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0E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fontAlgn="base"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课堂表现</a:t>
                      </a:r>
                      <a:endParaRPr lang="en-US" altLang="en-US" sz="120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0E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fontAlgn="base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2%×6</a:t>
                      </a:r>
                      <a:endParaRPr lang="en-US" altLang="en-US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0EC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260350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fontAlgn="base"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7</a:t>
                      </a:r>
                      <a:endParaRPr lang="en-US" altLang="en-US" sz="120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0E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fontAlgn="base"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优异表现加分</a:t>
                      </a:r>
                      <a:endParaRPr lang="en-US" altLang="en-US" sz="120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0E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fontAlgn="base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4%</a:t>
                      </a:r>
                      <a:endParaRPr lang="en-US" altLang="en-US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0EC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sz="3200" b="1"/>
              <a:t>报告规范</a:t>
            </a:r>
            <a:endParaRPr lang="zh-CN" altLang="en-US" sz="3200" b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en-US" sz="2000" b="0" i="0" u="none" strike="noStrike" kern="0" cap="none" spc="0" normalizeH="0" baseline="0" noProof="1">
                <a:solidFill>
                  <a:srgbClr val="28287A"/>
                </a:solidFill>
                <a:latin typeface="+mn-lt"/>
                <a:ea typeface="+mn-ea"/>
                <a:cs typeface="+mn-cs"/>
              </a:rPr>
              <a:t>报告应包括以下内容：</a:t>
            </a:r>
            <a:endParaRPr kumimoji="0" lang="zh-CN" altLang="en-US" sz="2000" b="0" i="0" u="none" strike="noStrike" kern="0" cap="none" spc="0" normalizeH="0" baseline="0" noProof="1">
              <a:solidFill>
                <a:srgbClr val="28287A"/>
              </a:solidFill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</a:pPr>
            <a:r>
              <a:rPr kumimoji="0" lang="zh-CN" altLang="en-US" sz="1730" b="0" i="0" u="none" strike="noStrike" kern="0" cap="none" spc="0" normalizeH="0" baseline="0" noProof="1">
                <a:solidFill>
                  <a:srgbClr val="28287A"/>
                </a:solidFill>
                <a:latin typeface="+mn-lt"/>
                <a:ea typeface="+mn-ea"/>
                <a:cs typeface="+mn-ea"/>
              </a:rPr>
              <a:t>1）题目</a:t>
            </a:r>
            <a:endParaRPr kumimoji="0" lang="zh-CN" altLang="en-US" sz="1730" b="0" i="0" u="none" strike="noStrike" kern="0" cap="none" spc="0" normalizeH="0" baseline="0" noProof="1">
              <a:solidFill>
                <a:srgbClr val="28287A"/>
              </a:solidFill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</a:pPr>
            <a:r>
              <a:rPr kumimoji="0" lang="zh-CN" altLang="en-US" sz="1730" b="0" i="0" u="none" strike="noStrike" kern="0" cap="none" spc="0" normalizeH="0" baseline="0" noProof="1">
                <a:solidFill>
                  <a:srgbClr val="28287A"/>
                </a:solidFill>
                <a:latin typeface="+mn-lt"/>
                <a:ea typeface="+mn-ea"/>
                <a:cs typeface="+mn-ea"/>
              </a:rPr>
              <a:t>2）姓名、学号、专业、手机号、邮件地址</a:t>
            </a:r>
            <a:endParaRPr kumimoji="0" lang="zh-CN" altLang="en-US" sz="1730" b="0" i="0" u="none" strike="noStrike" kern="0" cap="none" spc="0" normalizeH="0" baseline="0" noProof="1">
              <a:solidFill>
                <a:srgbClr val="28287A"/>
              </a:solidFill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</a:pPr>
            <a:r>
              <a:rPr kumimoji="0" lang="zh-CN" altLang="en-US" sz="1730" b="0" i="0" u="none" strike="noStrike" kern="0" cap="none" spc="0" normalizeH="0" baseline="0" noProof="1">
                <a:solidFill>
                  <a:srgbClr val="28287A"/>
                </a:solidFill>
                <a:latin typeface="+mn-lt"/>
                <a:ea typeface="+mn-ea"/>
                <a:cs typeface="+mn-ea"/>
              </a:rPr>
              <a:t>3）摘要、关键词</a:t>
            </a:r>
            <a:endParaRPr kumimoji="0" lang="zh-CN" altLang="en-US" sz="1730" b="0" i="0" u="none" strike="noStrike" kern="0" cap="none" spc="0" normalizeH="0" baseline="0" noProof="1">
              <a:solidFill>
                <a:srgbClr val="28287A"/>
              </a:solidFill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</a:pPr>
            <a:r>
              <a:rPr kumimoji="0" lang="zh-CN" altLang="en-US" sz="1730" b="0" i="0" u="none" strike="noStrike" kern="0" cap="none" spc="0" normalizeH="0" baseline="0" noProof="1">
                <a:solidFill>
                  <a:srgbClr val="28287A"/>
                </a:solidFill>
                <a:latin typeface="+mn-lt"/>
                <a:ea typeface="+mn-ea"/>
                <a:cs typeface="+mn-ea"/>
              </a:rPr>
              <a:t>4）正文</a:t>
            </a:r>
            <a:endParaRPr kumimoji="0" lang="zh-CN" altLang="en-US" sz="1730" b="0" i="0" u="none" strike="noStrike" kern="0" cap="none" spc="0" normalizeH="0" baseline="0" noProof="1">
              <a:solidFill>
                <a:srgbClr val="28287A"/>
              </a:solidFill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</a:pPr>
            <a:r>
              <a:rPr kumimoji="0" lang="zh-CN" altLang="en-US" sz="1730" b="0" i="0" u="none" strike="noStrike" kern="0" cap="none" spc="0" normalizeH="0" baseline="0" noProof="1">
                <a:solidFill>
                  <a:srgbClr val="28287A"/>
                </a:solidFill>
                <a:latin typeface="+mn-lt"/>
                <a:ea typeface="+mn-ea"/>
                <a:cs typeface="+mn-ea"/>
              </a:rPr>
              <a:t>5）参考文献</a:t>
            </a:r>
            <a:endParaRPr kumimoji="0" lang="zh-CN" altLang="en-US" sz="1730" b="0" i="0" u="none" strike="noStrike" kern="0" cap="none" spc="0" normalizeH="0" baseline="0" noProof="1">
              <a:solidFill>
                <a:srgbClr val="28287A"/>
              </a:solidFill>
              <a:latin typeface="+mn-lt"/>
              <a:ea typeface="+mn-ea"/>
              <a:cs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en-US" sz="1995" b="0" i="0" u="none" strike="noStrike" kern="0" cap="none" spc="0" normalizeH="0" baseline="0" noProof="1">
              <a:solidFill>
                <a:srgbClr val="28287A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171" name="图片 11"/>
          <p:cNvPicPr>
            <a:picLocks noChangeAspect="1"/>
          </p:cNvPicPr>
          <p:nvPr/>
        </p:nvPicPr>
        <p:blipFill>
          <a:blip r:embed="rId1"/>
          <a:srcRect r="18439" b="7510"/>
          <a:stretch>
            <a:fillRect/>
          </a:stretch>
        </p:blipFill>
        <p:spPr>
          <a:xfrm>
            <a:off x="1403350" y="4005263"/>
            <a:ext cx="6859588" cy="23145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2" name="文本框 12"/>
          <p:cNvSpPr txBox="1"/>
          <p:nvPr/>
        </p:nvSpPr>
        <p:spPr>
          <a:xfrm>
            <a:off x="2392363" y="3571875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/>
            <a:r>
              <a:rPr lang="zh-CN" altLang="zh-CN" b="1">
                <a:latin typeface="Arial" panose="020B0604020202020204" pitchFamily="34" charset="0"/>
                <a:ea typeface="宋体" panose="02010600030101010101" pitchFamily="2" charset="-122"/>
              </a:rPr>
              <a:t>专题课程报告评分原则及标准</a:t>
            </a:r>
            <a:endParaRPr lang="zh-CN" altLang="zh-CN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sz="3200" b="1" dirty="0"/>
              <a:t>报告提交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en-US" sz="2400" b="0" i="0" u="none" strike="noStrike" kern="0" cap="none" spc="0" normalizeH="0" baseline="0" noProof="1">
                <a:solidFill>
                  <a:srgbClr val="28287A"/>
                </a:solidFill>
                <a:latin typeface="+mn-lt"/>
                <a:ea typeface="+mn-ea"/>
                <a:cs typeface="+mn-cs"/>
              </a:rPr>
              <a:t>提交时间：</a:t>
            </a:r>
            <a:endParaRPr kumimoji="0" lang="zh-CN" altLang="en-US" sz="2400" b="0" i="0" u="none" strike="noStrike" kern="0" cap="none" spc="0" normalizeH="0" baseline="0" noProof="1">
              <a:solidFill>
                <a:srgbClr val="28287A"/>
              </a:solidFill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</a:pPr>
            <a:r>
              <a:rPr kumimoji="0" lang="zh-CN" altLang="en-US" sz="2080" b="0" i="0" u="none" strike="noStrike" kern="0" cap="none" spc="0" normalizeH="0" baseline="0" noProof="1">
                <a:solidFill>
                  <a:srgbClr val="28287A"/>
                </a:solidFill>
                <a:latin typeface="+mn-lt"/>
                <a:ea typeface="+mn-ea"/>
                <a:cs typeface="+mn-ea"/>
              </a:rPr>
              <a:t>专题课程之后</a:t>
            </a:r>
            <a:r>
              <a:rPr kumimoji="0" lang="en-US" altLang="zh-CN" sz="2080" b="0" i="0" u="none" strike="noStrike" kern="0" cap="none" spc="0" normalizeH="0" baseline="0" noProof="1">
                <a:solidFill>
                  <a:srgbClr val="28287A"/>
                </a:solidFill>
                <a:latin typeface="+mn-lt"/>
                <a:ea typeface="+mn-ea"/>
                <a:cs typeface="+mn-ea"/>
              </a:rPr>
              <a:t>1~2</a:t>
            </a:r>
            <a:r>
              <a:rPr kumimoji="0" lang="zh-CN" altLang="en-US" sz="2080" b="0" i="0" u="none" strike="noStrike" kern="0" cap="none" spc="0" normalizeH="0" baseline="0" noProof="1">
                <a:solidFill>
                  <a:srgbClr val="28287A"/>
                </a:solidFill>
                <a:latin typeface="+mn-lt"/>
                <a:ea typeface="+mn-ea"/>
                <a:cs typeface="+mn-ea"/>
              </a:rPr>
              <a:t>周内提交相应专题的报告</a:t>
            </a:r>
            <a:endParaRPr kumimoji="0" lang="zh-CN" altLang="en-US" sz="2080" b="0" i="0" u="none" strike="noStrike" kern="0" cap="none" spc="0" normalizeH="0" baseline="0" noProof="1">
              <a:solidFill>
                <a:srgbClr val="28287A"/>
              </a:solidFill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</a:pPr>
            <a:r>
              <a:rPr kumimoji="0" lang="zh-CN" altLang="en-US" sz="2080" b="0" i="0" u="none" strike="noStrike" kern="0" cap="none" spc="0" normalizeH="0" baseline="0" noProof="1">
                <a:solidFill>
                  <a:srgbClr val="28287A"/>
                </a:solidFill>
                <a:latin typeface="+mn-lt"/>
                <a:ea typeface="+mn-ea"/>
                <a:cs typeface="+mn-ea"/>
              </a:rPr>
              <a:t>截止学期第</a:t>
            </a:r>
            <a:r>
              <a:rPr kumimoji="0" lang="en-US" altLang="zh-CN" sz="2080" b="0" i="0" u="none" strike="noStrike" kern="0" cap="none" spc="0" normalizeH="0" baseline="0" noProof="1">
                <a:solidFill>
                  <a:srgbClr val="28287A"/>
                </a:solidFill>
                <a:latin typeface="+mn-lt"/>
                <a:ea typeface="+mn-ea"/>
                <a:cs typeface="+mn-ea"/>
              </a:rPr>
              <a:t>10</a:t>
            </a:r>
            <a:r>
              <a:rPr kumimoji="0" lang="zh-CN" altLang="en-US" sz="2080" b="0" i="0" u="none" strike="noStrike" kern="0" cap="none" spc="0" normalizeH="0" baseline="0" noProof="1">
                <a:solidFill>
                  <a:srgbClr val="28287A"/>
                </a:solidFill>
                <a:latin typeface="+mn-lt"/>
                <a:ea typeface="+mn-ea"/>
                <a:cs typeface="+mn-ea"/>
              </a:rPr>
              <a:t>周提交完成</a:t>
            </a:r>
            <a:r>
              <a:rPr kumimoji="0" lang="en-US" altLang="zh-CN" sz="2080" b="0" i="0" u="none" strike="noStrike" kern="0" cap="none" spc="0" normalizeH="0" baseline="0" noProof="1">
                <a:solidFill>
                  <a:srgbClr val="28287A"/>
                </a:solidFill>
                <a:latin typeface="+mn-lt"/>
                <a:ea typeface="+mn-ea"/>
                <a:cs typeface="+mn-ea"/>
              </a:rPr>
              <a:t>4</a:t>
            </a:r>
            <a:r>
              <a:rPr kumimoji="0" lang="zh-CN" altLang="en-US" sz="2080" b="0" i="0" u="none" strike="noStrike" kern="0" cap="none" spc="0" normalizeH="0" baseline="0" noProof="1">
                <a:solidFill>
                  <a:srgbClr val="28287A"/>
                </a:solidFill>
                <a:latin typeface="+mn-lt"/>
                <a:ea typeface="+mn-ea"/>
                <a:cs typeface="+mn-ea"/>
              </a:rPr>
              <a:t>次课程报告</a:t>
            </a:r>
            <a:endParaRPr kumimoji="0" lang="zh-CN" altLang="en-US" sz="2080" b="0" i="0" u="none" strike="noStrike" kern="0" cap="none" spc="0" normalizeH="0" baseline="0" noProof="1">
              <a:solidFill>
                <a:srgbClr val="28287A"/>
              </a:solidFill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</a:pPr>
            <a:r>
              <a:rPr kumimoji="0" lang="zh-CN" altLang="en-US" sz="2080" b="0" i="0" u="none" strike="noStrike" kern="0" cap="none" spc="0" normalizeH="0" baseline="0" noProof="1">
                <a:solidFill>
                  <a:srgbClr val="28287A"/>
                </a:solidFill>
                <a:latin typeface="+mn-lt"/>
                <a:ea typeface="+mn-ea"/>
                <a:cs typeface="+mn-ea"/>
              </a:rPr>
              <a:t>（学期</a:t>
            </a:r>
            <a:r>
              <a:rPr kumimoji="0" lang="en-US" altLang="zh-CN" sz="2080" b="0" i="0" u="none" strike="noStrike" kern="0" cap="none" spc="0" normalizeH="0" baseline="0" noProof="1">
                <a:solidFill>
                  <a:srgbClr val="28287A"/>
                </a:solidFill>
                <a:latin typeface="+mn-lt"/>
                <a:ea typeface="+mn-ea"/>
                <a:cs typeface="+mn-ea"/>
              </a:rPr>
              <a:t>11~14</a:t>
            </a:r>
            <a:r>
              <a:rPr kumimoji="0" lang="zh-CN" altLang="en-US" sz="2080" b="0" i="0" u="none" strike="noStrike" kern="0" cap="none" spc="0" normalizeH="0" baseline="0" noProof="1">
                <a:solidFill>
                  <a:srgbClr val="28287A"/>
                </a:solidFill>
                <a:latin typeface="+mn-lt"/>
                <a:ea typeface="+mn-ea"/>
                <a:cs typeface="+mn-ea"/>
              </a:rPr>
              <a:t>周，补交，降分降档）</a:t>
            </a:r>
            <a:endParaRPr kumimoji="0" lang="zh-CN" altLang="en-US" sz="2080" b="0" i="0" u="none" strike="noStrike" kern="0" cap="none" spc="0" normalizeH="0" baseline="0" noProof="1">
              <a:solidFill>
                <a:srgbClr val="28287A"/>
              </a:solidFill>
              <a:latin typeface="+mn-lt"/>
              <a:ea typeface="+mn-ea"/>
              <a:cs typeface="+mn-ea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Char char="•"/>
            </a:pPr>
            <a:r>
              <a:rPr kumimoji="0" lang="zh-CN" altLang="en-US" sz="2400" b="0" i="0" u="none" strike="noStrike" kern="0" cap="none" spc="0" normalizeH="0" baseline="0" noProof="1">
                <a:solidFill>
                  <a:srgbClr val="28287A"/>
                </a:solidFill>
                <a:latin typeface="+mn-lt"/>
                <a:ea typeface="+mn-ea"/>
                <a:cs typeface="+mn-cs"/>
              </a:rPr>
              <a:t>提交方式：</a:t>
            </a:r>
            <a:endParaRPr kumimoji="0" lang="zh-CN" altLang="en-US" sz="2400" b="0" i="0" u="none" strike="noStrike" kern="0" cap="none" spc="0" normalizeH="0" baseline="0" noProof="1">
              <a:solidFill>
                <a:srgbClr val="28287A"/>
              </a:solidFill>
              <a:latin typeface="+mn-lt"/>
              <a:ea typeface="+mn-ea"/>
              <a:cs typeface="+mn-cs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Char char="•"/>
            </a:pPr>
            <a:r>
              <a:rPr kumimoji="0" lang="zh-CN" altLang="en-US" sz="2080" b="0" i="0" u="none" strike="noStrike" kern="0" cap="none" spc="0" normalizeH="0" baseline="0" noProof="1">
                <a:solidFill>
                  <a:srgbClr val="28287A"/>
                </a:solidFill>
                <a:latin typeface="+mn-lt"/>
                <a:ea typeface="+mn-ea"/>
                <a:cs typeface="+mn-cs"/>
              </a:rPr>
              <a:t>邮件发送邮箱</a:t>
            </a:r>
            <a:r>
              <a:rPr kumimoji="0" lang="en-US" altLang="zh-CN" sz="2080" b="0" i="0" u="none" strike="noStrike" kern="0" cap="none" spc="0" normalizeH="0" baseline="0" noProof="1">
                <a:solidFill>
                  <a:srgbClr val="28287A"/>
                </a:solidFill>
                <a:latin typeface="+mn-lt"/>
                <a:ea typeface="+mn-ea"/>
                <a:cs typeface="+mn-cs"/>
              </a:rPr>
              <a:t>: gengjunyuan_nankai@126.com</a:t>
            </a:r>
            <a:endParaRPr kumimoji="0" lang="zh-CN" altLang="en-US" sz="2080" b="0" i="0" u="none" strike="noStrike" kern="0" cap="none" spc="0" normalizeH="0" baseline="0" noProof="1">
              <a:solidFill>
                <a:srgbClr val="28287A"/>
              </a:solidFill>
              <a:latin typeface="+mn-lt"/>
              <a:ea typeface="+mn-ea"/>
              <a:cs typeface="+mn-cs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Char char="•"/>
            </a:pPr>
            <a:r>
              <a:rPr kumimoji="0" lang="zh-CN" altLang="en-US" sz="2080" b="0" i="0" u="none" strike="noStrike" kern="0" cap="none" spc="0" normalizeH="0" baseline="0" noProof="1">
                <a:solidFill>
                  <a:srgbClr val="28287A"/>
                </a:solidFill>
                <a:latin typeface="+mn-lt"/>
                <a:ea typeface="+mn-ea"/>
                <a:cs typeface="+mn-cs"/>
              </a:rPr>
              <a:t>文件名：学号</a:t>
            </a:r>
            <a:r>
              <a:rPr kumimoji="0" lang="en-US" altLang="zh-CN" sz="2080" b="0" i="0" u="none" strike="noStrike" kern="0" cap="none" spc="0" normalizeH="0" baseline="0" noProof="1">
                <a:solidFill>
                  <a:srgbClr val="28287A"/>
                </a:solidFill>
                <a:latin typeface="+mn-lt"/>
                <a:ea typeface="+mn-ea"/>
                <a:cs typeface="+mn-cs"/>
              </a:rPr>
              <a:t>_</a:t>
            </a:r>
            <a:r>
              <a:rPr kumimoji="0" lang="zh-CN" altLang="en-US" sz="2080" b="0" i="0" u="none" strike="noStrike" kern="0" cap="none" spc="0" normalizeH="0" baseline="0" noProof="1">
                <a:solidFill>
                  <a:srgbClr val="28287A"/>
                </a:solidFill>
                <a:latin typeface="+mn-lt"/>
                <a:ea typeface="+mn-ea"/>
                <a:cs typeface="+mn-cs"/>
              </a:rPr>
              <a:t>姓名</a:t>
            </a:r>
            <a:r>
              <a:rPr kumimoji="0" lang="en-US" altLang="zh-CN" sz="2080" b="0" i="0" u="none" strike="noStrike" kern="0" cap="none" spc="0" normalizeH="0" baseline="0" noProof="1">
                <a:solidFill>
                  <a:srgbClr val="28287A"/>
                </a:solidFill>
                <a:latin typeface="+mn-lt"/>
                <a:ea typeface="+mn-ea"/>
                <a:cs typeface="+mn-cs"/>
              </a:rPr>
              <a:t>_</a:t>
            </a:r>
            <a:r>
              <a:rPr kumimoji="0" lang="zh-CN" altLang="en-US" sz="2080" b="0" i="0" u="none" strike="noStrike" kern="0" cap="none" spc="0" normalizeH="0" baseline="0" noProof="1">
                <a:solidFill>
                  <a:srgbClr val="28287A"/>
                </a:solidFill>
                <a:latin typeface="+mn-lt"/>
                <a:ea typeface="+mn-ea"/>
                <a:cs typeface="+mn-cs"/>
              </a:rPr>
              <a:t>第</a:t>
            </a:r>
            <a:r>
              <a:rPr kumimoji="0" lang="en-US" altLang="zh-CN" sz="2080" b="0" i="0" u="none" strike="noStrike" kern="0" cap="none" spc="0" normalizeH="0" baseline="0" noProof="1">
                <a:solidFill>
                  <a:srgbClr val="28287A"/>
                </a:solidFill>
                <a:latin typeface="+mn-lt"/>
                <a:ea typeface="+mn-ea"/>
                <a:cs typeface="+mn-cs"/>
              </a:rPr>
              <a:t>*</a:t>
            </a:r>
            <a:r>
              <a:rPr kumimoji="0" lang="zh-CN" altLang="en-US" sz="2080" b="0" i="0" u="none" strike="noStrike" kern="0" cap="none" spc="0" normalizeH="0" baseline="0" noProof="1">
                <a:solidFill>
                  <a:srgbClr val="28287A"/>
                </a:solidFill>
                <a:latin typeface="+mn-lt"/>
                <a:ea typeface="+mn-ea"/>
                <a:cs typeface="+mn-cs"/>
              </a:rPr>
              <a:t>次课的学术报告</a:t>
            </a:r>
            <a:endParaRPr kumimoji="0" lang="zh-CN" altLang="en-US" sz="2080" b="0" i="0" u="none" strike="noStrike" kern="0" cap="none" spc="0" normalizeH="0" baseline="0" noProof="1">
              <a:solidFill>
                <a:srgbClr val="28287A"/>
              </a:solidFill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Char char="•"/>
            </a:pPr>
            <a:r>
              <a:rPr kumimoji="0" lang="zh-CN" altLang="en-US" sz="2400" b="0" i="0" u="none" strike="noStrike" kern="0" cap="none" spc="0" normalizeH="0" baseline="0" noProof="1">
                <a:solidFill>
                  <a:srgbClr val="28287A"/>
                </a:solidFill>
                <a:latin typeface="+mn-lt"/>
                <a:ea typeface="+mn-ea"/>
                <a:cs typeface="+mn-cs"/>
              </a:rPr>
              <a:t>通知交流：</a:t>
            </a:r>
            <a:endParaRPr kumimoji="0" lang="zh-CN" altLang="en-US" sz="2400" b="0" i="0" u="none" strike="noStrike" kern="0" cap="none" spc="0" normalizeH="0" baseline="0" noProof="1">
              <a:solidFill>
                <a:srgbClr val="28287A"/>
              </a:solidFill>
              <a:latin typeface="+mn-lt"/>
              <a:ea typeface="+mn-ea"/>
              <a:cs typeface="+mn-cs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Char char="•"/>
            </a:pPr>
            <a:r>
              <a:rPr kumimoji="0" lang="zh-CN" altLang="en-US" sz="2080" b="0" i="0" u="none" strike="noStrike" kern="0" cap="none" spc="0" normalizeH="0" baseline="0" noProof="1">
                <a:solidFill>
                  <a:srgbClr val="28287A"/>
                </a:solidFill>
                <a:latin typeface="+mn-lt"/>
                <a:ea typeface="+mn-ea"/>
                <a:cs typeface="+mn-cs"/>
              </a:rPr>
              <a:t>微信群：</a:t>
            </a:r>
            <a:r>
              <a:rPr kumimoji="0" lang="en-US" altLang="zh-CN" sz="2080" b="0" i="0" u="none" strike="noStrike" kern="0" cap="none" spc="0" normalizeH="0" baseline="0" noProof="1">
                <a:solidFill>
                  <a:srgbClr val="28287A"/>
                </a:solidFill>
                <a:latin typeface="+mn-lt"/>
                <a:ea typeface="+mn-ea"/>
                <a:cs typeface="+mn-cs"/>
              </a:rPr>
              <a:t>2025</a:t>
            </a:r>
            <a:r>
              <a:rPr kumimoji="0" lang="zh-CN" altLang="en-US" sz="2080" b="0" i="0" u="none" strike="noStrike" kern="0" cap="none" spc="0" normalizeH="0" baseline="0" noProof="1">
                <a:solidFill>
                  <a:srgbClr val="28287A"/>
                </a:solidFill>
                <a:latin typeface="+mn-lt"/>
                <a:ea typeface="+mn-ea"/>
                <a:cs typeface="+mn-cs"/>
              </a:rPr>
              <a:t>秋</a:t>
            </a:r>
            <a:r>
              <a:rPr kumimoji="0" lang="en-US" altLang="zh-CN" sz="2080" b="0" i="0" u="none" strike="noStrike" kern="0" cap="none" spc="0" normalizeH="0" baseline="0" noProof="1">
                <a:solidFill>
                  <a:srgbClr val="28287A"/>
                </a:solidFill>
                <a:latin typeface="+mn-lt"/>
                <a:ea typeface="+mn-ea"/>
                <a:cs typeface="+mn-cs"/>
              </a:rPr>
              <a:t>-</a:t>
            </a:r>
            <a:r>
              <a:rPr kumimoji="0" lang="zh-CN" altLang="en-US" sz="2080" b="0" i="0" u="none" strike="noStrike" kern="0" cap="none" spc="0" normalizeH="0" baseline="0" noProof="1">
                <a:solidFill>
                  <a:srgbClr val="28287A"/>
                </a:solidFill>
                <a:latin typeface="+mn-lt"/>
                <a:ea typeface="+mn-ea"/>
                <a:cs typeface="+mn-cs"/>
              </a:rPr>
              <a:t>创新研究与训练</a:t>
            </a:r>
            <a:endParaRPr kumimoji="0" lang="en-US" altLang="zh-CN" sz="2080" b="0" i="0" u="none" strike="noStrike" kern="0" cap="none" spc="0" normalizeH="0" baseline="0" noProof="1">
              <a:solidFill>
                <a:srgbClr val="28287A"/>
              </a:solidFill>
              <a:latin typeface="+mn-lt"/>
              <a:ea typeface="+mn-ea"/>
              <a:cs typeface="+mn-cs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Char char="•"/>
            </a:pPr>
            <a:r>
              <a:rPr kumimoji="0" lang="en-US" altLang="zh-CN" sz="2080" b="0" i="0" u="none" strike="noStrike" kern="0" cap="none" spc="0" normalizeH="0" baseline="0" noProof="1">
                <a:solidFill>
                  <a:srgbClr val="28287A"/>
                </a:solidFill>
                <a:latin typeface="+mn-lt"/>
                <a:ea typeface="+mn-ea"/>
                <a:cs typeface="+mn-cs"/>
              </a:rPr>
              <a:t>              </a:t>
            </a:r>
            <a:r>
              <a:rPr kumimoji="0" lang="zh-CN" altLang="en-US" sz="2080" b="0" i="0" u="none" strike="noStrike" kern="0" cap="none" spc="0" normalizeH="0" baseline="0" noProof="1">
                <a:solidFill>
                  <a:srgbClr val="28287A"/>
                </a:solidFill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2080" b="0" i="0" u="none" strike="noStrike" kern="0" cap="none" spc="0" normalizeH="0" baseline="0" noProof="1">
                <a:solidFill>
                  <a:srgbClr val="28287A"/>
                </a:solidFill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2080" b="0" i="0" u="none" strike="noStrike" kern="0" cap="none" spc="0" normalizeH="0" baseline="0" noProof="1">
                <a:solidFill>
                  <a:srgbClr val="28287A"/>
                </a:solidFill>
                <a:latin typeface="+mn-lt"/>
                <a:ea typeface="+mn-ea"/>
                <a:cs typeface="+mn-cs"/>
              </a:rPr>
              <a:t>耿俊媛</a:t>
            </a:r>
            <a:r>
              <a:rPr kumimoji="0" lang="en-US" altLang="zh-CN" sz="2080" b="0" i="0" u="none" strike="noStrike" kern="0" cap="none" spc="0" normalizeH="0" baseline="0" noProof="1">
                <a:solidFill>
                  <a:srgbClr val="28287A"/>
                </a:solidFill>
                <a:latin typeface="+mn-lt"/>
                <a:ea typeface="+mn-ea"/>
                <a:cs typeface="+mn-cs"/>
              </a:rPr>
              <a:t>-</a:t>
            </a:r>
            <a:r>
              <a:rPr kumimoji="0" lang="zh-CN" altLang="en-US" sz="2080" b="0" i="0" u="none" strike="noStrike" kern="0" cap="none" spc="0" normalizeH="0" baseline="0" noProof="1">
                <a:solidFill>
                  <a:srgbClr val="28287A"/>
                </a:solidFill>
                <a:latin typeface="+mn-lt"/>
                <a:ea typeface="+mn-ea"/>
                <a:cs typeface="+mn-cs"/>
              </a:rPr>
              <a:t>助教老师）</a:t>
            </a:r>
            <a:endParaRPr kumimoji="0" lang="zh-CN" altLang="en-US" sz="2080" b="0" i="0" u="none" strike="noStrike" kern="0" cap="none" spc="0" normalizeH="0" baseline="0" noProof="1">
              <a:solidFill>
                <a:srgbClr val="28287A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c7b278ea-f608-4e4b-add9-3ef822da0248}"/>
</p:tagLst>
</file>

<file path=ppt/tags/tag2.xml><?xml version="1.0" encoding="utf-8"?>
<p:tagLst xmlns:p="http://schemas.openxmlformats.org/presentationml/2006/main">
  <p:tag name="KSO_WM_UNIT_TABLE_BEAUTIFY" val="smartTable{740319d0-f612-486d-b372-0b9ded781d7a}"/>
  <p:tag name="TABLE_ENDDRAG_ORIGIN_RECT" val="465*164"/>
  <p:tag name="TABLE_ENDDRAG_RECT" val="115*336*465*164"/>
</p:tagLst>
</file>

<file path=ppt/tags/tag3.xml><?xml version="1.0" encoding="utf-8"?>
<p:tagLst xmlns:p="http://schemas.openxmlformats.org/presentationml/2006/main">
  <p:tag name="COMMONDATA" val="eyJoZGlkIjoiNDY0MzQwNDM3NzMyOTAwZGViMTFjZmY0M2U4NTllMzgifQ=="/>
</p:tagLst>
</file>

<file path=ppt/theme/theme1.xml><?xml version="1.0" encoding="utf-8"?>
<a:theme xmlns:a="http://schemas.openxmlformats.org/drawingml/2006/main" name="中期报告-复杂环境下移动机机器人2.5维视觉伺服">
  <a:themeElements>
    <a:clrScheme name="中期报告-复杂环境下移动机机器人2.5维视觉伺服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中期报告-复杂环境下移动机机器人2.5维视觉伺服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中期报告-复杂环境下移动机机器人2.5维视觉伺服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中期报告-复杂环境下移动机机器人2.5维视觉伺服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中期报告-复杂环境下移动机机器人2.5维视觉伺服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中期报告-复杂环境下移动机机器人2.5维视觉伺服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中期报告-复杂环境下移动机机器人2.5维视觉伺服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中期报告-复杂环境下移动机机器人2.5维视觉伺服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中期报告-复杂环境下移动机机器人2.5维视觉伺服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中期报告-复杂环境下移动机机器人2.5维视觉伺服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中期报告-复杂环境下移动机机器人2.5维视觉伺服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中期报告-复杂环境下移动机机器人2.5维视觉伺服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中期报告-复杂环境下移动机机器人2.5维视觉伺服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中期报告-复杂环境下移动机机器人2.5维视觉伺服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2008.11.04工作报告</Template>
  <TotalTime>0</TotalTime>
  <Words>1642</Words>
  <Application>WPS 演示</Application>
  <PresentationFormat>全屏显示(4:3)</PresentationFormat>
  <Paragraphs>156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华文新魏</vt:lpstr>
      <vt:lpstr>Times New Roman</vt:lpstr>
      <vt:lpstr>仿宋_GB2312</vt:lpstr>
      <vt:lpstr>仿宋</vt:lpstr>
      <vt:lpstr>微软雅黑</vt:lpstr>
      <vt:lpstr>Arial Unicode MS</vt:lpstr>
      <vt:lpstr>方正仿宋_GB2312</vt:lpstr>
      <vt:lpstr>中期报告-复杂环境下移动机机器人2.5维视觉伺服</vt:lpstr>
      <vt:lpstr>《创新研究与训练》 期末成绩评分原则及标准</vt:lpstr>
      <vt:lpstr>课程目标</vt:lpstr>
      <vt:lpstr>课程目标</vt:lpstr>
      <vt:lpstr>课程目标</vt:lpstr>
      <vt:lpstr>支持毕业指标点</vt:lpstr>
      <vt:lpstr>考核方式</vt:lpstr>
      <vt:lpstr>报告规范</vt:lpstr>
      <vt:lpstr>报告提交</vt:lpstr>
    </vt:vector>
  </TitlesOfParts>
  <Company>Nankai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Xuebo Zhang</dc:creator>
  <cp:lastModifiedBy>Cherry</cp:lastModifiedBy>
  <cp:revision>450</cp:revision>
  <dcterms:created xsi:type="dcterms:W3CDTF">2009-09-29T12:14:00Z</dcterms:created>
  <dcterms:modified xsi:type="dcterms:W3CDTF">2025-09-17T02:25:35Z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AF0D58F90C134FF39F22E0B31D9D141C</vt:lpwstr>
  </property>
  <property fmtid="{D5CDD505-2E9C-101B-9397-08002B2CF9AE}" pid="3" name="KSOProductBuildVer">
    <vt:lpwstr>2052-12.1.0.21915</vt:lpwstr>
  </property>
</Properties>
</file>